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312" r:id="rId3"/>
    <p:sldId id="257" r:id="rId4"/>
    <p:sldId id="258" r:id="rId5"/>
    <p:sldId id="355" r:id="rId6"/>
    <p:sldId id="259" r:id="rId7"/>
    <p:sldId id="260" r:id="rId8"/>
    <p:sldId id="261" r:id="rId9"/>
    <p:sldId id="262" r:id="rId10"/>
    <p:sldId id="316" r:id="rId11"/>
    <p:sldId id="263" r:id="rId12"/>
    <p:sldId id="264" r:id="rId13"/>
    <p:sldId id="267" r:id="rId14"/>
    <p:sldId id="317" r:id="rId15"/>
    <p:sldId id="268" r:id="rId16"/>
    <p:sldId id="269" r:id="rId17"/>
    <p:sldId id="318" r:id="rId18"/>
    <p:sldId id="270" r:id="rId19"/>
    <p:sldId id="273" r:id="rId20"/>
    <p:sldId id="272" r:id="rId21"/>
    <p:sldId id="274" r:id="rId22"/>
    <p:sldId id="319" r:id="rId23"/>
    <p:sldId id="275" r:id="rId24"/>
    <p:sldId id="276" r:id="rId25"/>
    <p:sldId id="278" r:id="rId26"/>
    <p:sldId id="356" r:id="rId27"/>
    <p:sldId id="277" r:id="rId28"/>
    <p:sldId id="280" r:id="rId29"/>
    <p:sldId id="281" r:id="rId30"/>
    <p:sldId id="279" r:id="rId31"/>
    <p:sldId id="357" r:id="rId32"/>
    <p:sldId id="283" r:id="rId33"/>
    <p:sldId id="284" r:id="rId34"/>
    <p:sldId id="321" r:id="rId35"/>
    <p:sldId id="320" r:id="rId36"/>
    <p:sldId id="286" r:id="rId37"/>
    <p:sldId id="287" r:id="rId38"/>
    <p:sldId id="290" r:id="rId39"/>
    <p:sldId id="323" r:id="rId40"/>
    <p:sldId id="324" r:id="rId41"/>
    <p:sldId id="322" r:id="rId42"/>
    <p:sldId id="291" r:id="rId43"/>
    <p:sldId id="326" r:id="rId44"/>
    <p:sldId id="327" r:id="rId45"/>
    <p:sldId id="329" r:id="rId46"/>
    <p:sldId id="335" r:id="rId47"/>
    <p:sldId id="330" r:id="rId48"/>
    <p:sldId id="331" r:id="rId49"/>
    <p:sldId id="333" r:id="rId50"/>
    <p:sldId id="334" r:id="rId51"/>
    <p:sldId id="358" r:id="rId52"/>
    <p:sldId id="360" r:id="rId53"/>
    <p:sldId id="364" r:id="rId95"/>
    <p:sldId id="365" r:id="rId96"/>
    <p:sldId id="366" r:id="rId97"/>
    <p:sldId id="367" r:id="rId98"/>
    <p:sldId id="359" r:id="rId54"/>
    <p:sldId id="292" r:id="rId55"/>
    <p:sldId id="293" r:id="rId56"/>
    <p:sldId id="362" r:id="rId57"/>
    <p:sldId id="294" r:id="rId58"/>
    <p:sldId id="336" r:id="rId59"/>
    <p:sldId id="337" r:id="rId60"/>
    <p:sldId id="295" r:id="rId61"/>
    <p:sldId id="338" r:id="rId62"/>
    <p:sldId id="339" r:id="rId63"/>
    <p:sldId id="296" r:id="rId64"/>
    <p:sldId id="351" r:id="rId65"/>
    <p:sldId id="297" r:id="rId66"/>
    <p:sldId id="352" r:id="rId67"/>
    <p:sldId id="353" r:id="rId68"/>
    <p:sldId id="354" r:id="rId69"/>
    <p:sldId id="298" r:id="rId70"/>
    <p:sldId id="343" r:id="rId71"/>
    <p:sldId id="344" r:id="rId72"/>
    <p:sldId id="345" r:id="rId73"/>
    <p:sldId id="346" r:id="rId74"/>
    <p:sldId id="361" r:id="rId75"/>
    <p:sldId id="347" r:id="rId76"/>
    <p:sldId id="348" r:id="rId77"/>
    <p:sldId id="349" r:id="rId78"/>
    <p:sldId id="350" r:id="rId79"/>
    <p:sldId id="305" r:id="rId80"/>
    <p:sldId id="306" r:id="rId81"/>
    <p:sldId id="307" r:id="rId82"/>
    <p:sldId id="308" r:id="rId83"/>
    <p:sldId id="363" r:id="rId84"/>
    <p:sldId id="309" r:id="rId85"/>
    <p:sldId id="341" r:id="rId86"/>
    <p:sldId id="310" r:id="rId87"/>
    <p:sldId id="342" r:id="rId88"/>
    <p:sldId id="311" r:id="rId8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384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  <Relationship Id="rId95" Type="http://schemas.openxmlformats.org/officeDocument/2006/relationships/slide" Target="slides/slide89.xml"/>
  <Relationship Id="rId96" Type="http://schemas.openxmlformats.org/officeDocument/2006/relationships/slide" Target="slides/slide90.xml"/>
  <Relationship Id="rId97" Type="http://schemas.openxmlformats.org/officeDocument/2006/relationships/slide" Target="slides/slide91.xml"/>
  <Relationship Id="rId98" Type="http://schemas.openxmlformats.org/officeDocument/2006/relationships/slide" Target="slides/slide9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2F7E0-EAA3-42DA-B246-541CC610DE5A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0B24-E0E8-4EF5-BDD7-1B41C69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1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F00B24-E0E8-4EF5-BDD7-1B41C69AE2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23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F00B24-E0E8-4EF5-BDD7-1B41C69AE2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71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F00B24-E0E8-4EF5-BDD7-1B41C69AE24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35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F00B24-E0E8-4EF5-BDD7-1B41C69AE24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52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F00B24-E0E8-4EF5-BDD7-1B41C69AE24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61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
<Relationships xmlns="http://schemas.openxmlformats.org/package/2006/relationships"><Relationship Id="rId2" Type="http://schemas.openxmlformats.org/officeDocument/2006/relationships/image" Target="../media/v8_comparison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Energy-Efficient Secure Clustering in</a:t>
            </a:r>
          </a:p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Wireless Sensor Networks Using Hybrid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dirty="0">
                <a:solidFill>
                  <a:srgbClr val="DCE6F1"/>
                </a:solidFill>
                <a:latin typeface="Calibri"/>
              </a:rPr>
              <a:t>A Comparative Simulation Study: LEACH / HEED / PEGASIS Family vs. the Proposed Hybrid Protocol (v1-v8</a:t>
            </a:r>
            <a:r>
              <a:rPr sz="1500" b="0" i="1" dirty="0" smtClean="0">
                <a:solidFill>
                  <a:srgbClr val="DCE6F1"/>
                </a:solidFill>
                <a:latin typeface="Calibri"/>
              </a:rPr>
              <a:t>)</a:t>
            </a:r>
            <a:endParaRPr lang="ar-EG" sz="1500" b="0" i="1" dirty="0" smtClean="0">
              <a:solidFill>
                <a:srgbClr val="DCE6F1"/>
              </a:solidFill>
              <a:latin typeface="Calibri"/>
            </a:endParaRPr>
          </a:p>
          <a:p>
            <a:pPr algn="ctr"/>
            <a:endParaRPr lang="ar-EG" sz="1500" i="1" dirty="0">
              <a:solidFill>
                <a:srgbClr val="DCE6F1"/>
              </a:solidFill>
              <a:latin typeface="Calibri"/>
            </a:endParaRPr>
          </a:p>
          <a:p>
            <a:pPr algn="ctr"/>
            <a:endParaRPr lang="ar-EG" sz="1500" b="0" i="1" dirty="0" smtClean="0">
              <a:solidFill>
                <a:schemeClr val="bg1"/>
              </a:solidFill>
              <a:latin typeface="Calibri"/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Supervised by: Dr. </a:t>
            </a:r>
            <a:r>
              <a:rPr lang="en-US" sz="1600" dirty="0" err="1">
                <a:solidFill>
                  <a:schemeClr val="bg1"/>
                </a:solidFill>
              </a:rPr>
              <a:t>Hesham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ElZouka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						</a:t>
            </a:r>
            <a:r>
              <a:rPr lang="en-US" sz="1600" dirty="0">
                <a:solidFill>
                  <a:schemeClr val="bg1"/>
                </a:solidFill>
              </a:rPr>
              <a:t>Presented by: Eng. Rahma Khaled </a:t>
            </a:r>
            <a:r>
              <a:rPr lang="en-US" sz="1600" dirty="0" smtClean="0">
                <a:solidFill>
                  <a:schemeClr val="bg1"/>
                </a:solidFill>
              </a:rPr>
              <a:t>Oshba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		       Dr</a:t>
            </a:r>
            <a:r>
              <a:rPr lang="en-US" sz="1600" dirty="0">
                <a:solidFill>
                  <a:schemeClr val="bg1"/>
                </a:solidFill>
              </a:rPr>
              <a:t>. Amani </a:t>
            </a:r>
            <a:r>
              <a:rPr lang="en-US" sz="1600" dirty="0" err="1" smtClean="0">
                <a:solidFill>
                  <a:schemeClr val="bg1"/>
                </a:solidFill>
              </a:rPr>
              <a:t>Saad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sz="1600" dirty="0">
                <a:solidFill>
                  <a:schemeClr val="bg1"/>
                </a:solidFill>
              </a:rPr>
              <a:t>	</a:t>
            </a:r>
            <a:r>
              <a:rPr lang="en-US" sz="1600" dirty="0" smtClean="0">
                <a:solidFill>
                  <a:schemeClr val="bg1"/>
                </a:solidFill>
              </a:rPr>
              <a:t>	       Dr. Khaled </a:t>
            </a:r>
            <a:r>
              <a:rPr lang="en-US" sz="1600" dirty="0" err="1" smtClean="0">
                <a:solidFill>
                  <a:schemeClr val="bg1"/>
                </a:solidFill>
              </a:rPr>
              <a:t>Saada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DCE6F1"/>
                </a:solidFill>
                <a:latin typeface="Calibri"/>
              </a:rPr>
              <a:t>Master's Thesis Defense -- Research Progress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8393" y="1420793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 smtClean="0">
                <a:solidFill>
                  <a:srgbClr val="FFFFFF"/>
                </a:solidFill>
                <a:latin typeface="Calibri"/>
              </a:rPr>
              <a:t>Agenda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0139" y="1966139"/>
            <a:ext cx="10698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01 — Introduction &amp; Research Motivation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02 </a:t>
            </a:r>
            <a:r>
              <a:rPr lang="en-US" b="1" dirty="0">
                <a:solidFill>
                  <a:schemeClr val="bg1"/>
                </a:solidFill>
              </a:rPr>
              <a:t>— Background &amp; Related Work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03 </a:t>
            </a:r>
            <a:r>
              <a:rPr lang="en-US" b="1" dirty="0">
                <a:solidFill>
                  <a:schemeClr val="bg1"/>
                </a:solidFill>
              </a:rPr>
              <a:t>— Research Methodology &amp; Simulation Environment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04 </a:t>
            </a:r>
            <a:r>
              <a:rPr lang="en-US" b="1" dirty="0">
                <a:solidFill>
                  <a:schemeClr val="bg1"/>
                </a:solidFill>
              </a:rPr>
              <a:t>— Original Protocols: Reference Study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05 </a:t>
            </a:r>
            <a:r>
              <a:rPr lang="en-US" b="1" dirty="0">
                <a:solidFill>
                  <a:schemeClr val="bg1"/>
                </a:solidFill>
              </a:rPr>
              <a:t>— Edited &amp; Improved Protocols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06 </a:t>
            </a:r>
            <a:r>
              <a:rPr lang="en-US" b="1" dirty="0">
                <a:solidFill>
                  <a:schemeClr val="bg1"/>
                </a:solidFill>
              </a:rPr>
              <a:t>— Proposed Hybrid Protocol (v1–v8)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07 </a:t>
            </a:r>
            <a:r>
              <a:rPr lang="en-US" b="1" dirty="0">
                <a:solidFill>
                  <a:schemeClr val="bg1"/>
                </a:solidFill>
              </a:rPr>
              <a:t>— Proposed Protocol Experiments &amp; Variants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08 </a:t>
            </a:r>
            <a:r>
              <a:rPr lang="en-US" b="1" dirty="0">
                <a:solidFill>
                  <a:schemeClr val="bg1"/>
                </a:solidFill>
              </a:rPr>
              <a:t>— Results &amp; Comparative Discussion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09 </a:t>
            </a:r>
            <a:r>
              <a:rPr lang="en-US" b="1" dirty="0">
                <a:solidFill>
                  <a:schemeClr val="bg1"/>
                </a:solidFill>
              </a:rPr>
              <a:t>— Findings, Limitations &amp; Future Work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10 — Conclusion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11 — Questions &amp; Discussion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60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  <a:latin typeface="Calibri"/>
              </a:rPr>
              <a:t>Introduction &amp; Research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DCE6F1"/>
                </a:solidFill>
                <a:latin typeface="Calibri"/>
              </a:rPr>
              <a:t>Wireless Sensor Networks, Energy Efficiency &amp; Security Challenges, Research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8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 dirty="0">
                <a:solidFill>
                  <a:srgbClr val="FFFFFF"/>
                </a:solidFill>
                <a:latin typeface="Calibri"/>
              </a:rPr>
              <a:t>Wireless Sensor </a:t>
            </a:r>
            <a:r>
              <a:rPr sz="2600" b="1" i="0" dirty="0" smtClean="0">
                <a:solidFill>
                  <a:srgbClr val="FFFFFF"/>
                </a:solidFill>
                <a:latin typeface="Calibri"/>
              </a:rPr>
              <a:t>Networks</a:t>
            </a:r>
            <a:r>
              <a:rPr lang="ar-EG" sz="2600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600" b="1" dirty="0" smtClean="0">
                <a:solidFill>
                  <a:schemeClr val="bg1"/>
                </a:solidFill>
              </a:rPr>
              <a:t>WSN </a:t>
            </a:r>
            <a:r>
              <a:rPr lang="en-US" sz="2600" b="1" dirty="0">
                <a:solidFill>
                  <a:schemeClr val="bg1"/>
                </a:solidFill>
              </a:rPr>
              <a:t>&amp; Motivation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1.1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4731" y="1235108"/>
            <a:ext cx="74352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F1F1F"/>
                </a:solidFill>
              </a:rPr>
              <a:t>What are Wireless Sensor Networks (</a:t>
            </a:r>
            <a:r>
              <a:rPr lang="en-US" sz="1600" b="1" dirty="0" smtClean="0">
                <a:solidFill>
                  <a:srgbClr val="1F1F1F"/>
                </a:solidFill>
              </a:rPr>
              <a:t>WSNs</a:t>
            </a:r>
            <a:r>
              <a:rPr lang="en-US" sz="1600" b="1" dirty="0">
                <a:solidFill>
                  <a:srgbClr val="1F1F1F"/>
                </a:solidFill>
              </a:rPr>
              <a:t>)? </a:t>
            </a:r>
            <a:endParaRPr lang="ar-EG" sz="1600" b="1" dirty="0" smtClean="0">
              <a:solidFill>
                <a:srgbClr val="1F1F1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1F1F1F"/>
                </a:solidFill>
              </a:rPr>
              <a:t>A </a:t>
            </a:r>
            <a:r>
              <a:rPr lang="en-US" sz="1600" dirty="0">
                <a:solidFill>
                  <a:srgbClr val="1F1F1F"/>
                </a:solidFill>
              </a:rPr>
              <a:t>WSN consists of many battery-powered sensor nodes that sense, process and forward data to a Base Station (BS/sink). </a:t>
            </a:r>
            <a:endParaRPr lang="ar-EG" sz="1600" dirty="0" smtClean="0">
              <a:solidFill>
                <a:srgbClr val="1F1F1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1F1F1F"/>
                </a:solidFill>
              </a:rPr>
              <a:t>Sensor </a:t>
            </a:r>
            <a:r>
              <a:rPr lang="en-US" sz="1600" dirty="0">
                <a:solidFill>
                  <a:srgbClr val="1F1F1F"/>
                </a:solidFill>
              </a:rPr>
              <a:t>nodes have severe resource constraints, including limited (usually non-rechargeable) battery energy, limited processing power and memory. </a:t>
            </a:r>
            <a:endParaRPr lang="ar-EG" sz="1600" dirty="0" smtClean="0">
              <a:solidFill>
                <a:srgbClr val="1F1F1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1F1F1F"/>
                </a:solidFill>
              </a:rPr>
              <a:t>Communication </a:t>
            </a:r>
            <a:r>
              <a:rPr lang="en-US" sz="1600" dirty="0">
                <a:solidFill>
                  <a:srgbClr val="1F1F1F"/>
                </a:solidFill>
              </a:rPr>
              <a:t>may be single-hop or multi-hop, depending on the network architecture.</a:t>
            </a:r>
            <a:endParaRPr lang="en-US" sz="16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33937" t="9144" r="51655" b="66159"/>
          <a:stretch/>
        </p:blipFill>
        <p:spPr>
          <a:xfrm>
            <a:off x="10065608" y="1051560"/>
            <a:ext cx="2088704" cy="238681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l="51265" t="39358" r="974" b="29507"/>
          <a:stretch/>
        </p:blipFill>
        <p:spPr>
          <a:xfrm>
            <a:off x="1857374" y="3592135"/>
            <a:ext cx="7498063" cy="325845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254228" y="3216566"/>
            <a:ext cx="4601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1F1F1F"/>
                </a:solidFill>
              </a:rPr>
              <a:t>Communication Strategies and Energy Consumption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8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 dirty="0">
                <a:solidFill>
                  <a:srgbClr val="FFFFFF"/>
                </a:solidFill>
                <a:latin typeface="Calibri"/>
              </a:rPr>
              <a:t>Wireless Sensor </a:t>
            </a:r>
            <a:r>
              <a:rPr sz="2600" b="1" i="0" dirty="0" smtClean="0">
                <a:solidFill>
                  <a:srgbClr val="FFFFFF"/>
                </a:solidFill>
                <a:latin typeface="Calibri"/>
              </a:rPr>
              <a:t>Networks</a:t>
            </a:r>
            <a:r>
              <a:rPr lang="ar-EG" sz="2600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600" b="1" dirty="0" smtClean="0">
                <a:solidFill>
                  <a:schemeClr val="bg1"/>
                </a:solidFill>
              </a:rPr>
              <a:t>WSN </a:t>
            </a:r>
            <a:r>
              <a:rPr lang="en-US" sz="2600" b="1" dirty="0">
                <a:solidFill>
                  <a:schemeClr val="bg1"/>
                </a:solidFill>
              </a:rPr>
              <a:t>&amp; Motivation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1.1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4731" y="1235108"/>
            <a:ext cx="115246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1F1F"/>
                </a:solidFill>
              </a:rPr>
              <a:t>Clustering in WSNs </a:t>
            </a:r>
            <a:endParaRPr lang="ar-EG" b="1" dirty="0" smtClean="0">
              <a:solidFill>
                <a:srgbClr val="1F1F1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1F1F1F"/>
                </a:solidFill>
              </a:rPr>
              <a:t>Clustering </a:t>
            </a:r>
            <a:r>
              <a:rPr lang="en-US" dirty="0">
                <a:solidFill>
                  <a:srgbClr val="1F1F1F"/>
                </a:solidFill>
              </a:rPr>
              <a:t>(grouping nodes under a rotating Cluster Head, CH) is the dominant strategy to reduce long-range transmissions and balance the energy load among nodes.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l="1486" t="58275" r="51505" b="12044"/>
          <a:stretch/>
        </p:blipFill>
        <p:spPr>
          <a:xfrm>
            <a:off x="2713175" y="2250260"/>
            <a:ext cx="7869342" cy="331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5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47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</a:rPr>
              <a:t>Energy Efficiency Problem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1.2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88741" t="8868" r="974" b="65186"/>
          <a:stretch/>
        </p:blipFill>
        <p:spPr>
          <a:xfrm>
            <a:off x="9564179" y="1530486"/>
            <a:ext cx="1750695" cy="294399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2328" y="1188053"/>
            <a:ext cx="1056617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Why Energy Efficiency is Critical</a:t>
            </a:r>
            <a:r>
              <a:rPr lang="en-US" sz="1600" b="1" dirty="0" smtClean="0"/>
              <a:t>?</a:t>
            </a:r>
          </a:p>
          <a:p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Sensor nodes are </a:t>
            </a:r>
            <a:r>
              <a:rPr lang="en-US" altLang="en-US" sz="1600" b="1" dirty="0"/>
              <a:t>battery-powered</a:t>
            </a:r>
            <a:r>
              <a:rPr lang="en-US" altLang="en-US" sz="1600" dirty="0"/>
              <a:t>, making energy conservation essential.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Wireless communication is a </a:t>
            </a:r>
            <a:r>
              <a:rPr lang="en-US" altLang="en-US" sz="1600" b="1" dirty="0"/>
              <a:t>major energy consumer</a:t>
            </a:r>
            <a:r>
              <a:rPr lang="en-US" altLang="en-US" sz="1600" dirty="0"/>
              <a:t>, especially over long distances.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CHs consume more energy</a:t>
            </a:r>
            <a:r>
              <a:rPr lang="en-US" altLang="en-US" sz="1600" dirty="0"/>
              <a:t> due to data collection, aggregation, and forwarding.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Uneven energy consumption causes </a:t>
            </a:r>
            <a:r>
              <a:rPr lang="en-US" altLang="en-US" sz="1600" b="1" dirty="0"/>
              <a:t>early node death and shorter network lifetime</a:t>
            </a:r>
            <a:r>
              <a:rPr lang="en-US" altLang="en-US" sz="1600" dirty="0"/>
              <a:t>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Therefore, </a:t>
            </a:r>
            <a:r>
              <a:rPr lang="en-US" altLang="en-US" sz="1600" b="1" dirty="0"/>
              <a:t>CH selection and rotation</a:t>
            </a:r>
            <a:r>
              <a:rPr lang="en-US" altLang="en-US" sz="1600" dirty="0"/>
              <a:t> are critical for balancing energy consumption.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79" y="5302689"/>
            <a:ext cx="6984772" cy="1318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477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b="1" dirty="0">
                <a:solidFill>
                  <a:schemeClr val="bg1"/>
                </a:solidFill>
                <a:latin typeface="Arial" panose="020B0604020202020204" pitchFamily="34" charset="0"/>
              </a:rPr>
              <a:t>Research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Research </a:t>
            </a:r>
            <a:r>
              <a:rPr lang="en-US" altLang="en-US" sz="1600" b="1" dirty="0"/>
              <a:t>Problem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How can </a:t>
            </a:r>
            <a:r>
              <a:rPr lang="en-US" altLang="en-US" sz="1600" b="1" dirty="0"/>
              <a:t>clustering and routing mechanisms </a:t>
            </a:r>
            <a:r>
              <a:rPr lang="en-US" altLang="en-US" sz="1600" dirty="0"/>
              <a:t>be designed to </a:t>
            </a:r>
            <a:r>
              <a:rPr lang="en-US" altLang="en-US" sz="1600" b="1" dirty="0"/>
              <a:t>improve energy efficiency</a:t>
            </a:r>
            <a:r>
              <a:rPr lang="en-US" altLang="en-US" sz="1600" dirty="0"/>
              <a:t> and </a:t>
            </a:r>
            <a:r>
              <a:rPr lang="en-US" altLang="en-US" sz="1600" b="1" dirty="0"/>
              <a:t>extend the operational lifetime</a:t>
            </a:r>
            <a:r>
              <a:rPr lang="en-US" altLang="en-US" sz="1600" dirty="0"/>
              <a:t> of Wireless Sensor Networks while maintaining reliable communication</a:t>
            </a:r>
            <a:r>
              <a:rPr lang="en-US" altLang="en-US" sz="1600" dirty="0" smtClean="0"/>
              <a:t>?</a:t>
            </a:r>
            <a:endParaRPr lang="ar-EG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Research Objectives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67944" t="31648" r="636" b="35514"/>
          <a:stretch/>
        </p:blipFill>
        <p:spPr>
          <a:xfrm>
            <a:off x="548640" y="2730802"/>
            <a:ext cx="5294645" cy="368904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67944" t="64589" r="636" b="2165"/>
          <a:stretch/>
        </p:blipFill>
        <p:spPr>
          <a:xfrm>
            <a:off x="6391925" y="2730802"/>
            <a:ext cx="5364726" cy="37842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Background &amp; Related Routing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CE6F1"/>
                </a:solidFill>
                <a:latin typeface="Calibri"/>
              </a:rPr>
              <a:t>LEACH, HEED, PEGASIS, H-LEACH, SH-LEACH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</a:rPr>
              <a:t>WSN Routing &amp; Clustering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DCE6F1"/>
                </a:solidFill>
                <a:latin typeface="Calibri"/>
              </a:rPr>
              <a:t>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Routing</a:t>
            </a:r>
            <a:r>
              <a:rPr lang="en-US" sz="1600" dirty="0" smtClean="0"/>
              <a:t>: Determines </a:t>
            </a:r>
            <a:r>
              <a:rPr lang="en-US" sz="1600" dirty="0"/>
              <a:t>how data reaches the 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Clustering</a:t>
            </a:r>
            <a:r>
              <a:rPr lang="en-US" sz="1600" dirty="0" smtClean="0"/>
              <a:t>: Groups </a:t>
            </a:r>
            <a:r>
              <a:rPr lang="en-US" sz="1600" dirty="0"/>
              <a:t>nodes under a </a:t>
            </a:r>
            <a:r>
              <a:rPr lang="en-US" sz="1600" b="1" dirty="0"/>
              <a:t>Cluster Head (CH</a:t>
            </a:r>
            <a:r>
              <a:rPr lang="en-US" sz="1600" b="1" dirty="0" smtClean="0"/>
              <a:t>)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-104" t="23494" r="104" b="10313"/>
          <a:stretch/>
        </p:blipFill>
        <p:spPr>
          <a:xfrm>
            <a:off x="993782" y="2202596"/>
            <a:ext cx="10204129" cy="45030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LEACH &amp; HEED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 smtClean="0">
                <a:solidFill>
                  <a:srgbClr val="DCE6F1"/>
                </a:solidFill>
                <a:latin typeface="Calibri"/>
              </a:rPr>
              <a:t>2.</a:t>
            </a:r>
            <a:r>
              <a:rPr lang="en-US" sz="1200" b="1" i="0" dirty="0" smtClean="0">
                <a:solidFill>
                  <a:srgbClr val="DCE6F1"/>
                </a:solidFill>
                <a:latin typeface="Calibri"/>
              </a:rPr>
              <a:t>2</a:t>
            </a:r>
            <a:endParaRPr sz="1200" b="1" i="0" dirty="0">
              <a:solidFill>
                <a:srgbClr val="DCE6F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1949" y="1274505"/>
            <a:ext cx="114966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Two </a:t>
            </a:r>
            <a:r>
              <a:rPr lang="en-US" altLang="en-US" sz="1600" b="1" dirty="0"/>
              <a:t>Foundations: LEACH and </a:t>
            </a:r>
            <a:r>
              <a:rPr lang="en-US" altLang="en-US" sz="1600" b="1" dirty="0" smtClean="0"/>
              <a:t>HEED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What </a:t>
            </a:r>
            <a:r>
              <a:rPr lang="en-US" altLang="en-US" sz="1600" b="1" dirty="0"/>
              <a:t>do they teach us?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sym typeface="Wingdings" panose="05000000000000000000" pitchFamily="2" charset="2"/>
              </a:rPr>
              <a:t> </a:t>
            </a:r>
            <a:r>
              <a:rPr lang="en-US" altLang="en-US" sz="1600" b="1" dirty="0" smtClean="0"/>
              <a:t>LEACH </a:t>
            </a:r>
            <a:r>
              <a:rPr lang="en-US" altLang="en-US" sz="1600" b="1" dirty="0"/>
              <a:t>→ </a:t>
            </a:r>
            <a:r>
              <a:rPr lang="en-US" altLang="en-US" sz="1600" dirty="0"/>
              <a:t>Lightweight &amp; distributed CH </a:t>
            </a:r>
            <a:r>
              <a:rPr lang="en-US" altLang="en-US" sz="1600" dirty="0" smtClean="0"/>
              <a:t>rotation		</a:t>
            </a:r>
            <a:r>
              <a:rPr lang="en-US" altLang="en-US" sz="1600" dirty="0" smtClean="0">
                <a:sym typeface="Wingdings" panose="05000000000000000000" pitchFamily="2" charset="2"/>
              </a:rPr>
              <a:t> </a:t>
            </a:r>
            <a:r>
              <a:rPr lang="en-US" altLang="en-US" sz="1600" b="1" dirty="0" smtClean="0"/>
              <a:t>HEED </a:t>
            </a:r>
            <a:r>
              <a:rPr lang="en-US" altLang="en-US" sz="1600" b="1" dirty="0"/>
              <a:t>→ </a:t>
            </a:r>
            <a:r>
              <a:rPr lang="en-US" altLang="en-US" sz="1600" dirty="0"/>
              <a:t>Energy + </a:t>
            </a:r>
            <a:r>
              <a:rPr lang="en-US" altLang="en-US" sz="1600" dirty="0" smtClean="0"/>
              <a:t>Communication Cost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042433"/>
              </p:ext>
            </p:extLst>
          </p:nvPr>
        </p:nvGraphicFramePr>
        <p:xfrm>
          <a:off x="1167535" y="3349412"/>
          <a:ext cx="9685173" cy="2133600"/>
        </p:xfrm>
        <a:graphic>
          <a:graphicData uri="http://schemas.openxmlformats.org/drawingml/2006/table">
            <a:tbl>
              <a:tblPr/>
              <a:tblGrid>
                <a:gridCol w="2589049">
                  <a:extLst>
                    <a:ext uri="{9D8B030D-6E8A-4147-A177-3AD203B41FA5}">
                      <a16:colId xmlns:a16="http://schemas.microsoft.com/office/drawing/2014/main" val="3903255880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262305098"/>
                    </a:ext>
                  </a:extLst>
                </a:gridCol>
                <a:gridCol w="4171949">
                  <a:extLst>
                    <a:ext uri="{9D8B030D-6E8A-4147-A177-3AD203B41FA5}">
                      <a16:colId xmlns:a16="http://schemas.microsoft.com/office/drawing/2014/main" val="168275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bg1"/>
                          </a:solidFill>
                        </a:rPr>
                        <a:t>Protocol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LEACH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HEED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914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Main 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Probabilistic CH rotation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Energy + communication-cost-based CH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753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CH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Random/probabilistic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Iterative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40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Energy awareness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❌ 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✅ Residual </a:t>
                      </a:r>
                      <a:r>
                        <a:rPr lang="en-US" sz="1400" dirty="0" smtClean="0"/>
                        <a:t>energy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3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Connectivity/load awareness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856375"/>
                  </a:ext>
                </a:extLst>
              </a:tr>
              <a:tr h="265676">
                <a:tc>
                  <a:txBody>
                    <a:bodyPr/>
                    <a:lstStyle/>
                    <a:p>
                      <a:r>
                        <a:rPr lang="en-US" sz="1400" b="1" dirty="0"/>
                        <a:t>Main strength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Simple &amp; low overhead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Better-informed CH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997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Main limitation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Uneven CH/cluster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Higher control overhead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0733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272194"/>
            <a:ext cx="1084326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Remaining Issues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LEACH:</a:t>
            </a:r>
            <a:r>
              <a:rPr lang="en-US" altLang="en-US" sz="1600" dirty="0"/>
              <a:t> selection quality </a:t>
            </a:r>
            <a:r>
              <a:rPr lang="en-US" altLang="en-US" sz="1600" b="1" dirty="0"/>
              <a:t>can be weak </a:t>
            </a:r>
            <a:r>
              <a:rPr lang="en-US" altLang="en-US" sz="1600" dirty="0"/>
              <a:t>because </a:t>
            </a:r>
            <a:r>
              <a:rPr lang="en-US" altLang="en-US" sz="1600" b="1" dirty="0"/>
              <a:t>energy/connectivity are not explicitly considered.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HEED:</a:t>
            </a:r>
            <a:r>
              <a:rPr lang="en-US" altLang="en-US" sz="1600" dirty="0"/>
              <a:t> </a:t>
            </a:r>
            <a:r>
              <a:rPr lang="en-US" altLang="en-US" sz="1600" b="1" dirty="0"/>
              <a:t>better CH selection </a:t>
            </a:r>
            <a:r>
              <a:rPr lang="en-US" altLang="en-US" sz="1600" dirty="0"/>
              <a:t>comes with </a:t>
            </a:r>
            <a:r>
              <a:rPr lang="en-US" altLang="en-US" sz="1600" b="1" dirty="0"/>
              <a:t>additional iterative control overhead</a:t>
            </a:r>
            <a:r>
              <a:rPr lang="en-US" altLang="en-US" sz="1600" dirty="0"/>
              <a:t>, while cluster reuse and CH-failure recovery remain unaddressed. </a:t>
            </a:r>
            <a:endParaRPr lang="ar-EG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Key Insight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Can we combine LEACH's lightweight rotation with HEED's CH-quality awareness?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4077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PEGASIS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 smtClean="0">
                <a:solidFill>
                  <a:srgbClr val="DCE6F1"/>
                </a:solidFill>
                <a:latin typeface="Calibri"/>
              </a:rPr>
              <a:t>2.</a:t>
            </a:r>
            <a:r>
              <a:rPr lang="en-US" sz="1200" b="1" i="0" dirty="0" smtClean="0">
                <a:solidFill>
                  <a:srgbClr val="DCE6F1"/>
                </a:solidFill>
                <a:latin typeface="Calibri"/>
              </a:rPr>
              <a:t>3</a:t>
            </a:r>
            <a:endParaRPr sz="1200" b="1" i="0" dirty="0">
              <a:solidFill>
                <a:srgbClr val="DCE6F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PEGASIS: From Clustering to Relay-Based </a:t>
            </a:r>
            <a:r>
              <a:rPr lang="en-US" sz="1600" b="1" dirty="0" smtClean="0"/>
              <a:t>Communication</a:t>
            </a:r>
          </a:p>
          <a:p>
            <a:r>
              <a:rPr lang="en-US" sz="1600" b="1" dirty="0" smtClean="0"/>
              <a:t>Chain-Based </a:t>
            </a:r>
            <a:r>
              <a:rPr lang="en-US" sz="1600" b="1" dirty="0"/>
              <a:t>Communication</a:t>
            </a:r>
            <a:endParaRPr lang="en-US" sz="1600" dirty="0"/>
          </a:p>
          <a:p>
            <a:endParaRPr lang="en-US" sz="1600" b="1" dirty="0" smtClean="0"/>
          </a:p>
          <a:p>
            <a:r>
              <a:rPr lang="en-US" sz="1600" b="1" dirty="0" smtClean="0"/>
              <a:t>Main </a:t>
            </a:r>
            <a:r>
              <a:rPr lang="en-US" sz="1600" b="1" dirty="0"/>
              <a:t>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Greedy chain 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One leader per round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aggregation along the chain </a:t>
            </a:r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/>
              <a:t>Limitation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Single-chain dependency 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Higher </a:t>
            </a:r>
            <a:r>
              <a:rPr lang="en-US" sz="1600" dirty="0"/>
              <a:t>communication </a:t>
            </a:r>
            <a:r>
              <a:rPr lang="en-US" sz="1600" dirty="0" smtClean="0"/>
              <a:t>delay</a:t>
            </a:r>
            <a:endParaRPr lang="ar-EG" sz="1600" dirty="0" smtClean="0"/>
          </a:p>
          <a:p>
            <a:endParaRPr lang="ar-EG" sz="1600" dirty="0" smtClean="0"/>
          </a:p>
          <a:p>
            <a:r>
              <a:rPr lang="en-US" sz="1600" b="1" dirty="0" smtClean="0"/>
              <a:t>Research </a:t>
            </a:r>
            <a:r>
              <a:rPr lang="en-US" sz="1600" b="1" dirty="0"/>
              <a:t>Relevance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Inspires CH-to-CH relay in the proposed protocol.</a:t>
            </a:r>
          </a:p>
        </p:txBody>
      </p:sp>
      <p:sp>
        <p:nvSpPr>
          <p:cNvPr id="7" name="AutoShape 2" descr="Data Gathering in Sensor Network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6677" t="5672" r="5745" b="16596"/>
          <a:stretch/>
        </p:blipFill>
        <p:spPr>
          <a:xfrm>
            <a:off x="6149339" y="1666874"/>
            <a:ext cx="5372101" cy="3524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8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</a:rPr>
              <a:t>H-LEACH &amp; </a:t>
            </a:r>
            <a:r>
              <a:rPr lang="en-US" sz="2600" b="1" dirty="0" smtClean="0">
                <a:solidFill>
                  <a:schemeClr val="bg1"/>
                </a:solidFill>
              </a:rPr>
              <a:t>SH-LEACH (</a:t>
            </a:r>
            <a:r>
              <a:rPr sz="2600" b="1" i="0" dirty="0" smtClean="0">
                <a:solidFill>
                  <a:srgbClr val="FFFFFF"/>
                </a:solidFill>
                <a:latin typeface="Calibri"/>
              </a:rPr>
              <a:t>Hybrid 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Family)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 smtClean="0">
                <a:solidFill>
                  <a:srgbClr val="DCE6F1"/>
                </a:solidFill>
                <a:latin typeface="Calibri"/>
              </a:rPr>
              <a:t>2.</a:t>
            </a:r>
            <a:r>
              <a:rPr lang="en-US" sz="1200" b="1" i="0" dirty="0" smtClean="0">
                <a:solidFill>
                  <a:srgbClr val="DCE6F1"/>
                </a:solidFill>
                <a:latin typeface="Calibri"/>
              </a:rPr>
              <a:t>4</a:t>
            </a:r>
            <a:endParaRPr sz="1200" b="1" i="0" dirty="0">
              <a:solidFill>
                <a:srgbClr val="DCE6F1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2900" y="1362075"/>
            <a:ext cx="5638648" cy="363855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SH-LEACH</a:t>
            </a:r>
          </a:p>
          <a:p>
            <a:r>
              <a:rPr lang="en-US" sz="1600" b="1" dirty="0"/>
              <a:t>Focus:</a:t>
            </a:r>
            <a:r>
              <a:rPr lang="en-US" sz="1600" dirty="0"/>
              <a:t> Stochastic CH selection &amp; stability</a:t>
            </a:r>
            <a:endParaRPr lang="ar-EG" sz="1600" dirty="0"/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Combines LEACH + HEED concepts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Stochastic CH selection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Targets improved cluster stability </a:t>
            </a:r>
            <a:endParaRPr lang="ar-EG" sz="1600" dirty="0"/>
          </a:p>
          <a:p>
            <a:endParaRPr lang="en-US" dirty="0"/>
          </a:p>
          <a:p>
            <a:r>
              <a:rPr lang="en-US" b="1" dirty="0"/>
              <a:t>Research Relevance: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→ Shows the value of combining LEACH and HEED ideas.</a:t>
            </a:r>
            <a:endParaRPr lang="ar-EG"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6324447" y="1362075"/>
            <a:ext cx="5654193" cy="364807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H-LEACH</a:t>
            </a:r>
            <a:endParaRPr lang="en-US" b="1" dirty="0"/>
          </a:p>
          <a:p>
            <a:r>
              <a:rPr lang="en-US" b="1" dirty="0"/>
              <a:t>Focus:</a:t>
            </a:r>
            <a:r>
              <a:rPr lang="en-US" dirty="0"/>
              <a:t> Energy-aware CH selection</a:t>
            </a:r>
            <a:endParaRPr lang="ar-EG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Residual + maximum energy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Threshold-based CH election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Energy-based node eligibility</a:t>
            </a:r>
            <a:endParaRPr lang="ar-EG" sz="1600" dirty="0"/>
          </a:p>
          <a:p>
            <a:r>
              <a:rPr lang="en-US" sz="1600" dirty="0"/>
              <a:t> </a:t>
            </a:r>
          </a:p>
          <a:p>
            <a:r>
              <a:rPr lang="en-US" b="1" dirty="0"/>
              <a:t>Research Relevance: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→ Motivates energy-aware CH selection.</a:t>
            </a:r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494377"/>
            <a:ext cx="10515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What do these hybrids show?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Hybridization can improve CH selection or stability — but different parts of the communication problem remain unresolved.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Recent 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 smtClean="0">
                <a:solidFill>
                  <a:srgbClr val="DCE6F1"/>
                </a:solidFill>
                <a:latin typeface="Calibri"/>
              </a:rPr>
              <a:t>2.</a:t>
            </a:r>
            <a:r>
              <a:rPr lang="en-US" sz="1200" b="1" i="0" dirty="0" smtClean="0">
                <a:solidFill>
                  <a:srgbClr val="DCE6F1"/>
                </a:solidFill>
                <a:latin typeface="Calibri"/>
              </a:rPr>
              <a:t>5</a:t>
            </a:r>
            <a:endParaRPr sz="1200" b="1" i="0" dirty="0">
              <a:solidFill>
                <a:srgbClr val="DCE6F1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001274"/>
              </p:ext>
            </p:extLst>
          </p:nvPr>
        </p:nvGraphicFramePr>
        <p:xfrm>
          <a:off x="274320" y="1280160"/>
          <a:ext cx="11612878" cy="437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0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1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4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Main Idea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Kaur, Kour &amp; Singh, 2025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EECH-HEED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HEED+EECH dual-zone selection + adaptive threshold sensing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Zone-based heterogeneity assumption; not a LEACH+HEED fusion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Does not address multi-round reuse or CH-failure recovery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Juwaied &amp; Jackowska-Strumillo,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DL-HEED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Graph Neural Network replaces HEED's CH-selection formula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HEED-only enhancement; requires GNN training/inference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No rotation/reuse mechanism; no inter-cluster relay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Subedi et al., 2024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TLC-LEACH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Two-level grid clustering + angular boundary-node reassignment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Solves the boundary problem only; does not combine LEACH with HEED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No CH-failure recovery; no energy x connectivity scoring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El-Sayed et al.,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RL-ILEACH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Tabular Q-learning embedded in ILEACH's CH-selection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PDR improvement not statistically significant in the paper's own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No LEACH+HEED fusion; no CH-to-CH relay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Razaque et al., 2016 / Shrestha et al., 2015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H-LEACH / SH-LEACH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Direct LEACH+HEED fusion via energy-weighted probability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No multi-round reuse, no failure recovery, no relay mechanism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This is the gap the proposed protocol (v1-v7) directly targets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</a:rPr>
              <a:t>Research Gap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2.6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500077"/>
              </p:ext>
            </p:extLst>
          </p:nvPr>
        </p:nvGraphicFramePr>
        <p:xfrm>
          <a:off x="1990725" y="1197007"/>
          <a:ext cx="8250555" cy="264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9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713">
                <a:tc>
                  <a:txBody>
                    <a:bodyPr/>
                    <a:lstStyle/>
                    <a:p>
                      <a:r>
                        <a:rPr lang="en-US" sz="1600" dirty="0"/>
                        <a:t>Existing Approaches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Addressed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Still Missing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792">
                <a:tc>
                  <a:txBody>
                    <a:bodyPr/>
                    <a:lstStyle/>
                    <a:p>
                      <a:r>
                        <a:rPr lang="en-US" sz="1400" b="1" dirty="0"/>
                        <a:t>LEACH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Lightweight CH rotation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Energy/connectivity awareness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948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HEED</a:t>
                      </a:r>
                      <a:endParaRPr sz="1400" b="1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Energy + communication cost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Low-overhead reuse &amp; failure recovery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948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PEGASIS</a:t>
                      </a:r>
                      <a:endParaRPr sz="1400" b="1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Relay-based communication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Robustness of a single chain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948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H-LEACH / SH-LEACH</a:t>
                      </a:r>
                      <a:endParaRPr sz="1400" b="1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Improved CH selection / stability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Integrated reuse + failover + relay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79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Recent Hybrid Work</a:t>
                      </a:r>
                      <a:endParaRPr sz="1400" b="1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Specialized improvements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Combined cross-layer mechanism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47648" y="3949190"/>
            <a:ext cx="11344275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The Identified Gap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The reviewed approaches address different aspects of WSN operation. Based on the literature and our experimental observations, we investigate an integrated framework combining</a:t>
            </a:r>
            <a:r>
              <a:rPr lang="en-US" sz="1600" dirty="0" smtClean="0"/>
              <a:t>:</a:t>
            </a:r>
            <a:endParaRPr lang="ar-EG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1. Energy-aware CH </a:t>
            </a:r>
            <a:r>
              <a:rPr lang="en-US" altLang="en-US" sz="1600" b="1" dirty="0" smtClean="0"/>
              <a:t>Selection: </a:t>
            </a:r>
            <a:r>
              <a:rPr lang="en-US" altLang="en-US" sz="1600" dirty="0" smtClean="0"/>
              <a:t>Energy </a:t>
            </a:r>
            <a:r>
              <a:rPr lang="en-US" altLang="en-US" sz="1600" dirty="0"/>
              <a:t>+ Connectivity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＋</a:t>
            </a: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2. Multi-round Cluster </a:t>
            </a:r>
            <a:r>
              <a:rPr lang="en-US" altLang="en-US" sz="1600" b="1" dirty="0" smtClean="0"/>
              <a:t>Reuse: </a:t>
            </a:r>
            <a:r>
              <a:rPr lang="en-US" altLang="en-US" sz="1600" dirty="0" smtClean="0"/>
              <a:t>Reduce </a:t>
            </a:r>
            <a:r>
              <a:rPr lang="en-US" altLang="en-US" sz="1600" dirty="0"/>
              <a:t>repeated setup overhead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＋</a:t>
            </a: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3. CH Failure </a:t>
            </a:r>
            <a:r>
              <a:rPr lang="en-US" altLang="en-US" sz="1600" b="1" dirty="0" smtClean="0"/>
              <a:t>Recovery: </a:t>
            </a:r>
            <a:r>
              <a:rPr lang="en-US" altLang="en-US" sz="1600" dirty="0" smtClean="0"/>
              <a:t>Backup </a:t>
            </a:r>
            <a:r>
              <a:rPr lang="en-US" altLang="en-US" sz="1600" dirty="0"/>
              <a:t>CH / Failover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＋</a:t>
            </a: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4. Inter-Cluster </a:t>
            </a:r>
            <a:r>
              <a:rPr lang="en-US" altLang="en-US" sz="1600" b="1" dirty="0" smtClean="0"/>
              <a:t>Relay: </a:t>
            </a:r>
            <a:r>
              <a:rPr lang="en-US" altLang="en-US" sz="1600" dirty="0" smtClean="0"/>
              <a:t>CH-to-CH </a:t>
            </a:r>
            <a:r>
              <a:rPr lang="en-US" altLang="en-US" sz="1600" dirty="0"/>
              <a:t>communication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8395485" y="4749147"/>
            <a:ext cx="3110715" cy="1908477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Our </a:t>
            </a:r>
            <a:r>
              <a:rPr lang="en-US" altLang="en-US" b="1" dirty="0" smtClean="0"/>
              <a:t>Direction:</a:t>
            </a:r>
            <a:endParaRPr lang="en-US" altLang="en-US" b="1" dirty="0"/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An integrated hybrid clustering &amp; routing approach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047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Simulation Environment &amp; Evaluation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CE6F1"/>
                </a:solidFill>
                <a:latin typeface="Calibri"/>
              </a:rPr>
              <a:t>Unified Environment, Network &amp; Energy Model, Performance Metrics, Experimental Design, Foundational PHY/MAC Validation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</a:rPr>
              <a:t>Research Methodology / Overall Workflow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3.1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t="16674" b="5282"/>
          <a:stretch/>
        </p:blipFill>
        <p:spPr>
          <a:xfrm>
            <a:off x="262737" y="1392677"/>
            <a:ext cx="11666220" cy="5124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Unified Simulation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 smtClean="0">
                <a:solidFill>
                  <a:srgbClr val="DCE6F1"/>
                </a:solidFill>
                <a:latin typeface="Calibri"/>
              </a:rPr>
              <a:t>3.</a:t>
            </a:r>
            <a:r>
              <a:rPr lang="en-US" sz="1200" b="1" i="0" dirty="0" smtClean="0">
                <a:solidFill>
                  <a:srgbClr val="DCE6F1"/>
                </a:solidFill>
                <a:latin typeface="Calibri"/>
              </a:rPr>
              <a:t>2</a:t>
            </a:r>
            <a:endParaRPr sz="1200" b="1" i="0" dirty="0">
              <a:solidFill>
                <a:srgbClr val="DCE6F1"/>
              </a:solidFill>
              <a:latin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9896"/>
          <a:stretch/>
        </p:blipFill>
        <p:spPr>
          <a:xfrm>
            <a:off x="-1" y="1051560"/>
            <a:ext cx="12191695" cy="58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4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Network &amp; Energy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 smtClean="0">
                <a:solidFill>
                  <a:srgbClr val="DCE6F1"/>
                </a:solidFill>
                <a:latin typeface="Calibri"/>
              </a:rPr>
              <a:t>3.</a:t>
            </a:r>
            <a:r>
              <a:rPr lang="en-US" sz="1200" b="1" i="0" dirty="0" smtClean="0">
                <a:solidFill>
                  <a:srgbClr val="DCE6F1"/>
                </a:solidFill>
                <a:latin typeface="Calibri"/>
              </a:rPr>
              <a:t>3</a:t>
            </a:r>
            <a:endParaRPr sz="1200" b="1" i="0" dirty="0">
              <a:solidFill>
                <a:srgbClr val="DCE6F1"/>
              </a:solidFill>
              <a:latin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1129" t="8724" r="50954" b="54297"/>
          <a:stretch/>
        </p:blipFill>
        <p:spPr>
          <a:xfrm>
            <a:off x="0" y="1055753"/>
            <a:ext cx="7010400" cy="3606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216" t="45703" r="51561" b="2735"/>
          <a:stretch/>
        </p:blipFill>
        <p:spPr>
          <a:xfrm>
            <a:off x="6908799" y="3012362"/>
            <a:ext cx="5282895" cy="3845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Original Protocols: Reference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CE6F1"/>
                </a:solidFill>
                <a:latin typeface="Calibri"/>
              </a:rPr>
              <a:t>Part I (Reference) &amp; Part II (Hybrid) -- as published in the original papers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Foundational Validation: Full PHY/MAC Baseline (IEEE 802.15.4)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EG" sz="1200" b="1" i="0" dirty="0" smtClean="0">
                <a:solidFill>
                  <a:srgbClr val="DCE6F1"/>
                </a:solidFill>
                <a:latin typeface="Calibri"/>
              </a:rPr>
              <a:t>4.1</a:t>
            </a:r>
            <a:endParaRPr sz="1200" b="1" i="0" dirty="0">
              <a:solidFill>
                <a:srgbClr val="DCE6F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404040"/>
                </a:solidFill>
              </a:rPr>
              <a:t>• Before relying on the analytical model above, a small-scale sanity check was run with the FULL IEEE 802.15.4 (LR-WPAN) protocol stack: real PHY/MAC layers, a spectrum channel with log-distance path loss, and a realistic per-state (TX/RX/idle) energy source.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404040"/>
                </a:solidFill>
              </a:rPr>
              <a:t>• Setup: 4 nodes (3 sensors + 1 sink) in a 20x20m field, each sensor sending a 50-byte packet every 10s over a 1000s simulation, with </a:t>
            </a:r>
            <a:r>
              <a:rPr sz="1600" dirty="0" err="1">
                <a:solidFill>
                  <a:srgbClr val="404040"/>
                </a:solidFill>
              </a:rPr>
              <a:t>NetAnim</a:t>
            </a:r>
            <a:r>
              <a:rPr sz="1600" dirty="0">
                <a:solidFill>
                  <a:srgbClr val="404040"/>
                </a:solidFill>
              </a:rPr>
              <a:t> visualization and full energy accounting.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882909"/>
              </p:ext>
            </p:extLst>
          </p:nvPr>
        </p:nvGraphicFramePr>
        <p:xfrm>
          <a:off x="472287" y="2887979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8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Packets Sent / Received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300 / 300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Packet Delivery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Throughput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120 bit/s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Energy Consumed (per sensor / sink)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62.6358 J / 62.6362 J (of 100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Network Lifetime (1000s run)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Not reached -- all nodes still alive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Part I -- Original Reference Protocols (Published Results)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EG" sz="1200" b="1" i="0" dirty="0" smtClean="0">
                <a:solidFill>
                  <a:srgbClr val="DCE6F1"/>
                </a:solidFill>
                <a:latin typeface="Calibri"/>
              </a:rPr>
              <a:t>4.2</a:t>
            </a:r>
            <a:endParaRPr sz="1200" b="1" i="0" dirty="0">
              <a:solidFill>
                <a:srgbClr val="DCE6F1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263134"/>
            <a:ext cx="9563195" cy="27392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Why Reconstruct the Original Protocols</a:t>
            </a:r>
            <a:r>
              <a:rPr lang="en-US" b="1" dirty="0" smtClean="0"/>
              <a:t>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Understand the </a:t>
            </a:r>
            <a:r>
              <a:rPr lang="en-US" altLang="en-US" sz="1600" b="1" dirty="0"/>
              <a:t>original algorithmic mechanisms</a:t>
            </a:r>
            <a:r>
              <a:rPr lang="en-US" altLang="en-US" sz="1600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Verify the </a:t>
            </a:r>
            <a:r>
              <a:rPr lang="en-US" altLang="en-US" sz="1600" b="1" dirty="0"/>
              <a:t>implementation logic</a:t>
            </a:r>
            <a:r>
              <a:rPr lang="en-US" altLang="en-US" sz="1600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Identify </a:t>
            </a:r>
            <a:r>
              <a:rPr lang="en-US" altLang="en-US" sz="1600" b="1" dirty="0"/>
              <a:t>protocol limitations</a:t>
            </a:r>
            <a:r>
              <a:rPr lang="en-US" altLang="en-US" sz="1600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Avoid attributing environmental differences to the algorithm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Key Point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Paper results are not directly comparable because each study uses different simulation conditions.</a:t>
            </a:r>
            <a:endParaRPr lang="en-US" alt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Part I -- Original Reference Protocols (Published Results)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4.1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717134"/>
              </p:ext>
            </p:extLst>
          </p:nvPr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1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932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1312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404040"/>
                          </a:solidFill>
                        </a:rPr>
                        <a:t>Heinzelman</a:t>
                      </a:r>
                      <a:r>
                        <a:rPr sz="1400" dirty="0">
                          <a:solidFill>
                            <a:srgbClr val="404040"/>
                          </a:solidFill>
                        </a:rPr>
                        <a:t> et al., 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2000)</a:t>
                      </a:r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 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Graph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Graph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Younis &amp; Fahmy, 2004 -- graph shows HEED &gt; gen-LEACH, 300-700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PEGASIS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1578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2082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2192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Lindsey &amp; </a:t>
                      </a:r>
                      <a:r>
                        <a:rPr sz="1400" dirty="0" err="1">
                          <a:solidFill>
                            <a:srgbClr val="404040"/>
                          </a:solidFill>
                        </a:rPr>
                        <a:t>Raghavendra</a:t>
                      </a:r>
                      <a:r>
                        <a:rPr sz="14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2002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1950" y="5943600"/>
            <a:ext cx="11247120" cy="783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dirty="0"/>
              <a:t>• These are the numbers AS REPORTED in each protocol's own original paper -- different fields, radios, and node counts per paper.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dirty="0"/>
              <a:t>• They establish the historical baseline the field has compared against for two decades -- not directly comparable to each other yet.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16074"/>
          <a:stretch/>
        </p:blipFill>
        <p:spPr>
          <a:xfrm>
            <a:off x="2800350" y="3647982"/>
            <a:ext cx="5803248" cy="2124168"/>
          </a:xfrm>
          <a:prstGeom prst="rect">
            <a:avLst/>
          </a:prstGeom>
        </p:spPr>
      </p:pic>
      <p:cxnSp>
        <p:nvCxnSpPr>
          <p:cNvPr id="10" name="Curved Connector 9"/>
          <p:cNvCxnSpPr>
            <a:stCxn id="6" idx="1"/>
          </p:cNvCxnSpPr>
          <p:nvPr/>
        </p:nvCxnSpPr>
        <p:spPr>
          <a:xfrm rot="10800000" flipH="1" flipV="1">
            <a:off x="457200" y="2468880"/>
            <a:ext cx="2343150" cy="2285998"/>
          </a:xfrm>
          <a:prstGeom prst="curvedConnector3">
            <a:avLst>
              <a:gd name="adj1" fmla="val -97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2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Part II -- Original Hybrid Protocols (Published Results)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4.2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05729"/>
              </p:ext>
            </p:extLst>
          </p:nvPr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1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H-LEACH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~1778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~4312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404040"/>
                          </a:solidFill>
                        </a:rPr>
                        <a:t>Razaque</a:t>
                      </a:r>
                      <a:r>
                        <a:rPr sz="1400" dirty="0">
                          <a:solidFill>
                            <a:srgbClr val="404040"/>
                          </a:solidFill>
                        </a:rPr>
                        <a:t> et al., 2016 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--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SH-LEACH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N/A</a:t>
                      </a:r>
                      <a:endParaRPr 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Graph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Shrestha et al., 2015 -- graph shows FND delayed, LND converges with LEACH 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38251"/>
            <a:ext cx="11247120" cy="1103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dirty="0"/>
              <a:t>• H-LEACH and SH-LEACH are the two literature hybrids most structurally related to this thesis's own proposed design.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dirty="0"/>
              <a:t>• Both report improved lifetime over plain LEACH, but neither publishes a directly reproducible numeric table for every metric (some values are graph-read approximations).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121" y="3100564"/>
            <a:ext cx="4056455" cy="2290586"/>
          </a:xfrm>
          <a:prstGeom prst="rect">
            <a:avLst/>
          </a:prstGeom>
        </p:spPr>
      </p:pic>
      <p:cxnSp>
        <p:nvCxnSpPr>
          <p:cNvPr id="10" name="Curved Connector 9"/>
          <p:cNvCxnSpPr>
            <a:endCxn id="8" idx="1"/>
          </p:cNvCxnSpPr>
          <p:nvPr/>
        </p:nvCxnSpPr>
        <p:spPr>
          <a:xfrm>
            <a:off x="457200" y="2667000"/>
            <a:ext cx="3106921" cy="1578857"/>
          </a:xfrm>
          <a:prstGeom prst="curvedConnector3">
            <a:avLst>
              <a:gd name="adj1" fmla="val -794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We Cannot Compare Part I &amp; II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</a:rPr>
              <a:t>• Different field sizes (e.g., 50x50m vs 100x100m), different radio models (single-term vs two-slope), different node counts and BS placements across papers.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</a:rPr>
              <a:t>• This motivates Parts III-IV: reproducing every protocol from scratch in NS-3 under ONE unified, controlled environment.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 smtClean="0">
                <a:solidFill>
                  <a:srgbClr val="FFFFFF"/>
                </a:solidFill>
                <a:latin typeface="Calibri"/>
              </a:rPr>
              <a:t>Our 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Own NS-3 Baseline (Paper-Exact Environment)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611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dirty="0">
                <a:solidFill>
                  <a:srgbClr val="404040"/>
                </a:solidFill>
              </a:rPr>
              <a:t>• Before unifying the environment, every protocol was first reproduced with OUR OWN code inside its OWN paper's exact settings (field size, radio model, BS placement, packet size) -- validating the reconstruction itself, independent of any later environment change.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560108"/>
              </p:ext>
            </p:extLst>
          </p:nvPr>
        </p:nvGraphicFramePr>
        <p:xfrm>
          <a:off x="380847" y="1965424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882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970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1321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98.02%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Paper-exact: 50x50m, far BS, single-term radio (matches paper's own Fig. 3)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99.97%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Paper-exact: Table 2 config, far BS, E0=2J, packet=800bit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PEGASIS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1614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2036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2167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97.75%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Paper-exact: 50x50m, far BS, single-term radio (matches paper's own Table 1)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H-LEACH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94.75%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Paper-exact, WITH required fallback (paper's literal gate deadlocks without 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SH-LEACH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493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884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99.53%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Paper-exact: N=100, </a:t>
                      </a:r>
                      <a:r>
                        <a:rPr sz="1400" dirty="0" err="1">
                          <a:solidFill>
                            <a:srgbClr val="404040"/>
                          </a:solidFill>
                        </a:rPr>
                        <a:t>Cprob</a:t>
                      </a:r>
                      <a:r>
                        <a:rPr sz="1400" dirty="0">
                          <a:solidFill>
                            <a:srgbClr val="404040"/>
                          </a:solidFill>
                        </a:rPr>
                        <a:t>=0.10, single-term radio model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600" b="1" i="0" dirty="0" smtClean="0">
                <a:solidFill>
                  <a:srgbClr val="FFFFFF"/>
                </a:solidFill>
                <a:latin typeface="Calibri"/>
              </a:rPr>
              <a:t>Comparison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5.0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232563"/>
              </p:ext>
            </p:extLst>
          </p:nvPr>
        </p:nvGraphicFramePr>
        <p:xfrm>
          <a:off x="365760" y="4451255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882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970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1321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98.02%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Paper-exact: 50x50m, far BS, single-term radio (matches paper's own Fig. 3)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99.97%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Paper-exact: Table 2 config, far BS, E0=2J, packet=800bit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PEGASIS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1614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2036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2167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97.75%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Paper-exact: 50x50m, far BS, single-term radio (matches paper's own Table 1)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H-LEACH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94.75%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Paper-exact, WITH required fallback (paper's literal gate deadlocks without 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SH-LEACH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493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884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99.53%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Paper-exact: N=100, </a:t>
                      </a:r>
                      <a:r>
                        <a:rPr sz="1400" dirty="0" err="1">
                          <a:solidFill>
                            <a:srgbClr val="404040"/>
                          </a:solidFill>
                        </a:rPr>
                        <a:t>Cprob</a:t>
                      </a:r>
                      <a:r>
                        <a:rPr sz="1400" dirty="0">
                          <a:solidFill>
                            <a:srgbClr val="404040"/>
                          </a:solidFill>
                        </a:rPr>
                        <a:t>=0.10, single-term radio model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983946"/>
              </p:ext>
            </p:extLst>
          </p:nvPr>
        </p:nvGraphicFramePr>
        <p:xfrm>
          <a:off x="365760" y="1699260"/>
          <a:ext cx="1124712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1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571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57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932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1312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404040"/>
                          </a:solidFill>
                        </a:rPr>
                        <a:t>Heinzelman</a:t>
                      </a:r>
                      <a:r>
                        <a:rPr sz="1400" dirty="0">
                          <a:solidFill>
                            <a:srgbClr val="404040"/>
                          </a:solidFill>
                        </a:rPr>
                        <a:t> et al., 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2000)</a:t>
                      </a:r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 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Graph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Graph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Younis &amp; Fahmy, 2004 -- graph shows HEED &gt; gen-LEACH, 300-700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571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PEGASIS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1578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2082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2192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Lindsey &amp; </a:t>
                      </a:r>
                      <a:r>
                        <a:rPr sz="1400" dirty="0" err="1">
                          <a:solidFill>
                            <a:srgbClr val="404040"/>
                          </a:solidFill>
                        </a:rPr>
                        <a:t>Raghavendra</a:t>
                      </a:r>
                      <a:r>
                        <a:rPr sz="14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2002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571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H-LEACH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~1778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~4312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404040"/>
                          </a:solidFill>
                        </a:rPr>
                        <a:t>Razaque</a:t>
                      </a:r>
                      <a:r>
                        <a:rPr sz="1400" dirty="0">
                          <a:solidFill>
                            <a:srgbClr val="404040"/>
                          </a:solidFill>
                        </a:rPr>
                        <a:t> et al., 2016 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--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023918"/>
                  </a:ext>
                </a:extLst>
              </a:tr>
              <a:tr h="43107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SH-LEACH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N/A</a:t>
                      </a:r>
                      <a:endParaRPr 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Graph only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Shrestha et al., 2015 -- graph shows FND delayed, LND converges with LEACH late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02485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4054731"/>
            <a:ext cx="501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Our Own NS-3 Baseline (Paper-Exact Environment)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26286"/>
            <a:ext cx="4760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Original Reference Protocols (Published Results)</a:t>
            </a:r>
          </a:p>
        </p:txBody>
      </p:sp>
    </p:spTree>
    <p:extLst>
      <p:ext uri="{BB962C8B-B14F-4D97-AF65-F5344CB8AC3E}">
        <p14:creationId xmlns:p14="http://schemas.microsoft.com/office/powerpoint/2010/main" val="111478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Edited Protocols: Unified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CE6F1"/>
                </a:solidFill>
                <a:latin typeface="Calibri"/>
              </a:rPr>
              <a:t>Baseline (Our Own Code) -&gt; Part III (Reference) &amp; Part IV (Hybrid) Unified Reproduction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 smtClean="0">
                <a:solidFill>
                  <a:srgbClr val="FFFFFF"/>
                </a:solidFill>
                <a:latin typeface="Calibri"/>
              </a:rPr>
              <a:t>Edited 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Reference Protocols (NS-3, Unified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Env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5.1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038961"/>
              </p:ext>
            </p:extLst>
          </p:nvPr>
        </p:nvGraphicFramePr>
        <p:xfrm>
          <a:off x="537632" y="2510603"/>
          <a:ext cx="11430000" cy="2462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1409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1626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1962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98.37%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Unified: 100x100m, BS center, two-slope radio, packet=2000bit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HEED (original cost-direction)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1362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99.69%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Unified environment, original cost-direction (bug fixed)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HEED (rotation-fairness variant)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338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549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1502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99.67%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Unified environment + rotation-fairness penalty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PEGASIS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98.67%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Unified environment, same chain/leader-rotation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92040"/>
            <a:ext cx="11247120" cy="783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dirty="0"/>
              <a:t>• All four reproduced in the SAME 100x100m field, two-slope radio, BS center, 2000-bit packets -- now directly comparable.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dirty="0"/>
              <a:t>• HEED's iterative cost-based selection gives it the fastest FND but also the best PDR (99.69%) among references.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3999" y="1180917"/>
            <a:ext cx="1199726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Unified Baseline</a:t>
            </a:r>
            <a:endParaRPr lang="en-US" sz="1600" b="1" dirty="0" smtClean="0"/>
          </a:p>
          <a:p>
            <a:r>
              <a:rPr lang="en-US" sz="1600" b="1" dirty="0" smtClean="0"/>
              <a:t>Same</a:t>
            </a:r>
            <a:r>
              <a:rPr lang="en-US" sz="1600" b="1" dirty="0"/>
              <a:t>:</a:t>
            </a:r>
            <a:endParaRPr lang="en-US" sz="1600" dirty="0"/>
          </a:p>
          <a:p>
            <a:r>
              <a:rPr lang="en-US" sz="1600" dirty="0" smtClean="0">
                <a:sym typeface="Wingdings" panose="05000000000000000000" pitchFamily="2" charset="2"/>
              </a:rPr>
              <a:t> </a:t>
            </a:r>
            <a:r>
              <a:rPr lang="en-US" sz="1600" dirty="0" smtClean="0"/>
              <a:t>100 </a:t>
            </a:r>
            <a:r>
              <a:rPr lang="en-US" sz="1600" dirty="0"/>
              <a:t>Nodes </a:t>
            </a:r>
            <a:r>
              <a:rPr lang="en-US" sz="1600" dirty="0" smtClean="0"/>
              <a:t>		                   </a:t>
            </a:r>
            <a:r>
              <a:rPr lang="en-US" sz="1600" dirty="0" smtClean="0">
                <a:sym typeface="Wingdings" panose="05000000000000000000" pitchFamily="2" charset="2"/>
              </a:rPr>
              <a:t> </a:t>
            </a:r>
            <a:r>
              <a:rPr lang="en-US" sz="1600" dirty="0">
                <a:sym typeface="Wingdings" panose="05000000000000000000" pitchFamily="2" charset="2"/>
              </a:rPr>
              <a:t> </a:t>
            </a:r>
            <a:r>
              <a:rPr lang="en-US" sz="1600" dirty="0" smtClean="0"/>
              <a:t>100 </a:t>
            </a:r>
            <a:r>
              <a:rPr lang="en-US" sz="1600" dirty="0"/>
              <a:t>× 100 m </a:t>
            </a:r>
            <a:r>
              <a:rPr lang="en-US" sz="1600" dirty="0" smtClean="0"/>
              <a:t>		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smtClean="0"/>
              <a:t>0.5 </a:t>
            </a:r>
            <a:r>
              <a:rPr lang="en-US" sz="1600" dirty="0"/>
              <a:t>J/node </a:t>
            </a:r>
            <a:r>
              <a:rPr lang="en-US" sz="1600" dirty="0" smtClean="0"/>
              <a:t>		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smtClean="0"/>
              <a:t>2000-bit </a:t>
            </a:r>
            <a:r>
              <a:rPr lang="en-US" sz="1600" dirty="0"/>
              <a:t>packets </a:t>
            </a:r>
            <a:r>
              <a:rPr lang="en-US" sz="1600" dirty="0" smtClean="0"/>
              <a:t>			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smtClean="0"/>
              <a:t>BS </a:t>
            </a:r>
            <a:r>
              <a:rPr lang="en-US" sz="1600" dirty="0"/>
              <a:t>= (50, 50) </a:t>
            </a:r>
          </a:p>
          <a:p>
            <a:r>
              <a:rPr lang="en-US" sz="1600" dirty="0">
                <a:sym typeface="Wingdings" panose="05000000000000000000" pitchFamily="2" charset="2"/>
              </a:rPr>
              <a:t> </a:t>
            </a:r>
            <a:r>
              <a:rPr lang="en-US" sz="1600" dirty="0" smtClean="0"/>
              <a:t>Two-slope </a:t>
            </a:r>
            <a:r>
              <a:rPr lang="en-US" sz="1600" dirty="0"/>
              <a:t>radio model </a:t>
            </a:r>
            <a:r>
              <a:rPr lang="en-US" sz="1600" dirty="0" smtClean="0"/>
              <a:t>		</a:t>
            </a:r>
            <a:r>
              <a:rPr lang="en-US" sz="1600" dirty="0" smtClean="0">
                <a:sym typeface="Wingdings" panose="05000000000000000000" pitchFamily="2" charset="2"/>
              </a:rPr>
              <a:t> </a:t>
            </a:r>
            <a:r>
              <a:rPr lang="en-US" sz="1600" dirty="0" smtClean="0"/>
              <a:t>Same </a:t>
            </a:r>
            <a:r>
              <a:rPr lang="en-US" sz="1600" dirty="0"/>
              <a:t>random seed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Part IV -- Edited Hybrid Protocols (NS-3, Unified Env.)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5.2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579"/>
              </p:ext>
            </p:extLst>
          </p:nvPr>
        </p:nvGraphicFramePr>
        <p:xfrm>
          <a:off x="365760" y="137160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H-LEACH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2177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2255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2305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97.33%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Unified environment, gate_factor=1.0 (paper's literal condition)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SH-LEACH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1584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1604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99.17%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Unified environment, packet reduced 4000-&gt;2000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 2: Baseline vs. Unified-Environment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5.0b</a:t>
            </a:r>
          </a:p>
        </p:txBody>
      </p:sp>
      <p:pic>
        <p:nvPicPr>
          <p:cNvPr id="6" name="Picture 5" descr="baseline_vs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424160" cy="5212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 2: Baseline vs. Unified-Environment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5.0b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631866"/>
              </p:ext>
            </p:extLst>
          </p:nvPr>
        </p:nvGraphicFramePr>
        <p:xfrm>
          <a:off x="504346" y="1719773"/>
          <a:ext cx="11183000" cy="3002502"/>
        </p:xfrm>
        <a:graphic>
          <a:graphicData uri="http://schemas.openxmlformats.org/drawingml/2006/table">
            <a:tbl>
              <a:tblPr/>
              <a:tblGrid>
                <a:gridCol w="1481983">
                  <a:extLst>
                    <a:ext uri="{9D8B030D-6E8A-4147-A177-3AD203B41FA5}">
                      <a16:colId xmlns:a16="http://schemas.microsoft.com/office/drawing/2014/main" val="4135719343"/>
                    </a:ext>
                  </a:extLst>
                </a:gridCol>
                <a:gridCol w="2189168">
                  <a:extLst>
                    <a:ext uri="{9D8B030D-6E8A-4147-A177-3AD203B41FA5}">
                      <a16:colId xmlns:a16="http://schemas.microsoft.com/office/drawing/2014/main" val="3879744830"/>
                    </a:ext>
                  </a:extLst>
                </a:gridCol>
                <a:gridCol w="1802844">
                  <a:extLst>
                    <a:ext uri="{9D8B030D-6E8A-4147-A177-3AD203B41FA5}">
                      <a16:colId xmlns:a16="http://schemas.microsoft.com/office/drawing/2014/main" val="801877242"/>
                    </a:ext>
                  </a:extLst>
                </a:gridCol>
                <a:gridCol w="5709005">
                  <a:extLst>
                    <a:ext uri="{9D8B030D-6E8A-4147-A177-3AD203B41FA5}">
                      <a16:colId xmlns:a16="http://schemas.microsoft.com/office/drawing/2014/main" val="2389557129"/>
                    </a:ext>
                  </a:extLst>
                </a:gridCol>
              </a:tblGrid>
              <a:tr h="280056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Protocol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Paper-specific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Unified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Main reason for the difference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986886"/>
                  </a:ext>
                </a:extLst>
              </a:tr>
              <a:tr h="40025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LEACH</a:t>
                      </a:r>
                      <a:endParaRPr lang="en-US" sz="1400" dirty="0"/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1321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1962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Different area + BS position + radio model + packet size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739653"/>
                  </a:ext>
                </a:extLst>
              </a:tr>
              <a:tr h="52045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HEED</a:t>
                      </a:r>
                      <a:endParaRPr lang="en-US" sz="1400"/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1996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1502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Mainly 2 J → 0.5 J initial energy</a:t>
                      </a:r>
                      <a:r>
                        <a:rPr lang="en-US" sz="1400" dirty="0"/>
                        <a:t>, plus other environment changes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902564"/>
                  </a:ext>
                </a:extLst>
              </a:tr>
              <a:tr h="76084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PEGASIS</a:t>
                      </a:r>
                      <a:endParaRPr lang="en-US" sz="1400" dirty="0"/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2167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2887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Different area + BS position + radio model; chain behavior is affected by transmission distances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731626"/>
                  </a:ext>
                </a:extLst>
              </a:tr>
              <a:tr h="52045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H-LEACH</a:t>
                      </a:r>
                      <a:endParaRPr lang="en-US" sz="1400"/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1210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2305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Different radio model + packet size + BS/area + energy settings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037369"/>
                  </a:ext>
                </a:extLst>
              </a:tr>
              <a:tr h="52045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SH-LEACH</a:t>
                      </a:r>
                      <a:endParaRPr lang="en-US" sz="1400" dirty="0"/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884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1604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Different radio model + packet size + overall network conditions</a:t>
                      </a:r>
                    </a:p>
                  </a:txBody>
                  <a:tcPr marL="60346" marR="60346" marT="30173" marB="30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16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28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Improved Hybrid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CE6F1"/>
                </a:solidFill>
                <a:latin typeface="Calibri"/>
              </a:rPr>
              <a:t>Part V -- targeted fixes on top of the edited hybrids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 smtClean="0">
                <a:solidFill>
                  <a:srgbClr val="FFFFFF"/>
                </a:solidFill>
                <a:latin typeface="Calibri"/>
              </a:rPr>
              <a:t>Improved 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Hybrid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6.1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51292" t="11983" r="615" b="45306"/>
          <a:stretch/>
        </p:blipFill>
        <p:spPr>
          <a:xfrm>
            <a:off x="2644101" y="1235107"/>
            <a:ext cx="8604924" cy="35270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167" y="1235107"/>
            <a:ext cx="609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Improved </a:t>
            </a:r>
            <a:r>
              <a:rPr lang="en-US" sz="2000" b="1" dirty="0" smtClean="0"/>
              <a:t>SH-LEACH</a:t>
            </a:r>
            <a:endParaRPr lang="en-US" sz="2000" b="1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77456"/>
              </p:ext>
            </p:extLst>
          </p:nvPr>
        </p:nvGraphicFramePr>
        <p:xfrm>
          <a:off x="274167" y="4847691"/>
          <a:ext cx="8229600" cy="1676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83835264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976913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38091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Edited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Improved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221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FND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1440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1247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39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HND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1584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1600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834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LND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1604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1649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654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PDR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99.169%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99.795%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67838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 smtClean="0">
                <a:solidFill>
                  <a:srgbClr val="FFFFFF"/>
                </a:solidFill>
                <a:latin typeface="Calibri"/>
              </a:rPr>
              <a:t>Improved 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Hybrid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6.1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856" t="11577" r="51051" b="45712"/>
          <a:stretch/>
        </p:blipFill>
        <p:spPr>
          <a:xfrm>
            <a:off x="2644101" y="1051560"/>
            <a:ext cx="7818197" cy="320456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167" y="1235107"/>
            <a:ext cx="609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Improved </a:t>
            </a:r>
            <a:r>
              <a:rPr lang="en-US" sz="2000" b="1" dirty="0" smtClean="0"/>
              <a:t>H-LEACH</a:t>
            </a:r>
            <a:endParaRPr lang="en-US" sz="2000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167" y="4595859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4789221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0315076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019756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Edited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Improved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997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2177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2347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26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HND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2255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2449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695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2305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2499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616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PDR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97.331%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97.327%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007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89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 smtClean="0">
                <a:solidFill>
                  <a:srgbClr val="FFFFFF"/>
                </a:solidFill>
                <a:latin typeface="Calibri"/>
              </a:rPr>
              <a:t>Improved 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Hybrid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6.1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014107"/>
              </p:ext>
            </p:extLst>
          </p:nvPr>
        </p:nvGraphicFramePr>
        <p:xfrm>
          <a:off x="380847" y="428773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57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H-LEACH Improved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2347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2449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2499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97.33%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Relaxed 'energy &gt; average' gate from 1.0x to 0.8x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SH-LEACH 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1600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99.79%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Iterative HEED-style doubling + </a:t>
                      </a:r>
                      <a:r>
                        <a:rPr sz="1600" dirty="0" err="1">
                          <a:solidFill>
                            <a:srgbClr val="404040"/>
                          </a:solidFill>
                        </a:rPr>
                        <a:t>Cprob</a:t>
                      </a:r>
                      <a:r>
                        <a:rPr sz="1600" dirty="0">
                          <a:solidFill>
                            <a:srgbClr val="404040"/>
                          </a:solidFill>
                        </a:rPr>
                        <a:t> 0.10-&gt;0.03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55687"/>
              </p:ext>
            </p:extLst>
          </p:nvPr>
        </p:nvGraphicFramePr>
        <p:xfrm>
          <a:off x="380847" y="178308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H-LEACH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2177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2255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2305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97.33%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Unified environment, </a:t>
                      </a:r>
                      <a:r>
                        <a:rPr sz="1600" dirty="0" err="1">
                          <a:solidFill>
                            <a:srgbClr val="404040"/>
                          </a:solidFill>
                        </a:rPr>
                        <a:t>gate_factor</a:t>
                      </a:r>
                      <a:r>
                        <a:rPr sz="1600" dirty="0">
                          <a:solidFill>
                            <a:srgbClr val="404040"/>
                          </a:solidFill>
                        </a:rPr>
                        <a:t>=1.0 (paper's literal condition)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SH-LEACH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1584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99.17%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Unified environment, packet reduced 4000-&gt;2000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0847" y="1320284"/>
            <a:ext cx="81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404040"/>
                </a:solidFill>
              </a:rPr>
              <a:t>Before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452950" y="3680790"/>
            <a:ext cx="672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404040"/>
                </a:solidFill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70822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Lessons Carried Forward to the Proposed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cs typeface="+mj-cs"/>
              </a:rPr>
              <a:t>What Did the Previous Experiments Teach Us</a:t>
            </a:r>
            <a:r>
              <a:rPr lang="en-US" sz="1600" b="1" dirty="0" smtClean="0">
                <a:cs typeface="+mj-cs"/>
              </a:rPr>
              <a:t>?</a:t>
            </a:r>
            <a:endParaRPr lang="ar-EG" sz="1600" b="1" dirty="0" smtClean="0">
              <a:cs typeface="+mj-cs"/>
            </a:endParaRPr>
          </a:p>
          <a:p>
            <a:endParaRPr lang="en-US" sz="1600" b="1" dirty="0">
              <a:cs typeface="+mj-cs"/>
            </a:endParaRPr>
          </a:p>
          <a:p>
            <a:r>
              <a:rPr lang="en-US" sz="1600" b="1" dirty="0">
                <a:cs typeface="+mj-cs"/>
              </a:rPr>
              <a:t>1. CH Selection</a:t>
            </a:r>
            <a:r>
              <a:rPr lang="en-US" sz="1600" dirty="0">
                <a:cs typeface="+mj-cs"/>
              </a:rPr>
              <a:t/>
            </a:r>
            <a:br>
              <a:rPr lang="en-US" sz="1600" dirty="0">
                <a:cs typeface="+mj-cs"/>
              </a:rPr>
            </a:br>
            <a:r>
              <a:rPr lang="en-US" sz="1600" dirty="0">
                <a:cs typeface="+mj-cs"/>
              </a:rPr>
              <a:t>Improving CH selection alone is not sufficient.</a:t>
            </a:r>
          </a:p>
          <a:p>
            <a:r>
              <a:rPr lang="en-US" sz="1600" b="1" dirty="0">
                <a:cs typeface="+mj-cs"/>
              </a:rPr>
              <a:t>2. Control Overhead</a:t>
            </a:r>
            <a:r>
              <a:rPr lang="en-US" sz="1600" dirty="0">
                <a:cs typeface="+mj-cs"/>
              </a:rPr>
              <a:t/>
            </a:r>
            <a:br>
              <a:rPr lang="en-US" sz="1600" dirty="0">
                <a:cs typeface="+mj-cs"/>
              </a:rPr>
            </a:br>
            <a:r>
              <a:rPr lang="en-US" sz="1600" dirty="0">
                <a:cs typeface="+mj-cs"/>
              </a:rPr>
              <a:t>Frequent re-clustering increases energy consumption.</a:t>
            </a:r>
          </a:p>
          <a:p>
            <a:r>
              <a:rPr lang="en-US" sz="1600" b="1" dirty="0">
                <a:cs typeface="+mj-cs"/>
              </a:rPr>
              <a:t>3. Cluster Reuse</a:t>
            </a:r>
            <a:r>
              <a:rPr lang="en-US" sz="1600" dirty="0">
                <a:cs typeface="+mj-cs"/>
              </a:rPr>
              <a:t/>
            </a:r>
            <a:br>
              <a:rPr lang="en-US" sz="1600" dirty="0">
                <a:cs typeface="+mj-cs"/>
              </a:rPr>
            </a:br>
            <a:r>
              <a:rPr lang="en-US" sz="1600" dirty="0">
                <a:cs typeface="+mj-cs"/>
              </a:rPr>
              <a:t>Longer reuse reduces overhead, but may create stale clusters.</a:t>
            </a:r>
          </a:p>
          <a:p>
            <a:r>
              <a:rPr lang="en-US" sz="1600" b="1" dirty="0">
                <a:cs typeface="+mj-cs"/>
              </a:rPr>
              <a:t>4. CH Failure</a:t>
            </a:r>
            <a:r>
              <a:rPr lang="en-US" sz="1600" dirty="0">
                <a:cs typeface="+mj-cs"/>
              </a:rPr>
              <a:t/>
            </a:r>
            <a:br>
              <a:rPr lang="en-US" sz="1600" dirty="0">
                <a:cs typeface="+mj-cs"/>
              </a:rPr>
            </a:br>
            <a:r>
              <a:rPr lang="en-US" sz="1600" dirty="0">
                <a:cs typeface="+mj-cs"/>
              </a:rPr>
              <a:t>CH failure can disconnect members from a valid forwarding path.</a:t>
            </a:r>
          </a:p>
          <a:p>
            <a:r>
              <a:rPr lang="en-US" sz="1600" b="1" dirty="0">
                <a:cs typeface="+mj-cs"/>
              </a:rPr>
              <a:t>5. Inter-Cluster Routing</a:t>
            </a:r>
            <a:r>
              <a:rPr lang="en-US" sz="1600" dirty="0">
                <a:cs typeface="+mj-cs"/>
              </a:rPr>
              <a:t/>
            </a:r>
            <a:br>
              <a:rPr lang="en-US" sz="1600" dirty="0">
                <a:cs typeface="+mj-cs"/>
              </a:rPr>
            </a:br>
            <a:r>
              <a:rPr lang="en-US" sz="1600" dirty="0">
                <a:cs typeface="+mj-cs"/>
              </a:rPr>
              <a:t>Direct CH → BS communication may be costly when the BS is far away.</a:t>
            </a:r>
          </a:p>
          <a:p>
            <a:endParaRPr lang="ar-EG" sz="1600" dirty="0">
              <a:cs typeface="+mj-cs"/>
            </a:endParaRPr>
          </a:p>
          <a:p>
            <a:r>
              <a:rPr lang="ar-EG" sz="1600" b="1" dirty="0" smtClean="0">
                <a:cs typeface="+mj-cs"/>
                <a:sym typeface="Wingdings" panose="05000000000000000000" pitchFamily="2" charset="2"/>
              </a:rPr>
              <a:t></a:t>
            </a:r>
            <a:r>
              <a:rPr lang="en-US" sz="1600" b="1" dirty="0" smtClean="0">
                <a:cs typeface="+mj-cs"/>
                <a:sym typeface="Wingdings" panose="05000000000000000000" pitchFamily="2" charset="2"/>
              </a:rPr>
              <a:t>  </a:t>
            </a:r>
            <a:r>
              <a:rPr lang="en-US" sz="1600" b="1" dirty="0">
                <a:cs typeface="+mj-cs"/>
              </a:rPr>
              <a:t>These observations motivated the evolution of the Proposed Hybrid Protocol</a:t>
            </a:r>
            <a:r>
              <a:rPr lang="en-US" sz="1600" b="1" dirty="0" smtClean="0">
                <a:cs typeface="+mj-cs"/>
              </a:rPr>
              <a:t>.</a:t>
            </a:r>
            <a:endParaRPr lang="en-US" sz="1600" b="1" dirty="0"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Proposed Hybrid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CE6F1"/>
                </a:solidFill>
                <a:latin typeface="Calibri"/>
              </a:rPr>
              <a:t>Research Direction &amp; Design Rationale, Hybrid v1-v8, Evolution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v1 -&gt; v3: From Baseline to Root-Cause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199" y="1166396"/>
            <a:ext cx="10397067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Protocol Evolution: v1 → v2</a:t>
            </a:r>
          </a:p>
          <a:p>
            <a:r>
              <a:rPr lang="en-US" sz="1600" b="1" dirty="0" smtClean="0"/>
              <a:t>V1</a:t>
            </a:r>
            <a:r>
              <a:rPr lang="en-US" sz="1600" b="1" dirty="0"/>
              <a:t>: Hybrid Foundation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Problem</a:t>
            </a:r>
            <a:endParaRPr lang="en-US" sz="1600" b="1" dirty="0"/>
          </a:p>
          <a:p>
            <a:r>
              <a:rPr lang="en-US" sz="1600" b="1" dirty="0"/>
              <a:t>Existing protocols </a:t>
            </a:r>
            <a:r>
              <a:rPr lang="en-US" sz="1600" b="1" dirty="0" smtClean="0"/>
              <a:t>separate</a:t>
            </a:r>
            <a:r>
              <a:rPr lang="en-US" sz="1600" dirty="0" smtClean="0"/>
              <a:t>:   1. CH </a:t>
            </a:r>
            <a:r>
              <a:rPr lang="en-US" sz="1600" dirty="0"/>
              <a:t>selection </a:t>
            </a:r>
            <a:r>
              <a:rPr lang="en-US" sz="1600" dirty="0" smtClean="0"/>
              <a:t>				</a:t>
            </a:r>
          </a:p>
          <a:p>
            <a:r>
              <a:rPr lang="en-US" sz="1600" dirty="0" smtClean="0"/>
              <a:t>                                                     2. Cluster formation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Modification</a:t>
            </a:r>
            <a:endParaRPr lang="en-US" sz="1600" b="1" dirty="0"/>
          </a:p>
          <a:p>
            <a:r>
              <a:rPr lang="en-US" sz="1600" b="1" dirty="0"/>
              <a:t>v1 = HEED-based CH Selection + LEACH-based Cluster </a:t>
            </a:r>
            <a:r>
              <a:rPr lang="en-US" sz="1600" b="1" dirty="0" smtClean="0"/>
              <a:t>Formation</a:t>
            </a:r>
          </a:p>
          <a:p>
            <a:r>
              <a:rPr lang="en-US" sz="1600" dirty="0"/>
              <a:t>Residual </a:t>
            </a:r>
            <a:r>
              <a:rPr lang="en-US" sz="1600" dirty="0" smtClean="0"/>
              <a:t>Energy </a:t>
            </a:r>
            <a:r>
              <a:rPr lang="en-US" sz="1600" dirty="0" smtClean="0">
                <a:sym typeface="Wingdings" panose="05000000000000000000" pitchFamily="2" charset="2"/>
              </a:rPr>
              <a:t> </a:t>
            </a:r>
            <a:r>
              <a:rPr lang="en-US" sz="1600" dirty="0" smtClean="0"/>
              <a:t>HEED </a:t>
            </a:r>
            <a:r>
              <a:rPr lang="en-US" sz="1600" dirty="0"/>
              <a:t>CH </a:t>
            </a:r>
            <a:r>
              <a:rPr lang="en-US" sz="1600" dirty="0" smtClean="0"/>
              <a:t>Selection </a:t>
            </a:r>
            <a:r>
              <a:rPr lang="en-US" sz="1600" dirty="0" smtClean="0">
                <a:sym typeface="Wingdings" panose="05000000000000000000" pitchFamily="2" charset="2"/>
              </a:rPr>
              <a:t>  </a:t>
            </a:r>
            <a:r>
              <a:rPr lang="en-US" sz="1600" dirty="0" smtClean="0"/>
              <a:t>Selected CHs </a:t>
            </a:r>
            <a:r>
              <a:rPr lang="en-US" sz="1600" dirty="0" smtClean="0">
                <a:sym typeface="Wingdings" panose="05000000000000000000" pitchFamily="2" charset="2"/>
              </a:rPr>
              <a:t> </a:t>
            </a:r>
            <a:r>
              <a:rPr lang="en-US" sz="1600" dirty="0" smtClean="0"/>
              <a:t>LEACH-style </a:t>
            </a:r>
            <a:r>
              <a:rPr lang="en-US" sz="1600" dirty="0"/>
              <a:t>Nearest-CH </a:t>
            </a:r>
            <a:r>
              <a:rPr lang="en-US" sz="1600" dirty="0" smtClean="0"/>
              <a:t>Join </a:t>
            </a:r>
            <a:r>
              <a:rPr lang="en-US" sz="1600" dirty="0" smtClean="0">
                <a:sym typeface="Wingdings" panose="05000000000000000000" pitchFamily="2" charset="2"/>
              </a:rPr>
              <a:t> </a:t>
            </a:r>
            <a:r>
              <a:rPr lang="en-US" sz="1600" dirty="0" smtClean="0"/>
              <a:t>CH </a:t>
            </a:r>
            <a:r>
              <a:rPr lang="en-US" sz="1600" dirty="0"/>
              <a:t>→ BS</a:t>
            </a:r>
            <a:endParaRPr lang="en-US" sz="1600" dirty="0" smtClean="0"/>
          </a:p>
          <a:p>
            <a:endParaRPr 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Why?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Combine </a:t>
            </a:r>
            <a:r>
              <a:rPr lang="en-US" altLang="en-US" sz="1600" b="1" dirty="0"/>
              <a:t>HEED's</a:t>
            </a:r>
            <a:r>
              <a:rPr lang="en-US" altLang="en-US" sz="1600" dirty="0"/>
              <a:t> energy/connectivity-aware </a:t>
            </a:r>
            <a:r>
              <a:rPr lang="en-US" altLang="en-US" sz="1600" b="1" dirty="0"/>
              <a:t>CH selection </a:t>
            </a:r>
            <a:r>
              <a:rPr lang="en-US" altLang="en-US" sz="1600" dirty="0"/>
              <a:t>with </a:t>
            </a:r>
            <a:r>
              <a:rPr lang="en-US" altLang="en-US" sz="1600" b="1" dirty="0"/>
              <a:t>LEACH's</a:t>
            </a:r>
            <a:r>
              <a:rPr lang="en-US" altLang="en-US" sz="1600" dirty="0"/>
              <a:t> lightweight </a:t>
            </a:r>
            <a:r>
              <a:rPr lang="en-US" altLang="en-US" sz="1600" b="1" dirty="0"/>
              <a:t>cluster formation</a:t>
            </a:r>
            <a:r>
              <a:rPr lang="en-US" altLang="en-US" sz="1600" dirty="0"/>
              <a:t>.</a:t>
            </a:r>
          </a:p>
          <a:p>
            <a:endParaRPr lang="en-US" sz="1600" b="1" dirty="0" smtClean="0"/>
          </a:p>
          <a:p>
            <a:endParaRPr lang="en-US" sz="16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405354"/>
              </p:ext>
            </p:extLst>
          </p:nvPr>
        </p:nvGraphicFramePr>
        <p:xfrm>
          <a:off x="1727893" y="4750520"/>
          <a:ext cx="8735907" cy="1044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8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5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5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5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HEED-style CH selection + LEACH clustering, no multi-round reuse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330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557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1318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99.74%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v1 -&gt; v3: From Baseline to Root-Cause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199" y="1166396"/>
                <a:ext cx="10397067" cy="3208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b="1" dirty="0" smtClean="0"/>
                  <a:t>V2 — Rotation-Aware CH Selection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600" b="1" dirty="0" smtClean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 smtClean="0"/>
                  <a:t>Observed </a:t>
                </a:r>
                <a:r>
                  <a:rPr lang="en-US" altLang="en-US" sz="1600" b="1" dirty="0"/>
                  <a:t>Issue</a:t>
                </a:r>
                <a:endParaRPr lang="en-US" altLang="en-US" sz="16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dirty="0"/>
                  <a:t>HEED-style cost does not explicitly account for how often a node has already served as CH.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600" b="1" dirty="0" smtClean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 smtClean="0"/>
                  <a:t>Modification</a:t>
                </a:r>
                <a:endParaRPr lang="en-US" altLang="en-US" sz="16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dirty="0"/>
                  <a:t>Add a </a:t>
                </a:r>
                <a:r>
                  <a:rPr lang="en-US" altLang="en-US" sz="1600" b="1" dirty="0"/>
                  <a:t>rotation-awareness factor</a:t>
                </a:r>
                <a:r>
                  <a:rPr lang="en-US" altLang="en-US" sz="1600" dirty="0"/>
                  <a:t>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/>
                  <a:t>Communication Cost × Rotation Penalty </a:t>
                </a:r>
                <a:r>
                  <a:rPr lang="en-US" altLang="en-US" sz="1600" b="1" dirty="0" smtClean="0">
                    <a:sym typeface="Wingdings" panose="05000000000000000000" pitchFamily="2" charset="2"/>
                  </a:rPr>
                  <a:t></a:t>
                </a:r>
                <a:r>
                  <a:rPr lang="en-US" altLang="en-US" sz="1600" b="1" dirty="0" smtClean="0"/>
                  <a:t> </a:t>
                </a:r>
                <a:r>
                  <a:rPr lang="en-US" altLang="en-US" sz="1600" b="1" dirty="0"/>
                  <a:t>CH </a:t>
                </a:r>
                <a:r>
                  <a:rPr lang="en-US" altLang="en-US" sz="1600" b="1" dirty="0" smtClean="0"/>
                  <a:t>Selection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600" b="1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/>
                  <a:t>Conceptually:</a:t>
                </a:r>
              </a:p>
              <a:p>
                <a:r>
                  <a:rPr lang="en-US" altLang="en-US" sz="1600" dirty="0" smtClean="0"/>
                  <a:t>Cost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𝐷𝑒𝑔𝑟𝑒𝑒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 ∗(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en-US" sz="1600" dirty="0"/>
                      <m:t>λ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𝐶𝐻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𝑡𝑖𝑚𝑒𝑠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600" dirty="0" smtClean="0"/>
                  <a:t>		with   λ=0.1</a:t>
                </a:r>
                <a:r>
                  <a:rPr lang="en-US" altLang="en-US" sz="1600" dirty="0"/>
                  <a:t> </a:t>
                </a:r>
                <a:r>
                  <a:rPr lang="en-US" altLang="en-US" sz="1600" b="1" dirty="0" smtClean="0">
                    <a:sym typeface="Wingdings" panose="05000000000000000000" pitchFamily="2" charset="2"/>
                  </a:rPr>
                  <a:t>  </a:t>
                </a:r>
                <a:r>
                  <a:rPr lang="en-US" sz="1600" b="1" dirty="0" smtClean="0"/>
                  <a:t>λ </a:t>
                </a:r>
                <a:r>
                  <a:rPr lang="en-US" sz="1600" b="1" dirty="0"/>
                  <a:t>= Lambda = Rotation Penalty Factor</a:t>
                </a:r>
                <a:endParaRPr lang="en-US" sz="16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6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166396"/>
                <a:ext cx="10397067" cy="3208571"/>
              </a:xfrm>
              <a:prstGeom prst="rect">
                <a:avLst/>
              </a:prstGeom>
              <a:blipFill>
                <a:blip r:embed="rId2"/>
                <a:stretch>
                  <a:fillRect l="-469" t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748438"/>
              </p:ext>
            </p:extLst>
          </p:nvPr>
        </p:nvGraphicFramePr>
        <p:xfrm>
          <a:off x="1478280" y="4766802"/>
          <a:ext cx="8763000" cy="1879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9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HEED-style CH selection + LEACH clustering, no multi-round reuse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330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557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1318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99.74%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+ rotation fairness penalty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1393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99.79%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073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81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v1 -&gt; v3: From Baseline to Root-Cause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199" y="1166396"/>
                <a:ext cx="11658601" cy="5153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dirty="0" smtClean="0"/>
                  <a:t>V3: Root-Cause Redesign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/>
                  <a:t>Why Redesign v1/v2?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dirty="0" smtClean="0">
                    <a:cs typeface="Arial" panose="020B0604020202020204" pitchFamily="34" charset="0"/>
                  </a:rPr>
                  <a:t>Previous </a:t>
                </a:r>
                <a:r>
                  <a:rPr lang="en-US" altLang="en-US" sz="1600" dirty="0">
                    <a:cs typeface="Arial" panose="020B0604020202020204" pitchFamily="34" charset="0"/>
                  </a:rPr>
                  <a:t>hybrid versions still relied heavily on </a:t>
                </a:r>
                <a:r>
                  <a:rPr lang="en-US" altLang="en-US" sz="1600" b="1" dirty="0">
                    <a:cs typeface="Arial" panose="020B0604020202020204" pitchFamily="34" charset="0"/>
                  </a:rPr>
                  <a:t>the original HEED selection </a:t>
                </a:r>
                <a:r>
                  <a:rPr lang="en-US" altLang="en-US" sz="1600" dirty="0">
                    <a:cs typeface="Arial" panose="020B0604020202020204" pitchFamily="34" charset="0"/>
                  </a:rPr>
                  <a:t>process.</a:t>
                </a:r>
                <a:endParaRPr lang="en-US" altLang="en-US" sz="1600" b="1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600" b="1" dirty="0" smtClean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 smtClean="0"/>
                  <a:t>Root </a:t>
                </a:r>
                <a:r>
                  <a:rPr lang="en-US" altLang="en-US" sz="1600" b="1" dirty="0"/>
                  <a:t>Cause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/>
                  <a:t>The limitation was not only cluster formation — </a:t>
                </a:r>
                <a:endParaRPr lang="ar-EG" altLang="en-US" sz="1600" b="1" dirty="0" smtClean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 smtClean="0"/>
                  <a:t>the </a:t>
                </a:r>
                <a:r>
                  <a:rPr lang="en-US" altLang="en-US" sz="1600" b="1" dirty="0"/>
                  <a:t>CH selection mechanism itself needed a more direct energy–connectivity trade-off.</a:t>
                </a:r>
                <a:endParaRPr lang="en-US" altLang="en-US" sz="16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600" b="1" dirty="0" smtClean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b="1" dirty="0" smtClean="0"/>
                  <a:t>Modification</a:t>
                </a:r>
                <a:endParaRPr lang="en-US" altLang="en-US" sz="1600" b="1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dirty="0"/>
                  <a:t>A new single-pass CH selection score was introduced</a:t>
                </a:r>
                <a:r>
                  <a:rPr lang="en-US" altLang="en-US" sz="1600" dirty="0" smtClean="0"/>
                  <a:t>: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𝑆𝑐𝑜𝑟𝑒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en-US" sz="2000" i="1">
                        <a:latin typeface="Cambria Math" panose="02040503050406030204" pitchFamily="18" charset="0"/>
                      </a:rPr>
                      <m:t> ∗(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𝐷𝑒𝑔𝑟𝑒𝑒𝑁𝑜𝑟𝑚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 smtClean="0"/>
                  <a:t>       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/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 smtClean="0"/>
                  <a:t>SO       (</a:t>
                </a:r>
                <a:r>
                  <a:rPr lang="en-US" b="1" dirty="0" smtClean="0"/>
                  <a:t>Energy  </a:t>
                </a:r>
                <a:r>
                  <a:rPr lang="en-US" b="1" dirty="0"/>
                  <a:t>+  Connectivity </a:t>
                </a:r>
                <a:r>
                  <a:rPr lang="en-US" b="1" dirty="0">
                    <a:sym typeface="Wingdings" panose="05000000000000000000" pitchFamily="2" charset="2"/>
                  </a:rPr>
                  <a:t> </a:t>
                </a:r>
                <a:r>
                  <a:rPr lang="en-US" b="1" dirty="0"/>
                  <a:t>CH </a:t>
                </a:r>
                <a:r>
                  <a:rPr lang="en-US" b="1" dirty="0" smtClean="0"/>
                  <a:t>Score) </a:t>
                </a:r>
                <a:r>
                  <a:rPr lang="en-US" b="1" dirty="0">
                    <a:sym typeface="Wingdings" panose="05000000000000000000" pitchFamily="2" charset="2"/>
                  </a:rPr>
                  <a:t> </a:t>
                </a:r>
                <a:r>
                  <a:rPr lang="en-US" b="1" dirty="0"/>
                  <a:t>LEACH Threshold </a:t>
                </a:r>
                <a:r>
                  <a:rPr lang="en-US" b="1" dirty="0">
                    <a:sym typeface="Wingdings" panose="05000000000000000000" pitchFamily="2" charset="2"/>
                  </a:rPr>
                  <a:t> </a:t>
                </a:r>
                <a:r>
                  <a:rPr lang="en-US" b="1" dirty="0"/>
                  <a:t>CH Selection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dirty="0" smtClean="0"/>
              </a:p>
              <a:p>
                <a:r>
                  <a:rPr lang="en-US" sz="1600" b="1" dirty="0"/>
                  <a:t>Additional Design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Setup interval = </a:t>
                </a:r>
                <a:r>
                  <a:rPr lang="en-US" sz="1600" b="1" dirty="0"/>
                  <a:t>5 rounds</a:t>
                </a:r>
                <a:r>
                  <a:rPr lang="en-US" sz="16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Nearest-CH cluster joining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Direct CH → BS communication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166396"/>
                <a:ext cx="11658601" cy="5153590"/>
              </a:xfrm>
              <a:prstGeom prst="rect">
                <a:avLst/>
              </a:prstGeom>
              <a:blipFill>
                <a:blip r:embed="rId2"/>
                <a:stretch>
                  <a:fillRect l="-418" t="-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2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v1 -&gt; v3: From Baseline to Root-Cause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31680"/>
              </p:ext>
            </p:extLst>
          </p:nvPr>
        </p:nvGraphicFramePr>
        <p:xfrm>
          <a:off x="365760" y="1380067"/>
          <a:ext cx="10412308" cy="228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2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2525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525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HEED-style CH selection + LEACH clustering, no multi-round reuse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330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557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1318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99.74%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525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+ rotation fairness penalty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99.79%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525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v3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Single-pass energy x connectivity score + multi-round reuse (root-</a:t>
                      </a:r>
                      <a:r>
                        <a:rPr sz="1600" dirty="0" err="1">
                          <a:solidFill>
                            <a:srgbClr val="404040"/>
                          </a:solidFill>
                        </a:rPr>
                        <a:t>caus</a:t>
                      </a:r>
                      <a:r>
                        <a:rPr sz="1600" dirty="0">
                          <a:solidFill>
                            <a:srgbClr val="404040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1730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2081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2703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97.72%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89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v4 -&gt; v7: Tuning, Resilience &amp;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6128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v4 — Reduce Control Overhead</a:t>
            </a:r>
          </a:p>
          <a:p>
            <a:r>
              <a:rPr lang="en-US" sz="1600" b="1" dirty="0"/>
              <a:t>Problem</a:t>
            </a:r>
          </a:p>
          <a:p>
            <a:r>
              <a:rPr lang="en-US" sz="1600" dirty="0"/>
              <a:t>Frequent cluster re-formation introduces additional control overhead.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Modification</a:t>
            </a:r>
            <a:endParaRPr lang="en-US" sz="1600" b="1" dirty="0"/>
          </a:p>
          <a:p>
            <a:r>
              <a:rPr lang="en-US" sz="1600" dirty="0"/>
              <a:t>Setup Interval</a:t>
            </a:r>
            <a:r>
              <a:rPr lang="en-US" sz="1600" dirty="0" smtClean="0"/>
              <a:t>: 5</a:t>
            </a:r>
            <a:r>
              <a:rPr lang="en-US" sz="1600" dirty="0"/>
              <a:t>→15 rounds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397749"/>
              </p:ext>
            </p:extLst>
          </p:nvPr>
        </p:nvGraphicFramePr>
        <p:xfrm>
          <a:off x="560492" y="2829730"/>
          <a:ext cx="10412308" cy="1720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2525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525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v3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Single-pass energy x connectivity score + multi-round reuse (root-</a:t>
                      </a:r>
                      <a:r>
                        <a:rPr sz="1600" dirty="0" err="1">
                          <a:solidFill>
                            <a:srgbClr val="404040"/>
                          </a:solidFill>
                        </a:rPr>
                        <a:t>caus</a:t>
                      </a:r>
                      <a:r>
                        <a:rPr sz="1600" dirty="0">
                          <a:solidFill>
                            <a:srgbClr val="404040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1730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2081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2703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97.72%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525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v4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Longer setup interval (less control overhead, staler cluster…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1513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2219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2521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94.67%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3157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v4 -&gt; v7: Tuning, Resilience &amp;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61288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v5 — Backup CH Failover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Problem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When a CH dies before the next setup phase: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CH Failure </a:t>
            </a:r>
            <a:r>
              <a:rPr lang="en-US" altLang="en-US" sz="1600" dirty="0" smtClean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Cluster </a:t>
            </a:r>
            <a:r>
              <a:rPr lang="en-US" altLang="en-US" sz="1600" dirty="0" smtClean="0"/>
              <a:t>Members </a:t>
            </a:r>
            <a:r>
              <a:rPr lang="en-US" altLang="en-US" sz="1600" dirty="0" smtClean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No active CH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Modification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Designate a </a:t>
            </a:r>
            <a:r>
              <a:rPr lang="en-US" altLang="en-US" sz="1600" b="1" dirty="0"/>
              <a:t>Backup CH</a:t>
            </a:r>
            <a:r>
              <a:rPr lang="en-US" altLang="en-US" sz="1600" dirty="0"/>
              <a:t> during cluster formation.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Primary CH │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 </a:t>
            </a:r>
            <a:r>
              <a:rPr lang="en-US" altLang="en-US" sz="1600" dirty="0" smtClean="0"/>
              <a:t>                    └── </a:t>
            </a:r>
            <a:r>
              <a:rPr lang="en-US" altLang="en-US" sz="1600" dirty="0"/>
              <a:t>Backup CH </a:t>
            </a:r>
            <a:r>
              <a:rPr lang="en-US" altLang="en-US" sz="1600" dirty="0" smtClean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CH Failure </a:t>
            </a:r>
            <a:r>
              <a:rPr lang="en-US" altLang="en-US" sz="1600" dirty="0" smtClean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Backup Promotion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33272"/>
              </p:ext>
            </p:extLst>
          </p:nvPr>
        </p:nvGraphicFramePr>
        <p:xfrm>
          <a:off x="814492" y="3715833"/>
          <a:ext cx="10412308" cy="1720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3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2525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525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v4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Longer setup interval (less control overhead, staler cluster…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1513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2219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2521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94.67%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315708"/>
                  </a:ext>
                </a:extLst>
              </a:tr>
              <a:tr h="562525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v5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+ Backup CH Failover (pre-designated, zero extra messaging c…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1513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2127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2416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404040"/>
                          </a:solidFill>
                        </a:rPr>
                        <a:t>97.05%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582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47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v4 -&gt; v7: Tuning, Resilience &amp;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19" y="1161288"/>
            <a:ext cx="11627967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v6: CH-to-CH Chain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Problem Identified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With direct CH → BS communication, each Cluster Head sends its aggregated data directly to the Base Station.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This may create: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High transmission cost for distant CHs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Uneven energy consumption among CHs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Increased energy burden on some CHs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Modification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Introduce CH-to-CH relay communication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Construct a CH-level chain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Select the CH closest to the BS as the gateway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Non-gateway CHs forward data through neighboring CHs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Gateway CH transmits to the BS </a:t>
            </a:r>
            <a:endParaRPr lang="ar-EG" altLang="en-US" sz="14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Why?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Reduce long-distance CH → BS transmission and distribute communication energy among Cluster Heads</a:t>
            </a:r>
            <a:r>
              <a:rPr lang="en-US" altLang="en-US" sz="1400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Sensor Nodes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   ↓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 CH₁ → CH₂ → CH₃ → CH₄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                    </a:t>
            </a:r>
            <a:r>
              <a:rPr lang="en-US" altLang="en-US" sz="1400" dirty="0" smtClean="0"/>
              <a:t>                    </a:t>
            </a:r>
            <a:r>
              <a:rPr lang="en-US" altLang="en-US" sz="1400" dirty="0"/>
              <a:t>↓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                   </a:t>
            </a:r>
            <a:r>
              <a:rPr lang="en-US" altLang="en-US" sz="1400" dirty="0" smtClean="0"/>
              <a:t>               </a:t>
            </a:r>
            <a:r>
              <a:rPr lang="en-US" altLang="en-US" sz="1400" dirty="0"/>
              <a:t>BS / Sink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298040"/>
              </p:ext>
            </p:extLst>
          </p:nvPr>
        </p:nvGraphicFramePr>
        <p:xfrm>
          <a:off x="3342181" y="5833362"/>
          <a:ext cx="8636459" cy="719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4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60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83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4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404040"/>
                          </a:solidFill>
                        </a:rPr>
                        <a:t>v6 (Center 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404040"/>
                          </a:solidFill>
                        </a:rPr>
                        <a:t>Same Chain mechanism, BS moved to field center (isolates BS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smtClean="0">
                          <a:solidFill>
                            <a:srgbClr val="404040"/>
                          </a:solidFill>
                        </a:rPr>
                        <a:t>1</a:t>
                      </a:r>
                      <a:r>
                        <a:rPr lang="en-US" sz="1200" b="1" dirty="0" smtClean="0">
                          <a:solidFill>
                            <a:srgbClr val="404040"/>
                          </a:solidFill>
                        </a:rPr>
                        <a:t>551</a:t>
                      </a:r>
                      <a:endParaRPr sz="1200" b="1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smtClean="0">
                          <a:solidFill>
                            <a:srgbClr val="404040"/>
                          </a:solidFill>
                        </a:rPr>
                        <a:t>1981</a:t>
                      </a:r>
                      <a:endParaRPr sz="1200" b="1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smtClean="0">
                          <a:solidFill>
                            <a:srgbClr val="404040"/>
                          </a:solidFill>
                        </a:rPr>
                        <a:t>21</a:t>
                      </a:r>
                      <a:r>
                        <a:rPr lang="en-US" sz="1200" b="1" dirty="0" smtClean="0">
                          <a:solidFill>
                            <a:srgbClr val="404040"/>
                          </a:solidFill>
                        </a:rPr>
                        <a:t>06</a:t>
                      </a:r>
                      <a:endParaRPr sz="1200" b="1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smtClean="0">
                          <a:solidFill>
                            <a:srgbClr val="404040"/>
                          </a:solidFill>
                        </a:rPr>
                        <a:t>97.</a:t>
                      </a:r>
                      <a:r>
                        <a:rPr lang="en-US" sz="1200" b="1" dirty="0" smtClean="0">
                          <a:solidFill>
                            <a:srgbClr val="404040"/>
                          </a:solidFill>
                        </a:rPr>
                        <a:t>494</a:t>
                      </a:r>
                      <a:r>
                        <a:rPr sz="1200" b="1" dirty="0" smtClean="0">
                          <a:solidFill>
                            <a:srgbClr val="404040"/>
                          </a:solidFill>
                        </a:rPr>
                        <a:t>%</a:t>
                      </a:r>
                      <a:endParaRPr sz="1200" b="1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21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26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v4 -&gt; v7: Tuning, Resilience &amp;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19" y="1161288"/>
            <a:ext cx="722376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/>
              <a:t>V7: Chain </a:t>
            </a:r>
            <a:r>
              <a:rPr lang="en-US" sz="1600" b="1" dirty="0"/>
              <a:t>+ Backup — Center BS</a:t>
            </a: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Problem </a:t>
            </a:r>
            <a:r>
              <a:rPr lang="en-US" altLang="en-US" sz="1600" b="1" dirty="0"/>
              <a:t>Identified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Although v6 introduces CH-to-CH communication, a </a:t>
            </a:r>
            <a:r>
              <a:rPr lang="en-US" altLang="en-US" sz="1600" b="1" dirty="0"/>
              <a:t>CH failure can disrupt both: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Its cluster operation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The CH-to-CH chain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CH </a:t>
            </a:r>
            <a:r>
              <a:rPr lang="en-US" altLang="en-US" sz="1600" dirty="0"/>
              <a:t>Failure </a:t>
            </a:r>
            <a:r>
              <a:rPr lang="en-US" altLang="en-US" sz="1600" dirty="0" smtClean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Cluster loses its CH </a:t>
            </a:r>
            <a:r>
              <a:rPr lang="en-US" altLang="en-US" sz="1600" dirty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Relay path may also be disrupted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1" t="11830" r="39992" b="14509"/>
          <a:stretch/>
        </p:blipFill>
        <p:spPr>
          <a:xfrm>
            <a:off x="6618514" y="2395995"/>
            <a:ext cx="5294812" cy="433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26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v4 -&gt; v7: Tuning, Resilience &amp;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19" y="1161288"/>
            <a:ext cx="722376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/>
              <a:t>V7: Chain </a:t>
            </a:r>
            <a:r>
              <a:rPr lang="en-US" sz="1600" b="1" dirty="0"/>
              <a:t>+ Backup — Center BS</a:t>
            </a: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Modification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v7 integrates two recovery mechanisms: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1. Backup CH Failover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Designate a backup CH during cluster formation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Promote the backup when the primary CH fails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2. Chain Repair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Remove the failed CH from the chain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Reconnect the affected CHs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Preserve a valid forwarding path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Why?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Maintain cluster connectivity and inter-CH communication after CH failures.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59992" t="-797" r="722" b="15188"/>
          <a:stretch/>
        </p:blipFill>
        <p:spPr>
          <a:xfrm>
            <a:off x="8086498" y="1245468"/>
            <a:ext cx="3722324" cy="540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6939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v4 -&gt; v7: Tuning, Resilience &amp;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379609"/>
              </p:ext>
            </p:extLst>
          </p:nvPr>
        </p:nvGraphicFramePr>
        <p:xfrm>
          <a:off x="274320" y="1371600"/>
          <a:ext cx="11612878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4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8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Version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Idea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+mn-lt"/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  <a:latin typeface="+mn-lt"/>
                        </a:rPr>
                        <a:t>v7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  <a:latin typeface="+mn-lt"/>
                        </a:rPr>
                        <a:t>Chain + Backup Failover + Chain Repair (backup inherits dead…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1</a:t>
                      </a:r>
                      <a:r>
                        <a:rPr lang="en-US"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551</a:t>
                      </a:r>
                      <a:endParaRPr sz="16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19</a:t>
                      </a:r>
                      <a:r>
                        <a:rPr lang="ar-EG"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76</a:t>
                      </a:r>
                      <a:endParaRPr sz="16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2</a:t>
                      </a:r>
                      <a:r>
                        <a:rPr lang="ar-EG"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066</a:t>
                      </a:r>
                      <a:endParaRPr sz="16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9</a:t>
                      </a:r>
                      <a:r>
                        <a:rPr lang="ar-EG"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8</a:t>
                      </a:r>
                      <a:r>
                        <a:rPr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.</a:t>
                      </a:r>
                      <a:r>
                        <a:rPr lang="en-US"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4</a:t>
                      </a:r>
                      <a:r>
                        <a:rPr lang="ar-EG"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32</a:t>
                      </a:r>
                      <a:r>
                        <a:rPr sz="1600" dirty="0" smtClean="0">
                          <a:solidFill>
                            <a:srgbClr val="404040"/>
                          </a:solidFill>
                          <a:latin typeface="+mn-lt"/>
                        </a:rPr>
                        <a:t>%</a:t>
                      </a:r>
                      <a:endParaRPr sz="16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2743388"/>
            <a:ext cx="1061381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Failure-Recovery Results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591522"/>
              </p:ext>
            </p:extLst>
          </p:nvPr>
        </p:nvGraphicFramePr>
        <p:xfrm>
          <a:off x="499534" y="3197906"/>
          <a:ext cx="6354112" cy="1676400"/>
        </p:xfrm>
        <a:graphic>
          <a:graphicData uri="http://schemas.openxmlformats.org/drawingml/2006/table">
            <a:tbl>
              <a:tblPr/>
              <a:tblGrid>
                <a:gridCol w="3177056">
                  <a:extLst>
                    <a:ext uri="{9D8B030D-6E8A-4147-A177-3AD203B41FA5}">
                      <a16:colId xmlns:a16="http://schemas.microsoft.com/office/drawing/2014/main" val="1368452674"/>
                    </a:ext>
                  </a:extLst>
                </a:gridCol>
                <a:gridCol w="3177056">
                  <a:extLst>
                    <a:ext uri="{9D8B030D-6E8A-4147-A177-3AD203B41FA5}">
                      <a16:colId xmlns:a16="http://schemas.microsoft.com/office/drawing/2014/main" val="3501083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Recovery Indicator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418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Backup Promotions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16 successful / 6 rejected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039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Partial Promotions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0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303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Emergency Promotions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0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95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Chain Repairs via Backup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16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625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7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26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v4 -&gt; v7: Tuning, Resilience &amp;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19" y="1060026"/>
            <a:ext cx="1052068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/>
              <a:t>V6</a:t>
            </a:r>
            <a:r>
              <a:rPr lang="en-US" sz="1600" b="1" dirty="0"/>
              <a:t>: CH-to-CH Chain — Far </a:t>
            </a:r>
            <a:r>
              <a:rPr lang="en-US" sz="1600" b="1" dirty="0" smtClean="0"/>
              <a:t>BS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Why Far-BS Scenario?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To examine the effect of CH-to-BS distance on the proposed relay mechanism</a:t>
            </a:r>
            <a:r>
              <a:rPr lang="en-US" altLang="en-US" sz="1600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Experimental Setup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Network area: </a:t>
            </a:r>
            <a:r>
              <a:rPr lang="en-US" altLang="en-US" sz="1600" b="1" dirty="0"/>
              <a:t>100 × 100 m</a:t>
            </a:r>
            <a:r>
              <a:rPr lang="en-US" altLang="en-US" sz="1600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Same simulation parameters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Same energy model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Same communication range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Far Base Station</a:t>
            </a:r>
            <a:r>
              <a:rPr lang="en-US" altLang="en-US" sz="1600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CH-to-CH chain enabled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Problem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With a far BS: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CH₁ ────────────────→ BS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CH</a:t>
            </a:r>
            <a:r>
              <a:rPr lang="en-US" altLang="en-US" sz="1600" dirty="0"/>
              <a:t>₂ ────────────────→ BS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CH</a:t>
            </a:r>
            <a:r>
              <a:rPr lang="en-US" altLang="en-US" sz="1600" dirty="0"/>
              <a:t>₃ ────────────────→ BS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Direct CH → BS communication becomes more costly as the transmission distance increases.</a:t>
            </a: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Modification</a:t>
            </a: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CH₁ → CH₂ → CH₃ → Gateway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 </a:t>
            </a:r>
            <a:r>
              <a:rPr lang="en-US" altLang="en-US" sz="1600" dirty="0" smtClean="0"/>
              <a:t>                                        ↓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 </a:t>
            </a:r>
            <a:r>
              <a:rPr lang="en-US" altLang="en-US" sz="1600" dirty="0" smtClean="0"/>
              <a:t>                                       BS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870475"/>
              </p:ext>
            </p:extLst>
          </p:nvPr>
        </p:nvGraphicFramePr>
        <p:xfrm>
          <a:off x="5278581" y="3757045"/>
          <a:ext cx="6798733" cy="955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1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2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782"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v6 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(</a:t>
                      </a:r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Far</a:t>
                      </a:r>
                      <a:r>
                        <a:rPr lang="en-US" sz="1400" baseline="0" dirty="0" smtClean="0">
                          <a:solidFill>
                            <a:srgbClr val="404040"/>
                          </a:solidFill>
                        </a:rPr>
                        <a:t> BS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)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1266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1910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2</a:t>
                      </a:r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031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97.</a:t>
                      </a:r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075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%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5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26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v4 -&gt; v7: Tuning, Resilience &amp;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19" y="1060026"/>
            <a:ext cx="1052068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/>
              <a:t>V6</a:t>
            </a:r>
            <a:r>
              <a:rPr lang="en-US" sz="1600" b="1" dirty="0"/>
              <a:t>: CH-to-CH </a:t>
            </a:r>
            <a:r>
              <a:rPr lang="en-US" sz="1600" b="1" dirty="0" smtClean="0"/>
              <a:t>Chain + Backup </a:t>
            </a:r>
            <a:r>
              <a:rPr lang="en-US" sz="1600" b="1" dirty="0"/>
              <a:t>— Far </a:t>
            </a:r>
            <a:r>
              <a:rPr lang="en-US" sz="1600" b="1" dirty="0" smtClean="0"/>
              <a:t>BS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Problem Identified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The Far-BS scenario increases the importance of maintaining a valid CH-to-CH forwarding structure.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A CH failure may cause: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CH </a:t>
            </a:r>
            <a:r>
              <a:rPr lang="en-US" altLang="en-US" sz="1600" dirty="0"/>
              <a:t>Failure </a:t>
            </a:r>
            <a:r>
              <a:rPr lang="en-US" altLang="en-US" sz="1600" dirty="0" smtClean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Cluster disruption + Relay-path disruption </a:t>
            </a:r>
            <a:r>
              <a:rPr lang="en-US" altLang="en-US" sz="1600" dirty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Packet delivery degradation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Modification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v7 = v6 + Backup CH + Chain Repair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Backup CH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A backup is designated during cluster formation</a:t>
            </a:r>
            <a:r>
              <a:rPr lang="en-US" altLang="en-US" sz="1600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Chain Repair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When a CH fails: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Failed CH </a:t>
            </a:r>
            <a:r>
              <a:rPr lang="en-US" altLang="en-US" sz="1600" dirty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Backup Promotion </a:t>
            </a:r>
            <a:r>
              <a:rPr lang="en-US" altLang="en-US" sz="1600" dirty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Replace failed CH </a:t>
            </a:r>
            <a:r>
              <a:rPr lang="en-US" altLang="en-US" sz="1600" dirty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Repair CH-to-CH path </a:t>
            </a:r>
            <a:r>
              <a:rPr lang="en-US" altLang="en-US" sz="1600" dirty="0">
                <a:sym typeface="Wingdings" panose="05000000000000000000" pitchFamily="2" charset="2"/>
              </a:rPr>
              <a:t>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Continue </a:t>
            </a:r>
            <a:r>
              <a:rPr lang="en-US" altLang="en-US" sz="1600" dirty="0" smtClean="0"/>
              <a:t>forwarding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Why?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Improve the robustness of the CH-to-CH communication structure under CH failures.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310922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 v4 -&gt; v7: Tuning, Resilience &amp;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95341"/>
              </p:ext>
            </p:extLst>
          </p:nvPr>
        </p:nvGraphicFramePr>
        <p:xfrm>
          <a:off x="457199" y="1466426"/>
          <a:ext cx="6798733" cy="955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1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2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782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V7</a:t>
                      </a:r>
                      <a:r>
                        <a:rPr lang="en-US" sz="1400" baseline="0" dirty="0" smtClean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(</a:t>
                      </a:r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Far</a:t>
                      </a:r>
                      <a:r>
                        <a:rPr lang="en-US" sz="1400" baseline="0" dirty="0" smtClean="0">
                          <a:solidFill>
                            <a:srgbClr val="404040"/>
                          </a:solidFill>
                        </a:rPr>
                        <a:t> BS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)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1266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1891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1976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9</a:t>
                      </a:r>
                      <a:r>
                        <a:rPr lang="en-US" sz="1400" dirty="0" smtClean="0">
                          <a:solidFill>
                            <a:srgbClr val="404040"/>
                          </a:solidFill>
                        </a:rPr>
                        <a:t>8.135</a:t>
                      </a:r>
                      <a:r>
                        <a:rPr sz="1400" dirty="0" smtClean="0">
                          <a:solidFill>
                            <a:srgbClr val="404040"/>
                          </a:solidFill>
                        </a:rPr>
                        <a:t>%</a:t>
                      </a:r>
                      <a:endParaRPr sz="14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188816"/>
              </p:ext>
            </p:extLst>
          </p:nvPr>
        </p:nvGraphicFramePr>
        <p:xfrm>
          <a:off x="457200" y="3060088"/>
          <a:ext cx="8229600" cy="1676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16124282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34896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Recovery Indicator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558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Backup Promotions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21 successful / 8 rejected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724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Partial Promotions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0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364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Emergency Promotions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0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02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Chain Repairs via Backup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21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260263"/>
                  </a:ext>
                </a:extLst>
              </a:tr>
            </a:tbl>
          </a:graphicData>
        </a:graphic>
      </p:graphicFrame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57200" y="2659808"/>
            <a:ext cx="22583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Failure-Recovery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9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sv-SE" sz="2600" b="1" dirty="0">
                <a:solidFill>
                  <a:schemeClr val="bg1"/>
                </a:solidFill>
              </a:rPr>
              <a:t>Multihop Variants: v1 vs v2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199" y="1166843"/>
            <a:ext cx="1037705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Modification</a:t>
            </a:r>
            <a:endParaRPr lang="en-US" sz="1600" dirty="0"/>
          </a:p>
          <a:p>
            <a:r>
              <a:rPr lang="en-US" sz="1600" b="1" dirty="0"/>
              <a:t>Two </a:t>
            </a:r>
            <a:r>
              <a:rPr lang="en-US" sz="1600" b="1" dirty="0" err="1"/>
              <a:t>Multihop</a:t>
            </a:r>
            <a:r>
              <a:rPr lang="en-US" sz="1600" b="1" dirty="0"/>
              <a:t> variants were evaluated to investigate the effect of the setup interval:</a:t>
            </a:r>
            <a:endParaRPr lang="en-US" sz="1600" dirty="0"/>
          </a:p>
          <a:p>
            <a:r>
              <a:rPr lang="en-US" sz="1600" b="1" dirty="0"/>
              <a:t>1. </a:t>
            </a:r>
            <a:r>
              <a:rPr lang="en-US" sz="1600" b="1" dirty="0" err="1"/>
              <a:t>Multihop</a:t>
            </a:r>
            <a:r>
              <a:rPr lang="en-US" sz="1600" b="1" dirty="0"/>
              <a:t> V1 — 5-Round Setup Interval</a:t>
            </a:r>
            <a:endParaRPr lang="en-US" sz="1600" dirty="0"/>
          </a:p>
          <a:p>
            <a:r>
              <a:rPr lang="en-US" sz="1600" dirty="0"/>
              <a:t>•Rebuild clustering and </a:t>
            </a:r>
            <a:r>
              <a:rPr lang="en-US" sz="1600" dirty="0" err="1"/>
              <a:t>multihop</a:t>
            </a:r>
            <a:r>
              <a:rPr lang="en-US" sz="1600" dirty="0"/>
              <a:t> routing every 5 rounds</a:t>
            </a:r>
          </a:p>
          <a:p>
            <a:r>
              <a:rPr lang="en-US" sz="1600" dirty="0"/>
              <a:t>•Re-select CHs and backup CHs during each setup phase</a:t>
            </a:r>
          </a:p>
          <a:p>
            <a:r>
              <a:rPr lang="en-US" sz="1600" dirty="0"/>
              <a:t>•Update the </a:t>
            </a:r>
            <a:r>
              <a:rPr lang="en-US" sz="1600" dirty="0" err="1"/>
              <a:t>multihop</a:t>
            </a:r>
            <a:r>
              <a:rPr lang="en-US" sz="1600" dirty="0"/>
              <a:t> routing structure </a:t>
            </a:r>
            <a:r>
              <a:rPr lang="en-US" sz="1600" dirty="0" smtClean="0"/>
              <a:t>periodically</a:t>
            </a:r>
            <a:endParaRPr lang="ar-EG" sz="1600" dirty="0" smtClean="0"/>
          </a:p>
          <a:p>
            <a:endParaRPr lang="en-US" sz="1600" dirty="0"/>
          </a:p>
          <a:p>
            <a:r>
              <a:rPr lang="en-US" sz="1600" b="1" dirty="0"/>
              <a:t>2. </a:t>
            </a:r>
            <a:r>
              <a:rPr lang="en-US" sz="1600" b="1" dirty="0" err="1"/>
              <a:t>Multihop</a:t>
            </a:r>
            <a:r>
              <a:rPr lang="en-US" sz="1600" b="1" dirty="0"/>
              <a:t> V2 — 10-Round Setup Interval</a:t>
            </a:r>
            <a:endParaRPr lang="en-US" sz="1600" dirty="0"/>
          </a:p>
          <a:p>
            <a:r>
              <a:rPr lang="en-US" sz="1600" dirty="0"/>
              <a:t>•Extend the setup interval from 5 to 10 rounds</a:t>
            </a:r>
          </a:p>
          <a:p>
            <a:r>
              <a:rPr lang="en-US" sz="1600" dirty="0"/>
              <a:t>•Reuse the same CHs, backup CHs, and routing structure for a longer period</a:t>
            </a:r>
          </a:p>
          <a:p>
            <a:r>
              <a:rPr lang="en-US" sz="1600" dirty="0"/>
              <a:t>•Reduce the frequency of network </a:t>
            </a:r>
            <a:r>
              <a:rPr lang="en-US" sz="1600" dirty="0" smtClean="0"/>
              <a:t>reconfiguration</a:t>
            </a:r>
            <a:endParaRPr lang="ar-EG" sz="1600" dirty="0" smtClean="0"/>
          </a:p>
          <a:p>
            <a:endParaRPr lang="en-US" sz="1600" dirty="0"/>
          </a:p>
          <a:p>
            <a:r>
              <a:rPr lang="en-US" sz="1600" b="1" dirty="0"/>
              <a:t>Why?</a:t>
            </a:r>
            <a:endParaRPr lang="en-US" sz="1600" dirty="0"/>
          </a:p>
          <a:p>
            <a:r>
              <a:rPr lang="en-US" sz="1600" dirty="0"/>
              <a:t>Evaluate how the </a:t>
            </a:r>
            <a:r>
              <a:rPr lang="en-US" sz="1600" b="1" dirty="0"/>
              <a:t>setup interval</a:t>
            </a:r>
            <a:r>
              <a:rPr lang="en-US" sz="1600" dirty="0"/>
              <a:t> affects energy distribution, network lifetime, and packet delivery while keeping the </a:t>
            </a:r>
            <a:r>
              <a:rPr lang="en-US" sz="1600" dirty="0" err="1"/>
              <a:t>Multihop</a:t>
            </a:r>
            <a:r>
              <a:rPr lang="en-US" sz="1600" dirty="0"/>
              <a:t> mechanism unchanged.</a:t>
            </a:r>
          </a:p>
        </p:txBody>
      </p:sp>
    </p:spTree>
    <p:extLst>
      <p:ext uri="{BB962C8B-B14F-4D97-AF65-F5344CB8AC3E}">
        <p14:creationId xmlns:p14="http://schemas.microsoft.com/office/powerpoint/2010/main" val="162929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sv-SE" sz="2600" b="1" dirty="0">
                <a:solidFill>
                  <a:schemeClr val="bg1"/>
                </a:solidFill>
              </a:rPr>
              <a:t>Multihop Variants: v1 vs v2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520660"/>
              </p:ext>
            </p:extLst>
          </p:nvPr>
        </p:nvGraphicFramePr>
        <p:xfrm>
          <a:off x="540327" y="1639526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16466353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88329871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778319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V2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175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FND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1491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1381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45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HND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1991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2071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349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LND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2086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2241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604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PDR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98.49%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97.88%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104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65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Design Evolution Flow (v1 -&gt; v7)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7.4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1815" t="378" r="1486" b="3276"/>
          <a:stretch/>
        </p:blipFill>
        <p:spPr>
          <a:xfrm>
            <a:off x="3438117" y="1121067"/>
            <a:ext cx="5315459" cy="56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4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Design Evolution Flow (v1 -&gt; v8)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81122"/>
              </p:ext>
            </p:extLst>
          </p:nvPr>
        </p:nvGraphicFramePr>
        <p:xfrm>
          <a:off x="277092" y="1722009"/>
          <a:ext cx="11490035" cy="4440700"/>
        </p:xfrm>
        <a:graphic>
          <a:graphicData uri="http://schemas.openxmlformats.org/drawingml/2006/table">
            <a:tbl>
              <a:tblPr/>
              <a:tblGrid>
                <a:gridCol w="1915006">
                  <a:extLst>
                    <a:ext uri="{9D8B030D-6E8A-4147-A177-3AD203B41FA5}">
                      <a16:colId xmlns:a16="http://schemas.microsoft.com/office/drawing/2014/main" val="4191395571"/>
                    </a:ext>
                  </a:extLst>
                </a:gridCol>
                <a:gridCol w="4975320">
                  <a:extLst>
                    <a:ext uri="{9D8B030D-6E8A-4147-A177-3AD203B41FA5}">
                      <a16:colId xmlns:a16="http://schemas.microsoft.com/office/drawing/2014/main" val="1763170458"/>
                    </a:ext>
                  </a:extLst>
                </a:gridCol>
                <a:gridCol w="1237673">
                  <a:extLst>
                    <a:ext uri="{9D8B030D-6E8A-4147-A177-3AD203B41FA5}">
                      <a16:colId xmlns:a16="http://schemas.microsoft.com/office/drawing/2014/main" val="566673329"/>
                    </a:ext>
                  </a:extLst>
                </a:gridCol>
                <a:gridCol w="1283854">
                  <a:extLst>
                    <a:ext uri="{9D8B030D-6E8A-4147-A177-3AD203B41FA5}">
                      <a16:colId xmlns:a16="http://schemas.microsoft.com/office/drawing/2014/main" val="258800590"/>
                    </a:ext>
                  </a:extLst>
                </a:gridCol>
                <a:gridCol w="960582">
                  <a:extLst>
                    <a:ext uri="{9D8B030D-6E8A-4147-A177-3AD203B41FA5}">
                      <a16:colId xmlns:a16="http://schemas.microsoft.com/office/drawing/2014/main" val="420157608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788216803"/>
                    </a:ext>
                  </a:extLst>
                </a:gridCol>
              </a:tblGrid>
              <a:tr h="111264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bg1"/>
                          </a:solidFill>
                        </a:rPr>
                        <a:t>Version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bg1"/>
                          </a:solidFill>
                        </a:rPr>
                        <a:t>Idea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>
                          <a:solidFill>
                            <a:schemeClr val="bg1"/>
                          </a:solidFill>
                        </a:rPr>
                        <a:t>FND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>
                          <a:solidFill>
                            <a:schemeClr val="bg1"/>
                          </a:solidFill>
                        </a:rPr>
                        <a:t>HND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bg1"/>
                          </a:solidFill>
                        </a:rPr>
                        <a:t>LND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bg1"/>
                          </a:solidFill>
                        </a:rPr>
                        <a:t>PDR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936804"/>
                  </a:ext>
                </a:extLst>
              </a:tr>
              <a:tr h="206604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v1</a:t>
                      </a:r>
                      <a:endParaRPr lang="en-US" sz="13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i="0" dirty="0"/>
                        <a:t>HEED-style CH selection + LEACH clustering, no multi-round reuse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330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557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1318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99.74%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41254"/>
                  </a:ext>
                </a:extLst>
              </a:tr>
              <a:tr h="124955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/>
                        <a:t>v2</a:t>
                      </a:r>
                      <a:endParaRPr lang="en-US" sz="1300" i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i="0" dirty="0"/>
                        <a:t>+ Rotation fairness penalty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345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/>
                        <a:t>534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/>
                        <a:t>1393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99.79%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220370"/>
                  </a:ext>
                </a:extLst>
              </a:tr>
              <a:tr h="198582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v3</a:t>
                      </a:r>
                      <a:endParaRPr lang="en-US" sz="13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i="0" dirty="0"/>
                        <a:t>Single-pass Energy × Connectivity score + Multi-round reuse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1730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/>
                        <a:t>2081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2703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97.72%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160760"/>
                  </a:ext>
                </a:extLst>
              </a:tr>
              <a:tr h="167227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/>
                        <a:t>v4</a:t>
                      </a:r>
                      <a:endParaRPr lang="en-US" sz="1300" i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i="0" dirty="0"/>
                        <a:t>Longer setup interval: 5 → 15 rounds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1513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2219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2521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/>
                        <a:t>94.67%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855430"/>
                  </a:ext>
                </a:extLst>
              </a:tr>
              <a:tr h="111264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v5</a:t>
                      </a:r>
                      <a:endParaRPr lang="en-US" sz="13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i="0" dirty="0"/>
                        <a:t>+ Backup CH Failover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1513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2127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2416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97.05%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265136"/>
                  </a:ext>
                </a:extLst>
              </a:tr>
              <a:tr h="124955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v6 (Center)</a:t>
                      </a:r>
                      <a:endParaRPr lang="en-US" sz="13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i="0" dirty="0"/>
                        <a:t>CH-to-CH Chain; BS at field center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/>
                        <a:t>1551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1981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2106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/>
                        <a:t>97.494%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623302"/>
                  </a:ext>
                </a:extLst>
              </a:tr>
              <a:tr h="135872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v7 (Center)</a:t>
                      </a:r>
                      <a:endParaRPr lang="en-US" sz="13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i="0" dirty="0"/>
                        <a:t>Chain + Backup Failover + Chain Repair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1551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1976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2066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98.432%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597339"/>
                  </a:ext>
                </a:extLst>
              </a:tr>
              <a:tr h="111264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v6 (Far BS)</a:t>
                      </a:r>
                      <a:endParaRPr lang="en-US" sz="13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i="0" dirty="0"/>
                        <a:t>CH-to-CH Chain; Far BS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1266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1910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2031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97.075%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02954"/>
                  </a:ext>
                </a:extLst>
              </a:tr>
              <a:tr h="198582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v7 (Far BS)</a:t>
                      </a:r>
                      <a:endParaRPr lang="en-US" sz="13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i="0" dirty="0"/>
                        <a:t>Chain + Backup Failover + Chain Repair; Far BS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/>
                        <a:t>1266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1891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1976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98.135%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571705"/>
                  </a:ext>
                </a:extLst>
              </a:tr>
              <a:tr h="198582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 smtClean="0"/>
                        <a:t>v7.1 </a:t>
                      </a:r>
                      <a:r>
                        <a:rPr lang="en-US" sz="1300" b="1" i="0" dirty="0"/>
                        <a:t>(</a:t>
                      </a:r>
                      <a:r>
                        <a:rPr lang="en-US" sz="1300" b="1" i="0" dirty="0" err="1"/>
                        <a:t>Multihop</a:t>
                      </a:r>
                      <a:r>
                        <a:rPr lang="en-US" sz="1300" b="1" i="0" dirty="0"/>
                        <a:t> Int5)</a:t>
                      </a:r>
                      <a:endParaRPr lang="en-US" sz="1300" i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i="0"/>
                        <a:t>Multihop routing + Backup Failover + Routing Repair (Setup Interval = 5 rounds)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1491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1991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2086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/>
                        <a:t>98.49%</a:t>
                      </a:r>
                      <a:endParaRPr lang="en-US" sz="1300" i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535046"/>
                  </a:ext>
                </a:extLst>
              </a:tr>
              <a:tr h="198582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v7.2 (</a:t>
                      </a:r>
                      <a:r>
                        <a:rPr lang="en-US" sz="1300" b="1" i="0" dirty="0" err="1"/>
                        <a:t>Multihop</a:t>
                      </a:r>
                      <a:r>
                        <a:rPr lang="en-US" sz="1300" b="1" i="0" dirty="0"/>
                        <a:t> Int10)</a:t>
                      </a:r>
                      <a:endParaRPr lang="en-US" sz="1300" i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i="0" dirty="0" err="1"/>
                        <a:t>Multihop</a:t>
                      </a:r>
                      <a:r>
                        <a:rPr lang="en-US" sz="1300" i="0" dirty="0"/>
                        <a:t> routing + Backup Failover + Routing Repair (Setup Interval = 10 rounds)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/>
                        <a:t>1381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/>
                        <a:t>2071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/>
                        <a:t>2241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97.878%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964634"/>
                  </a:ext>
                </a:extLst>
              </a:tr>
              <a:tr h="198582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 smtClean="0"/>
                        <a:t>v8 (Center)</a:t>
                      </a:r>
                      <a:endParaRPr lang="en-US" sz="1300" i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i="0"/>
                        <a:t>v5b + epoch fix + proactive handover + orphan re-join + direct-to-BS + energy-gated 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2621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2711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2761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/>
                        <a:t>99.22%</a:t>
                      </a:r>
                      <a:endParaRPr lang="en-US" sz="1300" i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545638"/>
                  </a:ext>
                </a:extLst>
              </a:tr>
              <a:tr h="198582"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/>
                        <a:t>v8 (Far BS)</a:t>
                      </a:r>
                      <a:endParaRPr lang="en-US" sz="1300" i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i="0" dirty="0" err="1"/>
                        <a:t>Same v8 code; BS far (50,−100)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/>
                        <a:t>1471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/>
                        <a:t>1646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/>
                        <a:t>1716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i="0" dirty="0"/>
                        <a:t>98.66%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45492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Lifetime &amp; Reliability Trend, v1 -&gt;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7.5</a:t>
            </a:r>
          </a:p>
        </p:txBody>
      </p:sp>
      <p:pic>
        <p:nvPicPr>
          <p:cNvPr id="6" name="Picture 5" descr="evolution_fnd_lnd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1371600"/>
            <a:ext cx="12191695" cy="5338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Lifetime &amp; Reliability Trend, v1 -&gt;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7.5</a:t>
            </a:r>
          </a:p>
        </p:txBody>
      </p:sp>
      <p:pic>
        <p:nvPicPr>
          <p:cNvPr id="6" name="Picture 5" descr="evolution_pdr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200120" cy="444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  <a:latin typeface="Calibri"/>
              </a:rPr>
              <a:t>Proposed Protocol Experiments &amp;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CE6F1"/>
                </a:solidFill>
                <a:latin typeface="Calibri"/>
              </a:rPr>
              <a:t>Backup CH Failover, CH-to-CH Chain, Multihop Routing, Setup Interval, Center vs Far-BS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b="1" dirty="0">
                <a:solidFill>
                  <a:schemeClr val="bg1"/>
                </a:solidFill>
              </a:rPr>
              <a:t>Experimental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050" y="1162594"/>
            <a:ext cx="634438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Why </a:t>
            </a:r>
            <a:r>
              <a:rPr lang="en-US" altLang="en-US" sz="1600" b="1" dirty="0"/>
              <a:t>Multiple Experimental Variants?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The proposed protocol was not evaluated as a single fixed configuration.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Different variants were introduced to investigate the effect of individual design decisions: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Two </a:t>
            </a:r>
            <a:r>
              <a:rPr lang="en-US" altLang="en-US" sz="1600" b="1" dirty="0"/>
              <a:t>Types of </a:t>
            </a:r>
            <a:r>
              <a:rPr lang="en-US" altLang="en-US" sz="1600" b="1" dirty="0" smtClean="0"/>
              <a:t>Experiments</a:t>
            </a: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497354"/>
              </p:ext>
            </p:extLst>
          </p:nvPr>
        </p:nvGraphicFramePr>
        <p:xfrm>
          <a:off x="357049" y="2809198"/>
          <a:ext cx="6344381" cy="1493520"/>
        </p:xfrm>
        <a:graphic>
          <a:graphicData uri="http://schemas.openxmlformats.org/drawingml/2006/table">
            <a:tbl>
              <a:tblPr/>
              <a:tblGrid>
                <a:gridCol w="1923455">
                  <a:extLst>
                    <a:ext uri="{9D8B030D-6E8A-4147-A177-3AD203B41FA5}">
                      <a16:colId xmlns:a16="http://schemas.microsoft.com/office/drawing/2014/main" val="2019328942"/>
                    </a:ext>
                  </a:extLst>
                </a:gridCol>
                <a:gridCol w="4420926">
                  <a:extLst>
                    <a:ext uri="{9D8B030D-6E8A-4147-A177-3AD203B41FA5}">
                      <a16:colId xmlns:a16="http://schemas.microsoft.com/office/drawing/2014/main" val="768349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Experimental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217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Controlled Comparison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Change one major factor while keeping the remaining conditions 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6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Variant Exploration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Explore alternative configurations or combinations of mechanisms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546710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r="49639" b="34"/>
          <a:stretch/>
        </p:blipFill>
        <p:spPr>
          <a:xfrm>
            <a:off x="6833483" y="1094091"/>
            <a:ext cx="5226158" cy="518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4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b="1" dirty="0">
                <a:solidFill>
                  <a:schemeClr val="bg1"/>
                </a:solidFill>
              </a:rPr>
              <a:t>Experimental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673" y="1184791"/>
            <a:ext cx="72194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Controlled </a:t>
            </a:r>
            <a:r>
              <a:rPr lang="en-US" altLang="en-US" sz="1600" b="1" dirty="0"/>
              <a:t>Comparison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Used to isolate the effect of a specific modification whenever possible.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Examples</a:t>
            </a:r>
            <a:r>
              <a:rPr lang="en-US" altLang="en-US" sz="1600" dirty="0" smtClean="0"/>
              <a:t>:</a:t>
            </a: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v3 → v4:</a:t>
            </a:r>
            <a:r>
              <a:rPr lang="en-US" altLang="en-US" sz="1600" dirty="0"/>
              <a:t> Setup interval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v4 → v5:</a:t>
            </a:r>
            <a:r>
              <a:rPr lang="en-US" altLang="en-US" sz="1600" dirty="0"/>
              <a:t> Backup CH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v6 (Far-BS) → v7 (Far-BS):</a:t>
            </a:r>
            <a:r>
              <a:rPr lang="en-US" altLang="en-US" sz="1600" dirty="0"/>
              <a:t> Backup + Chain Repair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v7 Chain → v7 </a:t>
            </a:r>
            <a:r>
              <a:rPr lang="en-US" altLang="en-US" sz="1600" b="1" dirty="0" err="1"/>
              <a:t>Multihop</a:t>
            </a:r>
            <a:r>
              <a:rPr lang="en-US" altLang="en-US" sz="1600" b="1" dirty="0"/>
              <a:t> Int5:</a:t>
            </a:r>
            <a:r>
              <a:rPr lang="en-US" altLang="en-US" sz="1600" dirty="0"/>
              <a:t> Relay topology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Variant </a:t>
            </a:r>
            <a:r>
              <a:rPr lang="en-US" altLang="en-US" sz="1600" b="1" dirty="0"/>
              <a:t>Exploration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Used when multiple design factors change together or when investigating an alternative architecture.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Examples: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Setup-interval variants:</a:t>
            </a:r>
            <a:r>
              <a:rPr lang="en-US" altLang="en-US" sz="1600" dirty="0"/>
              <a:t> 5 / 10 / 15 rounds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Center-BS vs. Far-BS scenarios</a:t>
            </a:r>
            <a:r>
              <a:rPr lang="en-US" altLang="en-US" sz="1600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Chain vs. </a:t>
            </a:r>
            <a:r>
              <a:rPr lang="en-US" altLang="en-US" sz="1600" b="1" dirty="0" err="1"/>
              <a:t>Multihop</a:t>
            </a:r>
            <a:r>
              <a:rPr lang="en-US" altLang="en-US" sz="1600" b="1" dirty="0"/>
              <a:t> routing configurations</a:t>
            </a:r>
            <a:r>
              <a:rPr lang="en-US" altLang="en-US" sz="1600" dirty="0"/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51010" t="-775" r="789" b="809"/>
          <a:stretch/>
        </p:blipFill>
        <p:spPr>
          <a:xfrm>
            <a:off x="7178040" y="1051560"/>
            <a:ext cx="4835134" cy="5013960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91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Backup CH Failover &amp; Chain Repair -- Robustness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Why Test Backup CH Failover?</a:t>
            </a:r>
          </a:p>
          <a:p>
            <a:r>
              <a:rPr lang="en-US" sz="1600" dirty="0"/>
              <a:t>A CH may die </a:t>
            </a:r>
            <a:r>
              <a:rPr lang="en-US" sz="1600" b="1" dirty="0"/>
              <a:t>before the next cluster setup phase</a:t>
            </a:r>
            <a:r>
              <a:rPr lang="en-US" sz="1600" dirty="0"/>
              <a:t>.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Without </a:t>
            </a:r>
            <a:r>
              <a:rPr lang="en-US" sz="1600" b="1" dirty="0"/>
              <a:t>recovery</a:t>
            </a:r>
            <a:r>
              <a:rPr lang="en-US" sz="1600" dirty="0" smtClean="0"/>
              <a:t>:</a:t>
            </a:r>
            <a:r>
              <a:rPr lang="ar-EG" sz="1600" dirty="0" smtClean="0"/>
              <a:t> </a:t>
            </a:r>
            <a:r>
              <a:rPr lang="en-US" sz="1600" dirty="0"/>
              <a:t>  </a:t>
            </a:r>
            <a:endParaRPr lang="en-US" sz="1600" dirty="0" smtClean="0"/>
          </a:p>
          <a:p>
            <a:r>
              <a:rPr lang="en-US" sz="1600" dirty="0" smtClean="0"/>
              <a:t>CH Failure </a:t>
            </a:r>
            <a:r>
              <a:rPr lang="en-US" sz="1600" dirty="0" smtClean="0">
                <a:sym typeface="Wingdings" panose="05000000000000000000" pitchFamily="2" charset="2"/>
              </a:rPr>
              <a:t> </a:t>
            </a:r>
            <a:r>
              <a:rPr lang="en-US" sz="1600" dirty="0" smtClean="0"/>
              <a:t>Cluster </a:t>
            </a:r>
            <a:r>
              <a:rPr lang="en-US" sz="1600" dirty="0"/>
              <a:t>loses its </a:t>
            </a:r>
            <a:r>
              <a:rPr lang="en-US" sz="1600" dirty="0" smtClean="0"/>
              <a:t>CH </a:t>
            </a:r>
            <a:r>
              <a:rPr lang="en-US" sz="1600" dirty="0" smtClean="0">
                <a:sym typeface="Wingdings" panose="05000000000000000000" pitchFamily="2" charset="2"/>
              </a:rPr>
              <a:t> </a:t>
            </a:r>
            <a:r>
              <a:rPr lang="en-US" sz="1600" dirty="0" smtClean="0"/>
              <a:t>Nodes </a:t>
            </a:r>
            <a:r>
              <a:rPr lang="en-US" sz="1600" dirty="0"/>
              <a:t>become </a:t>
            </a:r>
            <a:r>
              <a:rPr lang="en-US" sz="1600" dirty="0" smtClean="0"/>
              <a:t>disconnected</a:t>
            </a:r>
          </a:p>
          <a:p>
            <a:endParaRPr lang="en-US" sz="1600" dirty="0"/>
          </a:p>
          <a:p>
            <a:r>
              <a:rPr lang="en-US" sz="1600" b="1" dirty="0"/>
              <a:t>Experimental Modifications</a:t>
            </a:r>
          </a:p>
          <a:p>
            <a:r>
              <a:rPr lang="en-US" sz="1600" b="1" dirty="0"/>
              <a:t>1. Backup CH Failover</a:t>
            </a:r>
            <a:endParaRPr lang="en-US" sz="1600" dirty="0"/>
          </a:p>
          <a:p>
            <a:r>
              <a:rPr lang="en-US" sz="1600" dirty="0"/>
              <a:t>• Designate a backup CH during cluster formation.</a:t>
            </a:r>
            <a:br>
              <a:rPr lang="en-US" sz="1600" dirty="0"/>
            </a:br>
            <a:r>
              <a:rPr lang="en-US" sz="1600" dirty="0"/>
              <a:t>• Promote the backup when the primary CH fails.</a:t>
            </a:r>
            <a:br>
              <a:rPr lang="en-US" sz="1600" dirty="0"/>
            </a:br>
            <a:r>
              <a:rPr lang="en-US" sz="1600" dirty="0"/>
              <a:t>• Preserve cluster operation during the current setup interval</a:t>
            </a:r>
            <a:r>
              <a:rPr lang="en-US" sz="1600" dirty="0" smtClean="0"/>
              <a:t>.</a:t>
            </a:r>
            <a:endParaRPr lang="ar-EG" sz="1600" dirty="0" smtClean="0"/>
          </a:p>
          <a:p>
            <a:endParaRPr lang="en-US" sz="1600" dirty="0"/>
          </a:p>
          <a:p>
            <a:r>
              <a:rPr lang="en-US" sz="1600" b="1" dirty="0"/>
              <a:t>2. Routing Repair</a:t>
            </a:r>
            <a:endParaRPr lang="en-US" sz="1600" dirty="0"/>
          </a:p>
          <a:p>
            <a:r>
              <a:rPr lang="en-US" sz="1600" dirty="0"/>
              <a:t>When a failed CH is part of the </a:t>
            </a:r>
            <a:r>
              <a:rPr lang="en-US" sz="1600" b="1" dirty="0"/>
              <a:t>inter-CH routing structure</a:t>
            </a:r>
            <a:r>
              <a:rPr lang="en-US" sz="1600" dirty="0" smtClean="0"/>
              <a:t>: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CH₁ → CH₂ → CH₃ → CH₄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 </a:t>
            </a:r>
            <a:r>
              <a:rPr lang="en-US" altLang="en-US" sz="1600" dirty="0" smtClean="0"/>
              <a:t>            ✕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 </a:t>
            </a:r>
            <a:r>
              <a:rPr lang="en-US" altLang="en-US" sz="1600" dirty="0" smtClean="0"/>
              <a:t>        Failure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The relay structure must be repaired: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CH₁ → Backup → CH₃ → CH₄</a:t>
            </a:r>
          </a:p>
          <a:p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Backup CH Failover &amp; Chain Repair -- Robustness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What </a:t>
            </a:r>
            <a:r>
              <a:rPr lang="en-US" altLang="en-US" sz="1600" b="1" dirty="0"/>
              <a:t>We Measure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/>
              <a:t>Backup Promotions</a:t>
            </a:r>
            <a:br>
              <a:rPr lang="en-US" sz="1600" dirty="0"/>
            </a:br>
            <a:r>
              <a:rPr lang="en-US" sz="1600" dirty="0"/>
              <a:t>• Rejected Promotions</a:t>
            </a:r>
            <a:br>
              <a:rPr lang="en-US" sz="1600" dirty="0"/>
            </a:br>
            <a:r>
              <a:rPr lang="en-US" sz="1600" dirty="0"/>
              <a:t>• Partial Promotions</a:t>
            </a:r>
            <a:br>
              <a:rPr lang="en-US" sz="1600" dirty="0"/>
            </a:br>
            <a:r>
              <a:rPr lang="en-US" sz="1600" dirty="0"/>
              <a:t>• Emergency Promotions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dirty="0" smtClean="0"/>
              <a:t>Chain/Routing </a:t>
            </a:r>
            <a:r>
              <a:rPr lang="en-US" sz="1600" dirty="0"/>
              <a:t>Repairs</a:t>
            </a:r>
            <a:br>
              <a:rPr lang="en-US" sz="1600" dirty="0"/>
            </a:br>
            <a:r>
              <a:rPr lang="en-US" sz="1600" dirty="0"/>
              <a:t>• FND / HND / LND / PDR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Important Experimental Distinction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Bug fixes are implementation corrections, not new protocol mechanisms.</a:t>
            </a:r>
          </a:p>
        </p:txBody>
      </p:sp>
    </p:spTree>
    <p:extLst>
      <p:ext uri="{BB962C8B-B14F-4D97-AF65-F5344CB8AC3E}">
        <p14:creationId xmlns:p14="http://schemas.microsoft.com/office/powerpoint/2010/main" val="240400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Backup CH Failover &amp; Chain Repair -- Robustness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Bug-Fix </a:t>
            </a:r>
            <a:r>
              <a:rPr lang="en-US" altLang="en-US" sz="1600" b="1" dirty="0"/>
              <a:t>Experiment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During v7 development, two implementation issues were identified: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1. Zero-CH Selection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Previously, a selection restriction could result in: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/>
              <a:t>CH_Count</a:t>
            </a:r>
            <a:r>
              <a:rPr lang="en-US" altLang="en-US" sz="1600" dirty="0"/>
              <a:t> = 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The selection logic was modified to provide a fallback when all eligible nodes had already served</a:t>
            </a:r>
            <a:r>
              <a:rPr lang="en-US" altLang="en-US" sz="1600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2. Backup Promotion Rejection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The original backup check could reject a backup if it could not cover the </a:t>
            </a:r>
            <a:r>
              <a:rPr lang="en-US" altLang="en-US" sz="1600" b="1" dirty="0"/>
              <a:t>entire remaining setup interval</a:t>
            </a:r>
            <a:r>
              <a:rPr lang="en-US" altLang="en-US" sz="1600" dirty="0"/>
              <a:t>, even when it had enough energy to operate for the next round.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The revised mechanism allows: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Tier 1:</a:t>
            </a:r>
            <a:r>
              <a:rPr lang="en-US" altLang="en-US" sz="1600" dirty="0"/>
              <a:t> designated backup promotion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Tier 2:</a:t>
            </a:r>
            <a:r>
              <a:rPr lang="en-US" altLang="en-US" sz="1600" dirty="0"/>
              <a:t> emergency promotion from a surviving cluster member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3982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CH-to-CH Chain vs. Multihop Routing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577840" cy="350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endParaRPr sz="1450" dirty="0">
              <a:solidFill>
                <a:srgbClr val="40404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486400" cy="350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endParaRPr sz="1450" dirty="0">
              <a:solidFill>
                <a:srgbClr val="40404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9560" y="1161288"/>
            <a:ext cx="81940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Research Question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Does the relay topology affect the behavior of the proposed protocol?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Variant </a:t>
            </a:r>
            <a:r>
              <a:rPr lang="en-US" altLang="en-US" sz="1600" b="1" dirty="0"/>
              <a:t>A — CH-to-CH Chain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CH₁ → CH₂ → CH₃ → CH₄ → BS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Single ordered relay structure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Gateway CH connects to BS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Variant </a:t>
            </a:r>
            <a:r>
              <a:rPr lang="en-US" altLang="en-US" sz="1600" b="1" dirty="0"/>
              <a:t>B — Greedy </a:t>
            </a:r>
            <a:r>
              <a:rPr lang="en-US" altLang="en-US" sz="1600" b="1" dirty="0" err="1"/>
              <a:t>Multihop</a:t>
            </a:r>
            <a:r>
              <a:rPr lang="en-US" altLang="en-US" sz="1600" b="1" dirty="0"/>
              <a:t> Routing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                 → </a:t>
            </a:r>
            <a:r>
              <a:rPr lang="en-US" altLang="en-US" sz="1600" dirty="0"/>
              <a:t>CH₂ </a:t>
            </a:r>
            <a:r>
              <a:rPr lang="en-US" altLang="en-US" sz="1600" dirty="0" smtClean="0"/>
              <a:t>→</a:t>
            </a:r>
            <a:endParaRPr lang="ar-EG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CH</a:t>
            </a:r>
            <a:r>
              <a:rPr lang="en-US" altLang="en-US" sz="1600" dirty="0"/>
              <a:t>₁ → </a:t>
            </a:r>
            <a:r>
              <a:rPr lang="en-US" altLang="en-US" sz="1600" dirty="0" smtClean="0"/>
              <a:t>                         → </a:t>
            </a:r>
            <a:r>
              <a:rPr lang="en-US" altLang="en-US" sz="1600" dirty="0"/>
              <a:t>BS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                  → </a:t>
            </a:r>
            <a:r>
              <a:rPr lang="en-US" altLang="en-US" sz="1600" dirty="0"/>
              <a:t>CH₃ →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ar-EG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Each </a:t>
            </a:r>
            <a:r>
              <a:rPr lang="en-US" altLang="en-US" sz="1600" dirty="0"/>
              <a:t>CH selects a next-hop CH that is: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Closer to the BS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Within communication range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This creates a </a:t>
            </a:r>
            <a:r>
              <a:rPr lang="en-US" altLang="en-US" sz="1600" b="1" dirty="0" err="1"/>
              <a:t>multihop</a:t>
            </a:r>
            <a:r>
              <a:rPr lang="en-US" altLang="en-US" sz="1600" b="1" dirty="0"/>
              <a:t> routing tree/forest</a:t>
            </a:r>
            <a:r>
              <a:rPr lang="en-US" altLang="en-US" sz="1600" dirty="0"/>
              <a:t> rather than one single chain.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CH-to-CH Chain vs. Multihop Routing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577840" cy="350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endParaRPr sz="1450" dirty="0">
              <a:solidFill>
                <a:srgbClr val="40404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486400" cy="350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endParaRPr sz="1450" dirty="0">
              <a:solidFill>
                <a:srgbClr val="404040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035207"/>
              </p:ext>
            </p:extLst>
          </p:nvPr>
        </p:nvGraphicFramePr>
        <p:xfrm>
          <a:off x="1142848" y="1722273"/>
          <a:ext cx="8229600" cy="268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39140535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0183547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42106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Chain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Multihop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582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100 × 100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 × 100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87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Center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Center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218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25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81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Radio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Two-slope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Two-slope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538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Setup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5 rounds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5 rounds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69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Backup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5245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Failure Recovery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38596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26416" y="1146048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Controlled Comparison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For a fair comparison</a:t>
            </a:r>
            <a:r>
              <a:rPr lang="en-US" altLang="en-US" sz="1600" dirty="0" smtClean="0"/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Only Major Factor Changed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 </a:t>
            </a:r>
            <a:r>
              <a:rPr lang="en-US" altLang="en-US" sz="1600" b="1" dirty="0" smtClean="0"/>
              <a:t>    </a:t>
            </a:r>
            <a:r>
              <a:rPr lang="en-US" altLang="en-US" sz="1600" dirty="0" smtClean="0">
                <a:sym typeface="Wingdings" panose="05000000000000000000" pitchFamily="2" charset="2"/>
              </a:rPr>
              <a:t>  </a:t>
            </a:r>
            <a:r>
              <a:rPr lang="en-US" altLang="en-US" sz="1600" dirty="0" smtClean="0"/>
              <a:t>Relay </a:t>
            </a:r>
            <a:r>
              <a:rPr lang="en-US" altLang="en-US" sz="1600" dirty="0"/>
              <a:t>topology: CH-to-CH chain → greedy </a:t>
            </a:r>
            <a:r>
              <a:rPr lang="en-US" altLang="en-US" sz="1600" dirty="0" err="1"/>
              <a:t>multihop</a:t>
            </a:r>
            <a:r>
              <a:rPr lang="en-US" altLang="en-US" sz="1600" dirty="0"/>
              <a:t> routing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Metrics</a:t>
            </a: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FND </a:t>
            </a:r>
            <a:r>
              <a:rPr lang="ar-EG" altLang="en-US" sz="1600" dirty="0" smtClean="0"/>
              <a:t>			</a:t>
            </a:r>
            <a:r>
              <a:rPr lang="en-US" altLang="en-US" sz="1600" dirty="0" smtClean="0"/>
              <a:t>• </a:t>
            </a:r>
            <a:r>
              <a:rPr lang="en-US" altLang="en-US" sz="1600" dirty="0"/>
              <a:t>HND </a:t>
            </a:r>
            <a:r>
              <a:rPr lang="ar-EG" altLang="en-US" sz="1600" dirty="0" smtClean="0"/>
              <a:t>	</a:t>
            </a:r>
            <a:r>
              <a:rPr lang="en-US" altLang="en-US" sz="1600" dirty="0" smtClean="0"/>
              <a:t>• </a:t>
            </a:r>
            <a:r>
              <a:rPr lang="en-US" altLang="en-US" sz="1600" dirty="0"/>
              <a:t>LND </a:t>
            </a:r>
            <a:r>
              <a:rPr lang="ar-EG" altLang="en-US" sz="1600" dirty="0" smtClean="0"/>
              <a:t>	</a:t>
            </a:r>
            <a:r>
              <a:rPr lang="en-US" altLang="en-US" sz="1600" dirty="0" smtClean="0"/>
              <a:t>• </a:t>
            </a:r>
            <a:r>
              <a:rPr lang="en-US" altLang="en-US" sz="1600" dirty="0"/>
              <a:t>PDR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Backup Promotions </a:t>
            </a:r>
            <a:r>
              <a:rPr lang="ar-EG" altLang="en-US" sz="1600" dirty="0" smtClean="0"/>
              <a:t>		</a:t>
            </a:r>
            <a:r>
              <a:rPr lang="en-US" altLang="en-US" sz="1600" dirty="0" smtClean="0"/>
              <a:t>• </a:t>
            </a:r>
            <a:r>
              <a:rPr lang="en-US" altLang="en-US" sz="1600" dirty="0"/>
              <a:t>Chain/Routing Repairs</a:t>
            </a:r>
          </a:p>
        </p:txBody>
      </p:sp>
    </p:spTree>
    <p:extLst>
      <p:ext uri="{BB962C8B-B14F-4D97-AF65-F5344CB8AC3E}">
        <p14:creationId xmlns:p14="http://schemas.microsoft.com/office/powerpoint/2010/main" val="167756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sv-SE" sz="2600" b="1" dirty="0">
                <a:solidFill>
                  <a:schemeClr val="bg1"/>
                </a:solidFill>
              </a:rPr>
              <a:t>Center vs. Far-BS + Setup Interval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6722"/>
            <a:ext cx="112903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A. Center BS vs. Far BS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Research Question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How does BS placement affect the behavior of the proposed relay-based protocol?</a:t>
            </a: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Center BS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    	 BS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                     ●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                ↙ </a:t>
            </a:r>
            <a:r>
              <a:rPr lang="en-US" altLang="en-US" sz="1600" dirty="0"/>
              <a:t>↓ ↘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              CH </a:t>
            </a:r>
            <a:r>
              <a:rPr lang="en-US" altLang="en-US" sz="1600" dirty="0" err="1" smtClean="0"/>
              <a:t>CH</a:t>
            </a:r>
            <a:r>
              <a:rPr lang="en-US" altLang="en-US" sz="1600" dirty="0" smtClean="0"/>
              <a:t> </a:t>
            </a:r>
            <a:r>
              <a:rPr lang="en-US" altLang="en-US" sz="1600" dirty="0" err="1" smtClean="0"/>
              <a:t>CH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/>
              <a:t>Far BS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 </a:t>
            </a:r>
            <a:r>
              <a:rPr lang="en-US" altLang="en-US" sz="1600" dirty="0" smtClean="0"/>
              <a:t>            CH </a:t>
            </a:r>
            <a:r>
              <a:rPr lang="en-US" altLang="en-US" sz="1600" dirty="0" err="1"/>
              <a:t>CH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CH</a:t>
            </a:r>
            <a:r>
              <a:rPr lang="en-US" altLang="en-US" sz="1600" dirty="0"/>
              <a:t> </a:t>
            </a:r>
            <a:endParaRPr lang="en-US" altLang="en-US" sz="16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/>
              <a:t>               \ </a:t>
            </a:r>
            <a:r>
              <a:rPr lang="en-US" altLang="en-US" sz="1600" dirty="0"/>
              <a:t>| / \ | / </a:t>
            </a:r>
            <a:r>
              <a:rPr lang="en-US" altLang="en-US" sz="1600" dirty="0" smtClean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 </a:t>
            </a:r>
            <a:r>
              <a:rPr lang="en-US" altLang="en-US" sz="1600" dirty="0" smtClean="0"/>
              <a:t>               ────────→ BS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sv-SE" sz="2600" b="1" dirty="0">
                <a:solidFill>
                  <a:schemeClr val="bg1"/>
                </a:solidFill>
              </a:rPr>
              <a:t>Center vs. Far-BS + Setup Interval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6722"/>
            <a:ext cx="112903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Controlled Scenario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For v6: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Center BS</a:t>
            </a: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>→ v6 </a:t>
            </a:r>
            <a:r>
              <a:rPr lang="en-US" altLang="en-US" sz="1600" dirty="0" smtClean="0"/>
              <a:t>Chain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Far BS</a:t>
            </a: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>→ v6 </a:t>
            </a:r>
            <a:r>
              <a:rPr lang="en-US" altLang="en-US" sz="1600" dirty="0" smtClean="0"/>
              <a:t>Chain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The major changed factor </a:t>
            </a:r>
            <a:r>
              <a:rPr lang="en-US" altLang="en-US" sz="1600" dirty="0" smtClean="0"/>
              <a:t>is: </a:t>
            </a:r>
            <a:r>
              <a:rPr lang="en-US" altLang="en-US" sz="1600" b="1" dirty="0" smtClean="0"/>
              <a:t>BS Location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Similarly, v7 can be evaluated under: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Center BS → v7 Chain + Backup</a:t>
            </a: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b="1" dirty="0"/>
              <a:t>Far BS → v7 Chain + </a:t>
            </a:r>
            <a:r>
              <a:rPr lang="en-US" altLang="en-US" sz="1600" b="1" dirty="0" smtClean="0"/>
              <a:t>Backup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Purpose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Evaluate whether the relay and recovery mechanisms behave differently when the BS is located far from the sensing field.</a:t>
            </a:r>
          </a:p>
        </p:txBody>
      </p:sp>
    </p:spTree>
    <p:extLst>
      <p:ext uri="{BB962C8B-B14F-4D97-AF65-F5344CB8AC3E}">
        <p14:creationId xmlns:p14="http://schemas.microsoft.com/office/powerpoint/2010/main" val="302664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sv-SE" sz="2600" b="1" dirty="0">
                <a:solidFill>
                  <a:schemeClr val="bg1"/>
                </a:solidFill>
              </a:rPr>
              <a:t>Center vs. Far-BS + Setup Interval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8.3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1235107"/>
            <a:ext cx="95758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B. Setup-Interval Variations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Research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How does the frequency of cluster re-formation affect energy consumption and reliability?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Short Interval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Setup → 5 rounds → Setup → 5 rounds →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Advantages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More frequent cluster adaptation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Potential Cost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Higher setup/control overhead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Long Interval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Setup → 10/15 rounds → Setup → 10/15 rounds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Advantages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Fewer setup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Lower repeated control overhead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Potential Cost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Clusters may become stale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CH failures may persist longer before re-clustering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206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3547"/>
            <a:ext cx="105156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sv-SE" sz="2600" b="1" dirty="0">
                <a:solidFill>
                  <a:schemeClr val="bg1"/>
                </a:solidFill>
              </a:rPr>
              <a:t>Center vs. Far-BS + Setup Interval</a:t>
            </a:r>
            <a:endParaRPr sz="26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8.3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704930"/>
              </p:ext>
            </p:extLst>
          </p:nvPr>
        </p:nvGraphicFramePr>
        <p:xfrm>
          <a:off x="457200" y="1894681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20172588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008146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Experiment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Setup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86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 rounds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386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15 rounds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137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v7 Multihop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5 rounds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514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v7 Multihop Variant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 rounds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460858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1289953"/>
            <a:ext cx="90678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Experiments Already Performed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Important Note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5 → 15 comparison in v3 → v4 is a controlled setup-interval experiment.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v7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Multihop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Int5 → Int10 is a setup-interval comparison within the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multihop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architecture, while v7 Chain Int5 →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Multihop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Int10 is not a pure topology comparison because both topology and interval change.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0537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Comparative Results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CE6F1"/>
                </a:solidFill>
                <a:latin typeface="Calibri"/>
              </a:rPr>
              <a:t>FND/HND/LND, PDR Graphs, Fair 2x2 Comparison, Original Far-BS/50x50 Check, Variant Explorations, Observations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First Node Death (FND)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34</a:t>
            </a:r>
          </a:p>
        </p:txBody>
      </p:sp>
      <p:pic>
        <p:nvPicPr>
          <p:cNvPr id="6" name="Picture 5" descr="fnd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89" y="1371600"/>
            <a:ext cx="11735515" cy="544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1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Half Node Death (HND)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35</a:t>
            </a:r>
          </a:p>
        </p:txBody>
      </p:sp>
      <p:pic>
        <p:nvPicPr>
          <p:cNvPr id="6" name="Picture 5" descr="hnd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" y="1261872"/>
            <a:ext cx="11041380" cy="55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2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Last Node Death (LND)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36</a:t>
            </a:r>
          </a:p>
        </p:txBody>
      </p:sp>
      <p:pic>
        <p:nvPicPr>
          <p:cNvPr id="6" name="Picture 5" descr="lnd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45" y="1368198"/>
            <a:ext cx="10979604" cy="548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Packet Delivery Ratio (PDR)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37</a:t>
            </a:r>
          </a:p>
        </p:txBody>
      </p:sp>
      <p:pic>
        <p:nvPicPr>
          <p:cNvPr id="6" name="Picture 5" descr="pdr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77" y="1351234"/>
            <a:ext cx="11077540" cy="553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4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Packet Delivery Ratio (PDR)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37</a:t>
            </a:r>
          </a:p>
        </p:txBody>
      </p:sp>
      <p:pic>
        <p:nvPicPr>
          <p:cNvPr id="6" name="Picture 5" descr="v1_v72_statistica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3" y="1765999"/>
            <a:ext cx="12004261" cy="432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44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Controlled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38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359707"/>
              </p:ext>
            </p:extLst>
          </p:nvPr>
        </p:nvGraphicFramePr>
        <p:xfrm>
          <a:off x="274320" y="1234440"/>
          <a:ext cx="11612879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1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4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Comparison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Changed Factor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Main Observation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v3 → v4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Setup interval: 5 → 15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Lower setup frequency, but PDR decreased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v4 → v5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Backup 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PDR increased; HND/LND decreased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v3 Far → v6 Far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CH-to-CH chain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FND/HND/LND and PDR all increased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404040"/>
                          </a:solidFill>
                        </a:rPr>
                        <a:t>v6 Center → v7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Backup + chain repair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404040"/>
                          </a:solidFill>
                        </a:rPr>
                        <a:t>PDR increased; FND unchanged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404040"/>
                          </a:solidFill>
                        </a:rPr>
                        <a:t>v6 Far → v7 Far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04040"/>
                          </a:solidFill>
                        </a:rPr>
                        <a:t>Backup + chain repair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04040"/>
                          </a:solidFill>
                        </a:rPr>
                        <a:t>PDR increased; FND unchanged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404040"/>
                          </a:solidFill>
                        </a:rPr>
                        <a:t>v7 Chain → v7 </a:t>
                      </a:r>
                      <a:r>
                        <a:rPr sz="1600" b="0" dirty="0" err="1">
                          <a:solidFill>
                            <a:srgbClr val="404040"/>
                          </a:solidFill>
                        </a:rPr>
                        <a:t>Multihop</a:t>
                      </a:r>
                      <a:r>
                        <a:rPr sz="1600" b="0" dirty="0">
                          <a:solidFill>
                            <a:srgbClr val="404040"/>
                          </a:solidFill>
                        </a:rPr>
                        <a:t> Int5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404040"/>
                          </a:solidFill>
                        </a:rPr>
                        <a:t>Relay 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404040"/>
                          </a:solidFill>
                        </a:rPr>
                        <a:t>Evaluates chain vs. </a:t>
                      </a:r>
                      <a:r>
                        <a:rPr sz="1600" b="0" dirty="0" err="1">
                          <a:solidFill>
                            <a:srgbClr val="404040"/>
                          </a:solidFill>
                        </a:rPr>
                        <a:t>multihop</a:t>
                      </a:r>
                      <a:r>
                        <a:rPr sz="1600" b="0" dirty="0">
                          <a:solidFill>
                            <a:srgbClr val="404040"/>
                          </a:solidFill>
                        </a:rPr>
                        <a:t> under controlled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r>
                        <a:rPr lang="en-US" sz="1600" b="0" dirty="0" smtClean="0"/>
                        <a:t>v7.1 </a:t>
                      </a:r>
                      <a:r>
                        <a:rPr lang="en-US" sz="1600" b="0" dirty="0" err="1" smtClean="0"/>
                        <a:t>Multihop</a:t>
                      </a:r>
                      <a:r>
                        <a:rPr lang="en-US" sz="1600" b="0" dirty="0" smtClean="0"/>
                        <a:t> Int5 → v7.2 </a:t>
                      </a:r>
                      <a:r>
                        <a:rPr lang="en-US" sz="1600" b="0" dirty="0" err="1" smtClean="0"/>
                        <a:t>Multihop</a:t>
                      </a:r>
                      <a:r>
                        <a:rPr lang="en-US" sz="1600" b="0" dirty="0" smtClean="0"/>
                        <a:t> Int10</a:t>
                      </a:r>
                      <a:endParaRPr lang="en-US" sz="16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smtClean="0"/>
                        <a:t>Setup interval: 5 → 10</a:t>
                      </a:r>
                      <a:endParaRPr sz="1600" b="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smtClean="0"/>
                        <a:t>FND decreased; HND/LND increased; PDR slightly decreased</a:t>
                      </a:r>
                      <a:endParaRPr sz="1600" b="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87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62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Trade-off 1: Lifetime vs.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38.1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</a:rPr>
              <a:t>• Longer lifetime does not necessarily mean higher PDR.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2560320"/>
          <a:ext cx="94183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Example: v4 → v5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v4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v5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PDR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94.673%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97.055%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HND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LND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2521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404040"/>
                          </a:solidFill>
                        </a:rPr>
                        <a:t>2416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93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Trade-off 2 &amp; 3: Overhead vs. Freshness, Direct vs.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38.2-3</a:t>
            </a:r>
          </a:p>
        </p:txBody>
      </p:sp>
      <p:pic>
        <p:nvPicPr>
          <p:cNvPr id="6" name="Picture 5" descr="s8_flow_over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474" y="1188720"/>
            <a:ext cx="7184571" cy="2514600"/>
          </a:xfrm>
          <a:prstGeom prst="rect">
            <a:avLst/>
          </a:prstGeom>
        </p:spPr>
      </p:pic>
      <p:pic>
        <p:nvPicPr>
          <p:cNvPr id="7" name="Picture 6" descr="s8_flow_r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531" y="3794760"/>
            <a:ext cx="7576457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9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Trade-off 4: Recovery vs. Lifetime -- Final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38.4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Backup CH recovery</a:t>
            </a:r>
            <a:r>
              <a:rPr lang="en-US" dirty="0"/>
              <a:t> is primarily intended to maintain connectivity and data forwarding after a CH failure.</a:t>
            </a:r>
          </a:p>
          <a:p>
            <a:r>
              <a:rPr lang="en-US" dirty="0"/>
              <a:t>• Recovery mechanisms improve </a:t>
            </a:r>
            <a:r>
              <a:rPr lang="en-US" b="1" dirty="0"/>
              <a:t>network robustness</a:t>
            </a:r>
            <a:r>
              <a:rPr lang="en-US" dirty="0"/>
              <a:t>, but their effect on FND/HND/LND depends on the network state and the recovery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698480" cy="2377440"/>
          </a:xfrm>
          <a:prstGeom prst="roundRect">
            <a:avLst/>
          </a:prstGeom>
          <a:solidFill>
            <a:srgbClr val="DCE6F1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800" b="1" dirty="0">
                <a:solidFill>
                  <a:srgbClr val="1F4E78"/>
                </a:solidFill>
              </a:rPr>
              <a:t>Final Takeaway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The experiments show that different modifications affect different aspects of network behavior.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</a:rPr>
              <a:t>The proposed protocol therefore involves trade-offs among energy efficiency, network lifetime, communication reliability, and recovery capability.</a:t>
            </a:r>
          </a:p>
        </p:txBody>
      </p:sp>
    </p:spTree>
    <p:extLst>
      <p:ext uri="{BB962C8B-B14F-4D97-AF65-F5344CB8AC3E}">
        <p14:creationId xmlns:p14="http://schemas.microsoft.com/office/powerpoint/2010/main" val="76714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Variant Explorations: No-Chain/Interval=10 vs. Multihop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9.7</a:t>
            </a:r>
          </a:p>
        </p:txBody>
      </p:sp>
      <p:sp>
        <p:nvSpPr>
          <p:cNvPr id="7" name="AutoShape 2" descr="Generated image: Additional Variant Explorations vs. v7 Bas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3" y="1261872"/>
            <a:ext cx="11945207" cy="49684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Observations &amp; Trade-offs by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9.8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892143"/>
              </p:ext>
            </p:extLst>
          </p:nvPr>
        </p:nvGraphicFramePr>
        <p:xfrm>
          <a:off x="221673" y="1371600"/>
          <a:ext cx="11756967" cy="4818207"/>
        </p:xfrm>
        <a:graphic>
          <a:graphicData uri="http://schemas.openxmlformats.org/drawingml/2006/table">
            <a:tbl>
              <a:tblPr/>
              <a:tblGrid>
                <a:gridCol w="3918989">
                  <a:extLst>
                    <a:ext uri="{9D8B030D-6E8A-4147-A177-3AD203B41FA5}">
                      <a16:colId xmlns:a16="http://schemas.microsoft.com/office/drawing/2014/main" val="1657581222"/>
                    </a:ext>
                  </a:extLst>
                </a:gridCol>
                <a:gridCol w="3918989">
                  <a:extLst>
                    <a:ext uri="{9D8B030D-6E8A-4147-A177-3AD203B41FA5}">
                      <a16:colId xmlns:a16="http://schemas.microsoft.com/office/drawing/2014/main" val="3469431856"/>
                    </a:ext>
                  </a:extLst>
                </a:gridCol>
                <a:gridCol w="3918989">
                  <a:extLst>
                    <a:ext uri="{9D8B030D-6E8A-4147-A177-3AD203B41FA5}">
                      <a16:colId xmlns:a16="http://schemas.microsoft.com/office/drawing/2014/main" val="3537945013"/>
                    </a:ext>
                  </a:extLst>
                </a:gridCol>
              </a:tblGrid>
              <a:tr h="15478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Priority / Scenario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Observed Result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Trade-off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268414"/>
                  </a:ext>
                </a:extLst>
              </a:tr>
              <a:tr h="650291">
                <a:tc>
                  <a:txBody>
                    <a:bodyPr/>
                    <a:lstStyle/>
                    <a:p>
                      <a:r>
                        <a:rPr lang="en-US" sz="1400" b="1" dirty="0"/>
                        <a:t>Lifetime-oriented, center/near BS</a:t>
                      </a:r>
                      <a:endParaRPr lang="en-US" sz="1400" dirty="0"/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v3</a:t>
                      </a:r>
                      <a:r>
                        <a:rPr lang="en-US" sz="1400" dirty="0"/>
                        <a:t> achieved the highest observed LND among the non-relay variants (</a:t>
                      </a:r>
                      <a:r>
                        <a:rPr lang="en-US" sz="1400" b="1" dirty="0"/>
                        <a:t>2703 rounds</a:t>
                      </a:r>
                      <a:r>
                        <a:rPr lang="en-US" sz="1400" dirty="0"/>
                        <a:t>).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inter-CH relay or recovery overhead, but no failure recovery during the setup interval.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171754"/>
                  </a:ext>
                </a:extLst>
              </a:tr>
              <a:tr h="774166">
                <a:tc>
                  <a:txBody>
                    <a:bodyPr/>
                    <a:lstStyle/>
                    <a:p>
                      <a:r>
                        <a:rPr lang="en-US" sz="1400" b="1"/>
                        <a:t>Reliability-oriented, center BS</a:t>
                      </a:r>
                      <a:endParaRPr lang="en-US" sz="1400"/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v7 Center</a:t>
                      </a:r>
                      <a:r>
                        <a:rPr lang="en-US" sz="1400" dirty="0"/>
                        <a:t> achieved </a:t>
                      </a:r>
                      <a:r>
                        <a:rPr lang="en-US" sz="1400" b="1" dirty="0"/>
                        <a:t>98.43% PDR</a:t>
                      </a:r>
                      <a:r>
                        <a:rPr lang="en-US" sz="1400" dirty="0"/>
                        <a:t>, while </a:t>
                      </a:r>
                      <a:r>
                        <a:rPr lang="en-US" sz="1400" b="1" dirty="0"/>
                        <a:t>v7.1 </a:t>
                      </a:r>
                      <a:r>
                        <a:rPr lang="en-US" sz="1400" b="1" dirty="0" err="1"/>
                        <a:t>Multihop</a:t>
                      </a:r>
                      <a:r>
                        <a:rPr lang="en-US" sz="1400" b="1" dirty="0"/>
                        <a:t> Int5</a:t>
                      </a:r>
                      <a:r>
                        <a:rPr lang="en-US" sz="1400" dirty="0"/>
                        <a:t> reached </a:t>
                      </a:r>
                      <a:r>
                        <a:rPr lang="en-US" sz="1400" b="1" dirty="0"/>
                        <a:t>98.49%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Higher reliability is associated with additional inter-CH routing and recovery mechanisms.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285768"/>
                  </a:ext>
                </a:extLst>
              </a:tr>
              <a:tr h="650291">
                <a:tc>
                  <a:txBody>
                    <a:bodyPr/>
                    <a:lstStyle/>
                    <a:p>
                      <a:r>
                        <a:rPr lang="en-US" sz="1400" b="1" dirty="0"/>
                        <a:t>Far-BS scenario</a:t>
                      </a:r>
                      <a:endParaRPr lang="en-US" sz="1400" dirty="0"/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v6/v7 Far-BS</a:t>
                      </a:r>
                      <a:r>
                        <a:rPr lang="en-US" sz="1400" dirty="0"/>
                        <a:t> maintained inter-CH relay and recovery mechanisms under a far BS location.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Far-BS increases communication burden compared with the center-BS scenario.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673910"/>
                  </a:ext>
                </a:extLst>
              </a:tr>
              <a:tr h="1021916">
                <a:tc>
                  <a:txBody>
                    <a:bodyPr/>
                    <a:lstStyle/>
                    <a:p>
                      <a:r>
                        <a:rPr lang="en-US" sz="1400" b="1"/>
                        <a:t>Chain vs. Multihop</a:t>
                      </a:r>
                      <a:endParaRPr lang="en-US" sz="1400"/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v7.1 Multihop Int5:</a:t>
                      </a:r>
                      <a:r>
                        <a:rPr lang="en-US" sz="1400"/>
                        <a:t> LND = 2086, PDR = 98.49%. This variant evaluates multihop routing under the same 5-round setup interval.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Multihop</a:t>
                      </a:r>
                      <a:r>
                        <a:rPr lang="en-US" sz="1400" dirty="0"/>
                        <a:t> replaces the single-chain relay structure with next-hop routing among CHs, adding routing decisions/bookkeeping.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16766"/>
                  </a:ext>
                </a:extLst>
              </a:tr>
              <a:tr h="650291">
                <a:tc>
                  <a:txBody>
                    <a:bodyPr/>
                    <a:lstStyle/>
                    <a:p>
                      <a:r>
                        <a:rPr lang="en-US" sz="1400" b="1" dirty="0"/>
                        <a:t>Longer setup interval / fewer control rounds</a:t>
                      </a:r>
                      <a:endParaRPr lang="en-US" sz="1400" dirty="0"/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v7.2 </a:t>
                      </a:r>
                      <a:r>
                        <a:rPr lang="en-US" sz="1400" b="1" dirty="0" err="1"/>
                        <a:t>Multihop</a:t>
                      </a:r>
                      <a:r>
                        <a:rPr lang="en-US" sz="1400" b="1" dirty="0"/>
                        <a:t> Int10</a:t>
                      </a:r>
                      <a:r>
                        <a:rPr lang="en-US" sz="1400" dirty="0"/>
                        <a:t> achieved LND = </a:t>
                      </a:r>
                      <a:r>
                        <a:rPr lang="en-US" sz="1400" b="1" dirty="0"/>
                        <a:t>2241</a:t>
                      </a:r>
                      <a:r>
                        <a:rPr lang="en-US" sz="1400" dirty="0"/>
                        <a:t>, compared with </a:t>
                      </a:r>
                      <a:r>
                        <a:rPr lang="en-US" sz="1400" b="1" dirty="0"/>
                        <a:t>2086</a:t>
                      </a:r>
                      <a:r>
                        <a:rPr lang="en-US" sz="1400" dirty="0"/>
                        <a:t> for v7.1 </a:t>
                      </a:r>
                      <a:r>
                        <a:rPr lang="en-US" sz="1400" dirty="0" err="1"/>
                        <a:t>Multihop</a:t>
                      </a:r>
                      <a:r>
                        <a:rPr lang="en-US" sz="1400" dirty="0"/>
                        <a:t> Int5.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Fewer setup phases increased LND, but PDR decreased from </a:t>
                      </a:r>
                      <a:r>
                        <a:rPr lang="en-US" sz="1400" b="1" dirty="0"/>
                        <a:t>98.49% → 97.88%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055045"/>
                  </a:ext>
                </a:extLst>
              </a:tr>
              <a:tr h="774166">
                <a:tc>
                  <a:txBody>
                    <a:bodyPr/>
                    <a:lstStyle/>
                    <a:p>
                      <a:r>
                        <a:rPr lang="en-US" sz="1400" b="1" dirty="0"/>
                        <a:t>No inter-CH relay / interval = 10</a:t>
                      </a:r>
                      <a:endParaRPr lang="en-US" sz="1400" dirty="0"/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No-Chain Int10</a:t>
                      </a:r>
                      <a:r>
                        <a:rPr lang="en-US" sz="1400"/>
                        <a:t> achieved LND = </a:t>
                      </a:r>
                      <a:r>
                        <a:rPr lang="en-US" sz="1400" b="1"/>
                        <a:t>2321</a:t>
                      </a:r>
                      <a:r>
                        <a:rPr lang="en-US" sz="1400"/>
                        <a:t>, the highest LND among the compared recent variants.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Eliminates inter-CH relay overhead, but CHs transmit directly to the BS and there is no relay path.</a:t>
                      </a:r>
                    </a:p>
                  </a:txBody>
                  <a:tcPr marL="53247" marR="53247" marT="26623" marB="2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00798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E6F1"/>
                </a:solidFill>
                <a:latin typeface="Calibri"/>
              </a:rP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Research Findings, 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CE6F1"/>
                </a:solidFill>
                <a:latin typeface="Calibri"/>
              </a:rPr>
              <a:t>What we learned, what remains open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02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550" b="1" dirty="0">
                <a:solidFill>
                  <a:srgbClr val="404040"/>
                </a:solidFill>
              </a:rPr>
              <a:t>CH Selection Matters -- </a:t>
            </a:r>
            <a:r>
              <a:rPr sz="1550" b="0" dirty="0">
                <a:solidFill>
                  <a:srgbClr val="404040"/>
                </a:solidFill>
              </a:rPr>
              <a:t>Replacing HEED's iterative negotiation with a single-pass Energy x Connectivity score (v2-&gt;v3) produced the single largest reliability jump in the whole study (LND +94%), showing that clustering-decision quality dominates over parameter tuning.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550" b="1" dirty="0">
                <a:solidFill>
                  <a:srgbClr val="404040"/>
                </a:solidFill>
              </a:rPr>
              <a:t>Cluster Reuse Trade-off </a:t>
            </a:r>
            <a:r>
              <a:rPr lang="en-US" sz="1550" b="1" dirty="0" smtClean="0">
                <a:solidFill>
                  <a:srgbClr val="404040"/>
                </a:solidFill>
              </a:rPr>
              <a:t>–</a:t>
            </a:r>
            <a:r>
              <a:rPr sz="1550" b="1" dirty="0" smtClean="0">
                <a:solidFill>
                  <a:srgbClr val="404040"/>
                </a:solidFill>
              </a:rPr>
              <a:t> </a:t>
            </a:r>
            <a:r>
              <a:rPr sz="1550" b="0" dirty="0" smtClean="0">
                <a:solidFill>
                  <a:srgbClr val="404040"/>
                </a:solidFill>
              </a:rPr>
              <a:t>Re</a:t>
            </a:r>
            <a:r>
              <a:rPr lang="ar-EG" sz="1550" b="0" dirty="0" smtClean="0">
                <a:solidFill>
                  <a:srgbClr val="404040"/>
                </a:solidFill>
              </a:rPr>
              <a:t>-</a:t>
            </a:r>
            <a:r>
              <a:rPr sz="1550" b="0" dirty="0" smtClean="0">
                <a:solidFill>
                  <a:srgbClr val="404040"/>
                </a:solidFill>
              </a:rPr>
              <a:t>computing </a:t>
            </a:r>
            <a:r>
              <a:rPr sz="1550" b="0" dirty="0">
                <a:solidFill>
                  <a:srgbClr val="404040"/>
                </a:solidFill>
              </a:rPr>
              <a:t>cluster heads only once every several rounds (rather than every round) cuts control-message overhead, but stretching the interval too far without protection (v3-&gt;v4, interval 5-&gt;15) regresses every metric; interval length is a separate lever from CH-selection quality.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550" b="1" dirty="0">
                <a:solidFill>
                  <a:srgbClr val="404040"/>
                </a:solidFill>
              </a:rPr>
              <a:t>CH-to-CH Relay Improves Reach -- </a:t>
            </a:r>
            <a:r>
              <a:rPr sz="1550" b="0" dirty="0">
                <a:solidFill>
                  <a:srgbClr val="404040"/>
                </a:solidFill>
              </a:rPr>
              <a:t>Introducing a CH-to-CH relay chain (v6), tested under identical field/radio conditions at both a center and a far base-station placement, raised PDR at the center placement (97.05%-&gt;97.49%) and let the far-BS configuration match the center configuration's FND (1266) by shortening each CH's average hop distance to the sink.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93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Backup + Chain/Routing Repair Improves Recovery -- </a:t>
            </a:r>
            <a:r>
              <a:rPr sz="1600" b="0" dirty="0">
                <a:solidFill>
                  <a:srgbClr val="404040"/>
                </a:solidFill>
              </a:rPr>
              <a:t>Backup CH failover plus chain repair (v7) lets a promoted backup inherit its dead predecessor's position in the relay path instead of breaking it, raising PDR further at both base-station placements (Center 97.49%-&gt;98.43%; Far BS 97.08%-&gt;98.14%) at only a small LND cost. Recovery-count validation (100 simulation runs) confirmed 16/16 successful promotions and repairs at the center placement and 21/21 at the far-BS placement.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No Single Modification Optimized All Metrics -- </a:t>
            </a:r>
            <a:r>
              <a:rPr sz="1600" b="0" dirty="0">
                <a:solidFill>
                  <a:srgbClr val="404040"/>
                </a:solidFill>
              </a:rPr>
              <a:t>Each proposed step traded off differently: v3 maximized LND/lifetime, v1/v2 maximized PDR, v7 balanced reliability and lifetime best, and the </a:t>
            </a:r>
            <a:r>
              <a:rPr sz="1600" b="0" dirty="0" err="1">
                <a:solidFill>
                  <a:srgbClr val="404040"/>
                </a:solidFill>
              </a:rPr>
              <a:t>Multihop</a:t>
            </a:r>
            <a:r>
              <a:rPr sz="1600" b="0" dirty="0">
                <a:solidFill>
                  <a:srgbClr val="404040"/>
                </a:solidFill>
              </a:rPr>
              <a:t> variants (v7.1/v7.2) pushed PDR to the family's highest point (98.49%) by removing the single-gateway bottleneck of the ordered chain, at a small cost to FND. This confirms that CH-selection quality, cluster-reuse interval, relay topology, and recovery mechanism are four independent design levers, not one.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Preventing CH Death Beats Repairing It -- </a:t>
            </a:r>
            <a:r>
              <a:rPr sz="1600" b="0" dirty="0">
                <a:solidFill>
                  <a:srgbClr val="404040"/>
                </a:solidFill>
              </a:rPr>
              <a:t>The optimized v8 adds proactive CH handover (before death) to v5's backup failover (after death), plus direct-to-BS delivery and an energy-gated CH election. At the center BS it reaches FND 2621 / HND 2711 / LND 2761 / PDR 99.22% -- the best of the whole family, with 33% more packets delivered for the same 50 J. The gain is geometry-dependent: at a far BS the relay chain (v7) still gives longer HND/LND.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299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Analytical 100-Node Simulation -- </a:t>
            </a:r>
            <a:r>
              <a:rPr sz="1600" b="0" dirty="0">
                <a:solidFill>
                  <a:srgbClr val="404040"/>
                </a:solidFill>
              </a:rPr>
              <a:t>Results come from a custom discrete-event/analytical simulation of a 100-node network, not a hardware testbed; real radio effects (multipath fading, interference, collisions) are approximated, not directly measured.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Limited Deployment Scenarios -- </a:t>
            </a:r>
            <a:r>
              <a:rPr sz="1600" b="0" dirty="0">
                <a:solidFill>
                  <a:srgbClr val="404040"/>
                </a:solidFill>
              </a:rPr>
              <a:t>Only two base-station placements (field center and far corner) and a small set of network sizes/densities were tested; behavior at much larger scale or irregular topologies is not yet characterized.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Parameter Sensitivity -- </a:t>
            </a:r>
            <a:r>
              <a:rPr sz="1600" b="0" dirty="0">
                <a:solidFill>
                  <a:srgbClr val="404040"/>
                </a:solidFill>
              </a:rPr>
              <a:t>Setup-interval length (5 vs 10 vs 15 rounds) was shown to matter a great deal, but the full sensitivity surface (interacting with node count, radio range, and energy model) was not exhaustively swept.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Recovery Mechanism Scope -- </a:t>
            </a:r>
            <a:r>
              <a:rPr sz="1600" b="0" dirty="0">
                <a:solidFill>
                  <a:srgbClr val="404040"/>
                </a:solidFill>
              </a:rPr>
              <a:t>Backup-CH failover and chain/routing repair were validated for single-CH-death events; simultaneous multi-CH failure and adversarial/malicious node behavior were outside this study's scope.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29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Physical Wireless Validation -- </a:t>
            </a:r>
            <a:r>
              <a:rPr sz="1600" b="0" dirty="0">
                <a:solidFill>
                  <a:srgbClr val="404040"/>
                </a:solidFill>
              </a:rPr>
              <a:t>Port the protocol to a real WSN hardware testbed (e.g., </a:t>
            </a:r>
            <a:r>
              <a:rPr sz="1600" b="0" dirty="0" err="1">
                <a:solidFill>
                  <a:srgbClr val="404040"/>
                </a:solidFill>
              </a:rPr>
              <a:t>TelosB</a:t>
            </a:r>
            <a:r>
              <a:rPr sz="1600" b="0" dirty="0">
                <a:solidFill>
                  <a:srgbClr val="404040"/>
                </a:solidFill>
              </a:rPr>
              <a:t>/</a:t>
            </a:r>
            <a:r>
              <a:rPr sz="1600" b="0" dirty="0" err="1">
                <a:solidFill>
                  <a:srgbClr val="404040"/>
                </a:solidFill>
              </a:rPr>
              <a:t>Zolertia</a:t>
            </a:r>
            <a:r>
              <a:rPr sz="1600" b="0" dirty="0">
                <a:solidFill>
                  <a:srgbClr val="404040"/>
                </a:solidFill>
              </a:rPr>
              <a:t> motes or an SDR-based emulation) to validate the analytical FND/HND/LND/PDR results against real radio conditions.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Scalability Analysis -- </a:t>
            </a:r>
            <a:r>
              <a:rPr sz="1600" b="0" dirty="0">
                <a:solidFill>
                  <a:srgbClr val="404040"/>
                </a:solidFill>
              </a:rPr>
              <a:t>Extend testing to substantially larger networks (500-1000+ nodes) and irregular/obstacle-laden topologies to confirm the CH-to-CH and </a:t>
            </a:r>
            <a:r>
              <a:rPr sz="1600" b="0" dirty="0" err="1">
                <a:solidFill>
                  <a:srgbClr val="404040"/>
                </a:solidFill>
              </a:rPr>
              <a:t>multihop</a:t>
            </a:r>
            <a:r>
              <a:rPr sz="1600" b="0" dirty="0">
                <a:solidFill>
                  <a:srgbClr val="404040"/>
                </a:solidFill>
              </a:rPr>
              <a:t> relay designs scale gracefully.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Routing Optimization -- </a:t>
            </a:r>
            <a:r>
              <a:rPr sz="1600" b="0" dirty="0">
                <a:solidFill>
                  <a:srgbClr val="404040"/>
                </a:solidFill>
              </a:rPr>
              <a:t>Explore adaptive setup-interval selection (rather than a fixed 5/10/15-round interval) that reacts to observed CH death rate, and extend the greedy </a:t>
            </a:r>
            <a:r>
              <a:rPr sz="1600" b="0" dirty="0" err="1">
                <a:solidFill>
                  <a:srgbClr val="404040"/>
                </a:solidFill>
              </a:rPr>
              <a:t>multihop</a:t>
            </a:r>
            <a:r>
              <a:rPr sz="1600" b="0" dirty="0">
                <a:solidFill>
                  <a:srgbClr val="404040"/>
                </a:solidFill>
              </a:rPr>
              <a:t> tree to a more globally-optimized routing scheme.</a:t>
            </a:r>
          </a:p>
          <a:p>
            <a:pPr marL="285750" indent="-285750" algn="l">
              <a:lnSpc>
                <a:spcPct val="12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404040"/>
                </a:solidFill>
              </a:rPr>
              <a:t>Security Integration -- </a:t>
            </a:r>
            <a:r>
              <a:rPr sz="1600" b="0" dirty="0">
                <a:solidFill>
                  <a:srgbClr val="404040"/>
                </a:solidFill>
              </a:rPr>
              <a:t>This thesis's hybrid-cryptography security layer was evaluated separately from these clustering/routing experiments; future work should co-evaluate security overhead (key exchange, authentication) together with the best-performing clustering/routing configuration (v7 / v7.1) under adversarial conditions.</a:t>
            </a:r>
          </a:p>
        </p:txBody>
      </p:sp>
    </p:spTree>
    <p:extLst>
      <p:ext uri="{BB962C8B-B14F-4D97-AF65-F5344CB8AC3E}">
        <p14:creationId xmlns:p14="http://schemas.microsoft.com/office/powerpoint/2010/main" val="155798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986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0" dirty="0">
                <a:solidFill>
                  <a:srgbClr val="404040"/>
                </a:solidFill>
              </a:rPr>
              <a:t>This thesis set out to design an energy-efficient, secure clustering protocol for wireless sensor networks that improves on LEACH-family baselines (LEACH, HEED, PEGASIS) and literature hybrids (H-LEACH, SH-LEACH) without sacrificing packet delivery reliability. Starting from a HEED-style cluster-head selection combined with LEACH-style clustering (v1), the protocol was evolved through eleven versions (v1 through v7.2), each introducing one isolated mechanism: a rotation-fairness penalty, a single-pass energy x connectivity scoring function, multi-round cluster-head reuse, backup cluster-head failover, CH-to-CH relay chaining (tested at two base-station placements), chain/routing repair, and finally greedy </a:t>
            </a:r>
            <a:r>
              <a:rPr sz="1600" b="0" dirty="0" err="1">
                <a:solidFill>
                  <a:srgbClr val="404040"/>
                </a:solidFill>
              </a:rPr>
              <a:t>multihop</a:t>
            </a:r>
            <a:r>
              <a:rPr sz="1600" b="0" dirty="0">
                <a:solidFill>
                  <a:srgbClr val="404040"/>
                </a:solidFill>
              </a:rPr>
              <a:t> routing at two setup intervals.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2307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0" dirty="0">
                <a:solidFill>
                  <a:srgbClr val="404040"/>
                </a:solidFill>
                <a:cs typeface="+mj-cs"/>
              </a:rPr>
              <a:t>The evolution shows that clustering-decision quality (v2-&gt;v3) and relay-path resilience (v6-&gt;v7) matter far more than any single parameter tweak: the largest reliability gains came from architectural changes, not tuning. The best-balanced configuration is v7 (Center placement), reaching FND 1551 / HND 1976 / LND 2066 / PDR 98.432%, while the </a:t>
            </a:r>
            <a:r>
              <a:rPr sz="1600" b="0" dirty="0" smtClean="0">
                <a:solidFill>
                  <a:srgbClr val="404040"/>
                </a:solidFill>
                <a:cs typeface="+mj-cs"/>
              </a:rPr>
              <a:t>Multi</a:t>
            </a:r>
            <a:r>
              <a:rPr lang="ar-EG" sz="1600" b="0" dirty="0" smtClean="0">
                <a:solidFill>
                  <a:srgbClr val="404040"/>
                </a:solidFill>
                <a:cs typeface="+mj-cs"/>
              </a:rPr>
              <a:t>-</a:t>
            </a:r>
            <a:r>
              <a:rPr sz="1600" b="0" dirty="0" smtClean="0">
                <a:solidFill>
                  <a:srgbClr val="404040"/>
                </a:solidFill>
                <a:cs typeface="+mj-cs"/>
              </a:rPr>
              <a:t>hop </a:t>
            </a:r>
            <a:r>
              <a:rPr sz="1600" b="0" dirty="0">
                <a:solidFill>
                  <a:srgbClr val="404040"/>
                </a:solidFill>
                <a:cs typeface="+mj-cs"/>
              </a:rPr>
              <a:t>variant v7.1 achieves the highest packet delivery ratio in the entire family (PDR 98.49%) by removing the single-gateway bottleneck of the ordered CH-to-CH chain. Combined with the thesis's hybrid cryptography layer, these results demonstrate that </a:t>
            </a:r>
            <a:r>
              <a:rPr sz="1600" b="0" dirty="0" smtClean="0">
                <a:solidFill>
                  <a:srgbClr val="404040"/>
                </a:solidFill>
                <a:cs typeface="+mj-cs"/>
              </a:rPr>
              <a:t>energy-aware </a:t>
            </a:r>
            <a:r>
              <a:rPr sz="1600" b="0" dirty="0">
                <a:solidFill>
                  <a:srgbClr val="404040"/>
                </a:solidFill>
                <a:cs typeface="+mj-cs"/>
              </a:rPr>
              <a:t>clustering and secure communication can be co-designed without a significant reliability penalty, providing a practical, extensible foundation for real-world WSN deployments. Building on these lessons, the final optimized v8 -- proactive CH handover plus backup failover, direct-to-BS delivery and an energy-gated CH election -- surpasses every earlier version at the center BS (FND 2621 / HND 2711 / LND 2761 / PDR 99.22%).</a:t>
            </a:r>
          </a:p>
        </p:txBody>
      </p:sp>
    </p:spTree>
    <p:extLst>
      <p:ext uri="{BB962C8B-B14F-4D97-AF65-F5344CB8AC3E}">
        <p14:creationId xmlns:p14="http://schemas.microsoft.com/office/powerpoint/2010/main" val="82273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CE6F1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v8 — Proactive + Reactive CH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</a:rPr>
              <a:t>7.6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359707"/>
              </p:ext>
            </p:extLst>
          </p:nvPr>
        </p:nvGraphicFramePr>
        <p:xfrm>
          <a:off x="274320" y="1234440"/>
          <a:ext cx="11612879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1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4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Problem in v5b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Effect in v8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dirty="0" b="1">
                          <a:solidFill>
                            <a:srgbClr val="404040"/>
                          </a:solidFill>
                        </a:rPr>
                        <a:t>I1 Epoch-exhaustion fix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All alive nodes already served in the epoch → 998 rounds with 0 CHs (PDR = 0)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New epoch starts early — network never left without a 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393758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dirty="0" b="1">
                          <a:solidFill>
                            <a:srgbClr val="404040"/>
                          </a:solidFill>
                        </a:rPr>
                        <a:t>I2 Proactive CH handover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CH dies mid-aggregation → its whole cluster's packets lost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CH hands over to its strongest member BEFORE it dies (1 control packet)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72838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dirty="0" b="1">
                          <a:solidFill>
                            <a:srgbClr val="404040"/>
                          </a:solidFill>
                        </a:rPr>
                        <a:t>I3 Orphan re-join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Members of a dead CH stay unclustered until next setup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Join nearest surviving CH (known from setup ads, no new messages)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83406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dirty="0" b="1">
                          <a:solidFill>
                            <a:srgbClr val="404040"/>
                          </a:solidFill>
                        </a:rPr>
                        <a:t>I4 Direct-to-BS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Nodes closer to the BS than to their CH still relay via the 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Send straight to BS: same/lower TX cost, CH saves RX + aggregation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0799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dirty="0" b="1">
                          <a:solidFill>
                            <a:srgbClr val="404040"/>
                          </a:solidFill>
                        </a:rPr>
                        <a:t>I5 Energy-gated CH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Weak nodes can still be elected CH and die first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Only nodes with ≥ average residual energy may volunteer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980648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dirty="0" b="1">
                          <a:solidFill>
                            <a:srgbClr val="404040"/>
                          </a:solidFill>
                        </a:rPr>
                        <a:t>Relative low-energy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5% of E0 (0.025 J) → every late backup rejected (0/20)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5% of live average → backup failover works again (18 successful)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783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62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v8 Results vs. v5b and v7 (Same Field / Radio 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81122"/>
              </p:ext>
            </p:extLst>
          </p:nvPr>
        </p:nvGraphicFramePr>
        <p:xfrm>
          <a:off x="277092" y="1722009"/>
          <a:ext cx="11490035" cy="4440700"/>
        </p:xfrm>
        <a:graphic>
          <a:graphicData uri="http://schemas.openxmlformats.org/drawingml/2006/table">
            <a:tbl>
              <a:tblPr/>
              <a:tblGrid>
                <a:gridCol w="1915006">
                  <a:extLst>
                    <a:ext uri="{9D8B030D-6E8A-4147-A177-3AD203B41FA5}">
                      <a16:colId xmlns:a16="http://schemas.microsoft.com/office/drawing/2014/main" val="4191395571"/>
                    </a:ext>
                  </a:extLst>
                </a:gridCol>
                <a:gridCol w="4975320">
                  <a:extLst>
                    <a:ext uri="{9D8B030D-6E8A-4147-A177-3AD203B41FA5}">
                      <a16:colId xmlns:a16="http://schemas.microsoft.com/office/drawing/2014/main" val="1763170458"/>
                    </a:ext>
                  </a:extLst>
                </a:gridCol>
                <a:gridCol w="1237673">
                  <a:extLst>
                    <a:ext uri="{9D8B030D-6E8A-4147-A177-3AD203B41FA5}">
                      <a16:colId xmlns:a16="http://schemas.microsoft.com/office/drawing/2014/main" val="566673329"/>
                    </a:ext>
                  </a:extLst>
                </a:gridCol>
                <a:gridCol w="1283854">
                  <a:extLst>
                    <a:ext uri="{9D8B030D-6E8A-4147-A177-3AD203B41FA5}">
                      <a16:colId xmlns:a16="http://schemas.microsoft.com/office/drawing/2014/main" val="258800590"/>
                    </a:ext>
                  </a:extLst>
                </a:gridCol>
                <a:gridCol w="960582">
                  <a:extLst>
                    <a:ext uri="{9D8B030D-6E8A-4147-A177-3AD203B41FA5}">
                      <a16:colId xmlns:a16="http://schemas.microsoft.com/office/drawing/2014/main" val="420157608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788216803"/>
                    </a:ext>
                  </a:extLst>
                </a:gridCol>
              </a:tblGrid>
              <a:tr h="111264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</a:rPr>
                        <a:t>Version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</a:rPr>
                        <a:t>Idea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>
                          <a:solidFill>
                            <a:schemeClr val="bg1"/>
                          </a:solidFill>
                        </a:rPr>
                        <a:t>FND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>
                          <a:solidFill>
                            <a:schemeClr val="bg1"/>
                          </a:solidFill>
                        </a:rPr>
                        <a:t>HND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</a:rPr>
                        <a:t>LND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</a:rPr>
                        <a:t>PDR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9368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/>
                        <a:t>v5b (Center)</a:t>
                      </a:r>
                      <a:endParaRPr lang="en-US" sz="16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0"/>
                        <a:t>Interval 5 + Backup + Repair + Energy-Aware Repair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1730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2091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3203*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97.31%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37476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/>
                        <a:t>v7 (Center)</a:t>
                      </a:r>
                      <a:endParaRPr lang="en-US" sz="1600" i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0"/>
                        <a:t>Chain + Backup Failover + Chain Repair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1551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0"/>
                        <a:t>1976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0"/>
                        <a:t>2066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/>
                        <a:t>98.43%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40751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/>
                        <a:t>v7.1 (Center)</a:t>
                      </a:r>
                      <a:endParaRPr lang="en-US" sz="16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0"/>
                        <a:t>Multihop routing + Backup + Routing Repair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1491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1991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2086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98.49%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45852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/>
                        <a:t>v8 (Center)</a:t>
                      </a:r>
                      <a:endParaRPr lang="en-US" sz="1600" i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1"/>
                        <a:t>v5b + I1–I5 + relative threshold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1"/>
                        <a:t>2621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1"/>
                        <a:t>2711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1"/>
                        <a:t>2761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/>
                        <a:t>99.22%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16447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/>
                        <a:t>v7 (Far BS)</a:t>
                      </a:r>
                      <a:endParaRPr lang="en-US" sz="16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0"/>
                        <a:t>Chain + Backup Failover + Chain Repair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1266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1891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1976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98.14%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97869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/>
                        <a:t>v8 (Far BS)</a:t>
                      </a:r>
                      <a:endParaRPr lang="en-US" sz="1600" i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1"/>
                        <a:t>Same v8 code, BS at (50,−100)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1"/>
                        <a:t>1471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1"/>
                        <a:t>1646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1"/>
                        <a:t>1716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/>
                        <a:t>98.66%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039408"/>
                  </a:ext>
                </a:extLst>
              </a:tr>
            </a:tbl>
          </a:graphicData>
        </a:graphic>
      </p:graphicFrame>
      <p:sp>
        <p:nvSpPr>
          <p:cNvPr id="99" name="Note"/>
          <p:cNvSpPr txBox="1"/>
          <p:nvPr/>
        </p:nvSpPr>
        <p:spPr>
          <a:xfrm>
            <a:off x="457200" y="5000000"/>
            <a:ext cx="112776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dirty="0">
                <a:solidFill>
                  <a:srgbClr val="404040"/>
                </a:solidFill>
                <a:latin typeface="Calibri"/>
              </a:rPr>
              <a:t>* v5b LND is inflated by stranded nodes: its last 1038 rounds delivered only 59 packets. Delivered packets: v5b 201,505 → v8 268,610 (+33%, same 50 J). 8-topology mean (center BS): v8 2618 / 2720 / 2766 / 99.26% vs v5b 1688 / 2119 / 2374 / 97.56%. Backup failover: 18 successful; proactive handovers: 26.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v8 at a Glance: Lifetime &amp; PDR (Center vs. Far 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7.6</a:t>
            </a:r>
          </a:p>
        </p:txBody>
      </p:sp>
      <p:pic>
        <p:nvPicPr>
          <p:cNvPr id="6" name="Picture 5" descr="v8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1371600"/>
            <a:ext cx="12191695" cy="5338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v8 Ablation: Which Mechanism Matters?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E6F1"/>
                </a:solidFill>
                <a:latin typeface="Calibri"/>
              </a:rPr>
              <a:t>7.6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81122"/>
              </p:ext>
            </p:extLst>
          </p:nvPr>
        </p:nvGraphicFramePr>
        <p:xfrm>
          <a:off x="277092" y="1722009"/>
          <a:ext cx="11490035" cy="4440700"/>
        </p:xfrm>
        <a:graphic>
          <a:graphicData uri="http://schemas.openxmlformats.org/drawingml/2006/table">
            <a:tbl>
              <a:tblPr/>
              <a:tblGrid>
                <a:gridCol w="1915006">
                  <a:extLst>
                    <a:ext uri="{9D8B030D-6E8A-4147-A177-3AD203B41FA5}">
                      <a16:colId xmlns:a16="http://schemas.microsoft.com/office/drawing/2014/main" val="4191395571"/>
                    </a:ext>
                  </a:extLst>
                </a:gridCol>
                <a:gridCol w="4975320">
                  <a:extLst>
                    <a:ext uri="{9D8B030D-6E8A-4147-A177-3AD203B41FA5}">
                      <a16:colId xmlns:a16="http://schemas.microsoft.com/office/drawing/2014/main" val="1763170458"/>
                    </a:ext>
                  </a:extLst>
                </a:gridCol>
                <a:gridCol w="1237673">
                  <a:extLst>
                    <a:ext uri="{9D8B030D-6E8A-4147-A177-3AD203B41FA5}">
                      <a16:colId xmlns:a16="http://schemas.microsoft.com/office/drawing/2014/main" val="566673329"/>
                    </a:ext>
                  </a:extLst>
                </a:gridCol>
                <a:gridCol w="1283854">
                  <a:extLst>
                    <a:ext uri="{9D8B030D-6E8A-4147-A177-3AD203B41FA5}">
                      <a16:colId xmlns:a16="http://schemas.microsoft.com/office/drawing/2014/main" val="258800590"/>
                    </a:ext>
                  </a:extLst>
                </a:gridCol>
                <a:gridCol w="960582">
                  <a:extLst>
                    <a:ext uri="{9D8B030D-6E8A-4147-A177-3AD203B41FA5}">
                      <a16:colId xmlns:a16="http://schemas.microsoft.com/office/drawing/2014/main" val="420157608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788216803"/>
                    </a:ext>
                  </a:extLst>
                </a:gridCol>
              </a:tblGrid>
              <a:tr h="111264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</a:rPr>
                        <a:t>Variant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</a:rPr>
                        <a:t>Mechanism removed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>
                          <a:solidFill>
                            <a:schemeClr val="bg1"/>
                          </a:solidFill>
                        </a:rPr>
                        <a:t>FND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>
                          <a:solidFill>
                            <a:schemeClr val="bg1"/>
                          </a:solidFill>
                        </a:rPr>
                        <a:t>HND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</a:rPr>
                        <a:t>LND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</a:rPr>
                        <a:t>PDR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9368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/>
                        <a:t>v8 (full)</a:t>
                      </a:r>
                      <a:endParaRPr lang="en-US" sz="16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1"/>
                        <a:t>—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1"/>
                        <a:t>2621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1"/>
                        <a:t>2711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1"/>
                        <a:t>2761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1"/>
                        <a:t>99.22%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58186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/>
                        <a:t>v8 − I4</a:t>
                      </a:r>
                      <a:endParaRPr lang="en-US" sz="1600" i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0"/>
                        <a:t>Direct-to-BS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1821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0"/>
                        <a:t>2001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0"/>
                        <a:t>2076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/>
                        <a:t>99.32%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26904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/>
                        <a:t>v8 − I5</a:t>
                      </a:r>
                      <a:endParaRPr lang="en-US" sz="16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0"/>
                        <a:t>Energy-gated CH election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2171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2641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2746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99.05%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80253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/>
                        <a:t>v8 − I2</a:t>
                      </a:r>
                      <a:endParaRPr lang="en-US" sz="1600" i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0"/>
                        <a:t>Proactive CH handover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2585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0"/>
                        <a:t>2726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0"/>
                        <a:t>2766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/>
                        <a:t>98.98%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736459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/>
                        <a:t>v8 − I1 / − I3</a:t>
                      </a:r>
                      <a:endParaRPr lang="en-US" sz="1600" i="0" dirty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0"/>
                        <a:t>Epoch fix / Orphan re-join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2621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2711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2761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99.22%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905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/>
                        <a:t>Threshold only</a:t>
                      </a:r>
                      <a:endParaRPr lang="en-US" sz="1600" i="0"/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0" dirty="0" b="0"/>
                        <a:t>All of I1–I5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b="0"/>
                        <a:t>1730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0"/>
                        <a:t>2086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="0"/>
                        <a:t>2166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/>
                        <a:t>98.16%</a:t>
                      </a:r>
                    </a:p>
                  </a:txBody>
                  <a:tcPr marL="35638" marR="35638" marT="17819" marB="178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49647"/>
                  </a:ext>
                </a:extLst>
              </a:tr>
            </a:tbl>
          </a:graphicData>
        </a:graphic>
      </p:graphicFrame>
      <p:sp>
        <p:nvSpPr>
          <p:cNvPr id="99" name="Note"/>
          <p:cNvSpPr txBox="1"/>
          <p:nvPr/>
        </p:nvSpPr>
        <p:spPr>
          <a:xfrm>
            <a:off x="457200" y="5000000"/>
            <a:ext cx="112776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 dirty="0">
                <a:solidFill>
                  <a:srgbClr val="404040"/>
                </a:solidFill>
                <a:latin typeface="Calibri"/>
              </a:rPr>
              <a:t>Direct-to-BS (I4) and the energy gate (I5) carry most of the lifetime gain; proactive handover (I2) mainly adds PDR; I1 and I3 are safety nets with no effect in the full combination for this seed. At the far BS, direct-to-BS almost never fires (76 packets), so the v7 chain still gives the longer HND/LND there.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2901</TotalTime>
  <Words>5950</Words>
  <Application>Microsoft Office PowerPoint</Application>
  <PresentationFormat>Widescreen</PresentationFormat>
  <Paragraphs>1382</Paragraphs>
  <Slides>88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4" baseType="lpstr"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RAHMA</cp:lastModifiedBy>
  <cp:revision>69</cp:revision>
  <dcterms:created xsi:type="dcterms:W3CDTF">2013-01-27T09:14:16Z</dcterms:created>
  <dcterms:modified xsi:type="dcterms:W3CDTF">2026-09-19T19:29:38Z</dcterms:modified>
  <cp:category/>
</cp:coreProperties>
</file>