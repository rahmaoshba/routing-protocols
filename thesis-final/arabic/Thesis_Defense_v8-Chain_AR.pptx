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1.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charts/chart2.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charts/chart3.xml" ContentType="application/vnd.openxmlformats-officedocument.drawingml.chart+xml"/>
  <Override PartName="/ppt/slideMasters/slideMaster40.xml" ContentType="application/vnd.openxmlformats-officedocument.presentationml.slideMaster+xml"/>
  <Override PartName="/ppt/slides/slide40.xml" ContentType="application/vnd.openxmlformats-officedocument.presentationml.slide+xml"/>
  <Override PartName="/ppt/charts/chart4.xml" ContentType="application/vnd.openxmlformats-officedocument.drawingml.chart+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54.xml" ContentType="application/vnd.openxmlformats-officedocument.presentationml.slideMaster+xml"/>
  <Override PartName="/ppt/slides/slide54.xml" ContentType="application/vnd.openxmlformats-officedocument.presentationml.slide+xml"/>
  <Override PartName="/ppt/charts/chart7.xml" ContentType="application/vnd.openxmlformats-officedocument.drawingml.chart+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charts/chart8.xml" ContentType="application/vnd.openxmlformats-officedocument.drawingml.chart+xml"/>
  <Override PartName="/ppt/slideMasters/slideMaster57.xml" ContentType="application/vnd.openxmlformats-officedocument.presentationml.slideMaster+xml"/>
  <Override PartName="/ppt/slides/slide57.xml" ContentType="application/vnd.openxmlformats-officedocument.presentationml.slide+xml"/>
  <Override PartName="/ppt/charts/chart9.xml" ContentType="application/vnd.openxmlformats-officedocument.drawingml.chart+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notesMasterIdLst>
    <p:notesMasterId r:id="rId6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FND</c:v>
                </c:pt>
              </c:strCache>
            </c:strRef>
          </c:tx>
          <c:spPr>
            <a:solidFill>
              <a:srgbClr val="C9A09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LEACH</c:v>
                  </c:pt>
                  <c:pt idx="1">
                    <c:v>HEED</c:v>
                  </c:pt>
                  <c:pt idx="2">
                    <c:v>HEED*</c:v>
                  </c:pt>
                  <c:pt idx="3">
                    <c:v>PEGASIS</c:v>
                  </c:pt>
                  <c:pt idx="4">
                    <c:v>SH-LEACH</c:v>
                  </c:pt>
                  <c:pt idx="5">
                    <c:v>H-LEACH</c:v>
                  </c:pt>
                  <c:pt idx="6">
                    <c:v>EECH-HEED</c:v>
                  </c:pt>
                </c:lvl>
              </c:multiLvlStrCache>
            </c:multiLvlStrRef>
          </c:cat>
          <c:val>
            <c:numRef>
              <c:f>Sheet1!$B$2:$B$8</c:f>
              <c:numCache>
                <c:formatCode>General</c:formatCode>
                <c:ptCount val="7"/>
                <c:pt idx="0">
                  <c:v>1409</c:v>
                </c:pt>
                <c:pt idx="1">
                  <c:v>323</c:v>
                </c:pt>
                <c:pt idx="2">
                  <c:v>338</c:v>
                </c:pt>
                <c:pt idx="3">
                  <c:v>1324</c:v>
                </c:pt>
                <c:pt idx="4">
                  <c:v>1440</c:v>
                </c:pt>
                <c:pt idx="5">
                  <c:v>2177</c:v>
                </c:pt>
                <c:pt idx="6">
                  <c:v>1653</c:v>
                </c:pt>
              </c:numCache>
            </c:numRef>
          </c:val>
        </c:ser>
        <c:ser>
          <c:idx val="1"/>
          <c:order val="1"/>
          <c:tx>
            <c:strRef>
              <c:f>Sheet1!$C$1</c:f>
              <c:strCache>
                <c:ptCount val="1"/>
                <c:pt idx="0">
                  <c:v>HND</c:v>
                </c:pt>
              </c:strCache>
            </c:strRef>
          </c:tx>
          <c:spPr>
            <a:solidFill>
              <a:srgbClr val="8A252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LEACH</c:v>
                  </c:pt>
                  <c:pt idx="1">
                    <c:v>HEED</c:v>
                  </c:pt>
                  <c:pt idx="2">
                    <c:v>HEED*</c:v>
                  </c:pt>
                  <c:pt idx="3">
                    <c:v>PEGASIS</c:v>
                  </c:pt>
                  <c:pt idx="4">
                    <c:v>SH-LEACH</c:v>
                  </c:pt>
                  <c:pt idx="5">
                    <c:v>H-LEACH</c:v>
                  </c:pt>
                  <c:pt idx="6">
                    <c:v>EECH-HEED</c:v>
                  </c:pt>
                </c:lvl>
              </c:multiLvlStrCache>
            </c:multiLvlStrRef>
          </c:cat>
          <c:val>
            <c:numRef>
              <c:f>Sheet1!$C$2:$C$8</c:f>
              <c:numCache>
                <c:formatCode>General</c:formatCode>
                <c:ptCount val="7"/>
                <c:pt idx="0">
                  <c:v>1626</c:v>
                </c:pt>
                <c:pt idx="1">
                  <c:v>570</c:v>
                </c:pt>
                <c:pt idx="2">
                  <c:v>549</c:v>
                </c:pt>
                <c:pt idx="3">
                  <c:v>2353</c:v>
                </c:pt>
                <c:pt idx="4">
                  <c:v>1584</c:v>
                </c:pt>
                <c:pt idx="5">
                  <c:v>2255</c:v>
                </c:pt>
                <c:pt idx="6">
                  <c:v>2134</c:v>
                </c:pt>
              </c:numCache>
            </c:numRef>
          </c:val>
        </c:ser>
        <c:ser>
          <c:idx val="2"/>
          <c:order val="2"/>
          <c:tx>
            <c:strRef>
              <c:f>Sheet1!$D$1</c:f>
              <c:strCache>
                <c:ptCount val="1"/>
                <c:pt idx="0">
                  <c:v>LND</c:v>
                </c:pt>
              </c:strCache>
            </c:strRef>
          </c:tx>
          <c:spPr>
            <a:solidFill>
              <a:srgbClr val="32323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LEACH</c:v>
                  </c:pt>
                  <c:pt idx="1">
                    <c:v>HEED</c:v>
                  </c:pt>
                  <c:pt idx="2">
                    <c:v>HEED*</c:v>
                  </c:pt>
                  <c:pt idx="3">
                    <c:v>PEGASIS</c:v>
                  </c:pt>
                  <c:pt idx="4">
                    <c:v>SH-LEACH</c:v>
                  </c:pt>
                  <c:pt idx="5">
                    <c:v>H-LEACH</c:v>
                  </c:pt>
                  <c:pt idx="6">
                    <c:v>EECH-HEED</c:v>
                  </c:pt>
                </c:lvl>
              </c:multiLvlStrCache>
            </c:multiLvlStrRef>
          </c:cat>
          <c:val>
            <c:numRef>
              <c:f>Sheet1!$D$2:$D$8</c:f>
              <c:numCache>
                <c:formatCode>General</c:formatCode>
                <c:ptCount val="7"/>
                <c:pt idx="0">
                  <c:v>1962</c:v>
                </c:pt>
                <c:pt idx="1">
                  <c:v>1362</c:v>
                </c:pt>
                <c:pt idx="2">
                  <c:v>1502</c:v>
                </c:pt>
                <c:pt idx="3">
                  <c:v>2887</c:v>
                </c:pt>
                <c:pt idx="4">
                  <c:v>1604</c:v>
                </c:pt>
                <c:pt idx="5">
                  <c:v>2305</c:v>
                </c:pt>
                <c:pt idx="6">
                  <c:v>2184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4444"/>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3E0D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66666"/>
                </a:solidFill>
                <a:latin typeface="Arial"/>
              </a:defRPr>
            </a:pPr>
            <a:endParaRPr lang="en-US"/>
          </a:p>
        </c:txPr>
        <c:crossAx val="2094734554"/>
        <c:crosses val="autoZero"/>
        <c:crossBetween val="between"/>
      </c:valAx>
      <c:spPr>
        <a:solidFill>
          <a:srgbClr val="EDEDE5"/>
        </a:solidFill>
        <a:ln>
          <a:noFill/>
        </a:ln>
        <a:effectLst/>
      </c:spPr>
    </c:plotArea>
    <c:legend>
      <c:legendPos val="t"/>
      <c:overlay val="0"/>
      <c:txPr>
        <a:bodyPr/>
        <a:lstStyle/>
        <a:p>
          <a:pPr>
            <a:defRPr sz="1100">
              <a:solidFill>
                <a:srgbClr val="444444"/>
              </a:solidFill>
              <a:latin typeface="Arial"/>
              <a:cs typeface="Arial"/>
            </a:defRPr>
          </a:pPr>
          <a:endParaRPr lang="en-US"/>
        </a:p>
      </c:txPr>
    </c:legend>
    <c:plotVisOnly val="1"/>
    <c:dispBlanksAs val="span"/>
  </c:chart>
  <c:spPr>
    <a:solidFill>
      <a:srgbClr val="EDEDE5"/>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بإعدادات البحث</c:v>
                </c:pt>
              </c:strCache>
            </c:strRef>
          </c:tx>
          <c:spPr>
            <a:solidFill>
              <a:srgbClr val="9E9E9E"/>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LEACH</c:v>
                  </c:pt>
                  <c:pt idx="1">
                    <c:v>HEED</c:v>
                  </c:pt>
                  <c:pt idx="2">
                    <c:v>PEGASIS</c:v>
                  </c:pt>
                  <c:pt idx="3">
                    <c:v>H-LEACH</c:v>
                  </c:pt>
                  <c:pt idx="4">
                    <c:v>SH-LEACH</c:v>
                  </c:pt>
                </c:lvl>
              </c:multiLvlStrCache>
            </c:multiLvlStrRef>
          </c:cat>
          <c:val>
            <c:numRef>
              <c:f>Sheet1!$B$2:$B$6</c:f>
              <c:numCache>
                <c:formatCode>General</c:formatCode>
                <c:ptCount val="5"/>
                <c:pt idx="0">
                  <c:v>1321</c:v>
                </c:pt>
                <c:pt idx="1">
                  <c:v>1996</c:v>
                </c:pt>
                <c:pt idx="2">
                  <c:v>2167</c:v>
                </c:pt>
                <c:pt idx="3">
                  <c:v>1210</c:v>
                </c:pt>
                <c:pt idx="4">
                  <c:v>884</c:v>
                </c:pt>
              </c:numCache>
            </c:numRef>
          </c:val>
        </c:ser>
        <c:ser>
          <c:idx val="1"/>
          <c:order val="1"/>
          <c:tx>
            <c:strRef>
              <c:f>Sheet1!$C$1</c:f>
              <c:strCache>
                <c:ptCount val="1"/>
                <c:pt idx="0">
                  <c:v>موحّد</c:v>
                </c:pt>
              </c:strCache>
            </c:strRef>
          </c:tx>
          <c:spPr>
            <a:solidFill>
              <a:srgbClr val="8A2522"/>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LEACH</c:v>
                  </c:pt>
                  <c:pt idx="1">
                    <c:v>HEED</c:v>
                  </c:pt>
                  <c:pt idx="2">
                    <c:v>PEGASIS</c:v>
                  </c:pt>
                  <c:pt idx="3">
                    <c:v>H-LEACH</c:v>
                  </c:pt>
                  <c:pt idx="4">
                    <c:v>SH-LEACH</c:v>
                  </c:pt>
                </c:lvl>
              </c:multiLvlStrCache>
            </c:multiLvlStrRef>
          </c:cat>
          <c:val>
            <c:numRef>
              <c:f>Sheet1!$C$2:$C$6</c:f>
              <c:numCache>
                <c:formatCode>General</c:formatCode>
                <c:ptCount val="5"/>
                <c:pt idx="0">
                  <c:v>1962</c:v>
                </c:pt>
                <c:pt idx="1">
                  <c:v>1362</c:v>
                </c:pt>
                <c:pt idx="2">
                  <c:v>2887</c:v>
                </c:pt>
                <c:pt idx="3">
                  <c:v>2305</c:v>
                </c:pt>
                <c:pt idx="4">
                  <c:v>1604</c:v>
                </c:pt>
              </c:numCache>
            </c:numRef>
          </c:val>
        </c:ser>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0D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EDEDE5"/>
        </a:solidFill>
        <a:ln>
          <a:noFill/>
        </a:ln>
        <a:effectLst/>
      </c:spPr>
    </c:plotArea>
    <c:legend>
      <c:legendPos val="t"/>
      <c:overlay val="0"/>
      <c:txPr>
        <a:bodyPr/>
        <a:lstStyle/>
        <a:p>
          <a:pPr>
            <a:defRPr>
              <a:latin typeface="Arial"/>
              <a:cs typeface="Arial"/>
            </a:defRPr>
          </a:pPr>
          <a:endParaRPr lang="en-US"/>
        </a:p>
      </c:txPr>
    </c:legend>
    <c:plotVisOnly val="1"/>
    <c:dispBlanksAs val="span"/>
  </c:chart>
  <c:spPr>
    <a:solidFill>
      <a:srgbClr val="EDEDE5"/>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FND</c:v>
                </c:pt>
              </c:strCache>
            </c:strRef>
          </c:tx>
          <c:spPr>
            <a:solidFill>
              <a:srgbClr val="C9A09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v1</c:v>
                  </c:pt>
                  <c:pt idx="1">
                    <c:v>v2</c:v>
                  </c:pt>
                  <c:pt idx="2">
                    <c:v>v3</c:v>
                  </c:pt>
                  <c:pt idx="3">
                    <c:v>v4</c:v>
                  </c:pt>
                  <c:pt idx="4">
                    <c:v>v5</c:v>
                  </c:pt>
                  <c:pt idx="5">
                    <c:v>v5-exp (5)</c:v>
                  </c:pt>
                  <c:pt idx="6">
                    <c:v>v5-exp (10)</c:v>
                  </c:pt>
                  <c:pt idx="7">
                    <c:v>v6 (Center)</c:v>
                  </c:pt>
                  <c:pt idx="8">
                    <c:v>v7 (Center)</c:v>
                  </c:pt>
                  <c:pt idx="9">
                    <c:v>v7.1 (5)</c:v>
                  </c:pt>
                  <c:pt idx="10">
                    <c:v>v7.2 (10)</c:v>
                  </c:pt>
                </c:lvl>
              </c:multiLvlStrCache>
            </c:multiLvlStrRef>
          </c:cat>
          <c:val>
            <c:numRef>
              <c:f>Sheet1!$B$2:$B$12</c:f>
              <c:numCache>
                <c:formatCode>General</c:formatCode>
                <c:ptCount val="11"/>
                <c:pt idx="0">
                  <c:v>330</c:v>
                </c:pt>
                <c:pt idx="1">
                  <c:v>345</c:v>
                </c:pt>
                <c:pt idx="2">
                  <c:v>1730</c:v>
                </c:pt>
                <c:pt idx="3">
                  <c:v>1513</c:v>
                </c:pt>
                <c:pt idx="4">
                  <c:v>1513</c:v>
                </c:pt>
                <c:pt idx="5">
                  <c:v>1730</c:v>
                </c:pt>
                <c:pt idx="6">
                  <c:v>1621</c:v>
                </c:pt>
                <c:pt idx="7">
                  <c:v>1551</c:v>
                </c:pt>
                <c:pt idx="8">
                  <c:v>1551</c:v>
                </c:pt>
                <c:pt idx="9">
                  <c:v>1491</c:v>
                </c:pt>
                <c:pt idx="10">
                  <c:v>1381</c:v>
                </c:pt>
              </c:numCache>
            </c:numRef>
          </c:val>
        </c:ser>
        <c:ser>
          <c:idx val="1"/>
          <c:order val="1"/>
          <c:tx>
            <c:strRef>
              <c:f>Sheet1!$C$1</c:f>
              <c:strCache>
                <c:ptCount val="1"/>
                <c:pt idx="0">
                  <c:v>HND</c:v>
                </c:pt>
              </c:strCache>
            </c:strRef>
          </c:tx>
          <c:spPr>
            <a:solidFill>
              <a:srgbClr val="8A252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v1</c:v>
                  </c:pt>
                  <c:pt idx="1">
                    <c:v>v2</c:v>
                  </c:pt>
                  <c:pt idx="2">
                    <c:v>v3</c:v>
                  </c:pt>
                  <c:pt idx="3">
                    <c:v>v4</c:v>
                  </c:pt>
                  <c:pt idx="4">
                    <c:v>v5</c:v>
                  </c:pt>
                  <c:pt idx="5">
                    <c:v>v5-exp (5)</c:v>
                  </c:pt>
                  <c:pt idx="6">
                    <c:v>v5-exp (10)</c:v>
                  </c:pt>
                  <c:pt idx="7">
                    <c:v>v6 (Center)</c:v>
                  </c:pt>
                  <c:pt idx="8">
                    <c:v>v7 (Center)</c:v>
                  </c:pt>
                  <c:pt idx="9">
                    <c:v>v7.1 (5)</c:v>
                  </c:pt>
                  <c:pt idx="10">
                    <c:v>v7.2 (10)</c:v>
                  </c:pt>
                </c:lvl>
              </c:multiLvlStrCache>
            </c:multiLvlStrRef>
          </c:cat>
          <c:val>
            <c:numRef>
              <c:f>Sheet1!$C$2:$C$12</c:f>
              <c:numCache>
                <c:formatCode>General</c:formatCode>
                <c:ptCount val="11"/>
                <c:pt idx="0">
                  <c:v>557</c:v>
                </c:pt>
                <c:pt idx="1">
                  <c:v>534</c:v>
                </c:pt>
                <c:pt idx="2">
                  <c:v>2081</c:v>
                </c:pt>
                <c:pt idx="3">
                  <c:v>2219</c:v>
                </c:pt>
                <c:pt idx="4">
                  <c:v>2127</c:v>
                </c:pt>
                <c:pt idx="5">
                  <c:v>2086</c:v>
                </c:pt>
                <c:pt idx="6">
                  <c:v>2141</c:v>
                </c:pt>
                <c:pt idx="7">
                  <c:v>1981</c:v>
                </c:pt>
                <c:pt idx="8">
                  <c:v>1976</c:v>
                </c:pt>
                <c:pt idx="9">
                  <c:v>1991</c:v>
                </c:pt>
                <c:pt idx="10">
                  <c:v>2071</c:v>
                </c:pt>
              </c:numCache>
            </c:numRef>
          </c:val>
        </c:ser>
        <c:ser>
          <c:idx val="2"/>
          <c:order val="2"/>
          <c:tx>
            <c:strRef>
              <c:f>Sheet1!$D$1</c:f>
              <c:strCache>
                <c:ptCount val="1"/>
                <c:pt idx="0">
                  <c:v>LND</c:v>
                </c:pt>
              </c:strCache>
            </c:strRef>
          </c:tx>
          <c:spPr>
            <a:solidFill>
              <a:srgbClr val="32323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v1</c:v>
                  </c:pt>
                  <c:pt idx="1">
                    <c:v>v2</c:v>
                  </c:pt>
                  <c:pt idx="2">
                    <c:v>v3</c:v>
                  </c:pt>
                  <c:pt idx="3">
                    <c:v>v4</c:v>
                  </c:pt>
                  <c:pt idx="4">
                    <c:v>v5</c:v>
                  </c:pt>
                  <c:pt idx="5">
                    <c:v>v5-exp (5)</c:v>
                  </c:pt>
                  <c:pt idx="6">
                    <c:v>v5-exp (10)</c:v>
                  </c:pt>
                  <c:pt idx="7">
                    <c:v>v6 (Center)</c:v>
                  </c:pt>
                  <c:pt idx="8">
                    <c:v>v7 (Center)</c:v>
                  </c:pt>
                  <c:pt idx="9">
                    <c:v>v7.1 (5)</c:v>
                  </c:pt>
                  <c:pt idx="10">
                    <c:v>v7.2 (10)</c:v>
                  </c:pt>
                </c:lvl>
              </c:multiLvlStrCache>
            </c:multiLvlStrRef>
          </c:cat>
          <c:val>
            <c:numRef>
              <c:f>Sheet1!$D$2:$D$12</c:f>
              <c:numCache>
                <c:formatCode>General</c:formatCode>
                <c:ptCount val="11"/>
                <c:pt idx="0">
                  <c:v>1318</c:v>
                </c:pt>
                <c:pt idx="1">
                  <c:v>1393</c:v>
                </c:pt>
                <c:pt idx="2">
                  <c:v>2703</c:v>
                </c:pt>
                <c:pt idx="3">
                  <c:v>2521</c:v>
                </c:pt>
                <c:pt idx="4">
                  <c:v>2416</c:v>
                </c:pt>
                <c:pt idx="5">
                  <c:v>2156</c:v>
                </c:pt>
                <c:pt idx="6">
                  <c:v>2291</c:v>
                </c:pt>
                <c:pt idx="7">
                  <c:v>2106</c:v>
                </c:pt>
                <c:pt idx="8">
                  <c:v>2066</c:v>
                </c:pt>
                <c:pt idx="9">
                  <c:v>2086</c:v>
                </c:pt>
                <c:pt idx="10">
                  <c:v>2241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4444"/>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3E0D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66666"/>
                </a:solidFill>
                <a:latin typeface="Arial"/>
              </a:defRPr>
            </a:pPr>
            <a:endParaRPr lang="en-US"/>
          </a:p>
        </c:txPr>
        <c:crossAx val="2094734554"/>
        <c:crosses val="autoZero"/>
        <c:crossBetween val="between"/>
      </c:valAx>
      <c:spPr>
        <a:solidFill>
          <a:srgbClr val="EDEDE5"/>
        </a:solidFill>
        <a:ln>
          <a:noFill/>
        </a:ln>
        <a:effectLst/>
      </c:spPr>
    </c:plotArea>
    <c:legend>
      <c:legendPos val="t"/>
      <c:overlay val="0"/>
      <c:txPr>
        <a:bodyPr/>
        <a:lstStyle/>
        <a:p>
          <a:pPr>
            <a:defRPr sz="1100">
              <a:solidFill>
                <a:srgbClr val="444444"/>
              </a:solidFill>
              <a:latin typeface="Arial"/>
              <a:cs typeface="Arial"/>
            </a:defRPr>
          </a:pPr>
          <a:endParaRPr lang="en-US"/>
        </a:p>
      </c:txPr>
    </c:legend>
    <c:plotVisOnly val="1"/>
    <c:dispBlanksAs val="span"/>
  </c:chart>
  <c:spPr>
    <a:solidFill>
      <a:srgbClr val="EDEDE5"/>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8A2522"/>
                </a:solidFill>
                <a:latin typeface="Arial"/>
              </a:defRPr>
            </a:pPr>
            <a:r>
              <a:rPr sz="1300" b="0" i="0" u="none" strike="noStrike">
                <a:solidFill>
                  <a:srgbClr val="8A2522"/>
                </a:solidFill>
                <a:latin typeface="Arial"/>
              </a:rPr>
              <a:t>PDR (%)</a:t>
            </a:r>
          </a:p>
        </c:rich>
      </c:tx>
      <c:layout/>
      <c:overlay val="0"/>
    </c:title>
    <c:autoTitleDeleted val="0"/>
    <c:plotArea>
      <c:layout/>
      <c:barChart>
        <c:barDir val="col"/>
        <c:grouping val="clustered"/>
        <c:varyColors val="0"/>
        <c:ser>
          <c:idx val="0"/>
          <c:order val="0"/>
          <c:tx>
            <c:strRef>
              <c:f>Sheet1!$B$1</c:f>
              <c:strCache>
                <c:ptCount val="1"/>
                <c:pt idx="0">
                  <c:v>PDR (%)</c:v>
                </c:pt>
              </c:strCache>
            </c:strRef>
          </c:tx>
          <c:spPr>
            <a:solidFill>
              <a:srgbClr val="8A2522"/>
            </a:solidFill>
            <a:effectLst/>
          </c:spPr>
          <c:invertIfNegative val="0"/>
          <c:dLbls>
            <c:numFmt formatCode="0.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Sheet1!$A$2:$A$12</c:f>
              <c:multiLvlStrCache>
                <c:ptCount val="11"/>
                <c:lvl>
                  <c:pt idx="0">
                    <c:v>v1</c:v>
                  </c:pt>
                  <c:pt idx="1">
                    <c:v>v2</c:v>
                  </c:pt>
                  <c:pt idx="2">
                    <c:v>v3</c:v>
                  </c:pt>
                  <c:pt idx="3">
                    <c:v>v4</c:v>
                  </c:pt>
                  <c:pt idx="4">
                    <c:v>v5</c:v>
                  </c:pt>
                  <c:pt idx="5">
                    <c:v>v5-exp (5)</c:v>
                  </c:pt>
                  <c:pt idx="6">
                    <c:v>v5-exp (10)</c:v>
                  </c:pt>
                  <c:pt idx="7">
                    <c:v>v6 (Center)</c:v>
                  </c:pt>
                  <c:pt idx="8">
                    <c:v>v7 (Center)</c:v>
                  </c:pt>
                  <c:pt idx="9">
                    <c:v>v7.1 (5)</c:v>
                  </c:pt>
                  <c:pt idx="10">
                    <c:v>v7.2 (10)</c:v>
                  </c:pt>
                </c:lvl>
              </c:multiLvlStrCache>
            </c:multiLvlStrRef>
          </c:cat>
          <c:val>
            <c:numRef>
              <c:f>Sheet1!$B$2:$B$12</c:f>
              <c:numCache>
                <c:formatCode>General</c:formatCode>
                <c:ptCount val="11"/>
                <c:pt idx="0">
                  <c:v>99.74</c:v>
                </c:pt>
                <c:pt idx="1">
                  <c:v>99.79</c:v>
                </c:pt>
                <c:pt idx="2">
                  <c:v>97.72</c:v>
                </c:pt>
                <c:pt idx="3">
                  <c:v>94.67</c:v>
                </c:pt>
                <c:pt idx="4">
                  <c:v>97.05</c:v>
                </c:pt>
                <c:pt idx="5">
                  <c:v>98.27</c:v>
                </c:pt>
                <c:pt idx="6">
                  <c:v>97.94</c:v>
                </c:pt>
                <c:pt idx="7">
                  <c:v>97.49</c:v>
                </c:pt>
                <c:pt idx="8">
                  <c:v>98.43</c:v>
                </c:pt>
                <c:pt idx="9">
                  <c:v>98.49</c:v>
                </c:pt>
                <c:pt idx="10">
                  <c:v>97.88</c:v>
                </c:pt>
              </c:numCache>
            </c:numRef>
          </c:val>
        </c:ser>
        <c:dLbls>
          <c:numFmt formatCode="0.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4444"/>
                </a:solidFill>
                <a:latin typeface="Arial"/>
              </a:defRPr>
            </a:pPr>
            <a:endParaRPr lang="en-US"/>
          </a:p>
        </c:txPr>
        <c:crossAx val="2094734552"/>
        <c:crosses val="autoZero"/>
        <c:auto val="1"/>
        <c:lblAlgn val="ctr"/>
        <c:noMultiLvlLbl val="1"/>
      </c:catAx>
      <c:valAx>
        <c:axId val="2094734552"/>
        <c:scaling>
          <c:orientation val="minMax"/>
          <c:max val="100"/>
          <c:min val="94"/>
        </c:scaling>
        <c:delete val="0"/>
        <c:axPos val="l"/>
        <c:majorGridlines>
          <c:spPr>
            <a:ln w="9525" cap="flat">
              <a:solidFill>
                <a:srgbClr val="E3E0D6"/>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66666"/>
                </a:solidFill>
                <a:latin typeface="Arial"/>
              </a:defRPr>
            </a:pPr>
            <a:endParaRPr lang="en-US"/>
          </a:p>
        </c:txPr>
        <c:crossAx val="2094734554"/>
        <c:crosses val="autoZero"/>
        <c:crossBetween val="between"/>
      </c:valAx>
      <c:spPr>
        <a:solidFill>
          <a:srgbClr val="EDEDE5"/>
        </a:solidFill>
        <a:ln>
          <a:noFill/>
        </a:ln>
        <a:effectLst/>
      </c:spPr>
    </c:plotArea>
    <c:plotVisOnly val="1"/>
    <c:dispBlanksAs val="span"/>
  </c:chart>
  <c:spPr>
    <a:solidFill>
      <a:srgbClr val="EDEDE5"/>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8A2522"/>
                </a:solidFill>
                <a:latin typeface="Arial"/>
              </a:defRPr>
            </a:pPr>
            <a:r>
              <a:rPr sz="1300" b="0" i="0" u="none" strike="noStrike">
                <a:solidFill>
                  <a:srgbClr val="8A2522"/>
                </a:solidFill>
                <a:latin typeface="Arial"/>
              </a:rPr>
              <a:t>الـ BS بعيد</a:t>
            </a:r>
          </a:p>
        </c:rich>
      </c:tx>
      <c:layout/>
      <c:overlay val="0"/>
    </c:title>
    <c:autoTitleDeleted val="0"/>
    <c:plotArea>
      <c:layout/>
      <c:barChart>
        <c:barDir val="col"/>
        <c:grouping val="clustered"/>
        <c:varyColors val="0"/>
        <c:ser>
          <c:idx val="0"/>
          <c:order val="0"/>
          <c:tx>
            <c:strRef>
              <c:f>Sheet1!$B$1</c:f>
              <c:strCache>
                <c:ptCount val="1"/>
                <c:pt idx="0">
                  <c:v>FND</c:v>
                </c:pt>
              </c:strCache>
            </c:strRef>
          </c:tx>
          <c:spPr>
            <a:solidFill>
              <a:srgbClr val="C9A09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v6</c:v>
                  </c:pt>
                  <c:pt idx="1">
                    <c:v>v7</c:v>
                  </c:pt>
                  <c:pt idx="2">
                    <c:v>v8</c:v>
                  </c:pt>
                  <c:pt idx="3">
                    <c:v>v8-Chain</c:v>
                  </c:pt>
                </c:lvl>
              </c:multiLvlStrCache>
            </c:multiLvlStrRef>
          </c:cat>
          <c:val>
            <c:numRef>
              <c:f>Sheet1!$B$2:$B$5</c:f>
              <c:numCache>
                <c:formatCode>General</c:formatCode>
                <c:ptCount val="4"/>
                <c:pt idx="0">
                  <c:v>1266</c:v>
                </c:pt>
                <c:pt idx="1">
                  <c:v>1266</c:v>
                </c:pt>
                <c:pt idx="2">
                  <c:v>1471</c:v>
                </c:pt>
                <c:pt idx="3">
                  <c:v>1716</c:v>
                </c:pt>
              </c:numCache>
            </c:numRef>
          </c:val>
        </c:ser>
        <c:ser>
          <c:idx val="1"/>
          <c:order val="1"/>
          <c:tx>
            <c:strRef>
              <c:f>Sheet1!$C$1</c:f>
              <c:strCache>
                <c:ptCount val="1"/>
                <c:pt idx="0">
                  <c:v>HND</c:v>
                </c:pt>
              </c:strCache>
            </c:strRef>
          </c:tx>
          <c:spPr>
            <a:solidFill>
              <a:srgbClr val="8A252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v6</c:v>
                  </c:pt>
                  <c:pt idx="1">
                    <c:v>v7</c:v>
                  </c:pt>
                  <c:pt idx="2">
                    <c:v>v8</c:v>
                  </c:pt>
                  <c:pt idx="3">
                    <c:v>v8-Chain</c:v>
                  </c:pt>
                </c:lvl>
              </c:multiLvlStrCache>
            </c:multiLvlStrRef>
          </c:cat>
          <c:val>
            <c:numRef>
              <c:f>Sheet1!$C$2:$C$5</c:f>
              <c:numCache>
                <c:formatCode>General</c:formatCode>
                <c:ptCount val="4"/>
                <c:pt idx="0">
                  <c:v>1910</c:v>
                </c:pt>
                <c:pt idx="1">
                  <c:v>1891</c:v>
                </c:pt>
                <c:pt idx="2">
                  <c:v>1646</c:v>
                </c:pt>
                <c:pt idx="3">
                  <c:v>1886</c:v>
                </c:pt>
              </c:numCache>
            </c:numRef>
          </c:val>
        </c:ser>
        <c:ser>
          <c:idx val="2"/>
          <c:order val="2"/>
          <c:tx>
            <c:strRef>
              <c:f>Sheet1!$D$1</c:f>
              <c:strCache>
                <c:ptCount val="1"/>
                <c:pt idx="0">
                  <c:v>LND</c:v>
                </c:pt>
              </c:strCache>
            </c:strRef>
          </c:tx>
          <c:spPr>
            <a:solidFill>
              <a:srgbClr val="32323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v6</c:v>
                  </c:pt>
                  <c:pt idx="1">
                    <c:v>v7</c:v>
                  </c:pt>
                  <c:pt idx="2">
                    <c:v>v8</c:v>
                  </c:pt>
                  <c:pt idx="3">
                    <c:v>v8-Chain</c:v>
                  </c:pt>
                </c:lvl>
              </c:multiLvlStrCache>
            </c:multiLvlStrRef>
          </c:cat>
          <c:val>
            <c:numRef>
              <c:f>Sheet1!$D$2:$D$5</c:f>
              <c:numCache>
                <c:formatCode>General</c:formatCode>
                <c:ptCount val="4"/>
                <c:pt idx="0">
                  <c:v>2031</c:v>
                </c:pt>
                <c:pt idx="1">
                  <c:v>1976</c:v>
                </c:pt>
                <c:pt idx="2">
                  <c:v>1716</c:v>
                </c:pt>
                <c:pt idx="3">
                  <c:v>1956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4444"/>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3E0D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66666"/>
                </a:solidFill>
                <a:latin typeface="Arial"/>
              </a:defRPr>
            </a:pPr>
            <a:endParaRPr lang="en-US"/>
          </a:p>
        </c:txPr>
        <c:crossAx val="2094734554"/>
        <c:crosses val="autoZero"/>
        <c:crossBetween val="between"/>
      </c:valAx>
      <c:spPr>
        <a:solidFill>
          <a:srgbClr val="EDEDE5"/>
        </a:solidFill>
        <a:ln>
          <a:noFill/>
        </a:ln>
        <a:effectLst/>
      </c:spPr>
    </c:plotArea>
    <c:legend>
      <c:legendPos val="t"/>
      <c:overlay val="0"/>
      <c:txPr>
        <a:bodyPr/>
        <a:lstStyle/>
        <a:p>
          <a:pPr>
            <a:defRPr sz="1100">
              <a:solidFill>
                <a:srgbClr val="444444"/>
              </a:solidFill>
              <a:latin typeface="Arial"/>
              <a:cs typeface="Arial"/>
            </a:defRPr>
          </a:pPr>
          <a:endParaRPr lang="en-US"/>
        </a:p>
      </c:txPr>
    </c:legend>
    <c:plotVisOnly val="1"/>
    <c:dispBlanksAs val="span"/>
  </c:chart>
  <c:spPr>
    <a:solidFill>
      <a:srgbClr val="EDEDE5"/>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8A2522"/>
                </a:solidFill>
                <a:latin typeface="Arial"/>
              </a:defRPr>
            </a:pPr>
            <a:r>
              <a:rPr sz="1300" b="0" i="0" u="none" strike="noStrike">
                <a:solidFill>
                  <a:srgbClr val="8A2522"/>
                </a:solidFill>
                <a:latin typeface="Arial"/>
              </a:rPr>
              <a:t>الـ BS في النص</a:t>
            </a:r>
          </a:p>
        </c:rich>
      </c:tx>
      <c:layout/>
      <c:overlay val="0"/>
    </c:title>
    <c:autoTitleDeleted val="0"/>
    <c:plotArea>
      <c:layout/>
      <c:barChart>
        <c:barDir val="col"/>
        <c:grouping val="clustered"/>
        <c:varyColors val="0"/>
        <c:ser>
          <c:idx val="0"/>
          <c:order val="0"/>
          <c:tx>
            <c:strRef>
              <c:f>Sheet1!$B$1</c:f>
              <c:strCache>
                <c:ptCount val="1"/>
                <c:pt idx="0">
                  <c:v>FND</c:v>
                </c:pt>
              </c:strCache>
            </c:strRef>
          </c:tx>
          <c:spPr>
            <a:solidFill>
              <a:srgbClr val="C9A09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v6</c:v>
                  </c:pt>
                  <c:pt idx="1">
                    <c:v>v7</c:v>
                  </c:pt>
                  <c:pt idx="2">
                    <c:v>v8</c:v>
                  </c:pt>
                  <c:pt idx="3">
                    <c:v>v8-Chain</c:v>
                  </c:pt>
                </c:lvl>
              </c:multiLvlStrCache>
            </c:multiLvlStrRef>
          </c:cat>
          <c:val>
            <c:numRef>
              <c:f>Sheet1!$B$2:$B$5</c:f>
              <c:numCache>
                <c:formatCode>General</c:formatCode>
                <c:ptCount val="4"/>
                <c:pt idx="0">
                  <c:v>1551</c:v>
                </c:pt>
                <c:pt idx="1">
                  <c:v>1551</c:v>
                </c:pt>
                <c:pt idx="2">
                  <c:v>2621</c:v>
                </c:pt>
                <c:pt idx="3">
                  <c:v>2621</c:v>
                </c:pt>
              </c:numCache>
            </c:numRef>
          </c:val>
        </c:ser>
        <c:ser>
          <c:idx val="1"/>
          <c:order val="1"/>
          <c:tx>
            <c:strRef>
              <c:f>Sheet1!$C$1</c:f>
              <c:strCache>
                <c:ptCount val="1"/>
                <c:pt idx="0">
                  <c:v>HND</c:v>
                </c:pt>
              </c:strCache>
            </c:strRef>
          </c:tx>
          <c:spPr>
            <a:solidFill>
              <a:srgbClr val="8A252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v6</c:v>
                  </c:pt>
                  <c:pt idx="1">
                    <c:v>v7</c:v>
                  </c:pt>
                  <c:pt idx="2">
                    <c:v>v8</c:v>
                  </c:pt>
                  <c:pt idx="3">
                    <c:v>v8-Chain</c:v>
                  </c:pt>
                </c:lvl>
              </c:multiLvlStrCache>
            </c:multiLvlStrRef>
          </c:cat>
          <c:val>
            <c:numRef>
              <c:f>Sheet1!$C$2:$C$5</c:f>
              <c:numCache>
                <c:formatCode>General</c:formatCode>
                <c:ptCount val="4"/>
                <c:pt idx="0">
                  <c:v>1981</c:v>
                </c:pt>
                <c:pt idx="1">
                  <c:v>1976</c:v>
                </c:pt>
                <c:pt idx="2">
                  <c:v>2711</c:v>
                </c:pt>
                <c:pt idx="3">
                  <c:v>2711</c:v>
                </c:pt>
              </c:numCache>
            </c:numRef>
          </c:val>
        </c:ser>
        <c:ser>
          <c:idx val="2"/>
          <c:order val="2"/>
          <c:tx>
            <c:strRef>
              <c:f>Sheet1!$D$1</c:f>
              <c:strCache>
                <c:ptCount val="1"/>
                <c:pt idx="0">
                  <c:v>LND</c:v>
                </c:pt>
              </c:strCache>
            </c:strRef>
          </c:tx>
          <c:spPr>
            <a:solidFill>
              <a:srgbClr val="32323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v6</c:v>
                  </c:pt>
                  <c:pt idx="1">
                    <c:v>v7</c:v>
                  </c:pt>
                  <c:pt idx="2">
                    <c:v>v8</c:v>
                  </c:pt>
                  <c:pt idx="3">
                    <c:v>v8-Chain</c:v>
                  </c:pt>
                </c:lvl>
              </c:multiLvlStrCache>
            </c:multiLvlStrRef>
          </c:cat>
          <c:val>
            <c:numRef>
              <c:f>Sheet1!$D$2:$D$5</c:f>
              <c:numCache>
                <c:formatCode>General</c:formatCode>
                <c:ptCount val="4"/>
                <c:pt idx="0">
                  <c:v>2106</c:v>
                </c:pt>
                <c:pt idx="1">
                  <c:v>2066</c:v>
                </c:pt>
                <c:pt idx="2">
                  <c:v>2761</c:v>
                </c:pt>
                <c:pt idx="3">
                  <c:v>2756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4444"/>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3E0D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66666"/>
                </a:solidFill>
                <a:latin typeface="Arial"/>
              </a:defRPr>
            </a:pPr>
            <a:endParaRPr lang="en-US"/>
          </a:p>
        </c:txPr>
        <c:crossAx val="2094734554"/>
        <c:crosses val="autoZero"/>
        <c:crossBetween val="between"/>
      </c:valAx>
      <c:spPr>
        <a:solidFill>
          <a:srgbClr val="EDEDE5"/>
        </a:solidFill>
        <a:ln>
          <a:noFill/>
        </a:ln>
        <a:effectLst/>
      </c:spPr>
    </c:plotArea>
    <c:legend>
      <c:legendPos val="t"/>
      <c:overlay val="0"/>
      <c:txPr>
        <a:bodyPr/>
        <a:lstStyle/>
        <a:p>
          <a:pPr>
            <a:defRPr sz="1100">
              <a:solidFill>
                <a:srgbClr val="444444"/>
              </a:solidFill>
              <a:latin typeface="Arial"/>
              <a:cs typeface="Arial"/>
            </a:defRPr>
          </a:pPr>
          <a:endParaRPr lang="en-US"/>
        </a:p>
      </c:txPr>
    </c:legend>
    <c:plotVisOnly val="1"/>
    <c:dispBlanksAs val="span"/>
  </c:chart>
  <c:spPr>
    <a:solidFill>
      <a:srgbClr val="EDEDE5"/>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8A2522"/>
                </a:solidFill>
                <a:latin typeface="Arial"/>
              </a:defRPr>
            </a:pPr>
            <a:r>
              <a:rPr sz="1300" b="0" i="0" u="none" strike="noStrike">
                <a:solidFill>
                  <a:srgbClr val="8A2522"/>
                </a:solidFill>
                <a:latin typeface="Arial"/>
              </a:rPr>
              <a:t>FND (rounds)</a:t>
            </a:r>
          </a:p>
        </c:rich>
      </c:tx>
      <c:layout/>
      <c:overlay val="0"/>
    </c:title>
    <c:autoTitleDeleted val="0"/>
    <c:plotArea>
      <c:layout/>
      <c:barChart>
        <c:barDir val="bar"/>
        <c:grouping val="clustered"/>
        <c:varyColors val="0"/>
        <c:ser>
          <c:idx val="0"/>
          <c:order val="0"/>
          <c:tx>
            <c:strRef>
              <c:f>Sheet1!$B$1</c:f>
              <c:strCache>
                <c:ptCount val="1"/>
                <c:pt idx="0">
                  <c:v>FND</c:v>
                </c:pt>
              </c:strCache>
            </c:strRef>
          </c:tx>
          <c:spPr>
            <a:solidFill>
              <a:srgbClr val="8A2522"/>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Sheet1!$A$2:$A$8</c:f>
              <c:multiLvlStrCache>
                <c:ptCount val="7"/>
                <c:lvl>
                  <c:pt idx="0">
                    <c:v>v8 (كامل)</c:v>
                  </c:pt>
                  <c:pt idx="1">
                    <c:v>v8 − I1</c:v>
                  </c:pt>
                  <c:pt idx="2">
                    <c:v>v8 − I2</c:v>
                  </c:pt>
                  <c:pt idx="3">
                    <c:v>v8 − I3</c:v>
                  </c:pt>
                  <c:pt idx="4">
                    <c:v>v8 − I4</c:v>
                  </c:pt>
                  <c:pt idx="5">
                    <c:v>v8 − I5</c:v>
                  </c:pt>
                  <c:pt idx="6">
                    <c:v>إصلاح الحد بس</c:v>
                  </c:pt>
                </c:lvl>
              </c:multiLvlStrCache>
            </c:multiLvlStrRef>
          </c:cat>
          <c:val>
            <c:numRef>
              <c:f>Sheet1!$B$2:$B$8</c:f>
              <c:numCache>
                <c:formatCode>General</c:formatCode>
                <c:ptCount val="7"/>
                <c:pt idx="0">
                  <c:v>2621</c:v>
                </c:pt>
                <c:pt idx="1">
                  <c:v>2621</c:v>
                </c:pt>
                <c:pt idx="2">
                  <c:v>2585</c:v>
                </c:pt>
                <c:pt idx="3">
                  <c:v>2621</c:v>
                </c:pt>
                <c:pt idx="4">
                  <c:v>1821</c:v>
                </c:pt>
                <c:pt idx="5">
                  <c:v>2171</c:v>
                </c:pt>
                <c:pt idx="6">
                  <c:v>1730</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000"/>
          <c:min val="0"/>
        </c:scaling>
        <c:delete val="0"/>
        <c:axPos val="b"/>
        <c:majorGridlines>
          <c:spPr>
            <a:ln w="9525" cap="flat">
              <a:solidFill>
                <a:srgbClr val="E3E0D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EDEDE5"/>
        </a:solidFill>
        <a:ln>
          <a:noFill/>
        </a:ln>
        <a:effectLst/>
      </c:spPr>
    </c:plotArea>
    <c:plotVisOnly val="1"/>
    <c:dispBlanksAs val="span"/>
  </c:chart>
  <c:spPr>
    <a:solidFill>
      <a:srgbClr val="EDEDE5"/>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FND</c:v>
                </c:pt>
              </c:strCache>
            </c:strRef>
          </c:tx>
          <c:spPr>
            <a:solidFill>
              <a:srgbClr val="C9A09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LEACH</c:v>
                  </c:pt>
                  <c:pt idx="1">
                    <c:v>HEED</c:v>
                  </c:pt>
                  <c:pt idx="2">
                    <c:v>PEGASIS</c:v>
                  </c:pt>
                  <c:pt idx="3">
                    <c:v>SH-LEACH+</c:v>
                  </c:pt>
                  <c:pt idx="4">
                    <c:v>H-LEACH+</c:v>
                  </c:pt>
                  <c:pt idx="5">
                    <c:v>v3</c:v>
                  </c:pt>
                  <c:pt idx="6">
                    <c:v>v7</c:v>
                  </c:pt>
                  <c:pt idx="7">
                    <c:v>v7.1</c:v>
                  </c:pt>
                  <c:pt idx="8">
                    <c:v>v8-Chain</c:v>
                  </c:pt>
                </c:lvl>
              </c:multiLvlStrCache>
            </c:multiLvlStrRef>
          </c:cat>
          <c:val>
            <c:numRef>
              <c:f>Sheet1!$B$2:$B$10</c:f>
              <c:numCache>
                <c:formatCode>General</c:formatCode>
                <c:ptCount val="9"/>
                <c:pt idx="0">
                  <c:v>1409</c:v>
                </c:pt>
                <c:pt idx="1">
                  <c:v>323</c:v>
                </c:pt>
                <c:pt idx="2">
                  <c:v>1324</c:v>
                </c:pt>
                <c:pt idx="3">
                  <c:v>1247</c:v>
                </c:pt>
                <c:pt idx="4">
                  <c:v>2347</c:v>
                </c:pt>
                <c:pt idx="5">
                  <c:v>1730</c:v>
                </c:pt>
                <c:pt idx="6">
                  <c:v>1551</c:v>
                </c:pt>
                <c:pt idx="7">
                  <c:v>1491</c:v>
                </c:pt>
                <c:pt idx="8">
                  <c:v>2621</c:v>
                </c:pt>
              </c:numCache>
            </c:numRef>
          </c:val>
        </c:ser>
        <c:ser>
          <c:idx val="1"/>
          <c:order val="1"/>
          <c:tx>
            <c:strRef>
              <c:f>Sheet1!$C$1</c:f>
              <c:strCache>
                <c:ptCount val="1"/>
                <c:pt idx="0">
                  <c:v>HND</c:v>
                </c:pt>
              </c:strCache>
            </c:strRef>
          </c:tx>
          <c:spPr>
            <a:solidFill>
              <a:srgbClr val="8A252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LEACH</c:v>
                  </c:pt>
                  <c:pt idx="1">
                    <c:v>HEED</c:v>
                  </c:pt>
                  <c:pt idx="2">
                    <c:v>PEGASIS</c:v>
                  </c:pt>
                  <c:pt idx="3">
                    <c:v>SH-LEACH+</c:v>
                  </c:pt>
                  <c:pt idx="4">
                    <c:v>H-LEACH+</c:v>
                  </c:pt>
                  <c:pt idx="5">
                    <c:v>v3</c:v>
                  </c:pt>
                  <c:pt idx="6">
                    <c:v>v7</c:v>
                  </c:pt>
                  <c:pt idx="7">
                    <c:v>v7.1</c:v>
                  </c:pt>
                  <c:pt idx="8">
                    <c:v>v8-Chain</c:v>
                  </c:pt>
                </c:lvl>
              </c:multiLvlStrCache>
            </c:multiLvlStrRef>
          </c:cat>
          <c:val>
            <c:numRef>
              <c:f>Sheet1!$C$2:$C$10</c:f>
              <c:numCache>
                <c:formatCode>General</c:formatCode>
                <c:ptCount val="9"/>
                <c:pt idx="0">
                  <c:v>1626</c:v>
                </c:pt>
                <c:pt idx="1">
                  <c:v>570</c:v>
                </c:pt>
                <c:pt idx="2">
                  <c:v>2353</c:v>
                </c:pt>
                <c:pt idx="3">
                  <c:v>1600</c:v>
                </c:pt>
                <c:pt idx="4">
                  <c:v>2449</c:v>
                </c:pt>
                <c:pt idx="5">
                  <c:v>2081</c:v>
                </c:pt>
                <c:pt idx="6">
                  <c:v>1976</c:v>
                </c:pt>
                <c:pt idx="7">
                  <c:v>1991</c:v>
                </c:pt>
                <c:pt idx="8">
                  <c:v>2711</c:v>
                </c:pt>
              </c:numCache>
            </c:numRef>
          </c:val>
        </c:ser>
        <c:ser>
          <c:idx val="2"/>
          <c:order val="2"/>
          <c:tx>
            <c:strRef>
              <c:f>Sheet1!$D$1</c:f>
              <c:strCache>
                <c:ptCount val="1"/>
                <c:pt idx="0">
                  <c:v>LND</c:v>
                </c:pt>
              </c:strCache>
            </c:strRef>
          </c:tx>
          <c:spPr>
            <a:solidFill>
              <a:srgbClr val="32323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LEACH</c:v>
                  </c:pt>
                  <c:pt idx="1">
                    <c:v>HEED</c:v>
                  </c:pt>
                  <c:pt idx="2">
                    <c:v>PEGASIS</c:v>
                  </c:pt>
                  <c:pt idx="3">
                    <c:v>SH-LEACH+</c:v>
                  </c:pt>
                  <c:pt idx="4">
                    <c:v>H-LEACH+</c:v>
                  </c:pt>
                  <c:pt idx="5">
                    <c:v>v3</c:v>
                  </c:pt>
                  <c:pt idx="6">
                    <c:v>v7</c:v>
                  </c:pt>
                  <c:pt idx="7">
                    <c:v>v7.1</c:v>
                  </c:pt>
                  <c:pt idx="8">
                    <c:v>v8-Chain</c:v>
                  </c:pt>
                </c:lvl>
              </c:multiLvlStrCache>
            </c:multiLvlStrRef>
          </c:cat>
          <c:val>
            <c:numRef>
              <c:f>Sheet1!$D$2:$D$10</c:f>
              <c:numCache>
                <c:formatCode>General</c:formatCode>
                <c:ptCount val="9"/>
                <c:pt idx="0">
                  <c:v>1962</c:v>
                </c:pt>
                <c:pt idx="1">
                  <c:v>1362</c:v>
                </c:pt>
                <c:pt idx="2">
                  <c:v>2887</c:v>
                </c:pt>
                <c:pt idx="3">
                  <c:v>1649</c:v>
                </c:pt>
                <c:pt idx="4">
                  <c:v>2499</c:v>
                </c:pt>
                <c:pt idx="5">
                  <c:v>2703</c:v>
                </c:pt>
                <c:pt idx="6">
                  <c:v>2066</c:v>
                </c:pt>
                <c:pt idx="7">
                  <c:v>2086</c:v>
                </c:pt>
                <c:pt idx="8">
                  <c:v>2756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4444"/>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3E0D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66666"/>
                </a:solidFill>
                <a:latin typeface="Arial"/>
              </a:defRPr>
            </a:pPr>
            <a:endParaRPr lang="en-US"/>
          </a:p>
        </c:txPr>
        <c:crossAx val="2094734554"/>
        <c:crosses val="autoZero"/>
        <c:crossBetween val="between"/>
      </c:valAx>
      <c:spPr>
        <a:solidFill>
          <a:srgbClr val="EDEDE5"/>
        </a:solidFill>
        <a:ln>
          <a:noFill/>
        </a:ln>
        <a:effectLst/>
      </c:spPr>
    </c:plotArea>
    <c:legend>
      <c:legendPos val="t"/>
      <c:overlay val="0"/>
      <c:txPr>
        <a:bodyPr/>
        <a:lstStyle/>
        <a:p>
          <a:pPr>
            <a:defRPr sz="1100">
              <a:solidFill>
                <a:srgbClr val="444444"/>
              </a:solidFill>
              <a:latin typeface="Arial"/>
              <a:cs typeface="Arial"/>
            </a:defRPr>
          </a:pPr>
          <a:endParaRPr lang="en-US"/>
        </a:p>
      </c:txPr>
    </c:legend>
    <c:plotVisOnly val="1"/>
    <c:dispBlanksAs val="span"/>
  </c:chart>
  <c:spPr>
    <a:solidFill>
      <a:srgbClr val="EDEDE5"/>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PDR (%)</c:v>
                </c:pt>
              </c:strCache>
            </c:strRef>
          </c:tx>
          <c:spPr>
            <a:solidFill>
              <a:srgbClr val="8A2522"/>
            </a:solidFill>
            <a:effectLst/>
          </c:spPr>
          <c:invertIfNegative val="0"/>
          <c:dLbls>
            <c:numFmt formatCode="0.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Sheet1!$A$2:$A$10</c:f>
              <c:multiLvlStrCache>
                <c:ptCount val="9"/>
                <c:lvl>
                  <c:pt idx="0">
                    <c:v>LEACH</c:v>
                  </c:pt>
                  <c:pt idx="1">
                    <c:v>HEED</c:v>
                  </c:pt>
                  <c:pt idx="2">
                    <c:v>PEGASIS</c:v>
                  </c:pt>
                  <c:pt idx="3">
                    <c:v>SH-LEACH+</c:v>
                  </c:pt>
                  <c:pt idx="4">
                    <c:v>H-LEACH+</c:v>
                  </c:pt>
                  <c:pt idx="5">
                    <c:v>v3</c:v>
                  </c:pt>
                  <c:pt idx="6">
                    <c:v>v7</c:v>
                  </c:pt>
                  <c:pt idx="7">
                    <c:v>v7.1</c:v>
                  </c:pt>
                  <c:pt idx="8">
                    <c:v>v8-Chain</c:v>
                  </c:pt>
                </c:lvl>
              </c:multiLvlStrCache>
            </c:multiLvlStrRef>
          </c:cat>
          <c:val>
            <c:numRef>
              <c:f>Sheet1!$B$2:$B$10</c:f>
              <c:numCache>
                <c:formatCode>General</c:formatCode>
                <c:ptCount val="9"/>
                <c:pt idx="0">
                  <c:v>98.37</c:v>
                </c:pt>
                <c:pt idx="1">
                  <c:v>99.69</c:v>
                </c:pt>
                <c:pt idx="2">
                  <c:v>98.67</c:v>
                </c:pt>
                <c:pt idx="3">
                  <c:v>99.79</c:v>
                </c:pt>
                <c:pt idx="4">
                  <c:v>97.33</c:v>
                </c:pt>
                <c:pt idx="5">
                  <c:v>97.72</c:v>
                </c:pt>
                <c:pt idx="6">
                  <c:v>98.43</c:v>
                </c:pt>
                <c:pt idx="7">
                  <c:v>98.49</c:v>
                </c:pt>
                <c:pt idx="8">
                  <c:v>99.27</c:v>
                </c:pt>
              </c:numCache>
            </c:numRef>
          </c:val>
        </c:ser>
        <c:dLbls>
          <c:numFmt formatCode="0.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4444"/>
                </a:solidFill>
                <a:latin typeface="Arial"/>
              </a:defRPr>
            </a:pPr>
            <a:endParaRPr lang="en-US"/>
          </a:p>
        </c:txPr>
        <c:crossAx val="2094734552"/>
        <c:crosses val="autoZero"/>
        <c:auto val="1"/>
        <c:lblAlgn val="ctr"/>
        <c:noMultiLvlLbl val="1"/>
      </c:catAx>
      <c:valAx>
        <c:axId val="2094734552"/>
        <c:scaling>
          <c:orientation val="minMax"/>
          <c:max val="100"/>
          <c:min val="96"/>
        </c:scaling>
        <c:delete val="0"/>
        <c:axPos val="l"/>
        <c:majorGridlines>
          <c:spPr>
            <a:ln w="9525" cap="flat">
              <a:solidFill>
                <a:srgbClr val="E3E0D6"/>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66666"/>
                </a:solidFill>
                <a:latin typeface="Arial"/>
              </a:defRPr>
            </a:pPr>
            <a:endParaRPr lang="en-US"/>
          </a:p>
        </c:txPr>
        <c:crossAx val="2094734554"/>
        <c:crosses val="autoZero"/>
        <c:crossBetween val="between"/>
      </c:valAx>
      <c:spPr>
        <a:solidFill>
          <a:srgbClr val="EDEDE5"/>
        </a:solidFill>
        <a:ln>
          <a:noFill/>
        </a:ln>
        <a:effectLst/>
      </c:spPr>
    </c:plotArea>
    <c:plotVisOnly val="1"/>
    <c:dispBlanksAs val="span"/>
  </c:chart>
  <c:spPr>
    <a:solidFill>
      <a:srgbClr val="EDEDE5"/>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عنوان الرسالة بالبلدي: إزاي نخلّي شبكة الحساسات تعيش أطول وتوصّل داتا أكتر، وتكون آمنة. ابدئي بتعريف نفسك والمشرفين، وقولي إن العرض هيمشي من الخلفية لحد البروتوكول النهائي v8-Chain ونتايجه.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خريطة العرض: 7 أجزاء. قوليها في جملة واحدة: هنبدأ بالخلفية، وبعدين اللي عمله الباحثين قبلنا، وبعدين طريقتي في الشغل، وبعدين البروتوكول بتاعي ونتايجه.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ابدئي العرض بإنك توري البيئة الحقيقية: الـ virtual machine، وns-3، وأول تجربة صغيرة، وبعدين إزاي بتشغّلي أي بروتوكول في الرسالة.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الشغل شغّال جوه virtual machine على VMware، وعليها Ubuntu Linux. ns-3.41 هو المحاكي، وكل بروتوكول عبارة عن ملف C++ في فولدر scratch. NetAnim بيعرض الشبكة كأنيميشن، وPython وExcel للتحليل والرسومات.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أول اختبار خالص: شبكة صغيرة جدًا بطبقات الشبكة الحقيقية (PHY وMAC بمعيار IEEE 802.15.4): 3 حساسات وsink في أرض 20×20 متر، وكل حساس بيبعت رسالة 50 بايت كل 10 ثواني لمدة 1000 ثانية. النتيجة إن كل الرسايل وصلت (300 من 300) والطاقة اتحسبت صح، فاطمأنينا قبل ما نروح لتجارب الـ 100 نود.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حطي مكان الإطارين دول صورتين من الـ VM: مخرجات التيرمينال بتاعة أول تجربة، وشكلها في NetAnim.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ده الخرج الحقيقي للمحاكي لما الـ BS في النص. نفس الأمر مع scratch/hybrid-v8-chain-farBS بيشغّل حالة الـ BS البعيد. وكل تشغيل بيطلّع 3 ملفات CSV وملف XML للـ NetAnim (أنيميشن للشبكة). لو عايزة تعرضي لايف: شغّلي الأمر ده قدام اللجنة، أو افتحي ملف الـ XML في NetAnim.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افتحي ملف hybrid-v8-chain-clustering.xml في NetAnim وخدي screenshot في نص التشغيل: الـ CHs بالأحمر، وكل مجموعة ليها لون، والنودز الميتة رمادي.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فاصل. العنوان الفرعي بيلخّص كل حاجة: الطاقة هي اللي بتتحكم في كل حاجة.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الفكرة: حساسات صغيرة كتير متوزعة في مكان (أرض زراعية، مصنع، غابة). كل واحد بيقيس حاجة (حرارة، رطوبة…) ويبعتها لاسلكي لجهاز رئيسي اسمه Base Station (BS) أو Sink. المشكلة الأساسية: كل حساس شغّال ببطارية صغيرة مش بتتغير، وأول ما تخلص الحساس يموت. وأكتر حاجة بتاكل البطارية هي الإرسال اللاسلكي، مش القياس ولا المعالجة.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حاجات بس: (1) Sensor node: فيه حساس ومعالج صغير وجهاز إرسال وبطارية. (2) Base Station: بتجمع الداتا وتوصّلها للإنترنت أو للمستخدم. (3) مسار الداتا: نود ← Cluster ← Sink ← المستخدم.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تشبيه: فصل فيه 100 طالب، كلهم عايزين يوصّلوا ورقة للمدير في آخر المبنى. بدل ما كل واحد يمشي للمدير، بنقسّمهم مجموعات، ولكل مجموعة ألفة (ده الـ CH). كل طالب يدّي ورقته للألفة القريب منه (مشوار قصير)، والألفة يجمّع الورق في ملف واحد (ده الـ Aggregation) ويوديه للمدير. المشكلة: الألفة بيتعب أكتر من الكل، ولو فضل هو هو على طول هيموت بدري. الرسالة كلها بتجاوب على 3 أسئلة: مين يبقى CH؟ نغيّره إمتى؟ ونعمل إيه لو مات؟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الإرسال زي الكلام: لو اللي بتكلميه قريب بتتكلمي عادي، ولو بعيد لازم تزعّقي، والمجهود بيزيد أسرع بكتير من المسافة. قبل 87.7 متر، لو المسافة اتضاعفت الطاقة بتزيد ×4 (d²). بعد 87.7 متر، لو المسافة اتضاعفت الطاقة بتزيد ×16 (d⁴). الأبحاث القديمة كانت بتستخدم معادلة واحدة (d² على طول)، وده اسمه single-term. البيئة بتاعتنا بتستخدم المعادلتين، وده اسمه two-slope، وهو أدق. وده جزء من سبب إن الأرقام بتتغير بين البحث الأصلي وتجاربنا. ومهم كمان: ده بالظبط سبب إن v8-Chain بيعمل سلسلة لما الـ BS يبعد.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السؤال في المستطيل الأحمر هو قلب الرسالة. الأهداف الأربعة: نعيد بناء البروتوكولات المشهورة بنفسنا بشكل عادل، ونفهم كل واحد بيكسب أو بيخسر ليه، ونصمم بروتوكول جديد خطوة خطوة، ونختبره بالأرقام في أكتر من حالة.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فاصل: اللي عمله الباحثين قبلنا.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الاتنين أساس الرسالة. LEACH بيختار الـ CH بالقرعة وبالدور: بسيط وسريع، بس ممكن يختار واحد بطاريته ضعيفة. HEED بيختار حسب البطارية والقرب من الجيران: اختياره أذكى، بس بيبعت رسايل كتير كل round عشان يقرر، والرسايل دي نفسها بتاكل البطارية. الفكرة المهمة: إزاي ناخد بساطة LEACH ونحط عليها ذكاء HEED من غير رسايل HEED الكتير؟ دي نقطة بداية 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LEACH (في الصورة): Clusters، وكل CH بيبعت للـ BS على طول. PEGASIS: مفيش clusters، كل النودز في سلسلة واحدة زي الطابور، كل نود يدّي الداتا للي جنبه، وفي الآخر القائد (Leader) يبعت للـ BS. ميزته: المسافات قصيرة جدًا، فعمره طويل. عيبه: بطيء، ولو حلقة في السلسلة اتقطعت تتأثر كلها. فكرة السلسلة دي هي اللي ألهمت الـ Chain في v6 وv7، وبعدين التوجيه الذكي في v8-Chain.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باحثين قبلك حاولوا يدمجوا LEACH مع HEED، وإنتي اكتشفتي أخطاء في طريقتهم. SH-LEACH: كان المفروض يعمل مضاعفة متكررة زي HEED، بس معادلته بتضاعف مرة واحدة بس. H-LEACH: شرطه إن النود يبقى CH لو طاقته أكبر من المتوسط. في أول الشبكة كل النودز طاقتها متساوية بالظبط، فمحدش أكبر من المتوسط، ومفيش CH هيتختار أبدًا. يعني البروتوكول واقف من أول لحظة (deadlock). الخلاصة: الدمج بيحسّن اختيار الـ CH، بس محدش فيهم حل مشكلة موت الـ CH، ولا إعادة استخدام الـ clusters، ولا التوصيل بين الـ CHs.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أبحاث حديثة، كل واحد حسّن حاجة محددة: EECH-HEED بيقسّم مناطق ومابيبعتش غير لما القراءة تتغير. DL-HEED بيستخدم شبكة عصبية (ذكاء اصطناعي) عشان يختار الـ CH. TLC-LEACH بيحل مشكلة النودز اللي على أطراف الـ clusters. RL-ILEACH بيستخدم التعلّم بالتجربة (Reinforcement Learning). آخر صف: مفيش بحث جمع كل الحلول مع بعض، وده الـ gap اللي رسالتك بتملاه.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آلية في v8-Chain موجودة في بحث ما لوحدها. الجديد إننا جمعناها كلها، وخلينا التوصيل بين الـ CHs قرار حسب الطاقة، وقسنا أثر كل آلية لوحدها. دي أهم شريحة لو المحكّم سأل: فيه حد عمل كده قبل كده؟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أعمدة، وكل بحث قبلك حل عمود واحد أو اتنين بس: (1) اختيار CH ذكي (الطاقة × عدد الجيران)، (2) إعادة استخدام الـ clusters بدل ما نعيد التكوين كل round (نوفّر رسايل)، (3) التعامل مع موت الـ CH (نائب + إصلاح + وقاية)، (4) التوصيل بين الـ CHs بس لما يوفّر طاقة. الجملة الأخيرة: بروتوكول واحد بيجمع الأربعة.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فاصل: طريقة الشغل.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خطوات بالترتيب. أهم نقطتين: (1) كل بروتوكول اتبنى الأول بإعدادات بحثه هو عشان نتأكد إن الكود صح، وبعدين اتنقل للبيئة الموحّدة عشان المقارنة تبقى عادلة. (2) البروتوكول المقترح اتطوّر نسخة نسخة، وكل نسخة بتغيّر حاجة واحدة بس، فنعرف كل تحسين أو تدهور جه منين.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الأرقام في المقارنة طالعة بالإعدادات دي بالظبط: 100 نود في أرض 100×100 متر، كل نود طاقته 0.5 جول، والـ BS في النص (وفي تجارب البعيد عند 50,−100). مش لازم تحفظي كل رقم، المهم تفهمي إن كل البروتوكولات اتقاسوا بنفس الظروف.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FND: أول نود مات إمتى. أهم مقياس للتغطية: أول ما نود يموت، فيه حتة في الأرض بقت من غير مراقبة. HND: نص النودز ماتوا إمتى (العمر المفيد). LND: آخر نود مات إمتى (العمر الكلي، بس ممكن يكون وهمي). PDR: نسبة الرسايل اللي وصلت (الاعتمادية). وكمان بنعدّ الرسايل اللي وصلت فعلًا، عشان نكشف النودز العايشة والساكتة زي اللي حصل في v5b.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فاصل: هنقارن أرقام الأبحاث بأرقامنا.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عمود "LND المنشور" هو الرقم المكتوب في البحث الأصلي. الأعمدة التانية هي أرقامنا لما شغّلنا الكود بتاعنا بإعدادات البحث نفسه. أرقام الأبحاث مش بتتقارن ببعض، لأن كل بحث استخدم مساحة ونموذج طاقة ومكان BS مختلف. النتيجة: PEGASIS طلع مطابق لبحثه بفرق أقل من 2.3%، يعني الكود صح.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دلوقتي كل البروتوكولات شغّالة في نفس الظروف، فأي فرق بينهم سببه الخوارزمية نفسها. لاحظي: HEED أول نود فيه بيموت بدري جدًا (323) عشان الرسايل الكتير، بس الـ PDR بتاعه عالي. PEGASIS عمره الكلي أطول (2887). H-LEACH أحسن FND فيهم (2177).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العمود الرمادي: نفس الكود بإعدادات البحث الأصلي. العمود الأحمر: في البيئة الموحّدة. الخوارزمية واحدة في العمودين، اللي اتغير هو الظروف: مساحة الأرض، ومكان الـ BS، ونموذج الراديو (معادلة واحدة مقابل معادلتين)، وحجم الرسالة، والطاقة الابتدائية (HEED كان 2 جول بقى 0.5). عشان كده مانقارنش أرقام أبحاث مختلفة ببعض على طول.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SH-LEACH: صلحنا المضاعفة وخليناها متكررة، وقللنا الاحتمال من 0.10 لـ 0.03، فالـ HND والـ LND والـ PDR زادوا. بس الـ FND قل 13% لأن الـ clusters بقت أقل وأكبر، فكل CH شايل حمل أكتر. H-LEACH: خففنا الشرط من "أكبر من المتوسط" لـ "أكبر من 0.8 × المتوسط"، فالشرط الذكي بقى هو اللي بيقرر، والعمر زاد 7.8–8.6% من غير ما الـ PDR يتأثر. EECH-HEED: لما ضفنا آلية "ابعت بس لما القراءة تتغير" عمره بقى الأطول (3808)، بس ده عشان بيبعت أقل، مش عشان الـ clustering أحسن. فحطيناه للمقارنة بس.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درس من دول بقى آلية في البروتوكول المقترح: (1) اختيار CH أحسن لوحده مش كفاية، (2) إعادة التكوين كل round بتضيّع طاقة، (3) إعادة الاستخدام لمدة طويلة بتوفّر بس ممكن الـ clusters تبقى قديمة، (4) الـ CH لو مات مجموعته بتتقطع، (5) إرسال الـ CH للـ BS مباشرة غالي لو الـ BS بعيد.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فاصل: رحلة تطوير البروتوكول.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الخط ده بيلخّص الرحلة كلها: من الاختيار، لإعادة الاستخدام، للحماية من الموت، للتوصيل بين الـ CHs، وفي الآخر الوقاية والتوصيل الذكي. آخر نقطتين (v8 وv8-Chain) هما التصميم النهائي.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v1: اختيار الـ CH بطريقة HEED (الطاقة) والانضمام بطريقة LEACH (أقرب CH). v2: ضفنا عقوبة صغيرة على النود اللي بقى CH كتير عشان الدور يتوزع. النتيجة: الـ PDR عالي جدًا، بس أول نود بيموت بدري جدًا (330). التشخيص: مفاوضات HEED بتتدفع كاملة كل round، سواء الشبكة اتغيرت أو لأ. يعني المشكلة كانت في الرسايل الكتير، مش في جودة الاختيار.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دي أهم خطوة. بدل مفاوضات HEED، بقت معادلة واحدة: score = (الطاقة الباقية ÷ الطاقة الأولى) × (1 + عدد الجيران ÷ أكبر عدد جيران). يعني النود القوي اللي في وسط جيرانه فرصته أكبر. والاحتمال = T(r) × score، وT(r) دي بتاعة LEACH عشان الكل ياخد دوره. والـ clusters بتتعاد كل 5 rounds بس. النتيجة: الـ LND زاد 94% (من 1393 لـ 2703)، وأول نود بقى يموت متأخر 5 أضعاف (من 345 لـ 1730).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v4: خلينا المدة 15 round بدل 5 عشان نوفّر رسايل أكتر، بس كل حاجة وقعت (الـ PDR من 97.72% لـ 94.67%). السبب: الـ CH لو مات في النص، مجموعته بتفضل مقطوعة مدة أطول. v5: ضفنا نائب (Backup) للـ CH: أقوى عضو في المجموعة بيتحدد من الأول من غير أي رسايل زيادة، ولما الـ CH يموت ياخد مكانه، فالـ PDR رجع فوق 97%. v5-exp: جربنا النائب مع مدة 5 (98.27%) ومع مدة 10 (97.94%).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 الـ CHs بتتصف حسب بعدها عن الـ BS، وكل CH بيدّي داتاه للي بعده، والأقرب للـ BS (البوابة) هو اللي يبعت. v7: لو CH مات، نائبه ياخد مكانه في السلسلة كمان، مش في المجموعة بس، فالسلسلة ماتتقطعش. اتأكدنا إن الإصلاح بيشتغل: 16 من 16 لما الـ BS في النص، و21 من 21 لما الـ BS بعيد. الملاحظة: السلسلة بتزوّد الـ PDR، بس لما الـ BS قريب بتضيف تكلفة توصيل مالهاش لازمة. يعني السلسلة الثابتة مش مناسبة في كل مكان، وده اللي v8-Chain هيحله.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بدل سلسلة واحدة ليها بوابة واحدة، كل CH بيدّي داتاه لأقرب CH أقرب منه للـ BS، فبتتكوّن شجرة. كده مفيش نقطة واحدة لو وقعت الكل يقع. v7.1 (مدة 5) وصل لأعلى PDR في النسخ من v1 لـ v7 (98.49%). v7.2 (مدة 10): الـ LND زاد والـ PDR قل، وده بيأكد إن المدة عامل منفصل عن طريقة الاختيار أو التوصيل.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الرسمة بتبيّن القفزة الكبيرة عند v3، وبعدها النتايج اتحركت في حدود ضيقة. محدش من v4 لـ v7.2 عدّى v3 في الـ LND. العمود الفاتح FND، والأحمر HND، والغامق LND.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الخلاصة قبل v8: v3 عنده أحسن LND بس PDR أقل. v1 وv2 أحسن PDR بس عمرهم قصير جدًا. v7 وv7.1 أحسن توازن، بس أول نود فيهم بيموت عند 1551 أو قبلها. الهدف من التصميم النهائي: نأخّر موت أول نود ونرفع الـ PDR في نفس الوقت.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فاصل: البروتوكول النهائي.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v5b كان فيه قاعدة بترفض تستخدم أي نود طاقته أقل من 5% من E0 (يعني 0.025 جول). في آخر الشبكة كل النودز بتبقى تحت الرقم ده، فاتسابت عايشة من غير CH وساكتة. عشان كده الـ LND طلع 3203، وده أعلى رقم LND في كل النسخ، بس وهمي: آخر 1038 round وصّلوا 59 رسالة بس، والنائب اترفض 20 مرة من 20. وكمان كان فيه bug: لما كل النودز العايشة تكون خدت دورها في الـ epoch، مفيش حد مؤهل، فعدّى 998 round من غير ولا CH. مثلًا rounds 196–200 كان فيه 100 نود عايشين والـ PDR =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I1: لو محدش مؤهل، نبدأ epoch جديد فورًا، فعمر الشبكة ما يبقى من غير CH. I2: الـ CH اللي طاقته مش هتكفي الـ round ده يسلّم لأقوى عضو قبل ما يموت. I3: أعضاء الـ CH الميت ينضموا لأقرب CH عايش. I4: النود الأقرب للـ BS من الـ CH بتاعه يبعت للـ BS على طول. I5: مايترشحش CH غير اللي طاقته ≥ المتوسط. التصليح: حد الطاقة بقى 5% من متوسط الشبكة دلوقتي بدل 5% من E0. كل آلية ممكن نقفلها عشان نقيس أهميتها (Ablation).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خطين دفاع. الأول وقاية: قبل ما الداتا تتبعت، الـ CH بيحسب شغل الـ round ده (عدد الأعضاء × (استقبال + تجميع) + الإرسال للخطوة الجاية). لو طاقته مش هتكفي، يسلّم الدور لأقوى عضو وهو لسه عايش، فمفيش رسايل تضيع. حصل 26 مرة. التاني علاج: لو مات فجأة برغم كده، النائب يترقّى والأعضاء يتنقلوا له في نفس الـ round. حصل 18 مرة نجاح، ورُفض 11 مرة. v5 كان فيه العلاج بس.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قاعدة واحدة: الـ CH يدّي داتاه لـ CH تاني أقرب للـ BS، بس لو (تكلفة إرساله للـ CH ده + استقبال وتجميع الـ CH التاني) أقل من تكلفة إرساله للـ BS على طول. لما الـ BS في النص: كل CH على بعد حوالي 50 متر أو أقل (منطقة d² الرخيصة)، فالتوصيل عمره ما بيوفّر، فبيبعت على طول، ويبقى زي v8 بالظبط. لما الـ BS بعيد: المسافة 100 لـ 200 متر (منطقة d⁴ الغالية جدًا)، فالقفزات القصيرة أرخص، والسلسلة بتتعمل لوحدها (4,710 مرة توصيل). والمسار بيتحسب كل round، فلو CH اتغير، اللي بعده بياخد مكانه في المسار أوتوماتيك.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الرسمة بتبيّن خطوات كل round. الرمادي: متاخد من LEACH وHEED وv3 وv5. الأخضر: جديد في v8. البرتقالي: جديد في v8-Chain. الشمال: مرحلة التكوين (كل 5 rounds): إصلاح الـ epoch، وترشيح الأقوياء، والمعادلة، والانضمام، وتحديد النائب. اليمين: كل round: انضمام الأيتام، والتوجيه الذكي، والتسليم الاستباقي، والإرسال المباشر، والتجميع، والنائب لو حصل موت مفاجئ.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دي حالة المحاكاة الحقيقية مش رسمة توضيحية. الشمال: الـ BS في النص، فمفيش ولا توصيل بين CHs، والنقط الخضرا نودز قريبة من الـ BS بتبعتله على طول. اليمين: الـ BS بعيد تحت، فالـ CHs عملت سلسلة لوحدها (الأسهم البرتقاني) لحد CH واحد بيبعت للـ 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فاصل: الأرقام.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v8-Chain في النص بيشتغل زي v8 (مفيش توصيل). مقارنة بـ v7: أول نود بيموت متأخر 1070 round (+69%)، والـ PDR أعلى 0.84 نقطة. ومقارنة بـ v5b: وصّل 33% رسايل أكتر بنفس الـ 50 جول. النجمة جنب 3203: ده الـ LND الوهمي بتاع v5b. لو المحكّم سأل ليه v5b عنده LND أعلى، قولي إنه وهمي والدليل الـ 59 رسالة.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لما الـ BS بعيد: v8 من غير سلسلة خسر في الـ HND والـ LND. التوجيه الذكي في v8-Chain قفل الفرق مع v7، وفضل محتفظ بأفضلية الـ FND والـ PDR: أول نود بيموت متأخر 36% عن v7، والـ PDR أعلى 0.93 نقطة. بس لازم نبقى أمناء: الـ HND والـ LND زي v7 تقريبًا (الفرق أقل من 1%)، مش أحسن منه.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لقطات من نتايج المحاكاة: round 1 (الكل عايش، البطاريات مليانة)، round 1300 (البطاريات نصها خلص والـ CHs بتتغير)، round 2621 (أول نود مات = FND)، round 2740 (قرب النهاية). الأحمر الغامق = بطارية مليانة، الفاتح = قربت تخلص، الـ x الرمادي = نود ميت. لاحظي إن الـ 100 نود كانوا عايشين لحد round 2621، وآخر واحد مات بعدها بـ 135 round بس، يعني الحمل كان متوزع بالعدل.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نفس اللقطات والـ BS تحت عند (50, −100): الـ CHs بتدّي الداتا لبعض في اتجاه الـ BS (التوجيه الذكي). أول نود مات عند round 1716.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الشمال: الـ BS في النص، وv8 وv8-Chain نفس الشكل تقريبًا وأعلى من v6 وv7 بكتير. اليمين: الـ BS بعيد، كل البروتوكولات خسرت عمر، وv8 من غير سلسلة خسر أكتر واحد. v8-Chain رجع قريب من v7 في الـ HND والـ LND، وأعلى منه في الـ FND.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بنشيل آلية واحدة كل مرة ونشوف الـ FND وقع قد إيه، زي ما تشيلي مكوّن من وصفة وتدوقي الفرق. لما شلنا الإرسال المباشر للـ BS (I4)، الـ FND وقع من 2621 لـ 1821، فدي أهم آلية. بعدها ترشيح الأقوياء (I5): الـ FND بقى 2171 من غيرها. التسليم الاستباقي (I2) أثره أكتر على الـ PDR. I1 وI3 مالهمش أثر لما الباقي شغّال، دول شبكة أمان.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عشان نتأكد إن النتيجة مش صدفة في شكل شبكة واحد، جربنا 8 أشكال عشوائية مختلفة (seeds مختلفة). الترتيب ماتغيرش في ولا واحدة. ولما الـ BS بعيد، الـ LND بتاع v8-Chain كان ≥ 1976 (رقم v7) في 6 من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v8-Chain عنده أطول وقت قبل موت أول نود في الكل. PEGASIS عنده LND أطول (السلسلة الواحدة والمسافات القصيرة)، بس أول نود فيه بيموت قبلنا بحوالي 1300 round. العلامة + معناها النسخة المحسّنة.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HEED وSH-LEACH المحسّن بيوصّلوا أكتر شوية من v8-Chain، بس أول نود فيهم بيموت قبلنا بـ 1,200 لـ 2,300 round. بين البروتوكولات اللي عمرها طويل، v8-Chain عنده أعلى PDR. دي النقطة اللي لازم تقوليها صح للمحكّم.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خمس جمل لازم تحفظيها: (1) التصميم أهم من ضبط الأرقام. (2) امنع موت الـ CH، وبعدين صلّح لو حصل. (3) مش كل رسالة محتاجة تعدّي على CH. (4) التوصيل بين الـ CHs قرار حسب الطاقة، مش قاعدة ثابتة. (5) الـ LND لازم يتقري مع الرسايل اللي وصلت.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لو الـ BS قريب أو بعيد: v8-Chain في الحالتين. لو عايزين أبسط حل كويس: v7.1 أو v5-exp. ولما نحكم على العمر: نبص على FND والـ PDR والرسايل اللي وصلت، مش الـ LND لوحده.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الحدود: كله محاكاة من غير أجهزة حقيقية، ومكانين بس للـ BS، ومكسب الإرسال المباشر محتاج الـ BS يكون قريب، والموت اللي جربناه كان من خلصان الطاقة بس. الشغل الجاي: نجرب على أجهزة حقيقية، ونجرب أماكن ومساحات أكتر، ونقارن بأحسن مسار رياضي، ونجرب مع التشفير تحت هجوم.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قولي الخلاصة في 3 جمل: أعدنا بناء 5 بروتوكولات بشكل عادل وصلحنا اتنين منهم. طوّرنا بروتوكول جديد خطوة خطوة لحد v8-Chain. وv8-Chain بيحمي الـ CH قبل الموت وبعده، وبيخلّي النودز القريبة تبعت مباشرة، وبيوصّل بين الـ CHs بس لما يوفّر، فبيشتغل كويس سواء الـ BS قريب أو بعيد.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المراجع بالإنجليزي زي ما هي في الأبحاث. المراجع من 10 لـ 14 هي الأبحاث الجديدة اللي بتغطي الآليات اللي في v8-Chain — ارجعي اقريهم.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المراجع بالإنجليزي زي ما هي في الأبحاث. المراجع من 10 لـ 14 هي الأبحاث الجديدة اللي بتغطي الآليات اللي في v8-Chain — ارجعي اقريهم.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2061972" y="249174"/>
            <a:ext cx="864108" cy="432054"/>
          </a:xfrm>
          <a:prstGeom prst="line">
            <a:avLst/>
          </a:prstGeom>
          <a:noFill/>
          <a:ln w="11430">
            <a:solidFill>
              <a:srgbClr val="8A2522"/>
            </a:solidFill>
            <a:prstDash val="solid"/>
          </a:ln>
        </p:spPr>
      </p:sp>
      <p:sp>
        <p:nvSpPr>
          <p:cNvPr id="4" name="Shape 2"/>
          <p:cNvSpPr/>
          <p:nvPr/>
        </p:nvSpPr>
        <p:spPr>
          <a:xfrm>
            <a:off x="1197864" y="345186"/>
            <a:ext cx="864108" cy="336042"/>
          </a:xfrm>
          <a:prstGeom prst="line">
            <a:avLst/>
          </a:prstGeom>
          <a:noFill/>
          <a:ln w="11430">
            <a:solidFill>
              <a:srgbClr val="8A2522"/>
            </a:solidFill>
            <a:prstDash val="solid"/>
          </a:ln>
        </p:spPr>
      </p:sp>
      <p:sp>
        <p:nvSpPr>
          <p:cNvPr id="5" name="Shape 3"/>
          <p:cNvSpPr/>
          <p:nvPr/>
        </p:nvSpPr>
        <p:spPr>
          <a:xfrm flipV="1">
            <a:off x="477774" y="345186"/>
            <a:ext cx="720090" cy="672084"/>
          </a:xfrm>
          <a:prstGeom prst="line">
            <a:avLst/>
          </a:prstGeom>
          <a:noFill/>
          <a:ln w="11430">
            <a:solidFill>
              <a:srgbClr val="8A2522"/>
            </a:solidFill>
            <a:prstDash val="solid"/>
          </a:ln>
        </p:spPr>
      </p:sp>
      <p:sp>
        <p:nvSpPr>
          <p:cNvPr id="6" name="Shape 4"/>
          <p:cNvSpPr/>
          <p:nvPr/>
        </p:nvSpPr>
        <p:spPr>
          <a:xfrm flipV="1">
            <a:off x="1629918" y="681228"/>
            <a:ext cx="432054" cy="720090"/>
          </a:xfrm>
          <a:prstGeom prst="line">
            <a:avLst/>
          </a:prstGeom>
          <a:noFill/>
          <a:ln w="11430">
            <a:solidFill>
              <a:srgbClr val="8A2522"/>
            </a:solidFill>
            <a:prstDash val="solid"/>
          </a:ln>
        </p:spPr>
      </p:sp>
      <p:sp>
        <p:nvSpPr>
          <p:cNvPr id="7" name="Shape 5"/>
          <p:cNvSpPr/>
          <p:nvPr/>
        </p:nvSpPr>
        <p:spPr>
          <a:xfrm>
            <a:off x="477774" y="1017270"/>
            <a:ext cx="1152144" cy="384048"/>
          </a:xfrm>
          <a:prstGeom prst="line">
            <a:avLst/>
          </a:prstGeom>
          <a:noFill/>
          <a:ln w="11430">
            <a:solidFill>
              <a:srgbClr val="8A2522"/>
            </a:solidFill>
            <a:prstDash val="solid"/>
          </a:ln>
        </p:spPr>
      </p:sp>
      <p:sp>
        <p:nvSpPr>
          <p:cNvPr id="8" name="Shape 6"/>
          <p:cNvSpPr/>
          <p:nvPr/>
        </p:nvSpPr>
        <p:spPr>
          <a:xfrm flipV="1">
            <a:off x="717804" y="1401318"/>
            <a:ext cx="912114" cy="432054"/>
          </a:xfrm>
          <a:prstGeom prst="line">
            <a:avLst/>
          </a:prstGeom>
          <a:noFill/>
          <a:ln w="11430">
            <a:solidFill>
              <a:srgbClr val="8A2522"/>
            </a:solidFill>
            <a:prstDash val="solid"/>
          </a:ln>
        </p:spPr>
      </p:sp>
      <p:sp>
        <p:nvSpPr>
          <p:cNvPr id="9" name="Shape 7"/>
          <p:cNvSpPr/>
          <p:nvPr/>
        </p:nvSpPr>
        <p:spPr>
          <a:xfrm>
            <a:off x="477774" y="1017270"/>
            <a:ext cx="240030" cy="816102"/>
          </a:xfrm>
          <a:prstGeom prst="line">
            <a:avLst/>
          </a:prstGeom>
          <a:noFill/>
          <a:ln w="11430">
            <a:solidFill>
              <a:srgbClr val="8A2522"/>
            </a:solidFill>
            <a:prstDash val="solid"/>
          </a:ln>
        </p:spPr>
      </p:sp>
      <p:sp>
        <p:nvSpPr>
          <p:cNvPr id="10" name="Shape 8"/>
          <p:cNvSpPr/>
          <p:nvPr/>
        </p:nvSpPr>
        <p:spPr>
          <a:xfrm>
            <a:off x="2061972" y="681228"/>
            <a:ext cx="240030" cy="528066"/>
          </a:xfrm>
          <a:prstGeom prst="line">
            <a:avLst/>
          </a:prstGeom>
          <a:noFill/>
          <a:ln w="11430">
            <a:solidFill>
              <a:srgbClr val="8A2522"/>
            </a:solidFill>
            <a:prstDash val="solid"/>
          </a:ln>
        </p:spPr>
      </p:sp>
      <p:sp>
        <p:nvSpPr>
          <p:cNvPr id="11" name="Shape 9"/>
          <p:cNvSpPr/>
          <p:nvPr/>
        </p:nvSpPr>
        <p:spPr>
          <a:xfrm flipV="1">
            <a:off x="1629918" y="1209294"/>
            <a:ext cx="672084" cy="192024"/>
          </a:xfrm>
          <a:prstGeom prst="line">
            <a:avLst/>
          </a:prstGeom>
          <a:noFill/>
          <a:ln w="11430">
            <a:solidFill>
              <a:srgbClr val="8A2522"/>
            </a:solidFill>
            <a:prstDash val="solid"/>
          </a:ln>
        </p:spPr>
      </p:sp>
      <p:sp>
        <p:nvSpPr>
          <p:cNvPr id="12" name="Shape 10"/>
          <p:cNvSpPr/>
          <p:nvPr/>
        </p:nvSpPr>
        <p:spPr>
          <a:xfrm flipV="1">
            <a:off x="333756" y="345186"/>
            <a:ext cx="864108" cy="48006"/>
          </a:xfrm>
          <a:prstGeom prst="line">
            <a:avLst/>
          </a:prstGeom>
          <a:noFill/>
          <a:ln w="11430">
            <a:solidFill>
              <a:srgbClr val="8A2522"/>
            </a:solidFill>
            <a:prstDash val="solid"/>
          </a:ln>
        </p:spPr>
      </p:sp>
      <p:sp>
        <p:nvSpPr>
          <p:cNvPr id="13" name="Shape 11"/>
          <p:cNvSpPr/>
          <p:nvPr/>
        </p:nvSpPr>
        <p:spPr>
          <a:xfrm>
            <a:off x="333756" y="393192"/>
            <a:ext cx="144018" cy="624078"/>
          </a:xfrm>
          <a:prstGeom prst="line">
            <a:avLst/>
          </a:prstGeom>
          <a:noFill/>
          <a:ln w="11430">
            <a:solidFill>
              <a:srgbClr val="8A2522"/>
            </a:solidFill>
            <a:prstDash val="solid"/>
          </a:ln>
        </p:spPr>
      </p:sp>
      <p:sp>
        <p:nvSpPr>
          <p:cNvPr id="14" name="Shape 12"/>
          <p:cNvSpPr/>
          <p:nvPr/>
        </p:nvSpPr>
        <p:spPr>
          <a:xfrm>
            <a:off x="717804" y="1833372"/>
            <a:ext cx="384048" cy="528066"/>
          </a:xfrm>
          <a:prstGeom prst="line">
            <a:avLst/>
          </a:prstGeom>
          <a:noFill/>
          <a:ln w="11430">
            <a:solidFill>
              <a:srgbClr val="8A2522"/>
            </a:solidFill>
            <a:prstDash val="solid"/>
          </a:ln>
        </p:spPr>
      </p:sp>
      <p:sp>
        <p:nvSpPr>
          <p:cNvPr id="15" name="Shape 13"/>
          <p:cNvSpPr/>
          <p:nvPr/>
        </p:nvSpPr>
        <p:spPr>
          <a:xfrm flipV="1">
            <a:off x="285750" y="2361438"/>
            <a:ext cx="816102" cy="336042"/>
          </a:xfrm>
          <a:prstGeom prst="line">
            <a:avLst/>
          </a:prstGeom>
          <a:noFill/>
          <a:ln w="11430">
            <a:solidFill>
              <a:srgbClr val="8A2522"/>
            </a:solidFill>
            <a:prstDash val="solid"/>
          </a:ln>
        </p:spPr>
      </p:sp>
      <p:sp>
        <p:nvSpPr>
          <p:cNvPr id="16" name="Shape 14"/>
          <p:cNvSpPr/>
          <p:nvPr/>
        </p:nvSpPr>
        <p:spPr>
          <a:xfrm flipV="1">
            <a:off x="285750" y="1833372"/>
            <a:ext cx="432054" cy="864108"/>
          </a:xfrm>
          <a:prstGeom prst="line">
            <a:avLst/>
          </a:prstGeom>
          <a:noFill/>
          <a:ln w="11430">
            <a:solidFill>
              <a:srgbClr val="8A2522"/>
            </a:solidFill>
            <a:prstDash val="solid"/>
          </a:ln>
        </p:spPr>
      </p:sp>
      <p:sp>
        <p:nvSpPr>
          <p:cNvPr id="17" name="Shape 15"/>
          <p:cNvSpPr/>
          <p:nvPr/>
        </p:nvSpPr>
        <p:spPr>
          <a:xfrm flipV="1">
            <a:off x="1101852" y="1401318"/>
            <a:ext cx="528066" cy="960120"/>
          </a:xfrm>
          <a:prstGeom prst="line">
            <a:avLst/>
          </a:prstGeom>
          <a:noFill/>
          <a:ln w="11430">
            <a:solidFill>
              <a:srgbClr val="8A2522"/>
            </a:solidFill>
            <a:prstDash val="solid"/>
          </a:ln>
        </p:spPr>
      </p:sp>
      <p:sp>
        <p:nvSpPr>
          <p:cNvPr id="18" name="Shape 16"/>
          <p:cNvSpPr/>
          <p:nvPr/>
        </p:nvSpPr>
        <p:spPr>
          <a:xfrm>
            <a:off x="2884932" y="208026"/>
            <a:ext cx="82296" cy="82296"/>
          </a:xfrm>
          <a:prstGeom prst="ellipse">
            <a:avLst/>
          </a:prstGeom>
          <a:solidFill>
            <a:srgbClr val="EDEDE5"/>
          </a:solidFill>
          <a:ln w="11430">
            <a:solidFill>
              <a:srgbClr val="8A2522"/>
            </a:solidFill>
            <a:prstDash val="solid"/>
          </a:ln>
        </p:spPr>
      </p:sp>
      <p:sp>
        <p:nvSpPr>
          <p:cNvPr id="19" name="Shape 17"/>
          <p:cNvSpPr/>
          <p:nvPr/>
        </p:nvSpPr>
        <p:spPr>
          <a:xfrm>
            <a:off x="2020824" y="640080"/>
            <a:ext cx="82296" cy="82296"/>
          </a:xfrm>
          <a:prstGeom prst="ellipse">
            <a:avLst/>
          </a:prstGeom>
          <a:solidFill>
            <a:srgbClr val="EDEDE5"/>
          </a:solidFill>
          <a:ln w="11430">
            <a:solidFill>
              <a:srgbClr val="8A2522"/>
            </a:solidFill>
            <a:prstDash val="solid"/>
          </a:ln>
        </p:spPr>
      </p:sp>
      <p:sp>
        <p:nvSpPr>
          <p:cNvPr id="20" name="Shape 18"/>
          <p:cNvSpPr/>
          <p:nvPr/>
        </p:nvSpPr>
        <p:spPr>
          <a:xfrm>
            <a:off x="1156716" y="304038"/>
            <a:ext cx="82296" cy="82296"/>
          </a:xfrm>
          <a:prstGeom prst="ellipse">
            <a:avLst/>
          </a:prstGeom>
          <a:solidFill>
            <a:srgbClr val="EDEDE5"/>
          </a:solidFill>
          <a:ln w="11430">
            <a:solidFill>
              <a:srgbClr val="8A2522"/>
            </a:solidFill>
            <a:prstDash val="solid"/>
          </a:ln>
        </p:spPr>
      </p:sp>
      <p:sp>
        <p:nvSpPr>
          <p:cNvPr id="21" name="Shape 19"/>
          <p:cNvSpPr/>
          <p:nvPr/>
        </p:nvSpPr>
        <p:spPr>
          <a:xfrm>
            <a:off x="436626" y="976122"/>
            <a:ext cx="82296" cy="82296"/>
          </a:xfrm>
          <a:prstGeom prst="ellipse">
            <a:avLst/>
          </a:prstGeom>
          <a:solidFill>
            <a:srgbClr val="EDEDE5"/>
          </a:solidFill>
          <a:ln w="11430">
            <a:solidFill>
              <a:srgbClr val="8A2522"/>
            </a:solidFill>
            <a:prstDash val="solid"/>
          </a:ln>
        </p:spPr>
      </p:sp>
      <p:sp>
        <p:nvSpPr>
          <p:cNvPr id="22" name="Shape 20"/>
          <p:cNvSpPr/>
          <p:nvPr/>
        </p:nvSpPr>
        <p:spPr>
          <a:xfrm>
            <a:off x="1588770" y="1360170"/>
            <a:ext cx="82296" cy="82296"/>
          </a:xfrm>
          <a:prstGeom prst="ellipse">
            <a:avLst/>
          </a:prstGeom>
          <a:solidFill>
            <a:srgbClr val="EDEDE5"/>
          </a:solidFill>
          <a:ln w="11430">
            <a:solidFill>
              <a:srgbClr val="8A2522"/>
            </a:solidFill>
            <a:prstDash val="solid"/>
          </a:ln>
        </p:spPr>
      </p:sp>
      <p:sp>
        <p:nvSpPr>
          <p:cNvPr id="23" name="Shape 21"/>
          <p:cNvSpPr/>
          <p:nvPr/>
        </p:nvSpPr>
        <p:spPr>
          <a:xfrm>
            <a:off x="676656" y="1792224"/>
            <a:ext cx="82296" cy="82296"/>
          </a:xfrm>
          <a:prstGeom prst="ellipse">
            <a:avLst/>
          </a:prstGeom>
          <a:solidFill>
            <a:srgbClr val="EDEDE5"/>
          </a:solidFill>
          <a:ln w="11430">
            <a:solidFill>
              <a:srgbClr val="8A2522"/>
            </a:solidFill>
            <a:prstDash val="solid"/>
          </a:ln>
        </p:spPr>
      </p:sp>
      <p:sp>
        <p:nvSpPr>
          <p:cNvPr id="24" name="Shape 22"/>
          <p:cNvSpPr/>
          <p:nvPr/>
        </p:nvSpPr>
        <p:spPr>
          <a:xfrm>
            <a:off x="2260854" y="1168146"/>
            <a:ext cx="82296" cy="82296"/>
          </a:xfrm>
          <a:prstGeom prst="ellipse">
            <a:avLst/>
          </a:prstGeom>
          <a:solidFill>
            <a:srgbClr val="EDEDE5"/>
          </a:solidFill>
          <a:ln w="11430">
            <a:solidFill>
              <a:srgbClr val="8A2522"/>
            </a:solidFill>
            <a:prstDash val="solid"/>
          </a:ln>
        </p:spPr>
      </p:sp>
      <p:sp>
        <p:nvSpPr>
          <p:cNvPr id="25" name="Shape 23"/>
          <p:cNvSpPr/>
          <p:nvPr/>
        </p:nvSpPr>
        <p:spPr>
          <a:xfrm>
            <a:off x="292608" y="352044"/>
            <a:ext cx="82296" cy="82296"/>
          </a:xfrm>
          <a:prstGeom prst="ellipse">
            <a:avLst/>
          </a:prstGeom>
          <a:solidFill>
            <a:srgbClr val="EDEDE5"/>
          </a:solidFill>
          <a:ln w="11430">
            <a:solidFill>
              <a:srgbClr val="8A2522"/>
            </a:solidFill>
            <a:prstDash val="solid"/>
          </a:ln>
        </p:spPr>
      </p:sp>
      <p:sp>
        <p:nvSpPr>
          <p:cNvPr id="26" name="Shape 24"/>
          <p:cNvSpPr/>
          <p:nvPr/>
        </p:nvSpPr>
        <p:spPr>
          <a:xfrm>
            <a:off x="1060704" y="2320290"/>
            <a:ext cx="82296" cy="82296"/>
          </a:xfrm>
          <a:prstGeom prst="ellipse">
            <a:avLst/>
          </a:prstGeom>
          <a:solidFill>
            <a:srgbClr val="EDEDE5"/>
          </a:solidFill>
          <a:ln w="11430">
            <a:solidFill>
              <a:srgbClr val="8A2522"/>
            </a:solidFill>
            <a:prstDash val="solid"/>
          </a:ln>
        </p:spPr>
      </p:sp>
      <p:sp>
        <p:nvSpPr>
          <p:cNvPr id="27" name="Shape 25"/>
          <p:cNvSpPr/>
          <p:nvPr/>
        </p:nvSpPr>
        <p:spPr>
          <a:xfrm>
            <a:off x="244602" y="2656332"/>
            <a:ext cx="82296" cy="82296"/>
          </a:xfrm>
          <a:prstGeom prst="ellipse">
            <a:avLst/>
          </a:prstGeom>
          <a:solidFill>
            <a:srgbClr val="EDEDE5"/>
          </a:solidFill>
          <a:ln w="11430">
            <a:solidFill>
              <a:srgbClr val="8A2522"/>
            </a:solidFill>
            <a:prstDash val="solid"/>
          </a:ln>
        </p:spPr>
      </p:sp>
      <p:sp>
        <p:nvSpPr>
          <p:cNvPr id="28" name="Shape 26"/>
          <p:cNvSpPr/>
          <p:nvPr/>
        </p:nvSpPr>
        <p:spPr>
          <a:xfrm>
            <a:off x="11393424" y="6382512"/>
            <a:ext cx="493776" cy="246888"/>
          </a:xfrm>
          <a:prstGeom prst="line">
            <a:avLst/>
          </a:prstGeom>
          <a:noFill/>
          <a:ln w="11430">
            <a:solidFill>
              <a:srgbClr val="8A2522"/>
            </a:solidFill>
            <a:prstDash val="solid"/>
          </a:ln>
        </p:spPr>
      </p:sp>
      <p:sp>
        <p:nvSpPr>
          <p:cNvPr id="29" name="Shape 27"/>
          <p:cNvSpPr/>
          <p:nvPr/>
        </p:nvSpPr>
        <p:spPr>
          <a:xfrm flipV="1">
            <a:off x="10899648" y="6382512"/>
            <a:ext cx="493776" cy="192024"/>
          </a:xfrm>
          <a:prstGeom prst="line">
            <a:avLst/>
          </a:prstGeom>
          <a:noFill/>
          <a:ln w="11430">
            <a:solidFill>
              <a:srgbClr val="8A2522"/>
            </a:solidFill>
            <a:prstDash val="solid"/>
          </a:ln>
        </p:spPr>
      </p:sp>
      <p:sp>
        <p:nvSpPr>
          <p:cNvPr id="30" name="Shape 28"/>
          <p:cNvSpPr/>
          <p:nvPr/>
        </p:nvSpPr>
        <p:spPr>
          <a:xfrm>
            <a:off x="10488168" y="6190488"/>
            <a:ext cx="411480" cy="384048"/>
          </a:xfrm>
          <a:prstGeom prst="line">
            <a:avLst/>
          </a:prstGeom>
          <a:noFill/>
          <a:ln w="11430">
            <a:solidFill>
              <a:srgbClr val="8A2522"/>
            </a:solidFill>
            <a:prstDash val="solid"/>
          </a:ln>
        </p:spPr>
      </p:sp>
      <p:sp>
        <p:nvSpPr>
          <p:cNvPr id="31" name="Shape 29"/>
          <p:cNvSpPr/>
          <p:nvPr/>
        </p:nvSpPr>
        <p:spPr>
          <a:xfrm>
            <a:off x="11146536" y="5971032"/>
            <a:ext cx="246888" cy="411480"/>
          </a:xfrm>
          <a:prstGeom prst="line">
            <a:avLst/>
          </a:prstGeom>
          <a:noFill/>
          <a:ln w="11430">
            <a:solidFill>
              <a:srgbClr val="8A2522"/>
            </a:solidFill>
            <a:prstDash val="solid"/>
          </a:ln>
        </p:spPr>
      </p:sp>
      <p:sp>
        <p:nvSpPr>
          <p:cNvPr id="32" name="Shape 30"/>
          <p:cNvSpPr/>
          <p:nvPr/>
        </p:nvSpPr>
        <p:spPr>
          <a:xfrm flipV="1">
            <a:off x="10488168" y="5971032"/>
            <a:ext cx="658368" cy="219456"/>
          </a:xfrm>
          <a:prstGeom prst="line">
            <a:avLst/>
          </a:prstGeom>
          <a:noFill/>
          <a:ln w="11430">
            <a:solidFill>
              <a:srgbClr val="8A2522"/>
            </a:solidFill>
            <a:prstDash val="solid"/>
          </a:ln>
        </p:spPr>
      </p:sp>
      <p:sp>
        <p:nvSpPr>
          <p:cNvPr id="33" name="Shape 31"/>
          <p:cNvSpPr/>
          <p:nvPr/>
        </p:nvSpPr>
        <p:spPr>
          <a:xfrm>
            <a:off x="10625328" y="5724144"/>
            <a:ext cx="521208" cy="246888"/>
          </a:xfrm>
          <a:prstGeom prst="line">
            <a:avLst/>
          </a:prstGeom>
          <a:noFill/>
          <a:ln w="11430">
            <a:solidFill>
              <a:srgbClr val="8A2522"/>
            </a:solidFill>
            <a:prstDash val="solid"/>
          </a:ln>
        </p:spPr>
      </p:sp>
      <p:sp>
        <p:nvSpPr>
          <p:cNvPr id="34" name="Shape 32"/>
          <p:cNvSpPr/>
          <p:nvPr/>
        </p:nvSpPr>
        <p:spPr>
          <a:xfrm flipV="1">
            <a:off x="10488168" y="5724144"/>
            <a:ext cx="137160" cy="466344"/>
          </a:xfrm>
          <a:prstGeom prst="line">
            <a:avLst/>
          </a:prstGeom>
          <a:noFill/>
          <a:ln w="11430">
            <a:solidFill>
              <a:srgbClr val="8A2522"/>
            </a:solidFill>
            <a:prstDash val="solid"/>
          </a:ln>
        </p:spPr>
      </p:sp>
      <p:sp>
        <p:nvSpPr>
          <p:cNvPr id="35" name="Shape 33"/>
          <p:cNvSpPr/>
          <p:nvPr/>
        </p:nvSpPr>
        <p:spPr>
          <a:xfrm flipV="1">
            <a:off x="11393424" y="6080760"/>
            <a:ext cx="137160" cy="301752"/>
          </a:xfrm>
          <a:prstGeom prst="line">
            <a:avLst/>
          </a:prstGeom>
          <a:noFill/>
          <a:ln w="11430">
            <a:solidFill>
              <a:srgbClr val="8A2522"/>
            </a:solidFill>
            <a:prstDash val="solid"/>
          </a:ln>
        </p:spPr>
      </p:sp>
      <p:sp>
        <p:nvSpPr>
          <p:cNvPr id="36" name="Shape 34"/>
          <p:cNvSpPr/>
          <p:nvPr/>
        </p:nvSpPr>
        <p:spPr>
          <a:xfrm>
            <a:off x="11146536" y="5971032"/>
            <a:ext cx="384048" cy="109728"/>
          </a:xfrm>
          <a:prstGeom prst="line">
            <a:avLst/>
          </a:prstGeom>
          <a:noFill/>
          <a:ln w="11430">
            <a:solidFill>
              <a:srgbClr val="8A2522"/>
            </a:solidFill>
            <a:prstDash val="solid"/>
          </a:ln>
        </p:spPr>
      </p:sp>
      <p:sp>
        <p:nvSpPr>
          <p:cNvPr id="37" name="Shape 35"/>
          <p:cNvSpPr/>
          <p:nvPr/>
        </p:nvSpPr>
        <p:spPr>
          <a:xfrm>
            <a:off x="10405872" y="6547104"/>
            <a:ext cx="493776" cy="27432"/>
          </a:xfrm>
          <a:prstGeom prst="line">
            <a:avLst/>
          </a:prstGeom>
          <a:noFill/>
          <a:ln w="11430">
            <a:solidFill>
              <a:srgbClr val="8A2522"/>
            </a:solidFill>
            <a:prstDash val="solid"/>
          </a:ln>
        </p:spPr>
      </p:sp>
      <p:sp>
        <p:nvSpPr>
          <p:cNvPr id="38" name="Shape 36"/>
          <p:cNvSpPr/>
          <p:nvPr/>
        </p:nvSpPr>
        <p:spPr>
          <a:xfrm flipV="1">
            <a:off x="10405872" y="6190488"/>
            <a:ext cx="82296" cy="356616"/>
          </a:xfrm>
          <a:prstGeom prst="line">
            <a:avLst/>
          </a:prstGeom>
          <a:noFill/>
          <a:ln w="11430">
            <a:solidFill>
              <a:srgbClr val="8A2522"/>
            </a:solidFill>
            <a:prstDash val="solid"/>
          </a:ln>
        </p:spPr>
      </p:sp>
      <p:sp>
        <p:nvSpPr>
          <p:cNvPr id="39" name="Shape 37"/>
          <p:cNvSpPr/>
          <p:nvPr/>
        </p:nvSpPr>
        <p:spPr>
          <a:xfrm flipV="1">
            <a:off x="10625328" y="5422392"/>
            <a:ext cx="219456" cy="301752"/>
          </a:xfrm>
          <a:prstGeom prst="line">
            <a:avLst/>
          </a:prstGeom>
          <a:noFill/>
          <a:ln w="11430">
            <a:solidFill>
              <a:srgbClr val="8A2522"/>
            </a:solidFill>
            <a:prstDash val="solid"/>
          </a:ln>
        </p:spPr>
      </p:sp>
      <p:sp>
        <p:nvSpPr>
          <p:cNvPr id="40" name="Shape 38"/>
          <p:cNvSpPr/>
          <p:nvPr/>
        </p:nvSpPr>
        <p:spPr>
          <a:xfrm>
            <a:off x="10378440" y="5230368"/>
            <a:ext cx="466344" cy="192024"/>
          </a:xfrm>
          <a:prstGeom prst="line">
            <a:avLst/>
          </a:prstGeom>
          <a:noFill/>
          <a:ln w="11430">
            <a:solidFill>
              <a:srgbClr val="8A2522"/>
            </a:solidFill>
            <a:prstDash val="solid"/>
          </a:ln>
        </p:spPr>
      </p:sp>
      <p:sp>
        <p:nvSpPr>
          <p:cNvPr id="41" name="Shape 39"/>
          <p:cNvSpPr/>
          <p:nvPr/>
        </p:nvSpPr>
        <p:spPr>
          <a:xfrm>
            <a:off x="10378440" y="5230368"/>
            <a:ext cx="246888" cy="493776"/>
          </a:xfrm>
          <a:prstGeom prst="line">
            <a:avLst/>
          </a:prstGeom>
          <a:noFill/>
          <a:ln w="11430">
            <a:solidFill>
              <a:srgbClr val="8A2522"/>
            </a:solidFill>
            <a:prstDash val="solid"/>
          </a:ln>
        </p:spPr>
      </p:sp>
      <p:sp>
        <p:nvSpPr>
          <p:cNvPr id="42" name="Shape 40"/>
          <p:cNvSpPr/>
          <p:nvPr/>
        </p:nvSpPr>
        <p:spPr>
          <a:xfrm>
            <a:off x="10844784" y="5422392"/>
            <a:ext cx="301752" cy="548640"/>
          </a:xfrm>
          <a:prstGeom prst="line">
            <a:avLst/>
          </a:prstGeom>
          <a:noFill/>
          <a:ln w="11430">
            <a:solidFill>
              <a:srgbClr val="8A2522"/>
            </a:solidFill>
            <a:prstDash val="solid"/>
          </a:ln>
        </p:spPr>
      </p:sp>
      <p:sp>
        <p:nvSpPr>
          <p:cNvPr id="43" name="Shape 41"/>
          <p:cNvSpPr/>
          <p:nvPr/>
        </p:nvSpPr>
        <p:spPr>
          <a:xfrm>
            <a:off x="11846052" y="6588252"/>
            <a:ext cx="82296" cy="82296"/>
          </a:xfrm>
          <a:prstGeom prst="ellipse">
            <a:avLst/>
          </a:prstGeom>
          <a:solidFill>
            <a:srgbClr val="EDEDE5"/>
          </a:solidFill>
          <a:ln w="11430">
            <a:solidFill>
              <a:srgbClr val="8A2522"/>
            </a:solidFill>
            <a:prstDash val="solid"/>
          </a:ln>
        </p:spPr>
      </p:sp>
      <p:sp>
        <p:nvSpPr>
          <p:cNvPr id="44" name="Shape 42"/>
          <p:cNvSpPr/>
          <p:nvPr/>
        </p:nvSpPr>
        <p:spPr>
          <a:xfrm>
            <a:off x="11352276" y="6341364"/>
            <a:ext cx="82296" cy="82296"/>
          </a:xfrm>
          <a:prstGeom prst="ellipse">
            <a:avLst/>
          </a:prstGeom>
          <a:solidFill>
            <a:srgbClr val="EDEDE5"/>
          </a:solidFill>
          <a:ln w="11430">
            <a:solidFill>
              <a:srgbClr val="8A2522"/>
            </a:solidFill>
            <a:prstDash val="solid"/>
          </a:ln>
        </p:spPr>
      </p:sp>
      <p:sp>
        <p:nvSpPr>
          <p:cNvPr id="45" name="Shape 43"/>
          <p:cNvSpPr/>
          <p:nvPr/>
        </p:nvSpPr>
        <p:spPr>
          <a:xfrm>
            <a:off x="10858500" y="6533388"/>
            <a:ext cx="82296" cy="82296"/>
          </a:xfrm>
          <a:prstGeom prst="ellipse">
            <a:avLst/>
          </a:prstGeom>
          <a:solidFill>
            <a:srgbClr val="EDEDE5"/>
          </a:solidFill>
          <a:ln w="11430">
            <a:solidFill>
              <a:srgbClr val="8A2522"/>
            </a:solidFill>
            <a:prstDash val="solid"/>
          </a:ln>
        </p:spPr>
      </p:sp>
      <p:sp>
        <p:nvSpPr>
          <p:cNvPr id="46" name="Shape 44"/>
          <p:cNvSpPr/>
          <p:nvPr/>
        </p:nvSpPr>
        <p:spPr>
          <a:xfrm>
            <a:off x="10447020" y="6149340"/>
            <a:ext cx="82296" cy="82296"/>
          </a:xfrm>
          <a:prstGeom prst="ellipse">
            <a:avLst/>
          </a:prstGeom>
          <a:solidFill>
            <a:srgbClr val="EDEDE5"/>
          </a:solidFill>
          <a:ln w="11430">
            <a:solidFill>
              <a:srgbClr val="8A2522"/>
            </a:solidFill>
            <a:prstDash val="solid"/>
          </a:ln>
        </p:spPr>
      </p:sp>
      <p:sp>
        <p:nvSpPr>
          <p:cNvPr id="47" name="Shape 45"/>
          <p:cNvSpPr/>
          <p:nvPr/>
        </p:nvSpPr>
        <p:spPr>
          <a:xfrm>
            <a:off x="11105388" y="5929884"/>
            <a:ext cx="82296" cy="82296"/>
          </a:xfrm>
          <a:prstGeom prst="ellipse">
            <a:avLst/>
          </a:prstGeom>
          <a:solidFill>
            <a:srgbClr val="EDEDE5"/>
          </a:solidFill>
          <a:ln w="11430">
            <a:solidFill>
              <a:srgbClr val="8A2522"/>
            </a:solidFill>
            <a:prstDash val="solid"/>
          </a:ln>
        </p:spPr>
      </p:sp>
      <p:sp>
        <p:nvSpPr>
          <p:cNvPr id="48" name="Shape 46"/>
          <p:cNvSpPr/>
          <p:nvPr/>
        </p:nvSpPr>
        <p:spPr>
          <a:xfrm>
            <a:off x="10584180" y="5682996"/>
            <a:ext cx="82296" cy="82296"/>
          </a:xfrm>
          <a:prstGeom prst="ellipse">
            <a:avLst/>
          </a:prstGeom>
          <a:solidFill>
            <a:srgbClr val="EDEDE5"/>
          </a:solidFill>
          <a:ln w="11430">
            <a:solidFill>
              <a:srgbClr val="8A2522"/>
            </a:solidFill>
            <a:prstDash val="solid"/>
          </a:ln>
        </p:spPr>
      </p:sp>
      <p:sp>
        <p:nvSpPr>
          <p:cNvPr id="49" name="Shape 47"/>
          <p:cNvSpPr/>
          <p:nvPr/>
        </p:nvSpPr>
        <p:spPr>
          <a:xfrm>
            <a:off x="11489436" y="6039612"/>
            <a:ext cx="82296" cy="82296"/>
          </a:xfrm>
          <a:prstGeom prst="ellipse">
            <a:avLst/>
          </a:prstGeom>
          <a:solidFill>
            <a:srgbClr val="EDEDE5"/>
          </a:solidFill>
          <a:ln w="11430">
            <a:solidFill>
              <a:srgbClr val="8A2522"/>
            </a:solidFill>
            <a:prstDash val="solid"/>
          </a:ln>
        </p:spPr>
      </p:sp>
      <p:sp>
        <p:nvSpPr>
          <p:cNvPr id="50" name="Shape 48"/>
          <p:cNvSpPr/>
          <p:nvPr/>
        </p:nvSpPr>
        <p:spPr>
          <a:xfrm>
            <a:off x="10364724" y="6505956"/>
            <a:ext cx="82296" cy="82296"/>
          </a:xfrm>
          <a:prstGeom prst="ellipse">
            <a:avLst/>
          </a:prstGeom>
          <a:solidFill>
            <a:srgbClr val="EDEDE5"/>
          </a:solidFill>
          <a:ln w="11430">
            <a:solidFill>
              <a:srgbClr val="8A2522"/>
            </a:solidFill>
            <a:prstDash val="solid"/>
          </a:ln>
        </p:spPr>
      </p:sp>
      <p:sp>
        <p:nvSpPr>
          <p:cNvPr id="51" name="Shape 49"/>
          <p:cNvSpPr/>
          <p:nvPr/>
        </p:nvSpPr>
        <p:spPr>
          <a:xfrm>
            <a:off x="10803636" y="5381244"/>
            <a:ext cx="82296" cy="82296"/>
          </a:xfrm>
          <a:prstGeom prst="ellipse">
            <a:avLst/>
          </a:prstGeom>
          <a:solidFill>
            <a:srgbClr val="EDEDE5"/>
          </a:solidFill>
          <a:ln w="11430">
            <a:solidFill>
              <a:srgbClr val="8A2522"/>
            </a:solidFill>
            <a:prstDash val="solid"/>
          </a:ln>
        </p:spPr>
      </p:sp>
      <p:sp>
        <p:nvSpPr>
          <p:cNvPr id="52" name="Shape 50"/>
          <p:cNvSpPr/>
          <p:nvPr/>
        </p:nvSpPr>
        <p:spPr>
          <a:xfrm>
            <a:off x="10337292" y="5189220"/>
            <a:ext cx="82296" cy="82296"/>
          </a:xfrm>
          <a:prstGeom prst="ellipse">
            <a:avLst/>
          </a:prstGeom>
          <a:solidFill>
            <a:srgbClr val="EDEDE5"/>
          </a:solidFill>
          <a:ln w="11430">
            <a:solidFill>
              <a:srgbClr val="8A2522"/>
            </a:solidFill>
            <a:prstDash val="solid"/>
          </a:ln>
        </p:spPr>
      </p:sp>
      <p:sp>
        <p:nvSpPr>
          <p:cNvPr id="53" name="Text 51"/>
          <p:cNvSpPr txBox="1"/>
          <p:nvPr/>
        </p:nvSpPr>
        <p:spPr>
          <a:xfrm>
            <a:off x="2743200" y="1325880"/>
            <a:ext cx="8595360" cy="1828800"/>
          </a:xfrm>
          <a:prstGeom prst="rect">
            <a:avLst/>
          </a:prstGeom>
          <a:noFill/>
          <a:ln/>
        </p:spPr>
        <p:txBody>
          <a:bodyPr wrap="square" lIns="0" tIns="0" rIns="0" bIns="0" rtlCol="0" anchor="b"/>
          <a:lstStyle/>
          <a:p>
            <a:pPr rtl="1" algn="r" indent="0" marL="0">
              <a:buNone/>
            </a:pPr>
            <a:r>
              <a:rPr lang="ar-EG" altLang="en-US" sz="3400" b="1" dirty="0">
                <a:solidFill>
                  <a:srgbClr val="8A2522"/>
                </a:solidFill>
                <a:latin typeface="Arial" pitchFamily="34" charset="0"/>
                <a:ea typeface="Arial" pitchFamily="34" charset="-122"/>
                <a:cs typeface="Arial" pitchFamily="34" charset="-120"/>
              </a:rPr>
              <a:t>Clustering موفّر للطاقة وآمن في شبكات الحساسات اللاسلكية باستخدام التشفير الهجين</a:t>
            </a:r>
            <a:endParaRPr lang="ar-EG" sz="3400" dirty="0"/>
          </a:p>
        </p:txBody>
      </p:sp>
      <p:sp>
        <p:nvSpPr>
          <p:cNvPr id="54" name="Text 52"/>
          <p:cNvSpPr txBox="1"/>
          <p:nvPr/>
        </p:nvSpPr>
        <p:spPr>
          <a:xfrm>
            <a:off x="2743200" y="3246120"/>
            <a:ext cx="8595360" cy="822960"/>
          </a:xfrm>
          <a:prstGeom prst="rect">
            <a:avLst/>
          </a:prstGeom>
          <a:noFill/>
          <a:ln/>
        </p:spPr>
        <p:txBody>
          <a:bodyPr wrap="square" lIns="0" tIns="0" rIns="0" bIns="0" rtlCol="0" anchor="t"/>
          <a:lstStyle/>
          <a:p>
            <a:pPr rtl="1" algn="r" indent="0" marL="0">
              <a:buNone/>
            </a:pPr>
            <a:r>
              <a:rPr lang="ar-EG" altLang="en-US" sz="1700" i="1" dirty="0">
                <a:solidFill>
                  <a:srgbClr val="323232"/>
                </a:solidFill>
                <a:latin typeface="Arial" pitchFamily="34" charset="0"/>
                <a:ea typeface="Arial" pitchFamily="34" charset="-122"/>
                <a:cs typeface="Arial" pitchFamily="34" charset="-120"/>
              </a:rPr>
              <a:t>دراسة مقارنة بالمحاكاة: عيلة LEACH / HEED / PEGASIS مقابل البروتوكول الهجين المقترح (من v1 لحد v8-Chain)</a:t>
            </a:r>
            <a:endParaRPr lang="ar-EG" sz="1700" dirty="0"/>
          </a:p>
        </p:txBody>
      </p:sp>
      <p:sp>
        <p:nvSpPr>
          <p:cNvPr id="55" name="Text 53"/>
          <p:cNvSpPr txBox="1"/>
          <p:nvPr/>
        </p:nvSpPr>
        <p:spPr>
          <a:xfrm>
            <a:off x="1828800" y="4343400"/>
            <a:ext cx="9509760" cy="1371600"/>
          </a:xfrm>
          <a:prstGeom prst="rect">
            <a:avLst/>
          </a:prstGeom>
          <a:noFill/>
          <a:ln/>
        </p:spPr>
        <p:txBody>
          <a:bodyPr wrap="square" lIns="0" tIns="0" rIns="0" bIns="0" rtlCol="0" anchor="t"/>
          <a:lstStyle/>
          <a:p>
            <a:pPr algn="r" indent="0" marL="0">
              <a:spcAft>
                <a:spcPts val="600"/>
              </a:spcAft>
              <a:buNone/>
            </a:pPr>
            <a:r>
              <a:rPr lang="ar-EG" altLang="en-US" sz="1600" b="1" dirty="0">
                <a:solidFill>
                  <a:srgbClr val="8A2522"/>
                </a:solidFill>
                <a:latin typeface="Arial" pitchFamily="34" charset="0"/>
                <a:ea typeface="Arial" pitchFamily="34" charset="-122"/>
                <a:cs typeface="Arial" pitchFamily="34" charset="-120"/>
              </a:rPr>
              <a:t>تقديم: </a:t>
            </a:r>
            <a:pPr algn="r" indent="0" marL="0">
              <a:spcAft>
                <a:spcPts val="600"/>
              </a:spcAft>
              <a:buNone/>
            </a:pPr>
            <a:r>
              <a:rPr lang="ar-EG" altLang="en-US" sz="1600" b="1" dirty="0">
                <a:solidFill>
                  <a:srgbClr val="323232"/>
                </a:solidFill>
                <a:latin typeface="Arial" pitchFamily="34" charset="0"/>
                <a:ea typeface="Arial" pitchFamily="34" charset="-122"/>
                <a:cs typeface="Arial" pitchFamily="34" charset="-120"/>
              </a:rPr>
              <a:t>م. رحمة خالد عشبة</a:t>
            </a:r>
            <a:endParaRPr lang="ar-EG" sz="1600" dirty="0"/>
          </a:p>
          <a:p>
            <a:pPr algn="r" indent="0" marL="0">
              <a:spcAft>
                <a:spcPts val="600"/>
              </a:spcAft>
              <a:buNone/>
            </a:pPr>
            <a:r>
              <a:rPr lang="ar-EG" altLang="en-US" sz="1600" b="1" dirty="0">
                <a:solidFill>
                  <a:srgbClr val="8A2522"/>
                </a:solidFill>
                <a:latin typeface="Arial" pitchFamily="34" charset="0"/>
                <a:ea typeface="Arial" pitchFamily="34" charset="-122"/>
                <a:cs typeface="Arial" pitchFamily="34" charset="-120"/>
              </a:rPr>
              <a:t>إشراف: </a:t>
            </a:r>
            <a:pPr algn="r" indent="0" marL="0">
              <a:spcAft>
                <a:spcPts val="600"/>
              </a:spcAft>
              <a:buNone/>
            </a:pPr>
            <a:r>
              <a:rPr lang="ar-EG" altLang="en-US" sz="1600" dirty="0">
                <a:solidFill>
                  <a:srgbClr val="323232"/>
                </a:solidFill>
                <a:latin typeface="Arial" pitchFamily="34" charset="0"/>
                <a:ea typeface="Arial" pitchFamily="34" charset="-122"/>
                <a:cs typeface="Arial" pitchFamily="34" charset="-120"/>
              </a:rPr>
              <a:t>د. هشام الزوكة  ·  د. أماني سعد  ·  د. خالد سعادة</a:t>
            </a:r>
            <a:endParaRPr lang="ar-EG" sz="1600" dirty="0"/>
          </a:p>
          <a:p>
            <a:pPr algn="r" indent="0" marL="0">
              <a:spcAft>
                <a:spcPts val="600"/>
              </a:spcAft>
              <a:buNone/>
            </a:pPr>
            <a:r>
              <a:rPr lang="ar-EG" altLang="en-US" sz="1300" i="1" dirty="0">
                <a:solidFill>
                  <a:srgbClr val="6B6B6B"/>
                </a:solidFill>
                <a:latin typeface="Arial" pitchFamily="34" charset="0"/>
                <a:ea typeface="Arial" pitchFamily="34" charset="-122"/>
                <a:cs typeface="Arial" pitchFamily="34" charset="-120"/>
              </a:rPr>
              <a:t>مناقشة رسالة ماجستير</a:t>
            </a:r>
            <a:endParaRPr lang="ar-EG"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المحتوى</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2</a:t>
            </a:r>
            <a:endParaRPr lang="en-US" sz="1000" dirty="0"/>
          </a:p>
        </p:txBody>
      </p:sp>
      <p:sp>
        <p:nvSpPr>
          <p:cNvPr id="20" name="Shape 17"/>
          <p:cNvSpPr/>
          <p:nvPr/>
        </p:nvSpPr>
        <p:spPr>
          <a:xfrm>
            <a:off x="6400800" y="1463040"/>
            <a:ext cx="5029200" cy="868680"/>
          </a:xfrm>
          <a:prstGeom prst="roundRect">
            <a:avLst>
              <a:gd name="adj" fmla="val 12632"/>
            </a:avLst>
          </a:prstGeom>
          <a:solidFill>
            <a:srgbClr val="FFFFFF"/>
          </a:solidFill>
          <a:ln w="12700">
            <a:solidFill>
              <a:srgbClr val="D6D3C7"/>
            </a:solidFill>
            <a:prstDash val="solid"/>
          </a:ln>
        </p:spPr>
      </p:sp>
      <p:sp>
        <p:nvSpPr>
          <p:cNvPr id="21" name="Text 18"/>
          <p:cNvSpPr txBox="1"/>
          <p:nvPr/>
        </p:nvSpPr>
        <p:spPr>
          <a:xfrm>
            <a:off x="10424160" y="1463040"/>
            <a:ext cx="822960" cy="868680"/>
          </a:xfrm>
          <a:prstGeom prst="rect">
            <a:avLst/>
          </a:prstGeom>
          <a:noFill/>
          <a:ln/>
        </p:spPr>
        <p:txBody>
          <a:bodyPr wrap="square" lIns="0" tIns="0" rIns="0" bIns="0" rtlCol="0" anchor="ctr"/>
          <a:lstStyle/>
          <a:p>
            <a:pPr algn="r" indent="0" marL="0">
              <a:buNone/>
            </a:pPr>
            <a:r>
              <a:rPr lang="en-US" sz="2600" b="1" dirty="0">
                <a:solidFill>
                  <a:srgbClr val="8A2522"/>
                </a:solidFill>
                <a:latin typeface="Arial" pitchFamily="34" charset="0"/>
                <a:ea typeface="Arial" pitchFamily="34" charset="-122"/>
                <a:cs typeface="Arial" pitchFamily="34" charset="-120"/>
              </a:rPr>
              <a:t>00</a:t>
            </a:r>
            <a:endParaRPr lang="en-US" sz="2600" dirty="0"/>
          </a:p>
        </p:txBody>
      </p:sp>
      <p:sp>
        <p:nvSpPr>
          <p:cNvPr id="22" name="Text 19"/>
          <p:cNvSpPr txBox="1"/>
          <p:nvPr/>
        </p:nvSpPr>
        <p:spPr>
          <a:xfrm>
            <a:off x="6583680" y="1463040"/>
            <a:ext cx="3749040" cy="868680"/>
          </a:xfrm>
          <a:prstGeom prst="rect">
            <a:avLst/>
          </a:prstGeom>
          <a:noFill/>
          <a:ln/>
        </p:spPr>
        <p:txBody>
          <a:bodyPr wrap="square" lIns="0" tIns="0" rIns="0" bIns="0" rtlCol="0" anchor="ctr"/>
          <a:lstStyle/>
          <a:p>
            <a:pPr rtl="1" algn="r" indent="0" marL="0">
              <a:buNone/>
            </a:pPr>
            <a:r>
              <a:rPr lang="ar-EG" altLang="en-US" sz="1600" dirty="0">
                <a:solidFill>
                  <a:srgbClr val="323232"/>
                </a:solidFill>
                <a:latin typeface="Arial" pitchFamily="34" charset="0"/>
                <a:ea typeface="Arial" pitchFamily="34" charset="-122"/>
                <a:cs typeface="Arial" pitchFamily="34" charset="-120"/>
              </a:rPr>
              <a:t>بيئة العمل: ns-3 وأول تجربة</a:t>
            </a:r>
            <a:endParaRPr lang="ar-EG" sz="1600" dirty="0"/>
          </a:p>
        </p:txBody>
      </p:sp>
      <p:sp>
        <p:nvSpPr>
          <p:cNvPr id="23" name="Shape 20"/>
          <p:cNvSpPr/>
          <p:nvPr/>
        </p:nvSpPr>
        <p:spPr>
          <a:xfrm>
            <a:off x="6400800" y="2560320"/>
            <a:ext cx="5029200" cy="868680"/>
          </a:xfrm>
          <a:prstGeom prst="roundRect">
            <a:avLst>
              <a:gd name="adj" fmla="val 12632"/>
            </a:avLst>
          </a:prstGeom>
          <a:solidFill>
            <a:srgbClr val="FFFFFF"/>
          </a:solidFill>
          <a:ln w="12700">
            <a:solidFill>
              <a:srgbClr val="D6D3C7"/>
            </a:solidFill>
            <a:prstDash val="solid"/>
          </a:ln>
        </p:spPr>
      </p:sp>
      <p:sp>
        <p:nvSpPr>
          <p:cNvPr id="24" name="Text 21"/>
          <p:cNvSpPr txBox="1"/>
          <p:nvPr/>
        </p:nvSpPr>
        <p:spPr>
          <a:xfrm>
            <a:off x="10424160" y="2560320"/>
            <a:ext cx="822960" cy="868680"/>
          </a:xfrm>
          <a:prstGeom prst="rect">
            <a:avLst/>
          </a:prstGeom>
          <a:noFill/>
          <a:ln/>
        </p:spPr>
        <p:txBody>
          <a:bodyPr wrap="square" lIns="0" tIns="0" rIns="0" bIns="0" rtlCol="0" anchor="ctr"/>
          <a:lstStyle/>
          <a:p>
            <a:pPr algn="r" indent="0" marL="0">
              <a:buNone/>
            </a:pPr>
            <a:r>
              <a:rPr lang="en-US" sz="2600" b="1" dirty="0">
                <a:solidFill>
                  <a:srgbClr val="8A2522"/>
                </a:solidFill>
                <a:latin typeface="Arial" pitchFamily="34" charset="0"/>
                <a:ea typeface="Arial" pitchFamily="34" charset="-122"/>
                <a:cs typeface="Arial" pitchFamily="34" charset="-120"/>
              </a:rPr>
              <a:t>01</a:t>
            </a:r>
            <a:endParaRPr lang="en-US" sz="2600" dirty="0"/>
          </a:p>
        </p:txBody>
      </p:sp>
      <p:sp>
        <p:nvSpPr>
          <p:cNvPr id="25" name="Text 22"/>
          <p:cNvSpPr txBox="1"/>
          <p:nvPr/>
        </p:nvSpPr>
        <p:spPr>
          <a:xfrm>
            <a:off x="6583680" y="2560320"/>
            <a:ext cx="3749040" cy="868680"/>
          </a:xfrm>
          <a:prstGeom prst="rect">
            <a:avLst/>
          </a:prstGeom>
          <a:noFill/>
          <a:ln/>
        </p:spPr>
        <p:txBody>
          <a:bodyPr wrap="square" lIns="0" tIns="0" rIns="0" bIns="0" rtlCol="0" anchor="ctr"/>
          <a:lstStyle/>
          <a:p>
            <a:pPr rtl="1" algn="r" indent="0" marL="0">
              <a:buNone/>
            </a:pPr>
            <a:r>
              <a:rPr lang="ar-EG" altLang="en-US" sz="1600" dirty="0">
                <a:solidFill>
                  <a:srgbClr val="323232"/>
                </a:solidFill>
                <a:latin typeface="Arial" pitchFamily="34" charset="0"/>
                <a:ea typeface="Arial" pitchFamily="34" charset="-122"/>
                <a:cs typeface="Arial" pitchFamily="34" charset="-120"/>
              </a:rPr>
              <a:t>الخلفية: شبكات الحساسات والـ Clustering</a:t>
            </a:r>
            <a:endParaRPr lang="ar-EG" sz="1600" dirty="0"/>
          </a:p>
        </p:txBody>
      </p:sp>
      <p:sp>
        <p:nvSpPr>
          <p:cNvPr id="26" name="Shape 23"/>
          <p:cNvSpPr/>
          <p:nvPr/>
        </p:nvSpPr>
        <p:spPr>
          <a:xfrm>
            <a:off x="6400800" y="3657600"/>
            <a:ext cx="5029200" cy="868680"/>
          </a:xfrm>
          <a:prstGeom prst="roundRect">
            <a:avLst>
              <a:gd name="adj" fmla="val 12632"/>
            </a:avLst>
          </a:prstGeom>
          <a:solidFill>
            <a:srgbClr val="FFFFFF"/>
          </a:solidFill>
          <a:ln w="12700">
            <a:solidFill>
              <a:srgbClr val="D6D3C7"/>
            </a:solidFill>
            <a:prstDash val="solid"/>
          </a:ln>
        </p:spPr>
      </p:sp>
      <p:sp>
        <p:nvSpPr>
          <p:cNvPr id="27" name="Text 24"/>
          <p:cNvSpPr txBox="1"/>
          <p:nvPr/>
        </p:nvSpPr>
        <p:spPr>
          <a:xfrm>
            <a:off x="10424160" y="3657600"/>
            <a:ext cx="822960" cy="868680"/>
          </a:xfrm>
          <a:prstGeom prst="rect">
            <a:avLst/>
          </a:prstGeom>
          <a:noFill/>
          <a:ln/>
        </p:spPr>
        <p:txBody>
          <a:bodyPr wrap="square" lIns="0" tIns="0" rIns="0" bIns="0" rtlCol="0" anchor="ctr"/>
          <a:lstStyle/>
          <a:p>
            <a:pPr algn="r" indent="0" marL="0">
              <a:buNone/>
            </a:pPr>
            <a:r>
              <a:rPr lang="en-US" sz="2600" b="1" dirty="0">
                <a:solidFill>
                  <a:srgbClr val="8A2522"/>
                </a:solidFill>
                <a:latin typeface="Arial" pitchFamily="34" charset="0"/>
                <a:ea typeface="Arial" pitchFamily="34" charset="-122"/>
                <a:cs typeface="Arial" pitchFamily="34" charset="-120"/>
              </a:rPr>
              <a:t>02</a:t>
            </a:r>
            <a:endParaRPr lang="en-US" sz="2600" dirty="0"/>
          </a:p>
        </p:txBody>
      </p:sp>
      <p:sp>
        <p:nvSpPr>
          <p:cNvPr id="28" name="Text 25"/>
          <p:cNvSpPr txBox="1"/>
          <p:nvPr/>
        </p:nvSpPr>
        <p:spPr>
          <a:xfrm>
            <a:off x="6583680" y="3657600"/>
            <a:ext cx="3749040" cy="868680"/>
          </a:xfrm>
          <a:prstGeom prst="rect">
            <a:avLst/>
          </a:prstGeom>
          <a:noFill/>
          <a:ln/>
        </p:spPr>
        <p:txBody>
          <a:bodyPr wrap="square" lIns="0" tIns="0" rIns="0" bIns="0" rtlCol="0" anchor="ctr"/>
          <a:lstStyle/>
          <a:p>
            <a:pPr rtl="1" algn="r" indent="0" marL="0">
              <a:buNone/>
            </a:pPr>
            <a:r>
              <a:rPr lang="ar-EG" altLang="en-US" sz="1600" dirty="0">
                <a:solidFill>
                  <a:srgbClr val="323232"/>
                </a:solidFill>
                <a:latin typeface="Arial" pitchFamily="34" charset="0"/>
                <a:ea typeface="Arial" pitchFamily="34" charset="-122"/>
                <a:cs typeface="Arial" pitchFamily="34" charset="-120"/>
              </a:rPr>
              <a:t>الأبحاث السابقة والفجوة البحثية</a:t>
            </a:r>
            <a:endParaRPr lang="ar-EG" sz="1600" dirty="0"/>
          </a:p>
        </p:txBody>
      </p:sp>
      <p:sp>
        <p:nvSpPr>
          <p:cNvPr id="29" name="Shape 26"/>
          <p:cNvSpPr/>
          <p:nvPr/>
        </p:nvSpPr>
        <p:spPr>
          <a:xfrm>
            <a:off x="6400800" y="4754880"/>
            <a:ext cx="5029200" cy="868680"/>
          </a:xfrm>
          <a:prstGeom prst="roundRect">
            <a:avLst>
              <a:gd name="adj" fmla="val 12632"/>
            </a:avLst>
          </a:prstGeom>
          <a:solidFill>
            <a:srgbClr val="FFFFFF"/>
          </a:solidFill>
          <a:ln w="12700">
            <a:solidFill>
              <a:srgbClr val="D6D3C7"/>
            </a:solidFill>
            <a:prstDash val="solid"/>
          </a:ln>
        </p:spPr>
      </p:sp>
      <p:sp>
        <p:nvSpPr>
          <p:cNvPr id="30" name="Text 27"/>
          <p:cNvSpPr txBox="1"/>
          <p:nvPr/>
        </p:nvSpPr>
        <p:spPr>
          <a:xfrm>
            <a:off x="10424160" y="4754880"/>
            <a:ext cx="822960" cy="868680"/>
          </a:xfrm>
          <a:prstGeom prst="rect">
            <a:avLst/>
          </a:prstGeom>
          <a:noFill/>
          <a:ln/>
        </p:spPr>
        <p:txBody>
          <a:bodyPr wrap="square" lIns="0" tIns="0" rIns="0" bIns="0" rtlCol="0" anchor="ctr"/>
          <a:lstStyle/>
          <a:p>
            <a:pPr algn="r" indent="0" marL="0">
              <a:buNone/>
            </a:pPr>
            <a:r>
              <a:rPr lang="en-US" sz="2600" b="1" dirty="0">
                <a:solidFill>
                  <a:srgbClr val="8A2522"/>
                </a:solidFill>
                <a:latin typeface="Arial" pitchFamily="34" charset="0"/>
                <a:ea typeface="Arial" pitchFamily="34" charset="-122"/>
                <a:cs typeface="Arial" pitchFamily="34" charset="-120"/>
              </a:rPr>
              <a:t>03</a:t>
            </a:r>
            <a:endParaRPr lang="en-US" sz="2600" dirty="0"/>
          </a:p>
        </p:txBody>
      </p:sp>
      <p:sp>
        <p:nvSpPr>
          <p:cNvPr id="31" name="Text 28"/>
          <p:cNvSpPr txBox="1"/>
          <p:nvPr/>
        </p:nvSpPr>
        <p:spPr>
          <a:xfrm>
            <a:off x="6583680" y="4754880"/>
            <a:ext cx="3749040" cy="868680"/>
          </a:xfrm>
          <a:prstGeom prst="rect">
            <a:avLst/>
          </a:prstGeom>
          <a:noFill/>
          <a:ln/>
        </p:spPr>
        <p:txBody>
          <a:bodyPr wrap="square" lIns="0" tIns="0" rIns="0" bIns="0" rtlCol="0" anchor="ctr"/>
          <a:lstStyle/>
          <a:p>
            <a:pPr rtl="1" algn="r" indent="0" marL="0">
              <a:buNone/>
            </a:pPr>
            <a:r>
              <a:rPr lang="ar-EG" altLang="en-US" sz="1600" dirty="0">
                <a:solidFill>
                  <a:srgbClr val="323232"/>
                </a:solidFill>
                <a:latin typeface="Arial" pitchFamily="34" charset="0"/>
                <a:ea typeface="Arial" pitchFamily="34" charset="-122"/>
                <a:cs typeface="Arial" pitchFamily="34" charset="-120"/>
              </a:rPr>
              <a:t>المنهجية وبيئة المحاكاة</a:t>
            </a:r>
            <a:endParaRPr lang="ar-EG" sz="1600" dirty="0"/>
          </a:p>
        </p:txBody>
      </p:sp>
      <p:sp>
        <p:nvSpPr>
          <p:cNvPr id="32" name="Shape 29"/>
          <p:cNvSpPr/>
          <p:nvPr/>
        </p:nvSpPr>
        <p:spPr>
          <a:xfrm>
            <a:off x="1005840" y="1463040"/>
            <a:ext cx="5029200" cy="868680"/>
          </a:xfrm>
          <a:prstGeom prst="roundRect">
            <a:avLst>
              <a:gd name="adj" fmla="val 12632"/>
            </a:avLst>
          </a:prstGeom>
          <a:solidFill>
            <a:srgbClr val="FFFFFF"/>
          </a:solidFill>
          <a:ln w="12700">
            <a:solidFill>
              <a:srgbClr val="D6D3C7"/>
            </a:solidFill>
            <a:prstDash val="solid"/>
          </a:ln>
        </p:spPr>
      </p:sp>
      <p:sp>
        <p:nvSpPr>
          <p:cNvPr id="33" name="Text 30"/>
          <p:cNvSpPr txBox="1"/>
          <p:nvPr/>
        </p:nvSpPr>
        <p:spPr>
          <a:xfrm>
            <a:off x="5029200" y="1463040"/>
            <a:ext cx="822960" cy="868680"/>
          </a:xfrm>
          <a:prstGeom prst="rect">
            <a:avLst/>
          </a:prstGeom>
          <a:noFill/>
          <a:ln/>
        </p:spPr>
        <p:txBody>
          <a:bodyPr wrap="square" lIns="0" tIns="0" rIns="0" bIns="0" rtlCol="0" anchor="ctr"/>
          <a:lstStyle/>
          <a:p>
            <a:pPr algn="r" indent="0" marL="0">
              <a:buNone/>
            </a:pPr>
            <a:r>
              <a:rPr lang="en-US" sz="2600" b="1" dirty="0">
                <a:solidFill>
                  <a:srgbClr val="8A2522"/>
                </a:solidFill>
                <a:latin typeface="Arial" pitchFamily="34" charset="0"/>
                <a:ea typeface="Arial" pitchFamily="34" charset="-122"/>
                <a:cs typeface="Arial" pitchFamily="34" charset="-120"/>
              </a:rPr>
              <a:t>04</a:t>
            </a:r>
            <a:endParaRPr lang="en-US" sz="2600" dirty="0"/>
          </a:p>
        </p:txBody>
      </p:sp>
      <p:sp>
        <p:nvSpPr>
          <p:cNvPr id="34" name="Text 31"/>
          <p:cNvSpPr txBox="1"/>
          <p:nvPr/>
        </p:nvSpPr>
        <p:spPr>
          <a:xfrm>
            <a:off x="1188720" y="1463040"/>
            <a:ext cx="3749040" cy="868680"/>
          </a:xfrm>
          <a:prstGeom prst="rect">
            <a:avLst/>
          </a:prstGeom>
          <a:noFill/>
          <a:ln/>
        </p:spPr>
        <p:txBody>
          <a:bodyPr wrap="square" lIns="0" tIns="0" rIns="0" bIns="0" rtlCol="0" anchor="ctr"/>
          <a:lstStyle/>
          <a:p>
            <a:pPr rtl="1" algn="r" indent="0" marL="0">
              <a:buNone/>
            </a:pPr>
            <a:r>
              <a:rPr lang="ar-EG" altLang="en-US" sz="1600" dirty="0">
                <a:solidFill>
                  <a:srgbClr val="323232"/>
                </a:solidFill>
                <a:latin typeface="Arial" pitchFamily="34" charset="0"/>
                <a:ea typeface="Arial" pitchFamily="34" charset="-122"/>
                <a:cs typeface="Arial" pitchFamily="34" charset="-120"/>
              </a:rPr>
              <a:t>إعادة بناء البروتوكولات الموجودة</a:t>
            </a:r>
            <a:endParaRPr lang="ar-EG" sz="1600" dirty="0"/>
          </a:p>
        </p:txBody>
      </p:sp>
      <p:sp>
        <p:nvSpPr>
          <p:cNvPr id="35" name="Shape 32"/>
          <p:cNvSpPr/>
          <p:nvPr/>
        </p:nvSpPr>
        <p:spPr>
          <a:xfrm>
            <a:off x="1005840" y="2560320"/>
            <a:ext cx="5029200" cy="868680"/>
          </a:xfrm>
          <a:prstGeom prst="roundRect">
            <a:avLst>
              <a:gd name="adj" fmla="val 12632"/>
            </a:avLst>
          </a:prstGeom>
          <a:solidFill>
            <a:srgbClr val="FFFFFF"/>
          </a:solidFill>
          <a:ln w="12700">
            <a:solidFill>
              <a:srgbClr val="D6D3C7"/>
            </a:solidFill>
            <a:prstDash val="solid"/>
          </a:ln>
        </p:spPr>
      </p:sp>
      <p:sp>
        <p:nvSpPr>
          <p:cNvPr id="36" name="Text 33"/>
          <p:cNvSpPr txBox="1"/>
          <p:nvPr/>
        </p:nvSpPr>
        <p:spPr>
          <a:xfrm>
            <a:off x="5029200" y="2560320"/>
            <a:ext cx="822960" cy="868680"/>
          </a:xfrm>
          <a:prstGeom prst="rect">
            <a:avLst/>
          </a:prstGeom>
          <a:noFill/>
          <a:ln/>
        </p:spPr>
        <p:txBody>
          <a:bodyPr wrap="square" lIns="0" tIns="0" rIns="0" bIns="0" rtlCol="0" anchor="ctr"/>
          <a:lstStyle/>
          <a:p>
            <a:pPr algn="r" indent="0" marL="0">
              <a:buNone/>
            </a:pPr>
            <a:r>
              <a:rPr lang="en-US" sz="2600" b="1" dirty="0">
                <a:solidFill>
                  <a:srgbClr val="8A2522"/>
                </a:solidFill>
                <a:latin typeface="Arial" pitchFamily="34" charset="0"/>
                <a:ea typeface="Arial" pitchFamily="34" charset="-122"/>
                <a:cs typeface="Arial" pitchFamily="34" charset="-120"/>
              </a:rPr>
              <a:t>05</a:t>
            </a:r>
            <a:endParaRPr lang="en-US" sz="2600" dirty="0"/>
          </a:p>
        </p:txBody>
      </p:sp>
      <p:sp>
        <p:nvSpPr>
          <p:cNvPr id="37" name="Text 34"/>
          <p:cNvSpPr txBox="1"/>
          <p:nvPr/>
        </p:nvSpPr>
        <p:spPr>
          <a:xfrm>
            <a:off x="1188720" y="2560320"/>
            <a:ext cx="3749040" cy="868680"/>
          </a:xfrm>
          <a:prstGeom prst="rect">
            <a:avLst/>
          </a:prstGeom>
          <a:noFill/>
          <a:ln/>
        </p:spPr>
        <p:txBody>
          <a:bodyPr wrap="square" lIns="0" tIns="0" rIns="0" bIns="0" rtlCol="0" anchor="ctr"/>
          <a:lstStyle/>
          <a:p>
            <a:pPr rtl="1" algn="r" indent="0" marL="0">
              <a:buNone/>
            </a:pPr>
            <a:r>
              <a:rPr lang="ar-EG" altLang="en-US" sz="1600" dirty="0">
                <a:solidFill>
                  <a:srgbClr val="323232"/>
                </a:solidFill>
                <a:latin typeface="Arial" pitchFamily="34" charset="0"/>
                <a:ea typeface="Arial" pitchFamily="34" charset="-122"/>
                <a:cs typeface="Arial" pitchFamily="34" charset="-120"/>
              </a:rPr>
              <a:t>البروتوكول المقترح: من v1 لـ v7.2</a:t>
            </a:r>
            <a:endParaRPr lang="ar-EG" sz="1600" dirty="0"/>
          </a:p>
        </p:txBody>
      </p:sp>
      <p:sp>
        <p:nvSpPr>
          <p:cNvPr id="38" name="Shape 35"/>
          <p:cNvSpPr/>
          <p:nvPr/>
        </p:nvSpPr>
        <p:spPr>
          <a:xfrm>
            <a:off x="1005840" y="3657600"/>
            <a:ext cx="5029200" cy="868680"/>
          </a:xfrm>
          <a:prstGeom prst="roundRect">
            <a:avLst>
              <a:gd name="adj" fmla="val 12632"/>
            </a:avLst>
          </a:prstGeom>
          <a:solidFill>
            <a:srgbClr val="FFFFFF"/>
          </a:solidFill>
          <a:ln w="12700">
            <a:solidFill>
              <a:srgbClr val="D6D3C7"/>
            </a:solidFill>
            <a:prstDash val="solid"/>
          </a:ln>
        </p:spPr>
      </p:sp>
      <p:sp>
        <p:nvSpPr>
          <p:cNvPr id="39" name="Text 36"/>
          <p:cNvSpPr txBox="1"/>
          <p:nvPr/>
        </p:nvSpPr>
        <p:spPr>
          <a:xfrm>
            <a:off x="5029200" y="3657600"/>
            <a:ext cx="822960" cy="868680"/>
          </a:xfrm>
          <a:prstGeom prst="rect">
            <a:avLst/>
          </a:prstGeom>
          <a:noFill/>
          <a:ln/>
        </p:spPr>
        <p:txBody>
          <a:bodyPr wrap="square" lIns="0" tIns="0" rIns="0" bIns="0" rtlCol="0" anchor="ctr"/>
          <a:lstStyle/>
          <a:p>
            <a:pPr algn="r" indent="0" marL="0">
              <a:buNone/>
            </a:pPr>
            <a:r>
              <a:rPr lang="en-US" sz="2600" b="1" dirty="0">
                <a:solidFill>
                  <a:srgbClr val="8A2522"/>
                </a:solidFill>
                <a:latin typeface="Arial" pitchFamily="34" charset="0"/>
                <a:ea typeface="Arial" pitchFamily="34" charset="-122"/>
                <a:cs typeface="Arial" pitchFamily="34" charset="-120"/>
              </a:rPr>
              <a:t>06</a:t>
            </a:r>
            <a:endParaRPr lang="en-US" sz="2600" dirty="0"/>
          </a:p>
        </p:txBody>
      </p:sp>
      <p:sp>
        <p:nvSpPr>
          <p:cNvPr id="40" name="Text 37"/>
          <p:cNvSpPr txBox="1"/>
          <p:nvPr/>
        </p:nvSpPr>
        <p:spPr>
          <a:xfrm>
            <a:off x="1188720" y="3657600"/>
            <a:ext cx="3749040" cy="868680"/>
          </a:xfrm>
          <a:prstGeom prst="rect">
            <a:avLst/>
          </a:prstGeom>
          <a:noFill/>
          <a:ln/>
        </p:spPr>
        <p:txBody>
          <a:bodyPr wrap="square" lIns="0" tIns="0" rIns="0" bIns="0" rtlCol="0" anchor="ctr"/>
          <a:lstStyle/>
          <a:p>
            <a:pPr rtl="1" algn="r" indent="0" marL="0">
              <a:buNone/>
            </a:pPr>
            <a:r>
              <a:rPr lang="ar-EG" altLang="en-US" sz="1600" dirty="0">
                <a:solidFill>
                  <a:srgbClr val="323232"/>
                </a:solidFill>
                <a:latin typeface="Arial" pitchFamily="34" charset="0"/>
                <a:ea typeface="Arial" pitchFamily="34" charset="-122"/>
                <a:cs typeface="Arial" pitchFamily="34" charset="-120"/>
              </a:rPr>
              <a:t>التصميم النهائي: v8-Chain</a:t>
            </a:r>
            <a:endParaRPr lang="ar-EG" sz="1600" dirty="0"/>
          </a:p>
        </p:txBody>
      </p:sp>
      <p:sp>
        <p:nvSpPr>
          <p:cNvPr id="41" name="Shape 38"/>
          <p:cNvSpPr/>
          <p:nvPr/>
        </p:nvSpPr>
        <p:spPr>
          <a:xfrm>
            <a:off x="1005840" y="4754880"/>
            <a:ext cx="5029200" cy="868680"/>
          </a:xfrm>
          <a:prstGeom prst="roundRect">
            <a:avLst>
              <a:gd name="adj" fmla="val 12632"/>
            </a:avLst>
          </a:prstGeom>
          <a:solidFill>
            <a:srgbClr val="FFFFFF"/>
          </a:solidFill>
          <a:ln w="12700">
            <a:solidFill>
              <a:srgbClr val="D6D3C7"/>
            </a:solidFill>
            <a:prstDash val="solid"/>
          </a:ln>
        </p:spPr>
      </p:sp>
      <p:sp>
        <p:nvSpPr>
          <p:cNvPr id="42" name="Text 39"/>
          <p:cNvSpPr txBox="1"/>
          <p:nvPr/>
        </p:nvSpPr>
        <p:spPr>
          <a:xfrm>
            <a:off x="5029200" y="4754880"/>
            <a:ext cx="822960" cy="868680"/>
          </a:xfrm>
          <a:prstGeom prst="rect">
            <a:avLst/>
          </a:prstGeom>
          <a:noFill/>
          <a:ln/>
        </p:spPr>
        <p:txBody>
          <a:bodyPr wrap="square" lIns="0" tIns="0" rIns="0" bIns="0" rtlCol="0" anchor="ctr"/>
          <a:lstStyle/>
          <a:p>
            <a:pPr algn="r" indent="0" marL="0">
              <a:buNone/>
            </a:pPr>
            <a:r>
              <a:rPr lang="en-US" sz="2600" b="1" dirty="0">
                <a:solidFill>
                  <a:srgbClr val="8A2522"/>
                </a:solidFill>
                <a:latin typeface="Arial" pitchFamily="34" charset="0"/>
                <a:ea typeface="Arial" pitchFamily="34" charset="-122"/>
                <a:cs typeface="Arial" pitchFamily="34" charset="-120"/>
              </a:rPr>
              <a:t>07</a:t>
            </a:r>
            <a:endParaRPr lang="en-US" sz="2600" dirty="0"/>
          </a:p>
        </p:txBody>
      </p:sp>
      <p:sp>
        <p:nvSpPr>
          <p:cNvPr id="43" name="Text 40"/>
          <p:cNvSpPr txBox="1"/>
          <p:nvPr/>
        </p:nvSpPr>
        <p:spPr>
          <a:xfrm>
            <a:off x="1188720" y="4754880"/>
            <a:ext cx="3749040" cy="868680"/>
          </a:xfrm>
          <a:prstGeom prst="rect">
            <a:avLst/>
          </a:prstGeom>
          <a:noFill/>
          <a:ln/>
        </p:spPr>
        <p:txBody>
          <a:bodyPr wrap="square" lIns="0" tIns="0" rIns="0" bIns="0" rtlCol="0" anchor="ctr"/>
          <a:lstStyle/>
          <a:p>
            <a:pPr rtl="1" algn="r" indent="0" marL="0">
              <a:buNone/>
            </a:pPr>
            <a:r>
              <a:rPr lang="ar-EG" altLang="en-US" sz="1600" dirty="0">
                <a:solidFill>
                  <a:srgbClr val="323232"/>
                </a:solidFill>
                <a:latin typeface="Arial" pitchFamily="34" charset="0"/>
                <a:ea typeface="Arial" pitchFamily="34" charset="-122"/>
                <a:cs typeface="Arial" pitchFamily="34" charset="-120"/>
              </a:rPr>
              <a:t>النتايج والخلاصة والمراجع</a:t>
            </a:r>
            <a:endParaRPr lang="ar-EG"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8A2522"/>
          </a:solidFill>
          <a:ln w="12700">
            <a:solidFill>
              <a:srgbClr val="8A2522"/>
            </a:solidFill>
            <a:prstDash val="solid"/>
          </a:ln>
        </p:spPr>
      </p:sp>
      <p:sp>
        <p:nvSpPr>
          <p:cNvPr id="3" name="Shape 1"/>
          <p:cNvSpPr/>
          <p:nvPr/>
        </p:nvSpPr>
        <p:spPr>
          <a:xfrm flipV="1">
            <a:off x="2455164" y="336042"/>
            <a:ext cx="1110996" cy="555498"/>
          </a:xfrm>
          <a:prstGeom prst="line">
            <a:avLst/>
          </a:prstGeom>
          <a:noFill/>
          <a:ln w="11430">
            <a:solidFill>
              <a:srgbClr val="E7C9C6"/>
            </a:solidFill>
            <a:prstDash val="solid"/>
          </a:ln>
        </p:spPr>
      </p:sp>
      <p:sp>
        <p:nvSpPr>
          <p:cNvPr id="4" name="Shape 2"/>
          <p:cNvSpPr/>
          <p:nvPr/>
        </p:nvSpPr>
        <p:spPr>
          <a:xfrm>
            <a:off x="1344168" y="459486"/>
            <a:ext cx="1110996" cy="432054"/>
          </a:xfrm>
          <a:prstGeom prst="line">
            <a:avLst/>
          </a:prstGeom>
          <a:noFill/>
          <a:ln w="11430">
            <a:solidFill>
              <a:srgbClr val="E7C9C6"/>
            </a:solidFill>
            <a:prstDash val="solid"/>
          </a:ln>
        </p:spPr>
      </p:sp>
      <p:sp>
        <p:nvSpPr>
          <p:cNvPr id="5" name="Shape 3"/>
          <p:cNvSpPr/>
          <p:nvPr/>
        </p:nvSpPr>
        <p:spPr>
          <a:xfrm flipV="1">
            <a:off x="418338" y="459486"/>
            <a:ext cx="925830" cy="864108"/>
          </a:xfrm>
          <a:prstGeom prst="line">
            <a:avLst/>
          </a:prstGeom>
          <a:noFill/>
          <a:ln w="11430">
            <a:solidFill>
              <a:srgbClr val="E7C9C6"/>
            </a:solidFill>
            <a:prstDash val="solid"/>
          </a:ln>
        </p:spPr>
      </p:sp>
      <p:sp>
        <p:nvSpPr>
          <p:cNvPr id="6" name="Shape 4"/>
          <p:cNvSpPr/>
          <p:nvPr/>
        </p:nvSpPr>
        <p:spPr>
          <a:xfrm flipV="1">
            <a:off x="1899666" y="891540"/>
            <a:ext cx="555498" cy="925830"/>
          </a:xfrm>
          <a:prstGeom prst="line">
            <a:avLst/>
          </a:prstGeom>
          <a:noFill/>
          <a:ln w="11430">
            <a:solidFill>
              <a:srgbClr val="E7C9C6"/>
            </a:solidFill>
            <a:prstDash val="solid"/>
          </a:ln>
        </p:spPr>
      </p:sp>
      <p:sp>
        <p:nvSpPr>
          <p:cNvPr id="7" name="Shape 5"/>
          <p:cNvSpPr/>
          <p:nvPr/>
        </p:nvSpPr>
        <p:spPr>
          <a:xfrm>
            <a:off x="418338" y="1323594"/>
            <a:ext cx="1481328" cy="493776"/>
          </a:xfrm>
          <a:prstGeom prst="line">
            <a:avLst/>
          </a:prstGeom>
          <a:noFill/>
          <a:ln w="11430">
            <a:solidFill>
              <a:srgbClr val="E7C9C6"/>
            </a:solidFill>
            <a:prstDash val="solid"/>
          </a:ln>
        </p:spPr>
      </p:sp>
      <p:sp>
        <p:nvSpPr>
          <p:cNvPr id="8" name="Shape 6"/>
          <p:cNvSpPr/>
          <p:nvPr/>
        </p:nvSpPr>
        <p:spPr>
          <a:xfrm flipV="1">
            <a:off x="726948" y="1817370"/>
            <a:ext cx="1172718" cy="555498"/>
          </a:xfrm>
          <a:prstGeom prst="line">
            <a:avLst/>
          </a:prstGeom>
          <a:noFill/>
          <a:ln w="11430">
            <a:solidFill>
              <a:srgbClr val="E7C9C6"/>
            </a:solidFill>
            <a:prstDash val="solid"/>
          </a:ln>
        </p:spPr>
      </p:sp>
      <p:sp>
        <p:nvSpPr>
          <p:cNvPr id="9" name="Shape 7"/>
          <p:cNvSpPr/>
          <p:nvPr/>
        </p:nvSpPr>
        <p:spPr>
          <a:xfrm>
            <a:off x="418338" y="1323594"/>
            <a:ext cx="308610" cy="1049274"/>
          </a:xfrm>
          <a:prstGeom prst="line">
            <a:avLst/>
          </a:prstGeom>
          <a:noFill/>
          <a:ln w="11430">
            <a:solidFill>
              <a:srgbClr val="E7C9C6"/>
            </a:solidFill>
            <a:prstDash val="solid"/>
          </a:ln>
        </p:spPr>
      </p:sp>
      <p:sp>
        <p:nvSpPr>
          <p:cNvPr id="10" name="Shape 8"/>
          <p:cNvSpPr/>
          <p:nvPr/>
        </p:nvSpPr>
        <p:spPr>
          <a:xfrm>
            <a:off x="2455164" y="891540"/>
            <a:ext cx="308610" cy="678942"/>
          </a:xfrm>
          <a:prstGeom prst="line">
            <a:avLst/>
          </a:prstGeom>
          <a:noFill/>
          <a:ln w="11430">
            <a:solidFill>
              <a:srgbClr val="E7C9C6"/>
            </a:solidFill>
            <a:prstDash val="solid"/>
          </a:ln>
        </p:spPr>
      </p:sp>
      <p:sp>
        <p:nvSpPr>
          <p:cNvPr id="11" name="Shape 9"/>
          <p:cNvSpPr/>
          <p:nvPr/>
        </p:nvSpPr>
        <p:spPr>
          <a:xfrm flipV="1">
            <a:off x="1899666" y="1570482"/>
            <a:ext cx="864108" cy="246888"/>
          </a:xfrm>
          <a:prstGeom prst="line">
            <a:avLst/>
          </a:prstGeom>
          <a:noFill/>
          <a:ln w="11430">
            <a:solidFill>
              <a:srgbClr val="E7C9C6"/>
            </a:solidFill>
            <a:prstDash val="solid"/>
          </a:ln>
        </p:spPr>
      </p:sp>
      <p:sp>
        <p:nvSpPr>
          <p:cNvPr id="12" name="Shape 10"/>
          <p:cNvSpPr/>
          <p:nvPr/>
        </p:nvSpPr>
        <p:spPr>
          <a:xfrm flipV="1">
            <a:off x="233172" y="459486"/>
            <a:ext cx="1110996" cy="61722"/>
          </a:xfrm>
          <a:prstGeom prst="line">
            <a:avLst/>
          </a:prstGeom>
          <a:noFill/>
          <a:ln w="11430">
            <a:solidFill>
              <a:srgbClr val="E7C9C6"/>
            </a:solidFill>
            <a:prstDash val="solid"/>
          </a:ln>
        </p:spPr>
      </p:sp>
      <p:sp>
        <p:nvSpPr>
          <p:cNvPr id="13" name="Shape 11"/>
          <p:cNvSpPr/>
          <p:nvPr/>
        </p:nvSpPr>
        <p:spPr>
          <a:xfrm>
            <a:off x="233172" y="521208"/>
            <a:ext cx="185166" cy="802386"/>
          </a:xfrm>
          <a:prstGeom prst="line">
            <a:avLst/>
          </a:prstGeom>
          <a:noFill/>
          <a:ln w="11430">
            <a:solidFill>
              <a:srgbClr val="E7C9C6"/>
            </a:solidFill>
            <a:prstDash val="solid"/>
          </a:ln>
        </p:spPr>
      </p:sp>
      <p:sp>
        <p:nvSpPr>
          <p:cNvPr id="14" name="Shape 12"/>
          <p:cNvSpPr/>
          <p:nvPr/>
        </p:nvSpPr>
        <p:spPr>
          <a:xfrm>
            <a:off x="726948" y="2372868"/>
            <a:ext cx="493776" cy="678942"/>
          </a:xfrm>
          <a:prstGeom prst="line">
            <a:avLst/>
          </a:prstGeom>
          <a:noFill/>
          <a:ln w="11430">
            <a:solidFill>
              <a:srgbClr val="E7C9C6"/>
            </a:solidFill>
            <a:prstDash val="solid"/>
          </a:ln>
        </p:spPr>
      </p:sp>
      <p:sp>
        <p:nvSpPr>
          <p:cNvPr id="15" name="Shape 13"/>
          <p:cNvSpPr/>
          <p:nvPr/>
        </p:nvSpPr>
        <p:spPr>
          <a:xfrm flipV="1">
            <a:off x="171450" y="3051810"/>
            <a:ext cx="1049274" cy="432054"/>
          </a:xfrm>
          <a:prstGeom prst="line">
            <a:avLst/>
          </a:prstGeom>
          <a:noFill/>
          <a:ln w="11430">
            <a:solidFill>
              <a:srgbClr val="E7C9C6"/>
            </a:solidFill>
            <a:prstDash val="solid"/>
          </a:ln>
        </p:spPr>
      </p:sp>
      <p:sp>
        <p:nvSpPr>
          <p:cNvPr id="16" name="Shape 14"/>
          <p:cNvSpPr/>
          <p:nvPr/>
        </p:nvSpPr>
        <p:spPr>
          <a:xfrm flipV="1">
            <a:off x="171450" y="2372868"/>
            <a:ext cx="555498" cy="1110996"/>
          </a:xfrm>
          <a:prstGeom prst="line">
            <a:avLst/>
          </a:prstGeom>
          <a:noFill/>
          <a:ln w="11430">
            <a:solidFill>
              <a:srgbClr val="E7C9C6"/>
            </a:solidFill>
            <a:prstDash val="solid"/>
          </a:ln>
        </p:spPr>
      </p:sp>
      <p:sp>
        <p:nvSpPr>
          <p:cNvPr id="17" name="Shape 15"/>
          <p:cNvSpPr/>
          <p:nvPr/>
        </p:nvSpPr>
        <p:spPr>
          <a:xfrm flipV="1">
            <a:off x="1220724" y="1817370"/>
            <a:ext cx="678942" cy="1234440"/>
          </a:xfrm>
          <a:prstGeom prst="line">
            <a:avLst/>
          </a:prstGeom>
          <a:noFill/>
          <a:ln w="11430">
            <a:solidFill>
              <a:srgbClr val="E7C9C6"/>
            </a:solidFill>
            <a:prstDash val="solid"/>
          </a:ln>
        </p:spPr>
      </p:sp>
      <p:sp>
        <p:nvSpPr>
          <p:cNvPr id="18" name="Shape 16"/>
          <p:cNvSpPr/>
          <p:nvPr/>
        </p:nvSpPr>
        <p:spPr>
          <a:xfrm>
            <a:off x="3525012" y="294894"/>
            <a:ext cx="82296" cy="82296"/>
          </a:xfrm>
          <a:prstGeom prst="ellipse">
            <a:avLst/>
          </a:prstGeom>
          <a:solidFill>
            <a:srgbClr val="8A2522"/>
          </a:solidFill>
          <a:ln w="11430">
            <a:solidFill>
              <a:srgbClr val="E7C9C6"/>
            </a:solidFill>
            <a:prstDash val="solid"/>
          </a:ln>
        </p:spPr>
      </p:sp>
      <p:sp>
        <p:nvSpPr>
          <p:cNvPr id="19" name="Shape 17"/>
          <p:cNvSpPr/>
          <p:nvPr/>
        </p:nvSpPr>
        <p:spPr>
          <a:xfrm>
            <a:off x="2414016" y="850392"/>
            <a:ext cx="82296" cy="82296"/>
          </a:xfrm>
          <a:prstGeom prst="ellipse">
            <a:avLst/>
          </a:prstGeom>
          <a:solidFill>
            <a:srgbClr val="8A2522"/>
          </a:solidFill>
          <a:ln w="11430">
            <a:solidFill>
              <a:srgbClr val="E7C9C6"/>
            </a:solidFill>
            <a:prstDash val="solid"/>
          </a:ln>
        </p:spPr>
      </p:sp>
      <p:sp>
        <p:nvSpPr>
          <p:cNvPr id="20" name="Shape 18"/>
          <p:cNvSpPr/>
          <p:nvPr/>
        </p:nvSpPr>
        <p:spPr>
          <a:xfrm>
            <a:off x="1303020" y="418338"/>
            <a:ext cx="82296" cy="82296"/>
          </a:xfrm>
          <a:prstGeom prst="ellipse">
            <a:avLst/>
          </a:prstGeom>
          <a:solidFill>
            <a:srgbClr val="8A2522"/>
          </a:solidFill>
          <a:ln w="11430">
            <a:solidFill>
              <a:srgbClr val="E7C9C6"/>
            </a:solidFill>
            <a:prstDash val="solid"/>
          </a:ln>
        </p:spPr>
      </p:sp>
      <p:sp>
        <p:nvSpPr>
          <p:cNvPr id="21" name="Shape 19"/>
          <p:cNvSpPr/>
          <p:nvPr/>
        </p:nvSpPr>
        <p:spPr>
          <a:xfrm>
            <a:off x="377190" y="1282446"/>
            <a:ext cx="82296" cy="82296"/>
          </a:xfrm>
          <a:prstGeom prst="ellipse">
            <a:avLst/>
          </a:prstGeom>
          <a:solidFill>
            <a:srgbClr val="8A2522"/>
          </a:solidFill>
          <a:ln w="11430">
            <a:solidFill>
              <a:srgbClr val="E7C9C6"/>
            </a:solidFill>
            <a:prstDash val="solid"/>
          </a:ln>
        </p:spPr>
      </p:sp>
      <p:sp>
        <p:nvSpPr>
          <p:cNvPr id="22" name="Shape 20"/>
          <p:cNvSpPr/>
          <p:nvPr/>
        </p:nvSpPr>
        <p:spPr>
          <a:xfrm>
            <a:off x="1858518" y="1776222"/>
            <a:ext cx="82296" cy="82296"/>
          </a:xfrm>
          <a:prstGeom prst="ellipse">
            <a:avLst/>
          </a:prstGeom>
          <a:solidFill>
            <a:srgbClr val="8A2522"/>
          </a:solidFill>
          <a:ln w="11430">
            <a:solidFill>
              <a:srgbClr val="E7C9C6"/>
            </a:solidFill>
            <a:prstDash val="solid"/>
          </a:ln>
        </p:spPr>
      </p:sp>
      <p:sp>
        <p:nvSpPr>
          <p:cNvPr id="23" name="Shape 21"/>
          <p:cNvSpPr/>
          <p:nvPr/>
        </p:nvSpPr>
        <p:spPr>
          <a:xfrm>
            <a:off x="685800" y="2331720"/>
            <a:ext cx="82296" cy="82296"/>
          </a:xfrm>
          <a:prstGeom prst="ellipse">
            <a:avLst/>
          </a:prstGeom>
          <a:solidFill>
            <a:srgbClr val="8A2522"/>
          </a:solidFill>
          <a:ln w="11430">
            <a:solidFill>
              <a:srgbClr val="E7C9C6"/>
            </a:solidFill>
            <a:prstDash val="solid"/>
          </a:ln>
        </p:spPr>
      </p:sp>
      <p:sp>
        <p:nvSpPr>
          <p:cNvPr id="24" name="Shape 22"/>
          <p:cNvSpPr/>
          <p:nvPr/>
        </p:nvSpPr>
        <p:spPr>
          <a:xfrm>
            <a:off x="2722626" y="1529334"/>
            <a:ext cx="82296" cy="82296"/>
          </a:xfrm>
          <a:prstGeom prst="ellipse">
            <a:avLst/>
          </a:prstGeom>
          <a:solidFill>
            <a:srgbClr val="8A2522"/>
          </a:solidFill>
          <a:ln w="11430">
            <a:solidFill>
              <a:srgbClr val="E7C9C6"/>
            </a:solidFill>
            <a:prstDash val="solid"/>
          </a:ln>
        </p:spPr>
      </p:sp>
      <p:sp>
        <p:nvSpPr>
          <p:cNvPr id="25" name="Shape 23"/>
          <p:cNvSpPr/>
          <p:nvPr/>
        </p:nvSpPr>
        <p:spPr>
          <a:xfrm>
            <a:off x="192024" y="480060"/>
            <a:ext cx="82296" cy="82296"/>
          </a:xfrm>
          <a:prstGeom prst="ellipse">
            <a:avLst/>
          </a:prstGeom>
          <a:solidFill>
            <a:srgbClr val="8A2522"/>
          </a:solidFill>
          <a:ln w="11430">
            <a:solidFill>
              <a:srgbClr val="E7C9C6"/>
            </a:solidFill>
            <a:prstDash val="solid"/>
          </a:ln>
        </p:spPr>
      </p:sp>
      <p:sp>
        <p:nvSpPr>
          <p:cNvPr id="26" name="Shape 24"/>
          <p:cNvSpPr/>
          <p:nvPr/>
        </p:nvSpPr>
        <p:spPr>
          <a:xfrm>
            <a:off x="1179576" y="3010662"/>
            <a:ext cx="82296" cy="82296"/>
          </a:xfrm>
          <a:prstGeom prst="ellipse">
            <a:avLst/>
          </a:prstGeom>
          <a:solidFill>
            <a:srgbClr val="8A2522"/>
          </a:solidFill>
          <a:ln w="11430">
            <a:solidFill>
              <a:srgbClr val="E7C9C6"/>
            </a:solidFill>
            <a:prstDash val="solid"/>
          </a:ln>
        </p:spPr>
      </p:sp>
      <p:sp>
        <p:nvSpPr>
          <p:cNvPr id="27" name="Shape 25"/>
          <p:cNvSpPr/>
          <p:nvPr/>
        </p:nvSpPr>
        <p:spPr>
          <a:xfrm>
            <a:off x="130302" y="3442716"/>
            <a:ext cx="82296" cy="82296"/>
          </a:xfrm>
          <a:prstGeom prst="ellipse">
            <a:avLst/>
          </a:prstGeom>
          <a:solidFill>
            <a:srgbClr val="8A2522"/>
          </a:solidFill>
          <a:ln w="11430">
            <a:solidFill>
              <a:srgbClr val="E7C9C6"/>
            </a:solidFill>
            <a:prstDash val="solid"/>
          </a:ln>
        </p:spPr>
      </p:sp>
      <p:sp>
        <p:nvSpPr>
          <p:cNvPr id="28" name="Shape 26"/>
          <p:cNvSpPr/>
          <p:nvPr/>
        </p:nvSpPr>
        <p:spPr>
          <a:xfrm>
            <a:off x="11020349" y="6163056"/>
            <a:ext cx="592531" cy="296266"/>
          </a:xfrm>
          <a:prstGeom prst="line">
            <a:avLst/>
          </a:prstGeom>
          <a:noFill/>
          <a:ln w="11430">
            <a:solidFill>
              <a:srgbClr val="E7C9C6"/>
            </a:solidFill>
            <a:prstDash val="solid"/>
          </a:ln>
        </p:spPr>
      </p:sp>
      <p:sp>
        <p:nvSpPr>
          <p:cNvPr id="29" name="Shape 27"/>
          <p:cNvSpPr/>
          <p:nvPr/>
        </p:nvSpPr>
        <p:spPr>
          <a:xfrm flipV="1">
            <a:off x="10427818" y="6163056"/>
            <a:ext cx="592531" cy="230429"/>
          </a:xfrm>
          <a:prstGeom prst="line">
            <a:avLst/>
          </a:prstGeom>
          <a:noFill/>
          <a:ln w="11430">
            <a:solidFill>
              <a:srgbClr val="E7C9C6"/>
            </a:solidFill>
            <a:prstDash val="solid"/>
          </a:ln>
        </p:spPr>
      </p:sp>
      <p:sp>
        <p:nvSpPr>
          <p:cNvPr id="30" name="Shape 28"/>
          <p:cNvSpPr/>
          <p:nvPr/>
        </p:nvSpPr>
        <p:spPr>
          <a:xfrm>
            <a:off x="9934042" y="5932627"/>
            <a:ext cx="493776" cy="460858"/>
          </a:xfrm>
          <a:prstGeom prst="line">
            <a:avLst/>
          </a:prstGeom>
          <a:noFill/>
          <a:ln w="11430">
            <a:solidFill>
              <a:srgbClr val="E7C9C6"/>
            </a:solidFill>
            <a:prstDash val="solid"/>
          </a:ln>
        </p:spPr>
      </p:sp>
      <p:sp>
        <p:nvSpPr>
          <p:cNvPr id="31" name="Shape 29"/>
          <p:cNvSpPr/>
          <p:nvPr/>
        </p:nvSpPr>
        <p:spPr>
          <a:xfrm>
            <a:off x="10724083" y="5669280"/>
            <a:ext cx="296266" cy="493776"/>
          </a:xfrm>
          <a:prstGeom prst="line">
            <a:avLst/>
          </a:prstGeom>
          <a:noFill/>
          <a:ln w="11430">
            <a:solidFill>
              <a:srgbClr val="E7C9C6"/>
            </a:solidFill>
            <a:prstDash val="solid"/>
          </a:ln>
        </p:spPr>
      </p:sp>
      <p:sp>
        <p:nvSpPr>
          <p:cNvPr id="32" name="Shape 30"/>
          <p:cNvSpPr/>
          <p:nvPr/>
        </p:nvSpPr>
        <p:spPr>
          <a:xfrm flipV="1">
            <a:off x="9934042" y="5669280"/>
            <a:ext cx="790042" cy="263347"/>
          </a:xfrm>
          <a:prstGeom prst="line">
            <a:avLst/>
          </a:prstGeom>
          <a:noFill/>
          <a:ln w="11430">
            <a:solidFill>
              <a:srgbClr val="E7C9C6"/>
            </a:solidFill>
            <a:prstDash val="solid"/>
          </a:ln>
        </p:spPr>
      </p:sp>
      <p:sp>
        <p:nvSpPr>
          <p:cNvPr id="33" name="Shape 31"/>
          <p:cNvSpPr/>
          <p:nvPr/>
        </p:nvSpPr>
        <p:spPr>
          <a:xfrm>
            <a:off x="10098634" y="5373014"/>
            <a:ext cx="625450" cy="296266"/>
          </a:xfrm>
          <a:prstGeom prst="line">
            <a:avLst/>
          </a:prstGeom>
          <a:noFill/>
          <a:ln w="11430">
            <a:solidFill>
              <a:srgbClr val="E7C9C6"/>
            </a:solidFill>
            <a:prstDash val="solid"/>
          </a:ln>
        </p:spPr>
      </p:sp>
      <p:sp>
        <p:nvSpPr>
          <p:cNvPr id="34" name="Shape 32"/>
          <p:cNvSpPr/>
          <p:nvPr/>
        </p:nvSpPr>
        <p:spPr>
          <a:xfrm flipV="1">
            <a:off x="9934042" y="5373014"/>
            <a:ext cx="164592" cy="559613"/>
          </a:xfrm>
          <a:prstGeom prst="line">
            <a:avLst/>
          </a:prstGeom>
          <a:noFill/>
          <a:ln w="11430">
            <a:solidFill>
              <a:srgbClr val="E7C9C6"/>
            </a:solidFill>
            <a:prstDash val="solid"/>
          </a:ln>
        </p:spPr>
      </p:sp>
      <p:sp>
        <p:nvSpPr>
          <p:cNvPr id="35" name="Shape 33"/>
          <p:cNvSpPr/>
          <p:nvPr/>
        </p:nvSpPr>
        <p:spPr>
          <a:xfrm flipV="1">
            <a:off x="11020349" y="5800954"/>
            <a:ext cx="164592" cy="362102"/>
          </a:xfrm>
          <a:prstGeom prst="line">
            <a:avLst/>
          </a:prstGeom>
          <a:noFill/>
          <a:ln w="11430">
            <a:solidFill>
              <a:srgbClr val="E7C9C6"/>
            </a:solidFill>
            <a:prstDash val="solid"/>
          </a:ln>
        </p:spPr>
      </p:sp>
      <p:sp>
        <p:nvSpPr>
          <p:cNvPr id="36" name="Shape 34"/>
          <p:cNvSpPr/>
          <p:nvPr/>
        </p:nvSpPr>
        <p:spPr>
          <a:xfrm>
            <a:off x="10724083" y="5669280"/>
            <a:ext cx="460858" cy="131674"/>
          </a:xfrm>
          <a:prstGeom prst="line">
            <a:avLst/>
          </a:prstGeom>
          <a:noFill/>
          <a:ln w="11430">
            <a:solidFill>
              <a:srgbClr val="E7C9C6"/>
            </a:solidFill>
            <a:prstDash val="solid"/>
          </a:ln>
        </p:spPr>
      </p:sp>
      <p:sp>
        <p:nvSpPr>
          <p:cNvPr id="37" name="Shape 35"/>
          <p:cNvSpPr/>
          <p:nvPr/>
        </p:nvSpPr>
        <p:spPr>
          <a:xfrm>
            <a:off x="9835286" y="6360566"/>
            <a:ext cx="592531" cy="32918"/>
          </a:xfrm>
          <a:prstGeom prst="line">
            <a:avLst/>
          </a:prstGeom>
          <a:noFill/>
          <a:ln w="11430">
            <a:solidFill>
              <a:srgbClr val="E7C9C6"/>
            </a:solidFill>
            <a:prstDash val="solid"/>
          </a:ln>
        </p:spPr>
      </p:sp>
      <p:sp>
        <p:nvSpPr>
          <p:cNvPr id="38" name="Shape 36"/>
          <p:cNvSpPr/>
          <p:nvPr/>
        </p:nvSpPr>
        <p:spPr>
          <a:xfrm flipV="1">
            <a:off x="9835286" y="5932627"/>
            <a:ext cx="98755" cy="427939"/>
          </a:xfrm>
          <a:prstGeom prst="line">
            <a:avLst/>
          </a:prstGeom>
          <a:noFill/>
          <a:ln w="11430">
            <a:solidFill>
              <a:srgbClr val="E7C9C6"/>
            </a:solidFill>
            <a:prstDash val="solid"/>
          </a:ln>
        </p:spPr>
      </p:sp>
      <p:sp>
        <p:nvSpPr>
          <p:cNvPr id="39" name="Shape 37"/>
          <p:cNvSpPr/>
          <p:nvPr/>
        </p:nvSpPr>
        <p:spPr>
          <a:xfrm flipV="1">
            <a:off x="10098634" y="5010912"/>
            <a:ext cx="263347" cy="362102"/>
          </a:xfrm>
          <a:prstGeom prst="line">
            <a:avLst/>
          </a:prstGeom>
          <a:noFill/>
          <a:ln w="11430">
            <a:solidFill>
              <a:srgbClr val="E7C9C6"/>
            </a:solidFill>
            <a:prstDash val="solid"/>
          </a:ln>
        </p:spPr>
      </p:sp>
      <p:sp>
        <p:nvSpPr>
          <p:cNvPr id="40" name="Shape 38"/>
          <p:cNvSpPr/>
          <p:nvPr/>
        </p:nvSpPr>
        <p:spPr>
          <a:xfrm>
            <a:off x="9802368" y="4780483"/>
            <a:ext cx="559613" cy="230429"/>
          </a:xfrm>
          <a:prstGeom prst="line">
            <a:avLst/>
          </a:prstGeom>
          <a:noFill/>
          <a:ln w="11430">
            <a:solidFill>
              <a:srgbClr val="E7C9C6"/>
            </a:solidFill>
            <a:prstDash val="solid"/>
          </a:ln>
        </p:spPr>
      </p:sp>
      <p:sp>
        <p:nvSpPr>
          <p:cNvPr id="41" name="Shape 39"/>
          <p:cNvSpPr/>
          <p:nvPr/>
        </p:nvSpPr>
        <p:spPr>
          <a:xfrm>
            <a:off x="9802368" y="4780483"/>
            <a:ext cx="296266" cy="592531"/>
          </a:xfrm>
          <a:prstGeom prst="line">
            <a:avLst/>
          </a:prstGeom>
          <a:noFill/>
          <a:ln w="11430">
            <a:solidFill>
              <a:srgbClr val="E7C9C6"/>
            </a:solidFill>
            <a:prstDash val="solid"/>
          </a:ln>
        </p:spPr>
      </p:sp>
      <p:sp>
        <p:nvSpPr>
          <p:cNvPr id="42" name="Shape 40"/>
          <p:cNvSpPr/>
          <p:nvPr/>
        </p:nvSpPr>
        <p:spPr>
          <a:xfrm>
            <a:off x="10361981" y="5010912"/>
            <a:ext cx="362102" cy="658368"/>
          </a:xfrm>
          <a:prstGeom prst="line">
            <a:avLst/>
          </a:prstGeom>
          <a:noFill/>
          <a:ln w="11430">
            <a:solidFill>
              <a:srgbClr val="E7C9C6"/>
            </a:solidFill>
            <a:prstDash val="solid"/>
          </a:ln>
        </p:spPr>
      </p:sp>
      <p:sp>
        <p:nvSpPr>
          <p:cNvPr id="43" name="Shape 41"/>
          <p:cNvSpPr/>
          <p:nvPr/>
        </p:nvSpPr>
        <p:spPr>
          <a:xfrm>
            <a:off x="11571732" y="6418174"/>
            <a:ext cx="82296" cy="82296"/>
          </a:xfrm>
          <a:prstGeom prst="ellipse">
            <a:avLst/>
          </a:prstGeom>
          <a:solidFill>
            <a:srgbClr val="8A2522"/>
          </a:solidFill>
          <a:ln w="11430">
            <a:solidFill>
              <a:srgbClr val="E7C9C6"/>
            </a:solidFill>
            <a:prstDash val="solid"/>
          </a:ln>
        </p:spPr>
      </p:sp>
      <p:sp>
        <p:nvSpPr>
          <p:cNvPr id="44" name="Shape 42"/>
          <p:cNvSpPr/>
          <p:nvPr/>
        </p:nvSpPr>
        <p:spPr>
          <a:xfrm>
            <a:off x="10979201" y="6121908"/>
            <a:ext cx="82296" cy="82296"/>
          </a:xfrm>
          <a:prstGeom prst="ellipse">
            <a:avLst/>
          </a:prstGeom>
          <a:solidFill>
            <a:srgbClr val="8A2522"/>
          </a:solidFill>
          <a:ln w="11430">
            <a:solidFill>
              <a:srgbClr val="E7C9C6"/>
            </a:solidFill>
            <a:prstDash val="solid"/>
          </a:ln>
        </p:spPr>
      </p:sp>
      <p:sp>
        <p:nvSpPr>
          <p:cNvPr id="45" name="Shape 43"/>
          <p:cNvSpPr/>
          <p:nvPr/>
        </p:nvSpPr>
        <p:spPr>
          <a:xfrm>
            <a:off x="10386670" y="6352337"/>
            <a:ext cx="82296" cy="82296"/>
          </a:xfrm>
          <a:prstGeom prst="ellipse">
            <a:avLst/>
          </a:prstGeom>
          <a:solidFill>
            <a:srgbClr val="8A2522"/>
          </a:solidFill>
          <a:ln w="11430">
            <a:solidFill>
              <a:srgbClr val="E7C9C6"/>
            </a:solidFill>
            <a:prstDash val="solid"/>
          </a:ln>
        </p:spPr>
      </p:sp>
      <p:sp>
        <p:nvSpPr>
          <p:cNvPr id="46" name="Shape 44"/>
          <p:cNvSpPr/>
          <p:nvPr/>
        </p:nvSpPr>
        <p:spPr>
          <a:xfrm>
            <a:off x="9892894" y="5891479"/>
            <a:ext cx="82296" cy="82296"/>
          </a:xfrm>
          <a:prstGeom prst="ellipse">
            <a:avLst/>
          </a:prstGeom>
          <a:solidFill>
            <a:srgbClr val="8A2522"/>
          </a:solidFill>
          <a:ln w="11430">
            <a:solidFill>
              <a:srgbClr val="E7C9C6"/>
            </a:solidFill>
            <a:prstDash val="solid"/>
          </a:ln>
        </p:spPr>
      </p:sp>
      <p:sp>
        <p:nvSpPr>
          <p:cNvPr id="47" name="Shape 45"/>
          <p:cNvSpPr/>
          <p:nvPr/>
        </p:nvSpPr>
        <p:spPr>
          <a:xfrm>
            <a:off x="10682935" y="5628132"/>
            <a:ext cx="82296" cy="82296"/>
          </a:xfrm>
          <a:prstGeom prst="ellipse">
            <a:avLst/>
          </a:prstGeom>
          <a:solidFill>
            <a:srgbClr val="8A2522"/>
          </a:solidFill>
          <a:ln w="11430">
            <a:solidFill>
              <a:srgbClr val="E7C9C6"/>
            </a:solidFill>
            <a:prstDash val="solid"/>
          </a:ln>
        </p:spPr>
      </p:sp>
      <p:sp>
        <p:nvSpPr>
          <p:cNvPr id="48" name="Shape 46"/>
          <p:cNvSpPr/>
          <p:nvPr/>
        </p:nvSpPr>
        <p:spPr>
          <a:xfrm>
            <a:off x="10057486" y="5331866"/>
            <a:ext cx="82296" cy="82296"/>
          </a:xfrm>
          <a:prstGeom prst="ellipse">
            <a:avLst/>
          </a:prstGeom>
          <a:solidFill>
            <a:srgbClr val="8A2522"/>
          </a:solidFill>
          <a:ln w="11430">
            <a:solidFill>
              <a:srgbClr val="E7C9C6"/>
            </a:solidFill>
            <a:prstDash val="solid"/>
          </a:ln>
        </p:spPr>
      </p:sp>
      <p:sp>
        <p:nvSpPr>
          <p:cNvPr id="49" name="Shape 47"/>
          <p:cNvSpPr/>
          <p:nvPr/>
        </p:nvSpPr>
        <p:spPr>
          <a:xfrm>
            <a:off x="11143793" y="5759806"/>
            <a:ext cx="82296" cy="82296"/>
          </a:xfrm>
          <a:prstGeom prst="ellipse">
            <a:avLst/>
          </a:prstGeom>
          <a:solidFill>
            <a:srgbClr val="8A2522"/>
          </a:solidFill>
          <a:ln w="11430">
            <a:solidFill>
              <a:srgbClr val="E7C9C6"/>
            </a:solidFill>
            <a:prstDash val="solid"/>
          </a:ln>
        </p:spPr>
      </p:sp>
      <p:sp>
        <p:nvSpPr>
          <p:cNvPr id="50" name="Shape 48"/>
          <p:cNvSpPr/>
          <p:nvPr/>
        </p:nvSpPr>
        <p:spPr>
          <a:xfrm>
            <a:off x="9794138" y="6319418"/>
            <a:ext cx="82296" cy="82296"/>
          </a:xfrm>
          <a:prstGeom prst="ellipse">
            <a:avLst/>
          </a:prstGeom>
          <a:solidFill>
            <a:srgbClr val="8A2522"/>
          </a:solidFill>
          <a:ln w="11430">
            <a:solidFill>
              <a:srgbClr val="E7C9C6"/>
            </a:solidFill>
            <a:prstDash val="solid"/>
          </a:ln>
        </p:spPr>
      </p:sp>
      <p:sp>
        <p:nvSpPr>
          <p:cNvPr id="51" name="Shape 49"/>
          <p:cNvSpPr/>
          <p:nvPr/>
        </p:nvSpPr>
        <p:spPr>
          <a:xfrm>
            <a:off x="10320833" y="4969764"/>
            <a:ext cx="82296" cy="82296"/>
          </a:xfrm>
          <a:prstGeom prst="ellipse">
            <a:avLst/>
          </a:prstGeom>
          <a:solidFill>
            <a:srgbClr val="8A2522"/>
          </a:solidFill>
          <a:ln w="11430">
            <a:solidFill>
              <a:srgbClr val="E7C9C6"/>
            </a:solidFill>
            <a:prstDash val="solid"/>
          </a:ln>
        </p:spPr>
      </p:sp>
      <p:sp>
        <p:nvSpPr>
          <p:cNvPr id="52" name="Shape 50"/>
          <p:cNvSpPr/>
          <p:nvPr/>
        </p:nvSpPr>
        <p:spPr>
          <a:xfrm>
            <a:off x="9761220" y="4739335"/>
            <a:ext cx="82296" cy="82296"/>
          </a:xfrm>
          <a:prstGeom prst="ellipse">
            <a:avLst/>
          </a:prstGeom>
          <a:solidFill>
            <a:srgbClr val="8A2522"/>
          </a:solidFill>
          <a:ln w="11430">
            <a:solidFill>
              <a:srgbClr val="E7C9C6"/>
            </a:solidFill>
            <a:prstDash val="solid"/>
          </a:ln>
        </p:spPr>
      </p:sp>
      <p:sp>
        <p:nvSpPr>
          <p:cNvPr id="53" name="Text 51"/>
          <p:cNvSpPr txBox="1"/>
          <p:nvPr/>
        </p:nvSpPr>
        <p:spPr>
          <a:xfrm>
            <a:off x="7680960" y="1600200"/>
            <a:ext cx="3657600" cy="1280160"/>
          </a:xfrm>
          <a:prstGeom prst="rect">
            <a:avLst/>
          </a:prstGeom>
          <a:noFill/>
          <a:ln/>
        </p:spPr>
        <p:txBody>
          <a:bodyPr wrap="square" lIns="0" tIns="0" rIns="0" bIns="0" rtlCol="0" anchor="ctr"/>
          <a:lstStyle/>
          <a:p>
            <a:pPr algn="r" indent="0" marL="0">
              <a:buNone/>
            </a:pPr>
            <a:r>
              <a:rPr lang="en-US" sz="8800" b="1" dirty="0">
                <a:solidFill>
                  <a:srgbClr val="E7C9C6"/>
                </a:solidFill>
                <a:latin typeface="Arial" pitchFamily="34" charset="0"/>
                <a:ea typeface="Arial" pitchFamily="34" charset="-122"/>
                <a:cs typeface="Arial" pitchFamily="34" charset="-120"/>
              </a:rPr>
              <a:t>00</a:t>
            </a:r>
            <a:endParaRPr lang="en-US" sz="8800" dirty="0"/>
          </a:p>
        </p:txBody>
      </p:sp>
      <p:sp>
        <p:nvSpPr>
          <p:cNvPr id="54" name="Text 52"/>
          <p:cNvSpPr txBox="1"/>
          <p:nvPr/>
        </p:nvSpPr>
        <p:spPr>
          <a:xfrm>
            <a:off x="1371600" y="2926080"/>
            <a:ext cx="9966960" cy="914400"/>
          </a:xfrm>
          <a:prstGeom prst="rect">
            <a:avLst/>
          </a:prstGeom>
          <a:noFill/>
          <a:ln/>
        </p:spPr>
        <p:txBody>
          <a:bodyPr wrap="square" lIns="0" tIns="0" rIns="0" bIns="0" rtlCol="0" anchor="ctr"/>
          <a:lstStyle/>
          <a:p>
            <a:pPr rtl="1" algn="r" indent="0" marL="0">
              <a:buNone/>
            </a:pPr>
            <a:r>
              <a:rPr lang="ar-EG" altLang="en-US" sz="4000" b="1" dirty="0">
                <a:solidFill>
                  <a:srgbClr val="FFFFFF"/>
                </a:solidFill>
                <a:latin typeface="Arial" pitchFamily="34" charset="0"/>
                <a:ea typeface="Arial" pitchFamily="34" charset="-122"/>
                <a:cs typeface="Arial" pitchFamily="34" charset="-120"/>
              </a:rPr>
              <a:t>بيئة العمل</a:t>
            </a:r>
            <a:endParaRPr lang="ar-EG" sz="4000" dirty="0"/>
          </a:p>
        </p:txBody>
      </p:sp>
      <p:sp>
        <p:nvSpPr>
          <p:cNvPr id="55" name="Text 53"/>
          <p:cNvSpPr txBox="1"/>
          <p:nvPr/>
        </p:nvSpPr>
        <p:spPr>
          <a:xfrm>
            <a:off x="1371600" y="3886200"/>
            <a:ext cx="9966960" cy="822960"/>
          </a:xfrm>
          <a:prstGeom prst="rect">
            <a:avLst/>
          </a:prstGeom>
          <a:noFill/>
          <a:ln/>
        </p:spPr>
        <p:txBody>
          <a:bodyPr wrap="square" lIns="0" tIns="0" rIns="0" bIns="0" rtlCol="0" anchor="t"/>
          <a:lstStyle/>
          <a:p>
            <a:pPr rtl="1" algn="r" indent="0" marL="0">
              <a:buNone/>
            </a:pPr>
            <a:r>
              <a:rPr lang="ar-EG" altLang="en-US" sz="1800" dirty="0">
                <a:solidFill>
                  <a:srgbClr val="F3E3E1"/>
                </a:solidFill>
                <a:latin typeface="Arial" pitchFamily="34" charset="0"/>
                <a:ea typeface="Arial" pitchFamily="34" charset="-122"/>
                <a:cs typeface="Arial" pitchFamily="34" charset="-120"/>
              </a:rPr>
              <a:t>اشتغلت على إيه: VMware · Ubuntu · ns-3.41 · NetAnim — وأول شبكة بسيطة جربتها</a:t>
            </a:r>
            <a:endParaRPr lang="ar-EG"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الأدوات والتجهيز</a:t>
            </a:r>
            <a:pPr algn="r" indent="0" marL="0">
              <a:buNone/>
            </a:pPr>
            <a:r>
              <a:rPr lang="ar-EG" altLang="en-US" sz="2100" dirty="0">
                <a:solidFill>
                  <a:srgbClr val="8A2522"/>
                </a:solidFill>
                <a:latin typeface="Arial" pitchFamily="34" charset="0"/>
                <a:ea typeface="Arial" pitchFamily="34" charset="-122"/>
                <a:cs typeface="Arial" pitchFamily="34" charset="-120"/>
              </a:rPr>
              <a:t>  –  VMware · Ubuntu · ns-3</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4</a:t>
            </a:r>
            <a:endParaRPr lang="en-US" sz="1000" dirty="0"/>
          </a:p>
        </p:txBody>
      </p:sp>
      <p:sp>
        <p:nvSpPr>
          <p:cNvPr id="20" name="Shape 17"/>
          <p:cNvSpPr/>
          <p:nvPr/>
        </p:nvSpPr>
        <p:spPr>
          <a:xfrm>
            <a:off x="9513418" y="1417320"/>
            <a:ext cx="1916582" cy="960120"/>
          </a:xfrm>
          <a:prstGeom prst="roundRect">
            <a:avLst>
              <a:gd name="adj" fmla="val 9524"/>
            </a:avLst>
          </a:prstGeom>
          <a:solidFill>
            <a:srgbClr val="FFFFFF"/>
          </a:solidFill>
          <a:ln w="12700">
            <a:solidFill>
              <a:srgbClr val="D6D3C7"/>
            </a:solidFill>
            <a:prstDash val="solid"/>
          </a:ln>
        </p:spPr>
      </p:sp>
      <p:sp>
        <p:nvSpPr>
          <p:cNvPr id="21" name="Text 18"/>
          <p:cNvSpPr txBox="1"/>
          <p:nvPr/>
        </p:nvSpPr>
        <p:spPr>
          <a:xfrm>
            <a:off x="9586570" y="1472184"/>
            <a:ext cx="1770278" cy="850392"/>
          </a:xfrm>
          <a:prstGeom prst="rect">
            <a:avLst/>
          </a:prstGeom>
          <a:noFill/>
          <a:ln/>
        </p:spPr>
        <p:txBody>
          <a:bodyPr wrap="square" lIns="0" tIns="0" rIns="0" bIns="0" rtlCol="0" anchor="ctr"/>
          <a:lstStyle/>
          <a:p>
            <a:pPr algn="ctr" indent="0" marL="0">
              <a:buNone/>
            </a:pPr>
            <a:r>
              <a:rPr lang="ar-EG" altLang="en-US" sz="1500" b="1" dirty="0">
                <a:solidFill>
                  <a:srgbClr val="8A2522"/>
                </a:solidFill>
                <a:latin typeface="Arial" pitchFamily="34" charset="0"/>
                <a:ea typeface="Arial" pitchFamily="34" charset="-122"/>
                <a:cs typeface="Arial" pitchFamily="34" charset="-120"/>
              </a:rPr>
              <a:t>VMware</a:t>
            </a:r>
            <a:endParaRPr lang="ar-EG" sz="1500" dirty="0"/>
          </a:p>
          <a:p>
            <a:pPr algn="ctr" indent="0" marL="0">
              <a:buNone/>
            </a:pPr>
            <a:r>
              <a:rPr lang="ar-EG" altLang="en-US" sz="1150" dirty="0">
                <a:solidFill>
                  <a:srgbClr val="323232"/>
                </a:solidFill>
                <a:latin typeface="Arial" pitchFamily="34" charset="0"/>
                <a:ea typeface="Arial" pitchFamily="34" charset="-122"/>
                <a:cs typeface="Arial" pitchFamily="34" charset="-120"/>
              </a:rPr>
              <a:t>جهاز افتراضي</a:t>
            </a:r>
            <a:endParaRPr lang="ar-EG" sz="1500" dirty="0"/>
          </a:p>
        </p:txBody>
      </p:sp>
      <p:sp>
        <p:nvSpPr>
          <p:cNvPr id="22" name="Shape 19"/>
          <p:cNvSpPr/>
          <p:nvPr/>
        </p:nvSpPr>
        <p:spPr>
          <a:xfrm>
            <a:off x="9295790" y="1796796"/>
            <a:ext cx="179222" cy="201168"/>
          </a:xfrm>
          <a:prstGeom prst="leftArrow">
            <a:avLst/>
          </a:prstGeom>
          <a:solidFill>
            <a:srgbClr val="8A2522"/>
          </a:solidFill>
          <a:ln w="12700">
            <a:solidFill>
              <a:srgbClr val="8A2522"/>
            </a:solidFill>
            <a:prstDash val="solid"/>
          </a:ln>
        </p:spPr>
      </p:sp>
      <p:sp>
        <p:nvSpPr>
          <p:cNvPr id="23" name="Shape 20"/>
          <p:cNvSpPr/>
          <p:nvPr/>
        </p:nvSpPr>
        <p:spPr>
          <a:xfrm>
            <a:off x="7340803" y="1417320"/>
            <a:ext cx="1916582" cy="960120"/>
          </a:xfrm>
          <a:prstGeom prst="roundRect">
            <a:avLst>
              <a:gd name="adj" fmla="val 9524"/>
            </a:avLst>
          </a:prstGeom>
          <a:solidFill>
            <a:srgbClr val="FFFFFF"/>
          </a:solidFill>
          <a:ln w="12700">
            <a:solidFill>
              <a:srgbClr val="D6D3C7"/>
            </a:solidFill>
            <a:prstDash val="solid"/>
          </a:ln>
        </p:spPr>
      </p:sp>
      <p:sp>
        <p:nvSpPr>
          <p:cNvPr id="24" name="Text 21"/>
          <p:cNvSpPr txBox="1"/>
          <p:nvPr/>
        </p:nvSpPr>
        <p:spPr>
          <a:xfrm>
            <a:off x="7413955" y="1472184"/>
            <a:ext cx="1770278" cy="850392"/>
          </a:xfrm>
          <a:prstGeom prst="rect">
            <a:avLst/>
          </a:prstGeom>
          <a:noFill/>
          <a:ln/>
        </p:spPr>
        <p:txBody>
          <a:bodyPr wrap="square" lIns="0" tIns="0" rIns="0" bIns="0" rtlCol="0" anchor="ctr"/>
          <a:lstStyle/>
          <a:p>
            <a:pPr algn="ctr" indent="0" marL="0">
              <a:buNone/>
            </a:pPr>
            <a:r>
              <a:rPr lang="ar-EG" altLang="en-US" sz="1500" b="1" dirty="0">
                <a:solidFill>
                  <a:srgbClr val="8A2522"/>
                </a:solidFill>
                <a:latin typeface="Arial" pitchFamily="34" charset="0"/>
                <a:ea typeface="Arial" pitchFamily="34" charset="-122"/>
                <a:cs typeface="Arial" pitchFamily="34" charset="-120"/>
              </a:rPr>
              <a:t>Ubuntu Linux</a:t>
            </a:r>
            <a:endParaRPr lang="ar-EG" sz="1500" dirty="0"/>
          </a:p>
          <a:p>
            <a:pPr algn="ctr" indent="0" marL="0">
              <a:buNone/>
            </a:pPr>
            <a:r>
              <a:rPr lang="ar-EG" altLang="en-US" sz="1150" dirty="0">
                <a:solidFill>
                  <a:srgbClr val="323232"/>
                </a:solidFill>
                <a:latin typeface="Arial" pitchFamily="34" charset="0"/>
                <a:ea typeface="Arial" pitchFamily="34" charset="-122"/>
                <a:cs typeface="Arial" pitchFamily="34" charset="-120"/>
              </a:rPr>
              <a:t>نظام التشغيل</a:t>
            </a:r>
            <a:endParaRPr lang="ar-EG" sz="1500" dirty="0"/>
          </a:p>
        </p:txBody>
      </p:sp>
      <p:sp>
        <p:nvSpPr>
          <p:cNvPr id="25" name="Shape 22"/>
          <p:cNvSpPr/>
          <p:nvPr/>
        </p:nvSpPr>
        <p:spPr>
          <a:xfrm>
            <a:off x="7123176" y="1796796"/>
            <a:ext cx="179222" cy="201168"/>
          </a:xfrm>
          <a:prstGeom prst="leftArrow">
            <a:avLst/>
          </a:prstGeom>
          <a:solidFill>
            <a:srgbClr val="8A2522"/>
          </a:solidFill>
          <a:ln w="12700">
            <a:solidFill>
              <a:srgbClr val="8A2522"/>
            </a:solidFill>
            <a:prstDash val="solid"/>
          </a:ln>
        </p:spPr>
      </p:sp>
      <p:sp>
        <p:nvSpPr>
          <p:cNvPr id="26" name="Shape 23"/>
          <p:cNvSpPr/>
          <p:nvPr/>
        </p:nvSpPr>
        <p:spPr>
          <a:xfrm>
            <a:off x="5168189" y="1417320"/>
            <a:ext cx="1916582" cy="960120"/>
          </a:xfrm>
          <a:prstGeom prst="roundRect">
            <a:avLst>
              <a:gd name="adj" fmla="val 9524"/>
            </a:avLst>
          </a:prstGeom>
          <a:solidFill>
            <a:srgbClr val="FFFFFF"/>
          </a:solidFill>
          <a:ln w="12700">
            <a:solidFill>
              <a:srgbClr val="D6D3C7"/>
            </a:solidFill>
            <a:prstDash val="solid"/>
          </a:ln>
        </p:spPr>
      </p:sp>
      <p:sp>
        <p:nvSpPr>
          <p:cNvPr id="27" name="Text 24"/>
          <p:cNvSpPr txBox="1"/>
          <p:nvPr/>
        </p:nvSpPr>
        <p:spPr>
          <a:xfrm>
            <a:off x="5241341" y="1472184"/>
            <a:ext cx="1770278" cy="850392"/>
          </a:xfrm>
          <a:prstGeom prst="rect">
            <a:avLst/>
          </a:prstGeom>
          <a:noFill/>
          <a:ln/>
        </p:spPr>
        <p:txBody>
          <a:bodyPr wrap="square" lIns="0" tIns="0" rIns="0" bIns="0" rtlCol="0" anchor="ctr"/>
          <a:lstStyle/>
          <a:p>
            <a:pPr algn="ctr" indent="0" marL="0">
              <a:buNone/>
            </a:pPr>
            <a:r>
              <a:rPr lang="ar-EG" altLang="en-US" sz="1500" b="1" dirty="0">
                <a:solidFill>
                  <a:srgbClr val="8A2522"/>
                </a:solidFill>
                <a:latin typeface="Arial" pitchFamily="34" charset="0"/>
                <a:ea typeface="Arial" pitchFamily="34" charset="-122"/>
                <a:cs typeface="Arial" pitchFamily="34" charset="-120"/>
              </a:rPr>
              <a:t>ns-3.41</a:t>
            </a:r>
            <a:endParaRPr lang="ar-EG" sz="1500" dirty="0"/>
          </a:p>
          <a:p>
            <a:pPr algn="ctr" indent="0" marL="0">
              <a:buNone/>
            </a:pPr>
            <a:r>
              <a:rPr lang="ar-EG" altLang="en-US" sz="1150" dirty="0">
                <a:solidFill>
                  <a:srgbClr val="323232"/>
                </a:solidFill>
                <a:latin typeface="Arial" pitchFamily="34" charset="0"/>
                <a:ea typeface="Arial" pitchFamily="34" charset="-122"/>
                <a:cs typeface="Arial" pitchFamily="34" charset="-120"/>
              </a:rPr>
              <a:t>محاكي شبكات بـ C++</a:t>
            </a:r>
            <a:endParaRPr lang="ar-EG" sz="1500" dirty="0"/>
          </a:p>
        </p:txBody>
      </p:sp>
      <p:sp>
        <p:nvSpPr>
          <p:cNvPr id="28" name="Shape 25"/>
          <p:cNvSpPr/>
          <p:nvPr/>
        </p:nvSpPr>
        <p:spPr>
          <a:xfrm>
            <a:off x="4950562" y="1796796"/>
            <a:ext cx="179222" cy="201168"/>
          </a:xfrm>
          <a:prstGeom prst="leftArrow">
            <a:avLst/>
          </a:prstGeom>
          <a:solidFill>
            <a:srgbClr val="8A2522"/>
          </a:solidFill>
          <a:ln w="12700">
            <a:solidFill>
              <a:srgbClr val="8A2522"/>
            </a:solidFill>
            <a:prstDash val="solid"/>
          </a:ln>
        </p:spPr>
      </p:sp>
      <p:sp>
        <p:nvSpPr>
          <p:cNvPr id="29" name="Shape 26"/>
          <p:cNvSpPr/>
          <p:nvPr/>
        </p:nvSpPr>
        <p:spPr>
          <a:xfrm>
            <a:off x="2995574" y="1417320"/>
            <a:ext cx="1916582" cy="960120"/>
          </a:xfrm>
          <a:prstGeom prst="roundRect">
            <a:avLst>
              <a:gd name="adj" fmla="val 9524"/>
            </a:avLst>
          </a:prstGeom>
          <a:solidFill>
            <a:srgbClr val="FFFFFF"/>
          </a:solidFill>
          <a:ln w="12700">
            <a:solidFill>
              <a:srgbClr val="D6D3C7"/>
            </a:solidFill>
            <a:prstDash val="solid"/>
          </a:ln>
        </p:spPr>
      </p:sp>
      <p:sp>
        <p:nvSpPr>
          <p:cNvPr id="30" name="Text 27"/>
          <p:cNvSpPr txBox="1"/>
          <p:nvPr/>
        </p:nvSpPr>
        <p:spPr>
          <a:xfrm>
            <a:off x="3068726" y="1472184"/>
            <a:ext cx="1770278" cy="850392"/>
          </a:xfrm>
          <a:prstGeom prst="rect">
            <a:avLst/>
          </a:prstGeom>
          <a:noFill/>
          <a:ln/>
        </p:spPr>
        <p:txBody>
          <a:bodyPr wrap="square" lIns="0" tIns="0" rIns="0" bIns="0" rtlCol="0" anchor="ctr"/>
          <a:lstStyle/>
          <a:p>
            <a:pPr algn="ctr" indent="0" marL="0">
              <a:buNone/>
            </a:pPr>
            <a:r>
              <a:rPr lang="ar-EG" altLang="en-US" sz="1500" b="1" dirty="0">
                <a:solidFill>
                  <a:srgbClr val="8A2522"/>
                </a:solidFill>
                <a:latin typeface="Arial" pitchFamily="34" charset="0"/>
                <a:ea typeface="Arial" pitchFamily="34" charset="-122"/>
                <a:cs typeface="Arial" pitchFamily="34" charset="-120"/>
              </a:rPr>
              <a:t>NetAnim</a:t>
            </a:r>
            <a:endParaRPr lang="ar-EG" sz="1500" dirty="0"/>
          </a:p>
          <a:p>
            <a:pPr algn="ctr" indent="0" marL="0">
              <a:buNone/>
            </a:pPr>
            <a:r>
              <a:rPr lang="ar-EG" altLang="en-US" sz="1150" dirty="0">
                <a:solidFill>
                  <a:srgbClr val="323232"/>
                </a:solidFill>
                <a:latin typeface="Arial" pitchFamily="34" charset="0"/>
                <a:ea typeface="Arial" pitchFamily="34" charset="-122"/>
                <a:cs typeface="Arial" pitchFamily="34" charset="-120"/>
              </a:rPr>
              <a:t>أنيميشن للشبكة</a:t>
            </a:r>
            <a:endParaRPr lang="ar-EG" sz="1500" dirty="0"/>
          </a:p>
        </p:txBody>
      </p:sp>
      <p:sp>
        <p:nvSpPr>
          <p:cNvPr id="31" name="Shape 28"/>
          <p:cNvSpPr/>
          <p:nvPr/>
        </p:nvSpPr>
        <p:spPr>
          <a:xfrm>
            <a:off x="2777947" y="1796796"/>
            <a:ext cx="179222" cy="201168"/>
          </a:xfrm>
          <a:prstGeom prst="leftArrow">
            <a:avLst/>
          </a:prstGeom>
          <a:solidFill>
            <a:srgbClr val="8A2522"/>
          </a:solidFill>
          <a:ln w="12700">
            <a:solidFill>
              <a:srgbClr val="8A2522"/>
            </a:solidFill>
            <a:prstDash val="solid"/>
          </a:ln>
        </p:spPr>
      </p:sp>
      <p:sp>
        <p:nvSpPr>
          <p:cNvPr id="32" name="Shape 29"/>
          <p:cNvSpPr/>
          <p:nvPr/>
        </p:nvSpPr>
        <p:spPr>
          <a:xfrm>
            <a:off x="822960" y="1417320"/>
            <a:ext cx="1916582" cy="960120"/>
          </a:xfrm>
          <a:prstGeom prst="roundRect">
            <a:avLst>
              <a:gd name="adj" fmla="val 9524"/>
            </a:avLst>
          </a:prstGeom>
          <a:solidFill>
            <a:srgbClr val="FFFFFF"/>
          </a:solidFill>
          <a:ln w="12700">
            <a:solidFill>
              <a:srgbClr val="D6D3C7"/>
            </a:solidFill>
            <a:prstDash val="solid"/>
          </a:ln>
        </p:spPr>
      </p:sp>
      <p:sp>
        <p:nvSpPr>
          <p:cNvPr id="33" name="Text 30"/>
          <p:cNvSpPr txBox="1"/>
          <p:nvPr/>
        </p:nvSpPr>
        <p:spPr>
          <a:xfrm>
            <a:off x="896112" y="1472184"/>
            <a:ext cx="1770278" cy="850392"/>
          </a:xfrm>
          <a:prstGeom prst="rect">
            <a:avLst/>
          </a:prstGeom>
          <a:noFill/>
          <a:ln/>
        </p:spPr>
        <p:txBody>
          <a:bodyPr wrap="square" lIns="0" tIns="0" rIns="0" bIns="0" rtlCol="0" anchor="ctr"/>
          <a:lstStyle/>
          <a:p>
            <a:pPr algn="ctr" indent="0" marL="0">
              <a:buNone/>
            </a:pPr>
            <a:r>
              <a:rPr lang="ar-EG" altLang="en-US" sz="1500" b="1" dirty="0">
                <a:solidFill>
                  <a:srgbClr val="8A2522"/>
                </a:solidFill>
                <a:latin typeface="Arial" pitchFamily="34" charset="0"/>
                <a:ea typeface="Arial" pitchFamily="34" charset="-122"/>
                <a:cs typeface="Arial" pitchFamily="34" charset="-120"/>
              </a:rPr>
              <a:t>Python / Excel</a:t>
            </a:r>
            <a:endParaRPr lang="ar-EG" sz="1500" dirty="0"/>
          </a:p>
          <a:p>
            <a:pPr algn="ctr" indent="0" marL="0">
              <a:buNone/>
            </a:pPr>
            <a:r>
              <a:rPr lang="ar-EG" altLang="en-US" sz="1150" dirty="0">
                <a:solidFill>
                  <a:srgbClr val="323232"/>
                </a:solidFill>
                <a:latin typeface="Arial" pitchFamily="34" charset="0"/>
                <a:ea typeface="Arial" pitchFamily="34" charset="-122"/>
                <a:cs typeface="Arial" pitchFamily="34" charset="-120"/>
              </a:rPr>
              <a:t>رسومات ومقارنة</a:t>
            </a:r>
            <a:endParaRPr lang="ar-EG" sz="1500" dirty="0"/>
          </a:p>
        </p:txBody>
      </p:sp>
      <p:sp>
        <p:nvSpPr>
          <p:cNvPr id="34" name="Shape 31"/>
          <p:cNvSpPr/>
          <p:nvPr/>
        </p:nvSpPr>
        <p:spPr>
          <a:xfrm>
            <a:off x="4754880" y="2651760"/>
            <a:ext cx="6675120" cy="3246120"/>
          </a:xfrm>
          <a:prstGeom prst="roundRect">
            <a:avLst>
              <a:gd name="adj" fmla="val 2817"/>
            </a:avLst>
          </a:prstGeom>
          <a:solidFill>
            <a:srgbClr val="FFFFFF"/>
          </a:solidFill>
          <a:ln w="19050">
            <a:solidFill>
              <a:srgbClr val="C9A09E"/>
            </a:solidFill>
            <a:prstDash val="dash"/>
          </a:ln>
        </p:spPr>
      </p:sp>
      <p:sp>
        <p:nvSpPr>
          <p:cNvPr id="35" name="Text 32"/>
          <p:cNvSpPr txBox="1"/>
          <p:nvPr/>
        </p:nvSpPr>
        <p:spPr>
          <a:xfrm>
            <a:off x="4937760" y="2834640"/>
            <a:ext cx="6309360" cy="2880360"/>
          </a:xfrm>
          <a:prstGeom prst="rect">
            <a:avLst/>
          </a:prstGeom>
          <a:noFill/>
          <a:ln/>
        </p:spPr>
        <p:txBody>
          <a:bodyPr wrap="square" lIns="0" tIns="0" rIns="0" bIns="0" rtlCol="0" anchor="ctr"/>
          <a:lstStyle/>
          <a:p>
            <a:pPr algn="ctr" indent="0" marL="0">
              <a:buNone/>
            </a:pPr>
            <a:r>
              <a:rPr lang="ar-EG" altLang="en-US" sz="3000" dirty="0">
                <a:solidFill>
                  <a:srgbClr val="000000"/>
                </a:solidFill>
                <a:latin typeface="Arial" pitchFamily="34" charset="0"/>
                <a:ea typeface="Arial" pitchFamily="34" charset="-122"/>
                <a:cs typeface="Arial" pitchFamily="34" charset="-120"/>
              </a:rPr>
              <a:t>📷</a:t>
            </a:r>
            <a:endParaRPr lang="ar-EG" sz="3000" dirty="0"/>
          </a:p>
          <a:p>
            <a:pPr algn="ctr" indent="0" marL="0">
              <a:buNone/>
            </a:pPr>
            <a:r>
              <a:rPr lang="ar-EG" altLang="en-US" sz="1300" b="1" dirty="0">
                <a:solidFill>
                  <a:srgbClr val="8A2522"/>
                </a:solidFill>
                <a:latin typeface="Arial" pitchFamily="34" charset="0"/>
                <a:ea typeface="Arial" pitchFamily="34" charset="-122"/>
                <a:cs typeface="Arial" pitchFamily="34" charset="-120"/>
              </a:rPr>
              <a:t>Screenshot 1 — VMware وعليها Ubuntu وns-3</a:t>
            </a:r>
            <a:endParaRPr lang="ar-EG" sz="3000" dirty="0"/>
          </a:p>
          <a:p>
            <a:pPr algn="ctr" indent="0" marL="0">
              <a:buNone/>
            </a:pPr>
            <a:r>
              <a:rPr lang="ar-EG" altLang="en-US" sz="1100" i="1" dirty="0">
                <a:solidFill>
                  <a:srgbClr val="6B6B6B"/>
                </a:solidFill>
                <a:latin typeface="Arial" pitchFamily="34" charset="0"/>
                <a:ea typeface="Arial" pitchFamily="34" charset="-122"/>
                <a:cs typeface="Arial" pitchFamily="34" charset="-120"/>
              </a:rPr>
              <a:t>(حطي هنا الـ screenshot من VMware)</a:t>
            </a:r>
            <a:endParaRPr lang="ar-EG" sz="3000" dirty="0"/>
          </a:p>
        </p:txBody>
      </p:sp>
      <p:sp>
        <p:nvSpPr>
          <p:cNvPr id="36" name="Shape 33"/>
          <p:cNvSpPr/>
          <p:nvPr/>
        </p:nvSpPr>
        <p:spPr>
          <a:xfrm>
            <a:off x="822960" y="2651760"/>
            <a:ext cx="3657600" cy="3246120"/>
          </a:xfrm>
          <a:prstGeom prst="roundRect">
            <a:avLst>
              <a:gd name="adj" fmla="val 3380"/>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37" name="Text 34"/>
          <p:cNvSpPr txBox="1"/>
          <p:nvPr/>
        </p:nvSpPr>
        <p:spPr>
          <a:xfrm>
            <a:off x="1005840" y="2788920"/>
            <a:ext cx="325526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الكود موجود فين</a:t>
            </a:r>
            <a:endParaRPr lang="ar-EG" sz="1500" dirty="0"/>
          </a:p>
        </p:txBody>
      </p:sp>
      <p:sp>
        <p:nvSpPr>
          <p:cNvPr id="38" name="Text 35"/>
          <p:cNvSpPr txBox="1"/>
          <p:nvPr/>
        </p:nvSpPr>
        <p:spPr>
          <a:xfrm>
            <a:off x="1024128" y="3383280"/>
            <a:ext cx="3255264" cy="2377440"/>
          </a:xfrm>
          <a:prstGeom prst="rect">
            <a:avLst/>
          </a:prstGeom>
          <a:noFill/>
          <a:ln/>
        </p:spPr>
        <p:txBody>
          <a:bodyPr wrap="square" lIns="0" tIns="0" rIns="0" bIns="0" rtlCol="0" anchor="t"/>
          <a:lstStyle/>
          <a:p>
            <a:pPr rtl="1" algn="r" indent="0" marL="0">
              <a:spcAft>
                <a:spcPts val="400"/>
              </a:spcAft>
              <a:buNone/>
            </a:pPr>
            <a:r>
              <a:rPr lang="ar-EG" altLang="en-US" sz="1350" dirty="0">
                <a:solidFill>
                  <a:srgbClr val="323232"/>
                </a:solidFill>
                <a:latin typeface="Arial" pitchFamily="34" charset="0"/>
                <a:ea typeface="Arial" pitchFamily="34" charset="-122"/>
                <a:cs typeface="Arial" pitchFamily="34" charset="-120"/>
              </a:rPr>
              <a:t>‎~/ns-allinone-3.41/ns-3.41/scratch/‎</a:t>
            </a:r>
            <a:endParaRPr lang="ar-EG" sz="1350" dirty="0"/>
          </a:p>
          <a:p>
            <a:pPr rtl="1" algn="r" indent="0" marL="0">
              <a:spcAft>
                <a:spcPts val="400"/>
              </a:spcAft>
              <a:buNone/>
            </a:pPr>
            <a:endParaRPr lang="ar-EG" sz="1350" dirty="0"/>
          </a:p>
          <a:p>
            <a:pPr rtl="1" algn="r" indent="0" marL="0">
              <a:spcAft>
                <a:spcPts val="400"/>
              </a:spcAft>
              <a:buNone/>
            </a:pPr>
            <a:r>
              <a:rPr lang="ar-EG" altLang="en-US" sz="1350" dirty="0">
                <a:solidFill>
                  <a:srgbClr val="323232"/>
                </a:solidFill>
                <a:latin typeface="Arial" pitchFamily="34" charset="0"/>
                <a:ea typeface="Arial" pitchFamily="34" charset="-122"/>
                <a:cs typeface="Arial" pitchFamily="34" charset="-120"/>
              </a:rPr>
              <a:t>ملف .cc لكل بروتوكول أو نسخة (LEACH وHEED وPEGASIS وH-LEACH وSH-LEACH ومن v1 لـ v8-Chain).</a:t>
            </a:r>
            <a:endParaRPr lang="ar-EG"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أول تجربة</a:t>
            </a:r>
            <a:pPr algn="r" indent="0" marL="0">
              <a:buNone/>
            </a:pPr>
            <a:r>
              <a:rPr lang="ar-EG" altLang="en-US" sz="2100" dirty="0">
                <a:solidFill>
                  <a:srgbClr val="8A2522"/>
                </a:solidFill>
                <a:latin typeface="Arial" pitchFamily="34" charset="0"/>
                <a:ea typeface="Arial" pitchFamily="34" charset="-122"/>
                <a:cs typeface="Arial" pitchFamily="34" charset="-120"/>
              </a:rPr>
              <a:t>  –  شبكة بسيطة أأكد بيها الفكرة</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5</a:t>
            </a:r>
            <a:endParaRPr lang="en-US" sz="1000" dirty="0"/>
          </a:p>
        </p:txBody>
      </p:sp>
      <p:sp>
        <p:nvSpPr>
          <p:cNvPr id="20" name="Shape 17"/>
          <p:cNvSpPr/>
          <p:nvPr/>
        </p:nvSpPr>
        <p:spPr>
          <a:xfrm>
            <a:off x="7589520" y="1417320"/>
            <a:ext cx="3840480" cy="3749040"/>
          </a:xfrm>
          <a:prstGeom prst="roundRect">
            <a:avLst>
              <a:gd name="adj" fmla="val 2439"/>
            </a:avLst>
          </a:prstGeom>
          <a:solidFill>
            <a:srgbClr val="FFFFFF"/>
          </a:solidFill>
          <a:ln w="12700">
            <a:solidFill>
              <a:srgbClr val="D6D3C7"/>
            </a:solidFill>
            <a:prstDash val="solid"/>
          </a:ln>
        </p:spPr>
      </p:sp>
      <p:sp>
        <p:nvSpPr>
          <p:cNvPr id="21" name="Shape 18"/>
          <p:cNvSpPr/>
          <p:nvPr/>
        </p:nvSpPr>
        <p:spPr>
          <a:xfrm>
            <a:off x="8001000" y="1783080"/>
            <a:ext cx="3017520" cy="3017520"/>
          </a:xfrm>
          <a:prstGeom prst="rect">
            <a:avLst/>
          </a:prstGeom>
          <a:solidFill>
            <a:srgbClr val="EDEDE5"/>
          </a:solidFill>
          <a:ln w="12700">
            <a:solidFill>
              <a:srgbClr val="C9A09E"/>
            </a:solidFill>
            <a:prstDash val="dash"/>
          </a:ln>
        </p:spPr>
      </p:sp>
      <p:sp>
        <p:nvSpPr>
          <p:cNvPr id="22" name="Shape 19"/>
          <p:cNvSpPr/>
          <p:nvPr/>
        </p:nvSpPr>
        <p:spPr>
          <a:xfrm>
            <a:off x="8412480" y="2194560"/>
            <a:ext cx="1097280" cy="1097280"/>
          </a:xfrm>
          <a:prstGeom prst="line">
            <a:avLst/>
          </a:prstGeom>
          <a:noFill/>
          <a:ln w="12700">
            <a:solidFill>
              <a:srgbClr val="6B6B6B"/>
            </a:solidFill>
            <a:prstDash val="dash"/>
          </a:ln>
        </p:spPr>
      </p:sp>
      <p:sp>
        <p:nvSpPr>
          <p:cNvPr id="23" name="Shape 20"/>
          <p:cNvSpPr/>
          <p:nvPr/>
        </p:nvSpPr>
        <p:spPr>
          <a:xfrm>
            <a:off x="8257032" y="2039112"/>
            <a:ext cx="310896" cy="310896"/>
          </a:xfrm>
          <a:prstGeom prst="ellipse">
            <a:avLst/>
          </a:prstGeom>
          <a:solidFill>
            <a:srgbClr val="8A2522"/>
          </a:solidFill>
          <a:ln w="12700">
            <a:solidFill>
              <a:srgbClr val="8A2522"/>
            </a:solidFill>
            <a:prstDash val="solid"/>
          </a:ln>
        </p:spPr>
      </p:sp>
      <p:sp>
        <p:nvSpPr>
          <p:cNvPr id="24" name="Text 21"/>
          <p:cNvSpPr txBox="1"/>
          <p:nvPr/>
        </p:nvSpPr>
        <p:spPr>
          <a:xfrm>
            <a:off x="8138160" y="2359152"/>
            <a:ext cx="548640" cy="274320"/>
          </a:xfrm>
          <a:prstGeom prst="rect">
            <a:avLst/>
          </a:prstGeom>
          <a:noFill/>
          <a:ln/>
        </p:spPr>
        <p:txBody>
          <a:bodyPr wrap="square" lIns="0" tIns="0" rIns="0" bIns="0" rtlCol="0" anchor="ctr"/>
          <a:lstStyle/>
          <a:p>
            <a:pPr algn="ctr" indent="0" marL="0">
              <a:buNone/>
            </a:pPr>
            <a:r>
              <a:rPr lang="en-US" sz="1100" b="1" dirty="0">
                <a:solidFill>
                  <a:srgbClr val="323232"/>
                </a:solidFill>
                <a:latin typeface="Arial" pitchFamily="34" charset="0"/>
                <a:ea typeface="Arial" pitchFamily="34" charset="-122"/>
                <a:cs typeface="Arial" pitchFamily="34" charset="-120"/>
              </a:rPr>
              <a:t>S1</a:t>
            </a:r>
            <a:endParaRPr lang="en-US" sz="1100" dirty="0"/>
          </a:p>
        </p:txBody>
      </p:sp>
      <p:sp>
        <p:nvSpPr>
          <p:cNvPr id="25" name="Shape 22"/>
          <p:cNvSpPr/>
          <p:nvPr/>
        </p:nvSpPr>
        <p:spPr>
          <a:xfrm flipV="1">
            <a:off x="9509760" y="2377440"/>
            <a:ext cx="1005840" cy="914400"/>
          </a:xfrm>
          <a:prstGeom prst="line">
            <a:avLst/>
          </a:prstGeom>
          <a:noFill/>
          <a:ln w="12700">
            <a:solidFill>
              <a:srgbClr val="6B6B6B"/>
            </a:solidFill>
            <a:prstDash val="dash"/>
          </a:ln>
        </p:spPr>
      </p:sp>
      <p:sp>
        <p:nvSpPr>
          <p:cNvPr id="26" name="Shape 23"/>
          <p:cNvSpPr/>
          <p:nvPr/>
        </p:nvSpPr>
        <p:spPr>
          <a:xfrm>
            <a:off x="10360152" y="2221992"/>
            <a:ext cx="310896" cy="310896"/>
          </a:xfrm>
          <a:prstGeom prst="ellipse">
            <a:avLst/>
          </a:prstGeom>
          <a:solidFill>
            <a:srgbClr val="8A2522"/>
          </a:solidFill>
          <a:ln w="12700">
            <a:solidFill>
              <a:srgbClr val="8A2522"/>
            </a:solidFill>
            <a:prstDash val="solid"/>
          </a:ln>
        </p:spPr>
      </p:sp>
      <p:sp>
        <p:nvSpPr>
          <p:cNvPr id="27" name="Text 24"/>
          <p:cNvSpPr txBox="1"/>
          <p:nvPr/>
        </p:nvSpPr>
        <p:spPr>
          <a:xfrm>
            <a:off x="10241280" y="2542032"/>
            <a:ext cx="548640" cy="274320"/>
          </a:xfrm>
          <a:prstGeom prst="rect">
            <a:avLst/>
          </a:prstGeom>
          <a:noFill/>
          <a:ln/>
        </p:spPr>
        <p:txBody>
          <a:bodyPr wrap="square" lIns="0" tIns="0" rIns="0" bIns="0" rtlCol="0" anchor="ctr"/>
          <a:lstStyle/>
          <a:p>
            <a:pPr algn="ctr" indent="0" marL="0">
              <a:buNone/>
            </a:pPr>
            <a:r>
              <a:rPr lang="en-US" sz="1100" b="1" dirty="0">
                <a:solidFill>
                  <a:srgbClr val="323232"/>
                </a:solidFill>
                <a:latin typeface="Arial" pitchFamily="34" charset="0"/>
                <a:ea typeface="Arial" pitchFamily="34" charset="-122"/>
                <a:cs typeface="Arial" pitchFamily="34" charset="-120"/>
              </a:rPr>
              <a:t>S2</a:t>
            </a:r>
            <a:endParaRPr lang="en-US" sz="1100" dirty="0"/>
          </a:p>
        </p:txBody>
      </p:sp>
      <p:sp>
        <p:nvSpPr>
          <p:cNvPr id="28" name="Shape 25"/>
          <p:cNvSpPr/>
          <p:nvPr/>
        </p:nvSpPr>
        <p:spPr>
          <a:xfrm flipV="1">
            <a:off x="8778240" y="3291840"/>
            <a:ext cx="731520" cy="1005840"/>
          </a:xfrm>
          <a:prstGeom prst="line">
            <a:avLst/>
          </a:prstGeom>
          <a:noFill/>
          <a:ln w="12700">
            <a:solidFill>
              <a:srgbClr val="6B6B6B"/>
            </a:solidFill>
            <a:prstDash val="dash"/>
          </a:ln>
        </p:spPr>
      </p:sp>
      <p:sp>
        <p:nvSpPr>
          <p:cNvPr id="29" name="Shape 26"/>
          <p:cNvSpPr/>
          <p:nvPr/>
        </p:nvSpPr>
        <p:spPr>
          <a:xfrm>
            <a:off x="8622792" y="4142232"/>
            <a:ext cx="310896" cy="310896"/>
          </a:xfrm>
          <a:prstGeom prst="ellipse">
            <a:avLst/>
          </a:prstGeom>
          <a:solidFill>
            <a:srgbClr val="8A2522"/>
          </a:solidFill>
          <a:ln w="12700">
            <a:solidFill>
              <a:srgbClr val="8A2522"/>
            </a:solidFill>
            <a:prstDash val="solid"/>
          </a:ln>
        </p:spPr>
      </p:sp>
      <p:sp>
        <p:nvSpPr>
          <p:cNvPr id="30" name="Text 27"/>
          <p:cNvSpPr txBox="1"/>
          <p:nvPr/>
        </p:nvSpPr>
        <p:spPr>
          <a:xfrm>
            <a:off x="8503920" y="4462272"/>
            <a:ext cx="548640" cy="274320"/>
          </a:xfrm>
          <a:prstGeom prst="rect">
            <a:avLst/>
          </a:prstGeom>
          <a:noFill/>
          <a:ln/>
        </p:spPr>
        <p:txBody>
          <a:bodyPr wrap="square" lIns="0" tIns="0" rIns="0" bIns="0" rtlCol="0" anchor="ctr"/>
          <a:lstStyle/>
          <a:p>
            <a:pPr algn="ctr" indent="0" marL="0">
              <a:buNone/>
            </a:pPr>
            <a:r>
              <a:rPr lang="en-US" sz="1100" b="1" dirty="0">
                <a:solidFill>
                  <a:srgbClr val="323232"/>
                </a:solidFill>
                <a:latin typeface="Arial" pitchFamily="34" charset="0"/>
                <a:ea typeface="Arial" pitchFamily="34" charset="-122"/>
                <a:cs typeface="Arial" pitchFamily="34" charset="-120"/>
              </a:rPr>
              <a:t>S3</a:t>
            </a:r>
            <a:endParaRPr lang="en-US" sz="1100" dirty="0"/>
          </a:p>
        </p:txBody>
      </p:sp>
      <p:sp>
        <p:nvSpPr>
          <p:cNvPr id="31" name="Shape 28"/>
          <p:cNvSpPr/>
          <p:nvPr/>
        </p:nvSpPr>
        <p:spPr>
          <a:xfrm>
            <a:off x="9308592" y="3090672"/>
            <a:ext cx="402336" cy="402336"/>
          </a:xfrm>
          <a:prstGeom prst="ellipse">
            <a:avLst/>
          </a:prstGeom>
          <a:solidFill>
            <a:srgbClr val="FFC000"/>
          </a:solidFill>
          <a:ln w="12700">
            <a:solidFill>
              <a:srgbClr val="323232"/>
            </a:solidFill>
            <a:prstDash val="solid"/>
          </a:ln>
        </p:spPr>
      </p:sp>
      <p:sp>
        <p:nvSpPr>
          <p:cNvPr id="32" name="Text 29"/>
          <p:cNvSpPr txBox="1"/>
          <p:nvPr/>
        </p:nvSpPr>
        <p:spPr>
          <a:xfrm>
            <a:off x="9144000" y="3520440"/>
            <a:ext cx="731520" cy="274320"/>
          </a:xfrm>
          <a:prstGeom prst="rect">
            <a:avLst/>
          </a:prstGeom>
          <a:noFill/>
          <a:ln/>
        </p:spPr>
        <p:txBody>
          <a:bodyPr wrap="square" lIns="0" tIns="0" rIns="0" bIns="0" rtlCol="0" anchor="ctr"/>
          <a:lstStyle/>
          <a:p>
            <a:pPr algn="ctr" indent="0" marL="0">
              <a:buNone/>
            </a:pPr>
            <a:r>
              <a:rPr lang="en-US" sz="1100" b="1" dirty="0">
                <a:solidFill>
                  <a:srgbClr val="323232"/>
                </a:solidFill>
                <a:latin typeface="Arial" pitchFamily="34" charset="0"/>
                <a:ea typeface="Arial" pitchFamily="34" charset="-122"/>
                <a:cs typeface="Arial" pitchFamily="34" charset="-120"/>
              </a:rPr>
              <a:t>Sink</a:t>
            </a:r>
            <a:endParaRPr lang="en-US" sz="1100" dirty="0"/>
          </a:p>
        </p:txBody>
      </p:sp>
      <p:sp>
        <p:nvSpPr>
          <p:cNvPr id="33" name="Text 30"/>
          <p:cNvSpPr txBox="1"/>
          <p:nvPr/>
        </p:nvSpPr>
        <p:spPr>
          <a:xfrm>
            <a:off x="7589520" y="4828032"/>
            <a:ext cx="3840480" cy="274320"/>
          </a:xfrm>
          <a:prstGeom prst="rect">
            <a:avLst/>
          </a:prstGeom>
          <a:noFill/>
          <a:ln/>
        </p:spPr>
        <p:txBody>
          <a:bodyPr wrap="square" lIns="0" tIns="0" rIns="0" bIns="0" rtlCol="0" anchor="ctr"/>
          <a:lstStyle/>
          <a:p>
            <a:pPr rtl="1" algn="ctr" indent="0" marL="0">
              <a:buNone/>
            </a:pPr>
            <a:r>
              <a:rPr lang="ar-EG" altLang="en-US" sz="1000" i="1" dirty="0">
                <a:solidFill>
                  <a:srgbClr val="6B6B6B"/>
                </a:solidFill>
                <a:latin typeface="Arial" pitchFamily="34" charset="0"/>
                <a:ea typeface="Arial" pitchFamily="34" charset="-122"/>
                <a:cs typeface="Arial" pitchFamily="34" charset="-120"/>
              </a:rPr>
              <a:t>20 × 20 م (رسمة توضيحية)</a:t>
            </a:r>
            <a:endParaRPr lang="ar-EG" sz="1000" dirty="0"/>
          </a:p>
        </p:txBody>
      </p:sp>
      <p:sp>
        <p:nvSpPr>
          <p:cNvPr id="34" name="Text 31"/>
          <p:cNvSpPr txBox="1"/>
          <p:nvPr/>
        </p:nvSpPr>
        <p:spPr>
          <a:xfrm>
            <a:off x="7589520" y="5257800"/>
            <a:ext cx="3840480" cy="777240"/>
          </a:xfrm>
          <a:prstGeom prst="rect">
            <a:avLst/>
          </a:prstGeom>
          <a:noFill/>
          <a:ln/>
        </p:spPr>
        <p:txBody>
          <a:bodyPr wrap="square" lIns="635" tIns="635" rIns="635" bIns="635" rtlCol="0" anchor="t"/>
          <a:lstStyle/>
          <a:p>
            <a:pPr algn="r" marL="203200" indent="-203200">
              <a:spcAft>
                <a:spcPts val="600"/>
              </a:spcAft>
              <a:buSzPct val="100000"/>
              <a:buChar char="•"/>
            </a:pPr>
            <a:r>
              <a:rPr lang="ar-EG" altLang="en-US" sz="1200" dirty="0">
                <a:solidFill>
                  <a:srgbClr val="323232"/>
                </a:solidFill>
                <a:latin typeface="Arial" pitchFamily="34" charset="0"/>
                <a:ea typeface="Arial" pitchFamily="34" charset="-122"/>
                <a:cs typeface="Arial" pitchFamily="34" charset="-120"/>
              </a:rPr>
              <a:t>طبقات PHY وMAC بمعيار IEEE 802.15.4</a:t>
            </a:r>
            <a:endParaRPr lang="ar-EG" sz="1200" dirty="0"/>
          </a:p>
          <a:p>
            <a:pPr algn="r" marL="203200" indent="-203200">
              <a:spcAft>
                <a:spcPts val="600"/>
              </a:spcAft>
              <a:buSzPct val="100000"/>
              <a:buChar char="•"/>
            </a:pPr>
            <a:r>
              <a:rPr lang="ar-EG" altLang="en-US" sz="1200" dirty="0">
                <a:solidFill>
                  <a:srgbClr val="323232"/>
                </a:solidFill>
                <a:latin typeface="Arial" pitchFamily="34" charset="0"/>
                <a:ea typeface="Arial" pitchFamily="34" charset="-122"/>
                <a:cs typeface="Arial" pitchFamily="34" charset="-120"/>
              </a:rPr>
              <a:t>رسالة 50 بايت كل 10 ثواني، لمدة 1000 ثانية</a:t>
            </a:r>
            <a:endParaRPr lang="ar-EG" sz="1200" dirty="0"/>
          </a:p>
          <a:p>
            <a:pPr algn="r" marL="203200" indent="-203200">
              <a:spcAft>
                <a:spcPts val="600"/>
              </a:spcAft>
              <a:buSzPct val="100000"/>
              <a:buChar char="•"/>
            </a:pPr>
            <a:r>
              <a:rPr lang="ar-EG" altLang="en-US" sz="1200" dirty="0">
                <a:solidFill>
                  <a:srgbClr val="323232"/>
                </a:solidFill>
                <a:latin typeface="Arial" pitchFamily="34" charset="0"/>
                <a:ea typeface="Arial" pitchFamily="34" charset="-122"/>
                <a:cs typeface="Arial" pitchFamily="34" charset="-120"/>
              </a:rPr>
              <a:t>طاقة حسب حالة الجهاز (إرسال / استقبال / خامل)</a:t>
            </a:r>
            <a:endParaRPr lang="ar-EG"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417320"/>
          <a:ext cx="6492240" cy="914400"/>
        </p:xfrm>
        <a:graphic>
          <a:graphicData uri="http://schemas.openxmlformats.org/drawingml/2006/table">
            <a:tbl>
              <a:tblPr/>
              <a:tblGrid>
                <a:gridCol w="3749040"/>
                <a:gridCol w="2743200"/>
              </a:tblGrid>
              <a:tr h="457200">
                <a:tc>
                  <a:txBody>
                    <a:bodyPr/>
                    <a:lstStyle/>
                    <a:p>
                      <a:pPr rtl="1" algn="ctr" indent="0" marL="0">
                        <a:buNone/>
                      </a:pPr>
                      <a:r>
                        <a:rPr lang="en-US" sz="1300" b="1" dirty="0">
                          <a:solidFill>
                            <a:srgbClr val="FFFFFF"/>
                          </a:solidFill>
                          <a:latin typeface="Arial" pitchFamily="34" charset="0"/>
                          <a:ea typeface="Arial" pitchFamily="34" charset="-122"/>
                          <a:cs typeface="Arial" pitchFamily="34" charset="-120"/>
                        </a:rPr>
                        <a:t>النتيجة</a:t>
                      </a:r>
                      <a:endParaRPr lang="en-US" sz="13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300" b="1" dirty="0">
                          <a:solidFill>
                            <a:srgbClr val="FFFFFF"/>
                          </a:solidFill>
                          <a:latin typeface="Arial" pitchFamily="34" charset="0"/>
                          <a:ea typeface="Arial" pitchFamily="34" charset="-122"/>
                          <a:cs typeface="Arial" pitchFamily="34" charset="-120"/>
                        </a:rPr>
                        <a:t>المقياس</a:t>
                      </a:r>
                      <a:endParaRPr lang="en-US" sz="13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r>
              <a:tr h="457200">
                <a:tc>
                  <a:txBody>
                    <a:bodyPr/>
                    <a:lstStyle/>
                    <a:p>
                      <a:pPr rtl="1" algn="r" indent="0" marL="0">
                        <a:buNone/>
                      </a:pPr>
                      <a:r>
                        <a:rPr lang="en-US" sz="1300" dirty="0">
                          <a:solidFill>
                            <a:srgbClr val="323232"/>
                          </a:solidFill>
                          <a:latin typeface="Arial" pitchFamily="34" charset="0"/>
                          <a:ea typeface="Arial" pitchFamily="34" charset="-122"/>
                          <a:cs typeface="Arial" pitchFamily="34" charset="-120"/>
                        </a:rPr>
                        <a:t>300 / 300</a:t>
                      </a:r>
                      <a:endParaRPr lang="en-US" sz="13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300" b="1" dirty="0">
                          <a:solidFill>
                            <a:srgbClr val="323232"/>
                          </a:solidFill>
                          <a:latin typeface="Arial" pitchFamily="34" charset="0"/>
                          <a:ea typeface="Arial" pitchFamily="34" charset="-122"/>
                          <a:cs typeface="Arial" pitchFamily="34" charset="-120"/>
                        </a:rPr>
                        <a:t>رسايل اتبعتت / وصلت</a:t>
                      </a:r>
                      <a:endParaRPr lang="en-US" sz="13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457200">
                <a:tc>
                  <a:txBody>
                    <a:bodyPr/>
                    <a:lstStyle/>
                    <a:p>
                      <a:pPr rtl="1" algn="r" indent="0" marL="0">
                        <a:buNone/>
                      </a:pPr>
                      <a:r>
                        <a:rPr lang="en-US" sz="1300" dirty="0">
                          <a:solidFill>
                            <a:srgbClr val="323232"/>
                          </a:solidFill>
                          <a:latin typeface="Arial" pitchFamily="34" charset="0"/>
                          <a:ea typeface="Arial" pitchFamily="34" charset="-122"/>
                          <a:cs typeface="Arial" pitchFamily="34" charset="-120"/>
                        </a:rPr>
                        <a:t>100%</a:t>
                      </a:r>
                      <a:endParaRPr lang="en-US" sz="13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300" b="1" dirty="0">
                          <a:solidFill>
                            <a:srgbClr val="323232"/>
                          </a:solidFill>
                          <a:latin typeface="Arial" pitchFamily="34" charset="0"/>
                          <a:ea typeface="Arial" pitchFamily="34" charset="-122"/>
                          <a:cs typeface="Arial" pitchFamily="34" charset="-120"/>
                        </a:rPr>
                        <a:t>PDR</a:t>
                      </a:r>
                      <a:endParaRPr lang="en-US" sz="13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r h="457200">
                <a:tc>
                  <a:txBody>
                    <a:bodyPr/>
                    <a:lstStyle/>
                    <a:p>
                      <a:pPr rtl="1" algn="r" indent="0" marL="0">
                        <a:buNone/>
                      </a:pPr>
                      <a:r>
                        <a:rPr lang="en-US" sz="1300" dirty="0">
                          <a:solidFill>
                            <a:srgbClr val="323232"/>
                          </a:solidFill>
                          <a:latin typeface="Arial" pitchFamily="34" charset="0"/>
                          <a:ea typeface="Arial" pitchFamily="34" charset="-122"/>
                          <a:cs typeface="Arial" pitchFamily="34" charset="-120"/>
                        </a:rPr>
                        <a:t>120 bit/s</a:t>
                      </a:r>
                      <a:endParaRPr lang="en-US" sz="13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300" b="1" dirty="0">
                          <a:solidFill>
                            <a:srgbClr val="323232"/>
                          </a:solidFill>
                          <a:latin typeface="Arial" pitchFamily="34" charset="0"/>
                          <a:ea typeface="Arial" pitchFamily="34" charset="-122"/>
                          <a:cs typeface="Arial" pitchFamily="34" charset="-120"/>
                        </a:rPr>
                        <a:t>Throughput</a:t>
                      </a:r>
                      <a:endParaRPr lang="en-US" sz="13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457200">
                <a:tc>
                  <a:txBody>
                    <a:bodyPr/>
                    <a:lstStyle/>
                    <a:p>
                      <a:pPr rtl="1" algn="r" indent="0" marL="0">
                        <a:buNone/>
                      </a:pPr>
                      <a:r>
                        <a:rPr lang="en-US" sz="1300" dirty="0">
                          <a:solidFill>
                            <a:srgbClr val="323232"/>
                          </a:solidFill>
                          <a:latin typeface="Arial" pitchFamily="34" charset="0"/>
                          <a:ea typeface="Arial" pitchFamily="34" charset="-122"/>
                          <a:cs typeface="Arial" pitchFamily="34" charset="-120"/>
                        </a:rPr>
                        <a:t>62.64 / 62.64 جول (من 100)</a:t>
                      </a:r>
                      <a:endParaRPr lang="en-US" sz="13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300" b="1" dirty="0">
                          <a:solidFill>
                            <a:srgbClr val="323232"/>
                          </a:solidFill>
                          <a:latin typeface="Arial" pitchFamily="34" charset="0"/>
                          <a:ea typeface="Arial" pitchFamily="34" charset="-122"/>
                          <a:cs typeface="Arial" pitchFamily="34" charset="-120"/>
                        </a:rPr>
                        <a:t>طاقة كل حساس / الـ sink</a:t>
                      </a:r>
                      <a:endParaRPr lang="en-US" sz="13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r h="457200">
                <a:tc>
                  <a:txBody>
                    <a:bodyPr/>
                    <a:lstStyle/>
                    <a:p>
                      <a:pPr rtl="1" algn="r" indent="0" marL="0">
                        <a:buNone/>
                      </a:pPr>
                      <a:r>
                        <a:rPr lang="en-US" sz="1300" dirty="0">
                          <a:solidFill>
                            <a:srgbClr val="323232"/>
                          </a:solidFill>
                          <a:latin typeface="Arial" pitchFamily="34" charset="0"/>
                          <a:ea typeface="Arial" pitchFamily="34" charset="-122"/>
                          <a:cs typeface="Arial" pitchFamily="34" charset="-120"/>
                        </a:rPr>
                        <a:t>ماخلصش — كل النودز عايشة</a:t>
                      </a:r>
                      <a:endParaRPr lang="en-US" sz="13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300" b="1" dirty="0">
                          <a:solidFill>
                            <a:srgbClr val="323232"/>
                          </a:solidFill>
                          <a:latin typeface="Arial" pitchFamily="34" charset="0"/>
                          <a:ea typeface="Arial" pitchFamily="34" charset="-122"/>
                          <a:cs typeface="Arial" pitchFamily="34" charset="-120"/>
                        </a:rPr>
                        <a:t>العمر (تشغيل 1000 ثانية)</a:t>
                      </a:r>
                      <a:endParaRPr lang="en-US" sz="13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bl>
          </a:graphicData>
        </a:graphic>
      </p:graphicFrame>
      <p:sp>
        <p:nvSpPr>
          <p:cNvPr id="36" name="Shape 32"/>
          <p:cNvSpPr/>
          <p:nvPr/>
        </p:nvSpPr>
        <p:spPr>
          <a:xfrm>
            <a:off x="822960" y="4572000"/>
            <a:ext cx="6492240" cy="1325880"/>
          </a:xfrm>
          <a:prstGeom prst="roundRect">
            <a:avLst>
              <a:gd name="adj" fmla="val 8276"/>
            </a:avLst>
          </a:prstGeom>
          <a:solidFill>
            <a:srgbClr val="F6E3E1"/>
          </a:solidFill>
          <a:ln w="12700">
            <a:solidFill>
              <a:srgbClr val="C9A09E"/>
            </a:solidFill>
            <a:prstDash val="solid"/>
          </a:ln>
          <a:effectLst>
            <a:outerShdw sx="100000" sy="100000" kx="0" ky="0" algn="bl" rotWithShape="0" blurRad="76200" dist="25400" dir="5400000">
              <a:srgbClr val="000000">
                <a:alpha val="10000"/>
              </a:srgbClr>
            </a:outerShdw>
          </a:effectLst>
        </p:spPr>
      </p:sp>
      <p:sp>
        <p:nvSpPr>
          <p:cNvPr id="37" name="Text 33"/>
          <p:cNvSpPr txBox="1"/>
          <p:nvPr/>
        </p:nvSpPr>
        <p:spPr>
          <a:xfrm>
            <a:off x="1005840" y="4709160"/>
            <a:ext cx="608990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ليه مهمة؟</a:t>
            </a:r>
            <a:endParaRPr lang="ar-EG" sz="1500" dirty="0"/>
          </a:p>
        </p:txBody>
      </p:sp>
      <p:sp>
        <p:nvSpPr>
          <p:cNvPr id="38" name="Text 34"/>
          <p:cNvSpPr txBox="1"/>
          <p:nvPr/>
        </p:nvSpPr>
        <p:spPr>
          <a:xfrm>
            <a:off x="1024128" y="5303520"/>
            <a:ext cx="6089904" cy="457200"/>
          </a:xfrm>
          <a:prstGeom prst="rect">
            <a:avLst/>
          </a:prstGeom>
          <a:noFill/>
          <a:ln/>
        </p:spPr>
        <p:txBody>
          <a:bodyPr wrap="square" lIns="0" tIns="0" rIns="0" bIns="0" rtlCol="0" anchor="t"/>
          <a:lstStyle/>
          <a:p>
            <a:pPr rtl="1" algn="r" indent="0" marL="0">
              <a:spcAft>
                <a:spcPts val="400"/>
              </a:spcAft>
              <a:buNone/>
            </a:pPr>
            <a:r>
              <a:rPr lang="ar-EG" altLang="en-US" sz="1350" dirty="0">
                <a:solidFill>
                  <a:srgbClr val="323232"/>
                </a:solidFill>
                <a:latin typeface="Arial" pitchFamily="34" charset="0"/>
                <a:ea typeface="Arial" pitchFamily="34" charset="-122"/>
                <a:cs typeface="Arial" pitchFamily="34" charset="-120"/>
              </a:rPr>
              <a:t>قبل ما نعتمد على النموذج الحسابي للـ 100 نود، طبقات الشبكة الحقيقية بيّنت إن 300/300 رسالة وصلت والطاقة اتحسبت صح.</a:t>
            </a:r>
            <a:endParaRPr lang="ar-EG"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أول تجربة</a:t>
            </a:r>
            <a:pPr algn="r" indent="0" marL="0">
              <a:buNone/>
            </a:pPr>
            <a:r>
              <a:rPr lang="ar-EG" altLang="en-US" sz="2100" dirty="0">
                <a:solidFill>
                  <a:srgbClr val="8A2522"/>
                </a:solidFill>
                <a:latin typeface="Arial" pitchFamily="34" charset="0"/>
                <a:ea typeface="Arial" pitchFamily="34" charset="-122"/>
                <a:cs typeface="Arial" pitchFamily="34" charset="-120"/>
              </a:rPr>
              <a:t>  –  Screenshots من ns-3</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6</a:t>
            </a:r>
            <a:endParaRPr lang="en-US" sz="1000" dirty="0"/>
          </a:p>
        </p:txBody>
      </p:sp>
      <p:sp>
        <p:nvSpPr>
          <p:cNvPr id="20" name="Shape 17"/>
          <p:cNvSpPr/>
          <p:nvPr/>
        </p:nvSpPr>
        <p:spPr>
          <a:xfrm>
            <a:off x="6263640" y="1417320"/>
            <a:ext cx="5166360" cy="4480560"/>
          </a:xfrm>
          <a:prstGeom prst="roundRect">
            <a:avLst>
              <a:gd name="adj" fmla="val 2041"/>
            </a:avLst>
          </a:prstGeom>
          <a:solidFill>
            <a:srgbClr val="FFFFFF"/>
          </a:solidFill>
          <a:ln w="19050">
            <a:solidFill>
              <a:srgbClr val="C9A09E"/>
            </a:solidFill>
            <a:prstDash val="dash"/>
          </a:ln>
        </p:spPr>
      </p:sp>
      <p:sp>
        <p:nvSpPr>
          <p:cNvPr id="21" name="Text 18"/>
          <p:cNvSpPr txBox="1"/>
          <p:nvPr/>
        </p:nvSpPr>
        <p:spPr>
          <a:xfrm>
            <a:off x="6446520" y="1600200"/>
            <a:ext cx="4800600" cy="4114800"/>
          </a:xfrm>
          <a:prstGeom prst="rect">
            <a:avLst/>
          </a:prstGeom>
          <a:noFill/>
          <a:ln/>
        </p:spPr>
        <p:txBody>
          <a:bodyPr wrap="square" lIns="0" tIns="0" rIns="0" bIns="0" rtlCol="0" anchor="ctr"/>
          <a:lstStyle/>
          <a:p>
            <a:pPr algn="ctr" indent="0" marL="0">
              <a:buNone/>
            </a:pPr>
            <a:r>
              <a:rPr lang="ar-EG" altLang="en-US" sz="3000" dirty="0">
                <a:solidFill>
                  <a:srgbClr val="000000"/>
                </a:solidFill>
                <a:latin typeface="Arial" pitchFamily="34" charset="0"/>
                <a:ea typeface="Arial" pitchFamily="34" charset="-122"/>
                <a:cs typeface="Arial" pitchFamily="34" charset="-120"/>
              </a:rPr>
              <a:t>📷</a:t>
            </a:r>
            <a:endParaRPr lang="ar-EG" sz="3000" dirty="0"/>
          </a:p>
          <a:p>
            <a:pPr algn="ctr" indent="0" marL="0">
              <a:buNone/>
            </a:pPr>
            <a:r>
              <a:rPr lang="ar-EG" altLang="en-US" sz="1300" b="1" dirty="0">
                <a:solidFill>
                  <a:srgbClr val="8A2522"/>
                </a:solidFill>
                <a:latin typeface="Arial" pitchFamily="34" charset="0"/>
                <a:ea typeface="Arial" pitchFamily="34" charset="-122"/>
                <a:cs typeface="Arial" pitchFamily="34" charset="-120"/>
              </a:rPr>
              <a:t>Screenshot 2 — مخرجات التيرمينال لأول تجربة</a:t>
            </a:r>
            <a:endParaRPr lang="ar-EG" sz="3000" dirty="0"/>
          </a:p>
          <a:p>
            <a:pPr algn="ctr" indent="0" marL="0">
              <a:buNone/>
            </a:pPr>
            <a:r>
              <a:rPr lang="ar-EG" altLang="en-US" sz="1100" i="1" dirty="0">
                <a:solidFill>
                  <a:srgbClr val="6B6B6B"/>
                </a:solidFill>
                <a:latin typeface="Arial" pitchFamily="34" charset="0"/>
                <a:ea typeface="Arial" pitchFamily="34" charset="-122"/>
                <a:cs typeface="Arial" pitchFamily="34" charset="-120"/>
              </a:rPr>
              <a:t>(حطي هنا الـ screenshot من VMware)</a:t>
            </a:r>
            <a:endParaRPr lang="ar-EG" sz="3000" dirty="0"/>
          </a:p>
        </p:txBody>
      </p:sp>
      <p:sp>
        <p:nvSpPr>
          <p:cNvPr id="22" name="Shape 19"/>
          <p:cNvSpPr/>
          <p:nvPr/>
        </p:nvSpPr>
        <p:spPr>
          <a:xfrm>
            <a:off x="822960" y="1417320"/>
            <a:ext cx="5166360" cy="4480560"/>
          </a:xfrm>
          <a:prstGeom prst="roundRect">
            <a:avLst>
              <a:gd name="adj" fmla="val 2041"/>
            </a:avLst>
          </a:prstGeom>
          <a:solidFill>
            <a:srgbClr val="FFFFFF"/>
          </a:solidFill>
          <a:ln w="19050">
            <a:solidFill>
              <a:srgbClr val="C9A09E"/>
            </a:solidFill>
            <a:prstDash val="dash"/>
          </a:ln>
        </p:spPr>
      </p:sp>
      <p:sp>
        <p:nvSpPr>
          <p:cNvPr id="23" name="Text 20"/>
          <p:cNvSpPr txBox="1"/>
          <p:nvPr/>
        </p:nvSpPr>
        <p:spPr>
          <a:xfrm>
            <a:off x="1005840" y="1600200"/>
            <a:ext cx="4800600" cy="4114800"/>
          </a:xfrm>
          <a:prstGeom prst="rect">
            <a:avLst/>
          </a:prstGeom>
          <a:noFill/>
          <a:ln/>
        </p:spPr>
        <p:txBody>
          <a:bodyPr wrap="square" lIns="0" tIns="0" rIns="0" bIns="0" rtlCol="0" anchor="ctr"/>
          <a:lstStyle/>
          <a:p>
            <a:pPr algn="ctr" indent="0" marL="0">
              <a:buNone/>
            </a:pPr>
            <a:r>
              <a:rPr lang="ar-EG" altLang="en-US" sz="3000" dirty="0">
                <a:solidFill>
                  <a:srgbClr val="000000"/>
                </a:solidFill>
                <a:latin typeface="Arial" pitchFamily="34" charset="0"/>
                <a:ea typeface="Arial" pitchFamily="34" charset="-122"/>
                <a:cs typeface="Arial" pitchFamily="34" charset="-120"/>
              </a:rPr>
              <a:t>📷</a:t>
            </a:r>
            <a:endParaRPr lang="ar-EG" sz="3000" dirty="0"/>
          </a:p>
          <a:p>
            <a:pPr algn="ctr" indent="0" marL="0">
              <a:buNone/>
            </a:pPr>
            <a:r>
              <a:rPr lang="ar-EG" altLang="en-US" sz="1300" b="1" dirty="0">
                <a:solidFill>
                  <a:srgbClr val="8A2522"/>
                </a:solidFill>
                <a:latin typeface="Arial" pitchFamily="34" charset="0"/>
                <a:ea typeface="Arial" pitchFamily="34" charset="-122"/>
                <a:cs typeface="Arial" pitchFamily="34" charset="-120"/>
              </a:rPr>
              <a:t>Screenshot 3 — الشبكة البسيطة (4 نودز) في NetAnim</a:t>
            </a:r>
            <a:endParaRPr lang="ar-EG" sz="3000" dirty="0"/>
          </a:p>
          <a:p>
            <a:pPr algn="ctr" indent="0" marL="0">
              <a:buNone/>
            </a:pPr>
            <a:r>
              <a:rPr lang="ar-EG" altLang="en-US" sz="1100" i="1" dirty="0">
                <a:solidFill>
                  <a:srgbClr val="6B6B6B"/>
                </a:solidFill>
                <a:latin typeface="Arial" pitchFamily="34" charset="0"/>
                <a:ea typeface="Arial" pitchFamily="34" charset="-122"/>
                <a:cs typeface="Arial" pitchFamily="34" charset="-120"/>
              </a:rPr>
              <a:t>(حطي هنا الـ screenshot من VMware)</a:t>
            </a:r>
            <a:endParaRPr lang="ar-EG" sz="3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تشغيل البروتوكولات</a:t>
            </a:r>
            <a:pPr algn="r" indent="0" marL="0">
              <a:buNone/>
            </a:pPr>
            <a:r>
              <a:rPr lang="ar-EG" altLang="en-US" sz="2100" dirty="0">
                <a:solidFill>
                  <a:srgbClr val="8A2522"/>
                </a:solidFill>
                <a:latin typeface="Arial" pitchFamily="34" charset="0"/>
                <a:ea typeface="Arial" pitchFamily="34" charset="-122"/>
                <a:cs typeface="Arial" pitchFamily="34" charset="-120"/>
              </a:rPr>
              <a:t>  –  من التيرمينال</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7</a:t>
            </a:r>
            <a:endParaRPr lang="en-US" sz="1000" dirty="0"/>
          </a:p>
        </p:txBody>
      </p:sp>
      <p:pic>
        <p:nvPicPr>
          <p:cNvPr id="20" name="Image 0" descr="img/terminal_center.png">    </p:cNvPr>
          <p:cNvPicPr>
            <a:picLocks noChangeAspect="1"/>
          </p:cNvPicPr>
          <p:nvPr/>
        </p:nvPicPr>
        <p:blipFill>
          <a:blip r:embed="rId1"/>
          <a:stretch>
            <a:fillRect/>
          </a:stretch>
        </p:blipFill>
        <p:spPr>
          <a:xfrm>
            <a:off x="1019468" y="1234440"/>
            <a:ext cx="5550584" cy="4892040"/>
          </a:xfrm>
          <a:prstGeom prst="rect">
            <a:avLst/>
          </a:prstGeom>
        </p:spPr>
      </p:pic>
      <p:sp>
        <p:nvSpPr>
          <p:cNvPr id="21" name="Shape 17"/>
          <p:cNvSpPr/>
          <p:nvPr/>
        </p:nvSpPr>
        <p:spPr>
          <a:xfrm>
            <a:off x="7223760" y="1417320"/>
            <a:ext cx="4206240" cy="2103120"/>
          </a:xfrm>
          <a:prstGeom prst="roundRect">
            <a:avLst>
              <a:gd name="adj" fmla="val 5217"/>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2" name="Text 18"/>
          <p:cNvSpPr txBox="1"/>
          <p:nvPr/>
        </p:nvSpPr>
        <p:spPr>
          <a:xfrm>
            <a:off x="7406640" y="1554480"/>
            <a:ext cx="380390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طريقة التشغيل</a:t>
            </a:r>
            <a:endParaRPr lang="ar-EG" sz="1500" dirty="0"/>
          </a:p>
        </p:txBody>
      </p:sp>
      <p:sp>
        <p:nvSpPr>
          <p:cNvPr id="23" name="Text 19"/>
          <p:cNvSpPr txBox="1"/>
          <p:nvPr/>
        </p:nvSpPr>
        <p:spPr>
          <a:xfrm>
            <a:off x="7424928" y="2148840"/>
            <a:ext cx="3803904" cy="1234440"/>
          </a:xfrm>
          <a:prstGeom prst="rect">
            <a:avLst/>
          </a:prstGeom>
          <a:noFill/>
          <a:ln/>
        </p:spPr>
        <p:txBody>
          <a:bodyPr wrap="square" lIns="0" tIns="0" rIns="0" bIns="0" rtlCol="0" anchor="t"/>
          <a:lstStyle/>
          <a:p>
            <a:pPr algn="l" indent="0" marL="0">
              <a:spcAft>
                <a:spcPts val="400"/>
              </a:spcAft>
              <a:buNone/>
            </a:pPr>
            <a:r>
              <a:rPr lang="ar-EG" altLang="en-US" sz="1300" dirty="0">
                <a:solidFill>
                  <a:srgbClr val="323232"/>
                </a:solidFill>
                <a:latin typeface="Courier New" pitchFamily="34" charset="0"/>
                <a:ea typeface="Courier New" pitchFamily="34" charset="-122"/>
                <a:cs typeface="Courier New" pitchFamily="34" charset="-120"/>
              </a:rPr>
              <a:t>./ns3 configure</a:t>
            </a:r>
            <a:endParaRPr lang="ar-EG" sz="1300" dirty="0"/>
          </a:p>
          <a:p>
            <a:pPr algn="l" indent="0" marL="0">
              <a:spcAft>
                <a:spcPts val="400"/>
              </a:spcAft>
              <a:buNone/>
            </a:pPr>
            <a:r>
              <a:rPr lang="ar-EG" altLang="en-US" sz="1300" dirty="0">
                <a:solidFill>
                  <a:srgbClr val="323232"/>
                </a:solidFill>
                <a:latin typeface="Courier New" pitchFamily="34" charset="0"/>
                <a:ea typeface="Courier New" pitchFamily="34" charset="-122"/>
                <a:cs typeface="Courier New" pitchFamily="34" charset="-120"/>
              </a:rPr>
              <a:t>./ns3 run scratch/hybrid-v8-chain</a:t>
            </a:r>
            <a:endParaRPr lang="ar-EG" sz="1300" dirty="0"/>
          </a:p>
          <a:p>
            <a:pPr algn="l" indent="0" marL="0">
              <a:spcAft>
                <a:spcPts val="400"/>
              </a:spcAft>
              <a:buNone/>
            </a:pPr>
            <a:r>
              <a:rPr lang="ar-EG" altLang="en-US" sz="1300" dirty="0">
                <a:solidFill>
                  <a:srgbClr val="323232"/>
                </a:solidFill>
                <a:latin typeface="Courier New" pitchFamily="34" charset="0"/>
                <a:ea typeface="Courier New" pitchFamily="34" charset="-122"/>
                <a:cs typeface="Courier New" pitchFamily="34" charset="-120"/>
              </a:rPr>
              <a:t>./ns3 run scratch/hybrid-v8-chain-farBS</a:t>
            </a:r>
            <a:endParaRPr lang="ar-EG" sz="1300" dirty="0"/>
          </a:p>
        </p:txBody>
      </p:sp>
      <p:sp>
        <p:nvSpPr>
          <p:cNvPr id="24" name="Shape 20"/>
          <p:cNvSpPr/>
          <p:nvPr/>
        </p:nvSpPr>
        <p:spPr>
          <a:xfrm>
            <a:off x="7223760" y="3703320"/>
            <a:ext cx="4206240" cy="2194560"/>
          </a:xfrm>
          <a:prstGeom prst="roundRect">
            <a:avLst>
              <a:gd name="adj" fmla="val 5000"/>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5" name="Text 21"/>
          <p:cNvSpPr txBox="1"/>
          <p:nvPr/>
        </p:nvSpPr>
        <p:spPr>
          <a:xfrm>
            <a:off x="7406640" y="3840480"/>
            <a:ext cx="380390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بيطلّع إيه</a:t>
            </a:r>
            <a:endParaRPr lang="ar-EG" sz="1500" dirty="0"/>
          </a:p>
        </p:txBody>
      </p:sp>
      <p:sp>
        <p:nvSpPr>
          <p:cNvPr id="26" name="Text 22"/>
          <p:cNvSpPr txBox="1"/>
          <p:nvPr/>
        </p:nvSpPr>
        <p:spPr>
          <a:xfrm>
            <a:off x="7424928" y="4434840"/>
            <a:ext cx="3803904" cy="1325880"/>
          </a:xfrm>
          <a:prstGeom prst="rect">
            <a:avLst/>
          </a:prstGeom>
          <a:noFill/>
          <a:ln/>
        </p:spPr>
        <p:txBody>
          <a:bodyPr wrap="square" lIns="0" tIns="0" rIns="0" bIns="0" rtlCol="0" anchor="t"/>
          <a:lstStyle/>
          <a:p>
            <a:pPr rtl="1" algn="r" indent="0" marL="0">
              <a:spcAft>
                <a:spcPts val="400"/>
              </a:spcAft>
              <a:buNone/>
            </a:pPr>
            <a:r>
              <a:rPr lang="ar-EG" altLang="en-US" sz="1350" dirty="0">
                <a:solidFill>
                  <a:srgbClr val="323232"/>
                </a:solidFill>
                <a:latin typeface="Arial" pitchFamily="34" charset="0"/>
                <a:ea typeface="Arial" pitchFamily="34" charset="-122"/>
                <a:cs typeface="Arial" pitchFamily="34" charset="-120"/>
              </a:rPr>
              <a:t>• ملف نتايج لكل round (العايشين، الـ CHs، الـ PDR، الطاقة…)</a:t>
            </a:r>
            <a:endParaRPr lang="ar-EG" sz="1350" dirty="0"/>
          </a:p>
          <a:p>
            <a:pPr rtl="1" algn="r" indent="0" marL="0">
              <a:spcAft>
                <a:spcPts val="400"/>
              </a:spcAft>
              <a:buNone/>
            </a:pPr>
            <a:r>
              <a:rPr lang="ar-EG" altLang="en-US" sz="1350" dirty="0">
                <a:solidFill>
                  <a:srgbClr val="323232"/>
                </a:solidFill>
                <a:latin typeface="Arial" pitchFamily="34" charset="0"/>
                <a:ea typeface="Arial" pitchFamily="34" charset="-122"/>
                <a:cs typeface="Arial" pitchFamily="34" charset="-120"/>
              </a:rPr>
              <a:t>• ملف طاقة وعمر كل نود</a:t>
            </a:r>
            <a:endParaRPr lang="ar-EG" sz="1350" dirty="0"/>
          </a:p>
          <a:p>
            <a:pPr rtl="1" algn="r" indent="0" marL="0">
              <a:spcAft>
                <a:spcPts val="400"/>
              </a:spcAft>
              <a:buNone/>
            </a:pPr>
            <a:r>
              <a:rPr lang="ar-EG" altLang="en-US" sz="1350" dirty="0">
                <a:solidFill>
                  <a:srgbClr val="323232"/>
                </a:solidFill>
                <a:latin typeface="Arial" pitchFamily="34" charset="0"/>
                <a:ea typeface="Arial" pitchFamily="34" charset="-122"/>
                <a:cs typeface="Arial" pitchFamily="34" charset="-120"/>
              </a:rPr>
              <a:t>• ملف NetAnim: الـ CHs بالأحمر وكل مجموعة بلون</a:t>
            </a:r>
            <a:endParaRPr lang="ar-EG"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NetAnim</a:t>
            </a:r>
            <a:pPr algn="r" indent="0" marL="0">
              <a:buNone/>
            </a:pPr>
            <a:r>
              <a:rPr lang="ar-EG" altLang="en-US" sz="2100" dirty="0">
                <a:solidFill>
                  <a:srgbClr val="8A2522"/>
                </a:solidFill>
                <a:latin typeface="Arial" pitchFamily="34" charset="0"/>
                <a:ea typeface="Arial" pitchFamily="34" charset="-122"/>
                <a:cs typeface="Arial" pitchFamily="34" charset="-120"/>
              </a:rPr>
              <a:t>  –  البروتوكول المقترح كأنيميشن</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8</a:t>
            </a:r>
            <a:endParaRPr lang="en-US" sz="1000" dirty="0"/>
          </a:p>
        </p:txBody>
      </p:sp>
      <p:sp>
        <p:nvSpPr>
          <p:cNvPr id="20" name="Shape 17"/>
          <p:cNvSpPr/>
          <p:nvPr/>
        </p:nvSpPr>
        <p:spPr>
          <a:xfrm>
            <a:off x="4206240" y="1417320"/>
            <a:ext cx="7223760" cy="4480560"/>
          </a:xfrm>
          <a:prstGeom prst="roundRect">
            <a:avLst>
              <a:gd name="adj" fmla="val 2041"/>
            </a:avLst>
          </a:prstGeom>
          <a:solidFill>
            <a:srgbClr val="FFFFFF"/>
          </a:solidFill>
          <a:ln w="19050">
            <a:solidFill>
              <a:srgbClr val="C9A09E"/>
            </a:solidFill>
            <a:prstDash val="dash"/>
          </a:ln>
        </p:spPr>
      </p:sp>
      <p:sp>
        <p:nvSpPr>
          <p:cNvPr id="21" name="Text 18"/>
          <p:cNvSpPr txBox="1"/>
          <p:nvPr/>
        </p:nvSpPr>
        <p:spPr>
          <a:xfrm>
            <a:off x="4389120" y="1600200"/>
            <a:ext cx="6858000" cy="4114800"/>
          </a:xfrm>
          <a:prstGeom prst="rect">
            <a:avLst/>
          </a:prstGeom>
          <a:noFill/>
          <a:ln/>
        </p:spPr>
        <p:txBody>
          <a:bodyPr wrap="square" lIns="0" tIns="0" rIns="0" bIns="0" rtlCol="0" anchor="ctr"/>
          <a:lstStyle/>
          <a:p>
            <a:pPr algn="ctr" indent="0" marL="0">
              <a:buNone/>
            </a:pPr>
            <a:r>
              <a:rPr lang="ar-EG" altLang="en-US" sz="3000" dirty="0">
                <a:solidFill>
                  <a:srgbClr val="000000"/>
                </a:solidFill>
                <a:latin typeface="Arial" pitchFamily="34" charset="0"/>
                <a:ea typeface="Arial" pitchFamily="34" charset="-122"/>
                <a:cs typeface="Arial" pitchFamily="34" charset="-120"/>
              </a:rPr>
              <a:t>📷</a:t>
            </a:r>
            <a:endParaRPr lang="ar-EG" sz="3000" dirty="0"/>
          </a:p>
          <a:p>
            <a:pPr algn="ctr" indent="0" marL="0">
              <a:buNone/>
            </a:pPr>
            <a:r>
              <a:rPr lang="ar-EG" altLang="en-US" sz="1300" b="1" dirty="0">
                <a:solidFill>
                  <a:srgbClr val="8A2522"/>
                </a:solidFill>
                <a:latin typeface="Arial" pitchFamily="34" charset="0"/>
                <a:ea typeface="Arial" pitchFamily="34" charset="-122"/>
                <a:cs typeface="Arial" pitchFamily="34" charset="-120"/>
              </a:rPr>
              <a:t>Screenshot 4 — NetAnim: مجموعات v8-Chain (الـ CHs بالأحمر)</a:t>
            </a:r>
            <a:endParaRPr lang="ar-EG" sz="3000" dirty="0"/>
          </a:p>
          <a:p>
            <a:pPr algn="ctr" indent="0" marL="0">
              <a:buNone/>
            </a:pPr>
            <a:r>
              <a:rPr lang="ar-EG" altLang="en-US" sz="1100" i="1" dirty="0">
                <a:solidFill>
                  <a:srgbClr val="6B6B6B"/>
                </a:solidFill>
                <a:latin typeface="Arial" pitchFamily="34" charset="0"/>
                <a:ea typeface="Arial" pitchFamily="34" charset="-122"/>
                <a:cs typeface="Arial" pitchFamily="34" charset="-120"/>
              </a:rPr>
              <a:t>(حطي هنا الـ screenshot من VMware)</a:t>
            </a:r>
            <a:endParaRPr lang="ar-EG" sz="3000" dirty="0"/>
          </a:p>
        </p:txBody>
      </p:sp>
      <p:sp>
        <p:nvSpPr>
          <p:cNvPr id="22" name="Shape 19"/>
          <p:cNvSpPr/>
          <p:nvPr/>
        </p:nvSpPr>
        <p:spPr>
          <a:xfrm>
            <a:off x="822960" y="1417320"/>
            <a:ext cx="3108960" cy="4480560"/>
          </a:xfrm>
          <a:prstGeom prst="roundRect">
            <a:avLst>
              <a:gd name="adj" fmla="val 3529"/>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3" name="Text 20"/>
          <p:cNvSpPr txBox="1"/>
          <p:nvPr/>
        </p:nvSpPr>
        <p:spPr>
          <a:xfrm>
            <a:off x="1005840" y="1554480"/>
            <a:ext cx="270662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الألوان في NetAnim</a:t>
            </a:r>
            <a:endParaRPr lang="ar-EG" sz="1500" dirty="0"/>
          </a:p>
        </p:txBody>
      </p:sp>
      <p:sp>
        <p:nvSpPr>
          <p:cNvPr id="24" name="Text 21"/>
          <p:cNvSpPr txBox="1"/>
          <p:nvPr/>
        </p:nvSpPr>
        <p:spPr>
          <a:xfrm>
            <a:off x="1024128" y="2148840"/>
            <a:ext cx="2706624" cy="3611880"/>
          </a:xfrm>
          <a:prstGeom prst="rect">
            <a:avLst/>
          </a:prstGeom>
          <a:noFill/>
          <a:ln/>
        </p:spPr>
        <p:txBody>
          <a:bodyPr wrap="square" lIns="0" tIns="0" rIns="0" bIns="0" rtlCol="0" anchor="t"/>
          <a:lstStyle/>
          <a:p>
            <a:pPr rtl="1" algn="r" indent="0" marL="0">
              <a:spcAft>
                <a:spcPts val="400"/>
              </a:spcAft>
              <a:buNone/>
            </a:pPr>
            <a:r>
              <a:rPr lang="ar-EG" altLang="en-US" sz="1350" dirty="0">
                <a:solidFill>
                  <a:srgbClr val="323232"/>
                </a:solidFill>
                <a:latin typeface="Arial" pitchFamily="34" charset="0"/>
                <a:ea typeface="Arial" pitchFamily="34" charset="-122"/>
                <a:cs typeface="Arial" pitchFamily="34" charset="-120"/>
              </a:rPr>
              <a:t>• أحمر: Cluster Head</a:t>
            </a:r>
            <a:endParaRPr lang="ar-EG" sz="1350" dirty="0"/>
          </a:p>
          <a:p>
            <a:pPr rtl="1" algn="r" indent="0" marL="0">
              <a:spcAft>
                <a:spcPts val="400"/>
              </a:spcAft>
              <a:buNone/>
            </a:pPr>
            <a:r>
              <a:rPr lang="ar-EG" altLang="en-US" sz="1350" dirty="0">
                <a:solidFill>
                  <a:srgbClr val="323232"/>
                </a:solidFill>
                <a:latin typeface="Arial" pitchFamily="34" charset="0"/>
                <a:ea typeface="Arial" pitchFamily="34" charset="-122"/>
                <a:cs typeface="Arial" pitchFamily="34" charset="-120"/>
              </a:rPr>
              <a:t>• نفس اللون: نفس المجموعة</a:t>
            </a:r>
            <a:endParaRPr lang="ar-EG" sz="1350" dirty="0"/>
          </a:p>
          <a:p>
            <a:pPr rtl="1" algn="r" indent="0" marL="0">
              <a:spcAft>
                <a:spcPts val="400"/>
              </a:spcAft>
              <a:buNone/>
            </a:pPr>
            <a:r>
              <a:rPr lang="ar-EG" altLang="en-US" sz="1350" dirty="0">
                <a:solidFill>
                  <a:srgbClr val="323232"/>
                </a:solidFill>
                <a:latin typeface="Arial" pitchFamily="34" charset="0"/>
                <a:ea typeface="Arial" pitchFamily="34" charset="-122"/>
                <a:cs typeface="Arial" pitchFamily="34" charset="-120"/>
              </a:rPr>
              <a:t>• رمادي فاتح: من غير مجموعة</a:t>
            </a:r>
            <a:endParaRPr lang="ar-EG" sz="1350" dirty="0"/>
          </a:p>
          <a:p>
            <a:pPr rtl="1" algn="r" indent="0" marL="0">
              <a:spcAft>
                <a:spcPts val="400"/>
              </a:spcAft>
              <a:buNone/>
            </a:pPr>
            <a:r>
              <a:rPr lang="ar-EG" altLang="en-US" sz="1350" dirty="0">
                <a:solidFill>
                  <a:srgbClr val="323232"/>
                </a:solidFill>
                <a:latin typeface="Arial" pitchFamily="34" charset="0"/>
                <a:ea typeface="Arial" pitchFamily="34" charset="-122"/>
                <a:cs typeface="Arial" pitchFamily="34" charset="-120"/>
              </a:rPr>
              <a:t>• رمادي غامق: نود ميت</a:t>
            </a:r>
            <a:endParaRPr lang="ar-EG" sz="1350" dirty="0"/>
          </a:p>
          <a:p>
            <a:pPr rtl="1" algn="r" indent="0" marL="0">
              <a:spcAft>
                <a:spcPts val="400"/>
              </a:spcAft>
              <a:buNone/>
            </a:pPr>
            <a:r>
              <a:rPr lang="ar-EG" altLang="en-US" sz="1350" dirty="0">
                <a:solidFill>
                  <a:srgbClr val="323232"/>
                </a:solidFill>
                <a:latin typeface="Arial" pitchFamily="34" charset="0"/>
                <a:ea typeface="Arial" pitchFamily="34" charset="-122"/>
                <a:cs typeface="Arial" pitchFamily="34" charset="-120"/>
              </a:rPr>
              <a:t>• أصفر: الـ Sink (BS)</a:t>
            </a:r>
            <a:endParaRPr lang="ar-EG"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8A2522"/>
          </a:solidFill>
          <a:ln w="12700">
            <a:solidFill>
              <a:srgbClr val="8A2522"/>
            </a:solidFill>
            <a:prstDash val="solid"/>
          </a:ln>
        </p:spPr>
      </p:sp>
      <p:sp>
        <p:nvSpPr>
          <p:cNvPr id="3" name="Shape 1"/>
          <p:cNvSpPr/>
          <p:nvPr/>
        </p:nvSpPr>
        <p:spPr>
          <a:xfrm flipV="1">
            <a:off x="2455164" y="336042"/>
            <a:ext cx="1110996" cy="555498"/>
          </a:xfrm>
          <a:prstGeom prst="line">
            <a:avLst/>
          </a:prstGeom>
          <a:noFill/>
          <a:ln w="11430">
            <a:solidFill>
              <a:srgbClr val="E7C9C6"/>
            </a:solidFill>
            <a:prstDash val="solid"/>
          </a:ln>
        </p:spPr>
      </p:sp>
      <p:sp>
        <p:nvSpPr>
          <p:cNvPr id="4" name="Shape 2"/>
          <p:cNvSpPr/>
          <p:nvPr/>
        </p:nvSpPr>
        <p:spPr>
          <a:xfrm>
            <a:off x="1344168" y="459486"/>
            <a:ext cx="1110996" cy="432054"/>
          </a:xfrm>
          <a:prstGeom prst="line">
            <a:avLst/>
          </a:prstGeom>
          <a:noFill/>
          <a:ln w="11430">
            <a:solidFill>
              <a:srgbClr val="E7C9C6"/>
            </a:solidFill>
            <a:prstDash val="solid"/>
          </a:ln>
        </p:spPr>
      </p:sp>
      <p:sp>
        <p:nvSpPr>
          <p:cNvPr id="5" name="Shape 3"/>
          <p:cNvSpPr/>
          <p:nvPr/>
        </p:nvSpPr>
        <p:spPr>
          <a:xfrm flipV="1">
            <a:off x="418338" y="459486"/>
            <a:ext cx="925830" cy="864108"/>
          </a:xfrm>
          <a:prstGeom prst="line">
            <a:avLst/>
          </a:prstGeom>
          <a:noFill/>
          <a:ln w="11430">
            <a:solidFill>
              <a:srgbClr val="E7C9C6"/>
            </a:solidFill>
            <a:prstDash val="solid"/>
          </a:ln>
        </p:spPr>
      </p:sp>
      <p:sp>
        <p:nvSpPr>
          <p:cNvPr id="6" name="Shape 4"/>
          <p:cNvSpPr/>
          <p:nvPr/>
        </p:nvSpPr>
        <p:spPr>
          <a:xfrm flipV="1">
            <a:off x="1899666" y="891540"/>
            <a:ext cx="555498" cy="925830"/>
          </a:xfrm>
          <a:prstGeom prst="line">
            <a:avLst/>
          </a:prstGeom>
          <a:noFill/>
          <a:ln w="11430">
            <a:solidFill>
              <a:srgbClr val="E7C9C6"/>
            </a:solidFill>
            <a:prstDash val="solid"/>
          </a:ln>
        </p:spPr>
      </p:sp>
      <p:sp>
        <p:nvSpPr>
          <p:cNvPr id="7" name="Shape 5"/>
          <p:cNvSpPr/>
          <p:nvPr/>
        </p:nvSpPr>
        <p:spPr>
          <a:xfrm>
            <a:off x="418338" y="1323594"/>
            <a:ext cx="1481328" cy="493776"/>
          </a:xfrm>
          <a:prstGeom prst="line">
            <a:avLst/>
          </a:prstGeom>
          <a:noFill/>
          <a:ln w="11430">
            <a:solidFill>
              <a:srgbClr val="E7C9C6"/>
            </a:solidFill>
            <a:prstDash val="solid"/>
          </a:ln>
        </p:spPr>
      </p:sp>
      <p:sp>
        <p:nvSpPr>
          <p:cNvPr id="8" name="Shape 6"/>
          <p:cNvSpPr/>
          <p:nvPr/>
        </p:nvSpPr>
        <p:spPr>
          <a:xfrm flipV="1">
            <a:off x="726948" y="1817370"/>
            <a:ext cx="1172718" cy="555498"/>
          </a:xfrm>
          <a:prstGeom prst="line">
            <a:avLst/>
          </a:prstGeom>
          <a:noFill/>
          <a:ln w="11430">
            <a:solidFill>
              <a:srgbClr val="E7C9C6"/>
            </a:solidFill>
            <a:prstDash val="solid"/>
          </a:ln>
        </p:spPr>
      </p:sp>
      <p:sp>
        <p:nvSpPr>
          <p:cNvPr id="9" name="Shape 7"/>
          <p:cNvSpPr/>
          <p:nvPr/>
        </p:nvSpPr>
        <p:spPr>
          <a:xfrm>
            <a:off x="418338" y="1323594"/>
            <a:ext cx="308610" cy="1049274"/>
          </a:xfrm>
          <a:prstGeom prst="line">
            <a:avLst/>
          </a:prstGeom>
          <a:noFill/>
          <a:ln w="11430">
            <a:solidFill>
              <a:srgbClr val="E7C9C6"/>
            </a:solidFill>
            <a:prstDash val="solid"/>
          </a:ln>
        </p:spPr>
      </p:sp>
      <p:sp>
        <p:nvSpPr>
          <p:cNvPr id="10" name="Shape 8"/>
          <p:cNvSpPr/>
          <p:nvPr/>
        </p:nvSpPr>
        <p:spPr>
          <a:xfrm>
            <a:off x="2455164" y="891540"/>
            <a:ext cx="308610" cy="678942"/>
          </a:xfrm>
          <a:prstGeom prst="line">
            <a:avLst/>
          </a:prstGeom>
          <a:noFill/>
          <a:ln w="11430">
            <a:solidFill>
              <a:srgbClr val="E7C9C6"/>
            </a:solidFill>
            <a:prstDash val="solid"/>
          </a:ln>
        </p:spPr>
      </p:sp>
      <p:sp>
        <p:nvSpPr>
          <p:cNvPr id="11" name="Shape 9"/>
          <p:cNvSpPr/>
          <p:nvPr/>
        </p:nvSpPr>
        <p:spPr>
          <a:xfrm flipV="1">
            <a:off x="1899666" y="1570482"/>
            <a:ext cx="864108" cy="246888"/>
          </a:xfrm>
          <a:prstGeom prst="line">
            <a:avLst/>
          </a:prstGeom>
          <a:noFill/>
          <a:ln w="11430">
            <a:solidFill>
              <a:srgbClr val="E7C9C6"/>
            </a:solidFill>
            <a:prstDash val="solid"/>
          </a:ln>
        </p:spPr>
      </p:sp>
      <p:sp>
        <p:nvSpPr>
          <p:cNvPr id="12" name="Shape 10"/>
          <p:cNvSpPr/>
          <p:nvPr/>
        </p:nvSpPr>
        <p:spPr>
          <a:xfrm flipV="1">
            <a:off x="233172" y="459486"/>
            <a:ext cx="1110996" cy="61722"/>
          </a:xfrm>
          <a:prstGeom prst="line">
            <a:avLst/>
          </a:prstGeom>
          <a:noFill/>
          <a:ln w="11430">
            <a:solidFill>
              <a:srgbClr val="E7C9C6"/>
            </a:solidFill>
            <a:prstDash val="solid"/>
          </a:ln>
        </p:spPr>
      </p:sp>
      <p:sp>
        <p:nvSpPr>
          <p:cNvPr id="13" name="Shape 11"/>
          <p:cNvSpPr/>
          <p:nvPr/>
        </p:nvSpPr>
        <p:spPr>
          <a:xfrm>
            <a:off x="233172" y="521208"/>
            <a:ext cx="185166" cy="802386"/>
          </a:xfrm>
          <a:prstGeom prst="line">
            <a:avLst/>
          </a:prstGeom>
          <a:noFill/>
          <a:ln w="11430">
            <a:solidFill>
              <a:srgbClr val="E7C9C6"/>
            </a:solidFill>
            <a:prstDash val="solid"/>
          </a:ln>
        </p:spPr>
      </p:sp>
      <p:sp>
        <p:nvSpPr>
          <p:cNvPr id="14" name="Shape 12"/>
          <p:cNvSpPr/>
          <p:nvPr/>
        </p:nvSpPr>
        <p:spPr>
          <a:xfrm>
            <a:off x="726948" y="2372868"/>
            <a:ext cx="493776" cy="678942"/>
          </a:xfrm>
          <a:prstGeom prst="line">
            <a:avLst/>
          </a:prstGeom>
          <a:noFill/>
          <a:ln w="11430">
            <a:solidFill>
              <a:srgbClr val="E7C9C6"/>
            </a:solidFill>
            <a:prstDash val="solid"/>
          </a:ln>
        </p:spPr>
      </p:sp>
      <p:sp>
        <p:nvSpPr>
          <p:cNvPr id="15" name="Shape 13"/>
          <p:cNvSpPr/>
          <p:nvPr/>
        </p:nvSpPr>
        <p:spPr>
          <a:xfrm flipV="1">
            <a:off x="171450" y="3051810"/>
            <a:ext cx="1049274" cy="432054"/>
          </a:xfrm>
          <a:prstGeom prst="line">
            <a:avLst/>
          </a:prstGeom>
          <a:noFill/>
          <a:ln w="11430">
            <a:solidFill>
              <a:srgbClr val="E7C9C6"/>
            </a:solidFill>
            <a:prstDash val="solid"/>
          </a:ln>
        </p:spPr>
      </p:sp>
      <p:sp>
        <p:nvSpPr>
          <p:cNvPr id="16" name="Shape 14"/>
          <p:cNvSpPr/>
          <p:nvPr/>
        </p:nvSpPr>
        <p:spPr>
          <a:xfrm flipV="1">
            <a:off x="171450" y="2372868"/>
            <a:ext cx="555498" cy="1110996"/>
          </a:xfrm>
          <a:prstGeom prst="line">
            <a:avLst/>
          </a:prstGeom>
          <a:noFill/>
          <a:ln w="11430">
            <a:solidFill>
              <a:srgbClr val="E7C9C6"/>
            </a:solidFill>
            <a:prstDash val="solid"/>
          </a:ln>
        </p:spPr>
      </p:sp>
      <p:sp>
        <p:nvSpPr>
          <p:cNvPr id="17" name="Shape 15"/>
          <p:cNvSpPr/>
          <p:nvPr/>
        </p:nvSpPr>
        <p:spPr>
          <a:xfrm flipV="1">
            <a:off x="1220724" y="1817370"/>
            <a:ext cx="678942" cy="1234440"/>
          </a:xfrm>
          <a:prstGeom prst="line">
            <a:avLst/>
          </a:prstGeom>
          <a:noFill/>
          <a:ln w="11430">
            <a:solidFill>
              <a:srgbClr val="E7C9C6"/>
            </a:solidFill>
            <a:prstDash val="solid"/>
          </a:ln>
        </p:spPr>
      </p:sp>
      <p:sp>
        <p:nvSpPr>
          <p:cNvPr id="18" name="Shape 16"/>
          <p:cNvSpPr/>
          <p:nvPr/>
        </p:nvSpPr>
        <p:spPr>
          <a:xfrm>
            <a:off x="3525012" y="294894"/>
            <a:ext cx="82296" cy="82296"/>
          </a:xfrm>
          <a:prstGeom prst="ellipse">
            <a:avLst/>
          </a:prstGeom>
          <a:solidFill>
            <a:srgbClr val="8A2522"/>
          </a:solidFill>
          <a:ln w="11430">
            <a:solidFill>
              <a:srgbClr val="E7C9C6"/>
            </a:solidFill>
            <a:prstDash val="solid"/>
          </a:ln>
        </p:spPr>
      </p:sp>
      <p:sp>
        <p:nvSpPr>
          <p:cNvPr id="19" name="Shape 17"/>
          <p:cNvSpPr/>
          <p:nvPr/>
        </p:nvSpPr>
        <p:spPr>
          <a:xfrm>
            <a:off x="2414016" y="850392"/>
            <a:ext cx="82296" cy="82296"/>
          </a:xfrm>
          <a:prstGeom prst="ellipse">
            <a:avLst/>
          </a:prstGeom>
          <a:solidFill>
            <a:srgbClr val="8A2522"/>
          </a:solidFill>
          <a:ln w="11430">
            <a:solidFill>
              <a:srgbClr val="E7C9C6"/>
            </a:solidFill>
            <a:prstDash val="solid"/>
          </a:ln>
        </p:spPr>
      </p:sp>
      <p:sp>
        <p:nvSpPr>
          <p:cNvPr id="20" name="Shape 18"/>
          <p:cNvSpPr/>
          <p:nvPr/>
        </p:nvSpPr>
        <p:spPr>
          <a:xfrm>
            <a:off x="1303020" y="418338"/>
            <a:ext cx="82296" cy="82296"/>
          </a:xfrm>
          <a:prstGeom prst="ellipse">
            <a:avLst/>
          </a:prstGeom>
          <a:solidFill>
            <a:srgbClr val="8A2522"/>
          </a:solidFill>
          <a:ln w="11430">
            <a:solidFill>
              <a:srgbClr val="E7C9C6"/>
            </a:solidFill>
            <a:prstDash val="solid"/>
          </a:ln>
        </p:spPr>
      </p:sp>
      <p:sp>
        <p:nvSpPr>
          <p:cNvPr id="21" name="Shape 19"/>
          <p:cNvSpPr/>
          <p:nvPr/>
        </p:nvSpPr>
        <p:spPr>
          <a:xfrm>
            <a:off x="377190" y="1282446"/>
            <a:ext cx="82296" cy="82296"/>
          </a:xfrm>
          <a:prstGeom prst="ellipse">
            <a:avLst/>
          </a:prstGeom>
          <a:solidFill>
            <a:srgbClr val="8A2522"/>
          </a:solidFill>
          <a:ln w="11430">
            <a:solidFill>
              <a:srgbClr val="E7C9C6"/>
            </a:solidFill>
            <a:prstDash val="solid"/>
          </a:ln>
        </p:spPr>
      </p:sp>
      <p:sp>
        <p:nvSpPr>
          <p:cNvPr id="22" name="Shape 20"/>
          <p:cNvSpPr/>
          <p:nvPr/>
        </p:nvSpPr>
        <p:spPr>
          <a:xfrm>
            <a:off x="1858518" y="1776222"/>
            <a:ext cx="82296" cy="82296"/>
          </a:xfrm>
          <a:prstGeom prst="ellipse">
            <a:avLst/>
          </a:prstGeom>
          <a:solidFill>
            <a:srgbClr val="8A2522"/>
          </a:solidFill>
          <a:ln w="11430">
            <a:solidFill>
              <a:srgbClr val="E7C9C6"/>
            </a:solidFill>
            <a:prstDash val="solid"/>
          </a:ln>
        </p:spPr>
      </p:sp>
      <p:sp>
        <p:nvSpPr>
          <p:cNvPr id="23" name="Shape 21"/>
          <p:cNvSpPr/>
          <p:nvPr/>
        </p:nvSpPr>
        <p:spPr>
          <a:xfrm>
            <a:off x="685800" y="2331720"/>
            <a:ext cx="82296" cy="82296"/>
          </a:xfrm>
          <a:prstGeom prst="ellipse">
            <a:avLst/>
          </a:prstGeom>
          <a:solidFill>
            <a:srgbClr val="8A2522"/>
          </a:solidFill>
          <a:ln w="11430">
            <a:solidFill>
              <a:srgbClr val="E7C9C6"/>
            </a:solidFill>
            <a:prstDash val="solid"/>
          </a:ln>
        </p:spPr>
      </p:sp>
      <p:sp>
        <p:nvSpPr>
          <p:cNvPr id="24" name="Shape 22"/>
          <p:cNvSpPr/>
          <p:nvPr/>
        </p:nvSpPr>
        <p:spPr>
          <a:xfrm>
            <a:off x="2722626" y="1529334"/>
            <a:ext cx="82296" cy="82296"/>
          </a:xfrm>
          <a:prstGeom prst="ellipse">
            <a:avLst/>
          </a:prstGeom>
          <a:solidFill>
            <a:srgbClr val="8A2522"/>
          </a:solidFill>
          <a:ln w="11430">
            <a:solidFill>
              <a:srgbClr val="E7C9C6"/>
            </a:solidFill>
            <a:prstDash val="solid"/>
          </a:ln>
        </p:spPr>
      </p:sp>
      <p:sp>
        <p:nvSpPr>
          <p:cNvPr id="25" name="Shape 23"/>
          <p:cNvSpPr/>
          <p:nvPr/>
        </p:nvSpPr>
        <p:spPr>
          <a:xfrm>
            <a:off x="192024" y="480060"/>
            <a:ext cx="82296" cy="82296"/>
          </a:xfrm>
          <a:prstGeom prst="ellipse">
            <a:avLst/>
          </a:prstGeom>
          <a:solidFill>
            <a:srgbClr val="8A2522"/>
          </a:solidFill>
          <a:ln w="11430">
            <a:solidFill>
              <a:srgbClr val="E7C9C6"/>
            </a:solidFill>
            <a:prstDash val="solid"/>
          </a:ln>
        </p:spPr>
      </p:sp>
      <p:sp>
        <p:nvSpPr>
          <p:cNvPr id="26" name="Shape 24"/>
          <p:cNvSpPr/>
          <p:nvPr/>
        </p:nvSpPr>
        <p:spPr>
          <a:xfrm>
            <a:off x="1179576" y="3010662"/>
            <a:ext cx="82296" cy="82296"/>
          </a:xfrm>
          <a:prstGeom prst="ellipse">
            <a:avLst/>
          </a:prstGeom>
          <a:solidFill>
            <a:srgbClr val="8A2522"/>
          </a:solidFill>
          <a:ln w="11430">
            <a:solidFill>
              <a:srgbClr val="E7C9C6"/>
            </a:solidFill>
            <a:prstDash val="solid"/>
          </a:ln>
        </p:spPr>
      </p:sp>
      <p:sp>
        <p:nvSpPr>
          <p:cNvPr id="27" name="Shape 25"/>
          <p:cNvSpPr/>
          <p:nvPr/>
        </p:nvSpPr>
        <p:spPr>
          <a:xfrm>
            <a:off x="130302" y="3442716"/>
            <a:ext cx="82296" cy="82296"/>
          </a:xfrm>
          <a:prstGeom prst="ellipse">
            <a:avLst/>
          </a:prstGeom>
          <a:solidFill>
            <a:srgbClr val="8A2522"/>
          </a:solidFill>
          <a:ln w="11430">
            <a:solidFill>
              <a:srgbClr val="E7C9C6"/>
            </a:solidFill>
            <a:prstDash val="solid"/>
          </a:ln>
        </p:spPr>
      </p:sp>
      <p:sp>
        <p:nvSpPr>
          <p:cNvPr id="28" name="Shape 26"/>
          <p:cNvSpPr/>
          <p:nvPr/>
        </p:nvSpPr>
        <p:spPr>
          <a:xfrm>
            <a:off x="11020349" y="6163056"/>
            <a:ext cx="592531" cy="296266"/>
          </a:xfrm>
          <a:prstGeom prst="line">
            <a:avLst/>
          </a:prstGeom>
          <a:noFill/>
          <a:ln w="11430">
            <a:solidFill>
              <a:srgbClr val="E7C9C6"/>
            </a:solidFill>
            <a:prstDash val="solid"/>
          </a:ln>
        </p:spPr>
      </p:sp>
      <p:sp>
        <p:nvSpPr>
          <p:cNvPr id="29" name="Shape 27"/>
          <p:cNvSpPr/>
          <p:nvPr/>
        </p:nvSpPr>
        <p:spPr>
          <a:xfrm flipV="1">
            <a:off x="10427818" y="6163056"/>
            <a:ext cx="592531" cy="230429"/>
          </a:xfrm>
          <a:prstGeom prst="line">
            <a:avLst/>
          </a:prstGeom>
          <a:noFill/>
          <a:ln w="11430">
            <a:solidFill>
              <a:srgbClr val="E7C9C6"/>
            </a:solidFill>
            <a:prstDash val="solid"/>
          </a:ln>
        </p:spPr>
      </p:sp>
      <p:sp>
        <p:nvSpPr>
          <p:cNvPr id="30" name="Shape 28"/>
          <p:cNvSpPr/>
          <p:nvPr/>
        </p:nvSpPr>
        <p:spPr>
          <a:xfrm>
            <a:off x="9934042" y="5932627"/>
            <a:ext cx="493776" cy="460858"/>
          </a:xfrm>
          <a:prstGeom prst="line">
            <a:avLst/>
          </a:prstGeom>
          <a:noFill/>
          <a:ln w="11430">
            <a:solidFill>
              <a:srgbClr val="E7C9C6"/>
            </a:solidFill>
            <a:prstDash val="solid"/>
          </a:ln>
        </p:spPr>
      </p:sp>
      <p:sp>
        <p:nvSpPr>
          <p:cNvPr id="31" name="Shape 29"/>
          <p:cNvSpPr/>
          <p:nvPr/>
        </p:nvSpPr>
        <p:spPr>
          <a:xfrm>
            <a:off x="10724083" y="5669280"/>
            <a:ext cx="296266" cy="493776"/>
          </a:xfrm>
          <a:prstGeom prst="line">
            <a:avLst/>
          </a:prstGeom>
          <a:noFill/>
          <a:ln w="11430">
            <a:solidFill>
              <a:srgbClr val="E7C9C6"/>
            </a:solidFill>
            <a:prstDash val="solid"/>
          </a:ln>
        </p:spPr>
      </p:sp>
      <p:sp>
        <p:nvSpPr>
          <p:cNvPr id="32" name="Shape 30"/>
          <p:cNvSpPr/>
          <p:nvPr/>
        </p:nvSpPr>
        <p:spPr>
          <a:xfrm flipV="1">
            <a:off x="9934042" y="5669280"/>
            <a:ext cx="790042" cy="263347"/>
          </a:xfrm>
          <a:prstGeom prst="line">
            <a:avLst/>
          </a:prstGeom>
          <a:noFill/>
          <a:ln w="11430">
            <a:solidFill>
              <a:srgbClr val="E7C9C6"/>
            </a:solidFill>
            <a:prstDash val="solid"/>
          </a:ln>
        </p:spPr>
      </p:sp>
      <p:sp>
        <p:nvSpPr>
          <p:cNvPr id="33" name="Shape 31"/>
          <p:cNvSpPr/>
          <p:nvPr/>
        </p:nvSpPr>
        <p:spPr>
          <a:xfrm>
            <a:off x="10098634" y="5373014"/>
            <a:ext cx="625450" cy="296266"/>
          </a:xfrm>
          <a:prstGeom prst="line">
            <a:avLst/>
          </a:prstGeom>
          <a:noFill/>
          <a:ln w="11430">
            <a:solidFill>
              <a:srgbClr val="E7C9C6"/>
            </a:solidFill>
            <a:prstDash val="solid"/>
          </a:ln>
        </p:spPr>
      </p:sp>
      <p:sp>
        <p:nvSpPr>
          <p:cNvPr id="34" name="Shape 32"/>
          <p:cNvSpPr/>
          <p:nvPr/>
        </p:nvSpPr>
        <p:spPr>
          <a:xfrm flipV="1">
            <a:off x="9934042" y="5373014"/>
            <a:ext cx="164592" cy="559613"/>
          </a:xfrm>
          <a:prstGeom prst="line">
            <a:avLst/>
          </a:prstGeom>
          <a:noFill/>
          <a:ln w="11430">
            <a:solidFill>
              <a:srgbClr val="E7C9C6"/>
            </a:solidFill>
            <a:prstDash val="solid"/>
          </a:ln>
        </p:spPr>
      </p:sp>
      <p:sp>
        <p:nvSpPr>
          <p:cNvPr id="35" name="Shape 33"/>
          <p:cNvSpPr/>
          <p:nvPr/>
        </p:nvSpPr>
        <p:spPr>
          <a:xfrm flipV="1">
            <a:off x="11020349" y="5800954"/>
            <a:ext cx="164592" cy="362102"/>
          </a:xfrm>
          <a:prstGeom prst="line">
            <a:avLst/>
          </a:prstGeom>
          <a:noFill/>
          <a:ln w="11430">
            <a:solidFill>
              <a:srgbClr val="E7C9C6"/>
            </a:solidFill>
            <a:prstDash val="solid"/>
          </a:ln>
        </p:spPr>
      </p:sp>
      <p:sp>
        <p:nvSpPr>
          <p:cNvPr id="36" name="Shape 34"/>
          <p:cNvSpPr/>
          <p:nvPr/>
        </p:nvSpPr>
        <p:spPr>
          <a:xfrm>
            <a:off x="10724083" y="5669280"/>
            <a:ext cx="460858" cy="131674"/>
          </a:xfrm>
          <a:prstGeom prst="line">
            <a:avLst/>
          </a:prstGeom>
          <a:noFill/>
          <a:ln w="11430">
            <a:solidFill>
              <a:srgbClr val="E7C9C6"/>
            </a:solidFill>
            <a:prstDash val="solid"/>
          </a:ln>
        </p:spPr>
      </p:sp>
      <p:sp>
        <p:nvSpPr>
          <p:cNvPr id="37" name="Shape 35"/>
          <p:cNvSpPr/>
          <p:nvPr/>
        </p:nvSpPr>
        <p:spPr>
          <a:xfrm>
            <a:off x="9835286" y="6360566"/>
            <a:ext cx="592531" cy="32918"/>
          </a:xfrm>
          <a:prstGeom prst="line">
            <a:avLst/>
          </a:prstGeom>
          <a:noFill/>
          <a:ln w="11430">
            <a:solidFill>
              <a:srgbClr val="E7C9C6"/>
            </a:solidFill>
            <a:prstDash val="solid"/>
          </a:ln>
        </p:spPr>
      </p:sp>
      <p:sp>
        <p:nvSpPr>
          <p:cNvPr id="38" name="Shape 36"/>
          <p:cNvSpPr/>
          <p:nvPr/>
        </p:nvSpPr>
        <p:spPr>
          <a:xfrm flipV="1">
            <a:off x="9835286" y="5932627"/>
            <a:ext cx="98755" cy="427939"/>
          </a:xfrm>
          <a:prstGeom prst="line">
            <a:avLst/>
          </a:prstGeom>
          <a:noFill/>
          <a:ln w="11430">
            <a:solidFill>
              <a:srgbClr val="E7C9C6"/>
            </a:solidFill>
            <a:prstDash val="solid"/>
          </a:ln>
        </p:spPr>
      </p:sp>
      <p:sp>
        <p:nvSpPr>
          <p:cNvPr id="39" name="Shape 37"/>
          <p:cNvSpPr/>
          <p:nvPr/>
        </p:nvSpPr>
        <p:spPr>
          <a:xfrm flipV="1">
            <a:off x="10098634" y="5010912"/>
            <a:ext cx="263347" cy="362102"/>
          </a:xfrm>
          <a:prstGeom prst="line">
            <a:avLst/>
          </a:prstGeom>
          <a:noFill/>
          <a:ln w="11430">
            <a:solidFill>
              <a:srgbClr val="E7C9C6"/>
            </a:solidFill>
            <a:prstDash val="solid"/>
          </a:ln>
        </p:spPr>
      </p:sp>
      <p:sp>
        <p:nvSpPr>
          <p:cNvPr id="40" name="Shape 38"/>
          <p:cNvSpPr/>
          <p:nvPr/>
        </p:nvSpPr>
        <p:spPr>
          <a:xfrm>
            <a:off x="9802368" y="4780483"/>
            <a:ext cx="559613" cy="230429"/>
          </a:xfrm>
          <a:prstGeom prst="line">
            <a:avLst/>
          </a:prstGeom>
          <a:noFill/>
          <a:ln w="11430">
            <a:solidFill>
              <a:srgbClr val="E7C9C6"/>
            </a:solidFill>
            <a:prstDash val="solid"/>
          </a:ln>
        </p:spPr>
      </p:sp>
      <p:sp>
        <p:nvSpPr>
          <p:cNvPr id="41" name="Shape 39"/>
          <p:cNvSpPr/>
          <p:nvPr/>
        </p:nvSpPr>
        <p:spPr>
          <a:xfrm>
            <a:off x="9802368" y="4780483"/>
            <a:ext cx="296266" cy="592531"/>
          </a:xfrm>
          <a:prstGeom prst="line">
            <a:avLst/>
          </a:prstGeom>
          <a:noFill/>
          <a:ln w="11430">
            <a:solidFill>
              <a:srgbClr val="E7C9C6"/>
            </a:solidFill>
            <a:prstDash val="solid"/>
          </a:ln>
        </p:spPr>
      </p:sp>
      <p:sp>
        <p:nvSpPr>
          <p:cNvPr id="42" name="Shape 40"/>
          <p:cNvSpPr/>
          <p:nvPr/>
        </p:nvSpPr>
        <p:spPr>
          <a:xfrm>
            <a:off x="10361981" y="5010912"/>
            <a:ext cx="362102" cy="658368"/>
          </a:xfrm>
          <a:prstGeom prst="line">
            <a:avLst/>
          </a:prstGeom>
          <a:noFill/>
          <a:ln w="11430">
            <a:solidFill>
              <a:srgbClr val="E7C9C6"/>
            </a:solidFill>
            <a:prstDash val="solid"/>
          </a:ln>
        </p:spPr>
      </p:sp>
      <p:sp>
        <p:nvSpPr>
          <p:cNvPr id="43" name="Shape 41"/>
          <p:cNvSpPr/>
          <p:nvPr/>
        </p:nvSpPr>
        <p:spPr>
          <a:xfrm>
            <a:off x="11571732" y="6418174"/>
            <a:ext cx="82296" cy="82296"/>
          </a:xfrm>
          <a:prstGeom prst="ellipse">
            <a:avLst/>
          </a:prstGeom>
          <a:solidFill>
            <a:srgbClr val="8A2522"/>
          </a:solidFill>
          <a:ln w="11430">
            <a:solidFill>
              <a:srgbClr val="E7C9C6"/>
            </a:solidFill>
            <a:prstDash val="solid"/>
          </a:ln>
        </p:spPr>
      </p:sp>
      <p:sp>
        <p:nvSpPr>
          <p:cNvPr id="44" name="Shape 42"/>
          <p:cNvSpPr/>
          <p:nvPr/>
        </p:nvSpPr>
        <p:spPr>
          <a:xfrm>
            <a:off x="10979201" y="6121908"/>
            <a:ext cx="82296" cy="82296"/>
          </a:xfrm>
          <a:prstGeom prst="ellipse">
            <a:avLst/>
          </a:prstGeom>
          <a:solidFill>
            <a:srgbClr val="8A2522"/>
          </a:solidFill>
          <a:ln w="11430">
            <a:solidFill>
              <a:srgbClr val="E7C9C6"/>
            </a:solidFill>
            <a:prstDash val="solid"/>
          </a:ln>
        </p:spPr>
      </p:sp>
      <p:sp>
        <p:nvSpPr>
          <p:cNvPr id="45" name="Shape 43"/>
          <p:cNvSpPr/>
          <p:nvPr/>
        </p:nvSpPr>
        <p:spPr>
          <a:xfrm>
            <a:off x="10386670" y="6352337"/>
            <a:ext cx="82296" cy="82296"/>
          </a:xfrm>
          <a:prstGeom prst="ellipse">
            <a:avLst/>
          </a:prstGeom>
          <a:solidFill>
            <a:srgbClr val="8A2522"/>
          </a:solidFill>
          <a:ln w="11430">
            <a:solidFill>
              <a:srgbClr val="E7C9C6"/>
            </a:solidFill>
            <a:prstDash val="solid"/>
          </a:ln>
        </p:spPr>
      </p:sp>
      <p:sp>
        <p:nvSpPr>
          <p:cNvPr id="46" name="Shape 44"/>
          <p:cNvSpPr/>
          <p:nvPr/>
        </p:nvSpPr>
        <p:spPr>
          <a:xfrm>
            <a:off x="9892894" y="5891479"/>
            <a:ext cx="82296" cy="82296"/>
          </a:xfrm>
          <a:prstGeom prst="ellipse">
            <a:avLst/>
          </a:prstGeom>
          <a:solidFill>
            <a:srgbClr val="8A2522"/>
          </a:solidFill>
          <a:ln w="11430">
            <a:solidFill>
              <a:srgbClr val="E7C9C6"/>
            </a:solidFill>
            <a:prstDash val="solid"/>
          </a:ln>
        </p:spPr>
      </p:sp>
      <p:sp>
        <p:nvSpPr>
          <p:cNvPr id="47" name="Shape 45"/>
          <p:cNvSpPr/>
          <p:nvPr/>
        </p:nvSpPr>
        <p:spPr>
          <a:xfrm>
            <a:off x="10682935" y="5628132"/>
            <a:ext cx="82296" cy="82296"/>
          </a:xfrm>
          <a:prstGeom prst="ellipse">
            <a:avLst/>
          </a:prstGeom>
          <a:solidFill>
            <a:srgbClr val="8A2522"/>
          </a:solidFill>
          <a:ln w="11430">
            <a:solidFill>
              <a:srgbClr val="E7C9C6"/>
            </a:solidFill>
            <a:prstDash val="solid"/>
          </a:ln>
        </p:spPr>
      </p:sp>
      <p:sp>
        <p:nvSpPr>
          <p:cNvPr id="48" name="Shape 46"/>
          <p:cNvSpPr/>
          <p:nvPr/>
        </p:nvSpPr>
        <p:spPr>
          <a:xfrm>
            <a:off x="10057486" y="5331866"/>
            <a:ext cx="82296" cy="82296"/>
          </a:xfrm>
          <a:prstGeom prst="ellipse">
            <a:avLst/>
          </a:prstGeom>
          <a:solidFill>
            <a:srgbClr val="8A2522"/>
          </a:solidFill>
          <a:ln w="11430">
            <a:solidFill>
              <a:srgbClr val="E7C9C6"/>
            </a:solidFill>
            <a:prstDash val="solid"/>
          </a:ln>
        </p:spPr>
      </p:sp>
      <p:sp>
        <p:nvSpPr>
          <p:cNvPr id="49" name="Shape 47"/>
          <p:cNvSpPr/>
          <p:nvPr/>
        </p:nvSpPr>
        <p:spPr>
          <a:xfrm>
            <a:off x="11143793" y="5759806"/>
            <a:ext cx="82296" cy="82296"/>
          </a:xfrm>
          <a:prstGeom prst="ellipse">
            <a:avLst/>
          </a:prstGeom>
          <a:solidFill>
            <a:srgbClr val="8A2522"/>
          </a:solidFill>
          <a:ln w="11430">
            <a:solidFill>
              <a:srgbClr val="E7C9C6"/>
            </a:solidFill>
            <a:prstDash val="solid"/>
          </a:ln>
        </p:spPr>
      </p:sp>
      <p:sp>
        <p:nvSpPr>
          <p:cNvPr id="50" name="Shape 48"/>
          <p:cNvSpPr/>
          <p:nvPr/>
        </p:nvSpPr>
        <p:spPr>
          <a:xfrm>
            <a:off x="9794138" y="6319418"/>
            <a:ext cx="82296" cy="82296"/>
          </a:xfrm>
          <a:prstGeom prst="ellipse">
            <a:avLst/>
          </a:prstGeom>
          <a:solidFill>
            <a:srgbClr val="8A2522"/>
          </a:solidFill>
          <a:ln w="11430">
            <a:solidFill>
              <a:srgbClr val="E7C9C6"/>
            </a:solidFill>
            <a:prstDash val="solid"/>
          </a:ln>
        </p:spPr>
      </p:sp>
      <p:sp>
        <p:nvSpPr>
          <p:cNvPr id="51" name="Shape 49"/>
          <p:cNvSpPr/>
          <p:nvPr/>
        </p:nvSpPr>
        <p:spPr>
          <a:xfrm>
            <a:off x="10320833" y="4969764"/>
            <a:ext cx="82296" cy="82296"/>
          </a:xfrm>
          <a:prstGeom prst="ellipse">
            <a:avLst/>
          </a:prstGeom>
          <a:solidFill>
            <a:srgbClr val="8A2522"/>
          </a:solidFill>
          <a:ln w="11430">
            <a:solidFill>
              <a:srgbClr val="E7C9C6"/>
            </a:solidFill>
            <a:prstDash val="solid"/>
          </a:ln>
        </p:spPr>
      </p:sp>
      <p:sp>
        <p:nvSpPr>
          <p:cNvPr id="52" name="Shape 50"/>
          <p:cNvSpPr/>
          <p:nvPr/>
        </p:nvSpPr>
        <p:spPr>
          <a:xfrm>
            <a:off x="9761220" y="4739335"/>
            <a:ext cx="82296" cy="82296"/>
          </a:xfrm>
          <a:prstGeom prst="ellipse">
            <a:avLst/>
          </a:prstGeom>
          <a:solidFill>
            <a:srgbClr val="8A2522"/>
          </a:solidFill>
          <a:ln w="11430">
            <a:solidFill>
              <a:srgbClr val="E7C9C6"/>
            </a:solidFill>
            <a:prstDash val="solid"/>
          </a:ln>
        </p:spPr>
      </p:sp>
      <p:sp>
        <p:nvSpPr>
          <p:cNvPr id="53" name="Text 51"/>
          <p:cNvSpPr txBox="1"/>
          <p:nvPr/>
        </p:nvSpPr>
        <p:spPr>
          <a:xfrm>
            <a:off x="7680960" y="1600200"/>
            <a:ext cx="3657600" cy="1280160"/>
          </a:xfrm>
          <a:prstGeom prst="rect">
            <a:avLst/>
          </a:prstGeom>
          <a:noFill/>
          <a:ln/>
        </p:spPr>
        <p:txBody>
          <a:bodyPr wrap="square" lIns="0" tIns="0" rIns="0" bIns="0" rtlCol="0" anchor="ctr"/>
          <a:lstStyle/>
          <a:p>
            <a:pPr algn="r" indent="0" marL="0">
              <a:buNone/>
            </a:pPr>
            <a:r>
              <a:rPr lang="en-US" sz="8800" b="1" dirty="0">
                <a:solidFill>
                  <a:srgbClr val="E7C9C6"/>
                </a:solidFill>
                <a:latin typeface="Arial" pitchFamily="34" charset="0"/>
                <a:ea typeface="Arial" pitchFamily="34" charset="-122"/>
                <a:cs typeface="Arial" pitchFamily="34" charset="-120"/>
              </a:rPr>
              <a:t>01</a:t>
            </a:r>
            <a:endParaRPr lang="en-US" sz="8800" dirty="0"/>
          </a:p>
        </p:txBody>
      </p:sp>
      <p:sp>
        <p:nvSpPr>
          <p:cNvPr id="54" name="Text 52"/>
          <p:cNvSpPr txBox="1"/>
          <p:nvPr/>
        </p:nvSpPr>
        <p:spPr>
          <a:xfrm>
            <a:off x="1371600" y="2926080"/>
            <a:ext cx="9966960" cy="914400"/>
          </a:xfrm>
          <a:prstGeom prst="rect">
            <a:avLst/>
          </a:prstGeom>
          <a:noFill/>
          <a:ln/>
        </p:spPr>
        <p:txBody>
          <a:bodyPr wrap="square" lIns="0" tIns="0" rIns="0" bIns="0" rtlCol="0" anchor="ctr"/>
          <a:lstStyle/>
          <a:p>
            <a:pPr rtl="1" algn="r" indent="0" marL="0">
              <a:buNone/>
            </a:pPr>
            <a:r>
              <a:rPr lang="ar-EG" altLang="en-US" sz="4000" b="1" dirty="0">
                <a:solidFill>
                  <a:srgbClr val="FFFFFF"/>
                </a:solidFill>
                <a:latin typeface="Arial" pitchFamily="34" charset="0"/>
                <a:ea typeface="Arial" pitchFamily="34" charset="-122"/>
                <a:cs typeface="Arial" pitchFamily="34" charset="-120"/>
              </a:rPr>
              <a:t>الخلفية</a:t>
            </a:r>
            <a:endParaRPr lang="ar-EG" sz="4000" dirty="0"/>
          </a:p>
        </p:txBody>
      </p:sp>
      <p:sp>
        <p:nvSpPr>
          <p:cNvPr id="55" name="Text 53"/>
          <p:cNvSpPr txBox="1"/>
          <p:nvPr/>
        </p:nvSpPr>
        <p:spPr>
          <a:xfrm>
            <a:off x="1371600" y="3886200"/>
            <a:ext cx="9966960" cy="822960"/>
          </a:xfrm>
          <a:prstGeom prst="rect">
            <a:avLst/>
          </a:prstGeom>
          <a:noFill/>
          <a:ln/>
        </p:spPr>
        <p:txBody>
          <a:bodyPr wrap="square" lIns="0" tIns="0" rIns="0" bIns="0" rtlCol="0" anchor="t"/>
          <a:lstStyle/>
          <a:p>
            <a:pPr rtl="1" algn="r" indent="0" marL="0">
              <a:buNone/>
            </a:pPr>
            <a:r>
              <a:rPr lang="ar-EG" altLang="en-US" sz="1800" dirty="0">
                <a:solidFill>
                  <a:srgbClr val="F3E3E1"/>
                </a:solidFill>
                <a:latin typeface="Arial" pitchFamily="34" charset="0"/>
                <a:ea typeface="Arial" pitchFamily="34" charset="-122"/>
                <a:cs typeface="Arial" pitchFamily="34" charset="-120"/>
              </a:rPr>
              <a:t>شبكات الحساسات، والـ Clustering، وليه الطاقة هي اللي بتتحكم في كل حاجة</a:t>
            </a:r>
            <a:endParaRPr lang="ar-EG"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شبكات الحساسات اللاسلكية</a:t>
            </a:r>
            <a:pPr algn="r" indent="0" marL="0">
              <a:buNone/>
            </a:pPr>
            <a:r>
              <a:rPr lang="ar-EG" altLang="en-US" sz="2100" dirty="0">
                <a:solidFill>
                  <a:srgbClr val="8A2522"/>
                </a:solidFill>
                <a:latin typeface="Arial" pitchFamily="34" charset="0"/>
                <a:ea typeface="Arial" pitchFamily="34" charset="-122"/>
                <a:cs typeface="Arial" pitchFamily="34" charset="-120"/>
              </a:rPr>
              <a:t>  –  التعريف</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10</a:t>
            </a:r>
            <a:endParaRPr lang="en-US" sz="1000" dirty="0"/>
          </a:p>
        </p:txBody>
      </p:sp>
      <p:pic>
        <p:nvPicPr>
          <p:cNvPr id="20" name="Image 0" descr="img/bg_definition.png">    </p:cNvPr>
          <p:cNvPicPr>
            <a:picLocks noChangeAspect="1"/>
          </p:cNvPicPr>
          <p:nvPr/>
        </p:nvPicPr>
        <p:blipFill>
          <a:blip r:embed="rId1"/>
          <a:stretch>
            <a:fillRect/>
          </a:stretch>
        </p:blipFill>
        <p:spPr>
          <a:xfrm>
            <a:off x="4754880" y="1447800"/>
            <a:ext cx="6766560" cy="4511040"/>
          </a:xfrm>
          <a:prstGeom prst="rect">
            <a:avLst/>
          </a:prstGeom>
        </p:spPr>
      </p:pic>
      <p:sp>
        <p:nvSpPr>
          <p:cNvPr id="21" name="Text 17"/>
          <p:cNvSpPr txBox="1"/>
          <p:nvPr/>
        </p:nvSpPr>
        <p:spPr>
          <a:xfrm>
            <a:off x="640080" y="1463040"/>
            <a:ext cx="3931920" cy="4572000"/>
          </a:xfrm>
          <a:prstGeom prst="rect">
            <a:avLst/>
          </a:prstGeom>
          <a:noFill/>
          <a:ln/>
        </p:spPr>
        <p:txBody>
          <a:bodyPr wrap="square" lIns="635" tIns="635" rIns="635" bIns="635" rtlCol="0" anchor="t"/>
          <a:lstStyle/>
          <a:p>
            <a:pPr algn="r" indent="0" marL="0">
              <a:spcAft>
                <a:spcPts val="600"/>
              </a:spcAft>
              <a:buNone/>
            </a:pPr>
            <a:r>
              <a:rPr lang="ar-EG" altLang="en-US" sz="1500" b="1" dirty="0">
                <a:solidFill>
                  <a:srgbClr val="8A2522"/>
                </a:solidFill>
                <a:latin typeface="Arial" pitchFamily="34" charset="0"/>
                <a:ea typeface="Arial" pitchFamily="34" charset="-122"/>
                <a:cs typeface="Arial" pitchFamily="34" charset="-120"/>
              </a:rPr>
              <a:t>يعني إيه WSN؟</a:t>
            </a:r>
            <a:endParaRPr lang="ar-EG" sz="1400" dirty="0"/>
          </a:p>
          <a:p>
            <a:pPr algn="r" marL="203200" indent="-203200">
              <a:spcAft>
                <a:spcPts val="600"/>
              </a:spcAft>
              <a:buSzPct val="100000"/>
              <a:buChar char="•"/>
            </a:pPr>
            <a:r>
              <a:rPr lang="ar-EG" altLang="en-US" sz="1400" dirty="0">
                <a:solidFill>
                  <a:srgbClr val="323232"/>
                </a:solidFill>
                <a:latin typeface="Arial" pitchFamily="34" charset="0"/>
                <a:ea typeface="Arial" pitchFamily="34" charset="-122"/>
                <a:cs typeface="Arial" pitchFamily="34" charset="-120"/>
              </a:rPr>
              <a:t>حساسات صغيرة كتير ببطارية بتقيس المكان وتبعت الداتا لاسلكي لجهاز رئيسي (Sink).</a:t>
            </a:r>
            <a:endParaRPr lang="ar-EG" sz="1400" dirty="0"/>
          </a:p>
          <a:p>
            <a:pPr algn="r" indent="0" marL="0">
              <a:spcBef>
                <a:spcPts val="800"/>
              </a:spcBef>
              <a:spcAft>
                <a:spcPts val="600"/>
              </a:spcAft>
              <a:buNone/>
            </a:pPr>
            <a:r>
              <a:rPr lang="ar-EG" altLang="en-US" sz="1500" b="1" dirty="0">
                <a:solidFill>
                  <a:srgbClr val="8A2522"/>
                </a:solidFill>
                <a:latin typeface="Arial" pitchFamily="34" charset="0"/>
                <a:ea typeface="Arial" pitchFamily="34" charset="-122"/>
                <a:cs typeface="Arial" pitchFamily="34" charset="-120"/>
              </a:rPr>
              <a:t>القيود الأساسية</a:t>
            </a:r>
            <a:endParaRPr lang="ar-EG" sz="1400" dirty="0"/>
          </a:p>
          <a:p>
            <a:pPr algn="r" marL="203200" indent="-203200">
              <a:spcAft>
                <a:spcPts val="600"/>
              </a:spcAft>
              <a:buSzPct val="100000"/>
              <a:buChar char="•"/>
            </a:pPr>
            <a:r>
              <a:rPr lang="ar-EG" altLang="en-US" sz="1400" dirty="0">
                <a:solidFill>
                  <a:srgbClr val="323232"/>
                </a:solidFill>
                <a:latin typeface="Arial" pitchFamily="34" charset="0"/>
                <a:ea typeface="Arial" pitchFamily="34" charset="-122"/>
                <a:cs typeface="Arial" pitchFamily="34" charset="-120"/>
              </a:rPr>
              <a:t>البطارية محدودة وغالبًا مش بتتغير</a:t>
            </a:r>
            <a:endParaRPr lang="ar-EG" sz="1400" dirty="0"/>
          </a:p>
          <a:p>
            <a:pPr algn="r" marL="203200" indent="-203200">
              <a:spcAft>
                <a:spcPts val="600"/>
              </a:spcAft>
              <a:buSzPct val="100000"/>
              <a:buChar char="•"/>
            </a:pPr>
            <a:r>
              <a:rPr lang="ar-EG" altLang="en-US" sz="1400" dirty="0">
                <a:solidFill>
                  <a:srgbClr val="323232"/>
                </a:solidFill>
                <a:latin typeface="Arial" pitchFamily="34" charset="0"/>
                <a:ea typeface="Arial" pitchFamily="34" charset="-122"/>
                <a:cs typeface="Arial" pitchFamily="34" charset="-120"/>
              </a:rPr>
              <a:t>المعالج والذاكرة صغيرين</a:t>
            </a:r>
            <a:endParaRPr lang="ar-EG" sz="1400" dirty="0"/>
          </a:p>
          <a:p>
            <a:pPr algn="r" marL="203200" indent="-203200">
              <a:spcAft>
                <a:spcPts val="600"/>
              </a:spcAft>
              <a:buSzPct val="100000"/>
              <a:buChar char="•"/>
            </a:pPr>
            <a:r>
              <a:rPr lang="ar-EG" altLang="en-US" sz="1400" dirty="0">
                <a:solidFill>
                  <a:srgbClr val="323232"/>
                </a:solidFill>
                <a:latin typeface="Arial" pitchFamily="34" charset="0"/>
                <a:ea typeface="Arial" pitchFamily="34" charset="-122"/>
                <a:cs typeface="Arial" pitchFamily="34" charset="-120"/>
              </a:rPr>
              <a:t>الإرسال اللاسلكي هو أكتر حاجة بتصرف طاقة</a:t>
            </a:r>
            <a:endParaRPr lang="ar-EG"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مكونات الشبكة</a:t>
            </a:r>
            <a:pPr algn="r" indent="0" marL="0">
              <a:buNone/>
            </a:pPr>
            <a:r>
              <a:rPr lang="ar-EG" altLang="en-US" sz="2100" dirty="0">
                <a:solidFill>
                  <a:srgbClr val="8A2522"/>
                </a:solidFill>
                <a:latin typeface="Arial" pitchFamily="34" charset="0"/>
                <a:ea typeface="Arial" pitchFamily="34" charset="-122"/>
                <a:cs typeface="Arial" pitchFamily="34" charset="-120"/>
              </a:rPr>
              <a:t>  –  النود، والشبكة، ومسار الداتا</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11</a:t>
            </a:r>
            <a:endParaRPr lang="en-US" sz="1000" dirty="0"/>
          </a:p>
        </p:txBody>
      </p:sp>
      <p:pic>
        <p:nvPicPr>
          <p:cNvPr id="20" name="Image 0" descr="img/bg_overview.png">    </p:cNvPr>
          <p:cNvPicPr>
            <a:picLocks noChangeAspect="1"/>
          </p:cNvPicPr>
          <p:nvPr/>
        </p:nvPicPr>
        <p:blipFill>
          <a:blip r:embed="rId1"/>
          <a:stretch>
            <a:fillRect/>
          </a:stretch>
        </p:blipFill>
        <p:spPr>
          <a:xfrm>
            <a:off x="4572000" y="1386840"/>
            <a:ext cx="6949440" cy="4632960"/>
          </a:xfrm>
          <a:prstGeom prst="rect">
            <a:avLst/>
          </a:prstGeom>
        </p:spPr>
      </p:pic>
      <p:sp>
        <p:nvSpPr>
          <p:cNvPr id="21" name="Shape 17"/>
          <p:cNvSpPr/>
          <p:nvPr/>
        </p:nvSpPr>
        <p:spPr>
          <a:xfrm>
            <a:off x="640080" y="1417320"/>
            <a:ext cx="3657600" cy="1417320"/>
          </a:xfrm>
          <a:prstGeom prst="roundRect">
            <a:avLst>
              <a:gd name="adj" fmla="val 7742"/>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2" name="Text 18"/>
          <p:cNvSpPr txBox="1"/>
          <p:nvPr/>
        </p:nvSpPr>
        <p:spPr>
          <a:xfrm>
            <a:off x="822960" y="1554480"/>
            <a:ext cx="325526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الحساس (Sensor node)</a:t>
            </a:r>
            <a:endParaRPr lang="ar-EG" sz="1500" dirty="0"/>
          </a:p>
        </p:txBody>
      </p:sp>
      <p:sp>
        <p:nvSpPr>
          <p:cNvPr id="23" name="Text 19"/>
          <p:cNvSpPr txBox="1"/>
          <p:nvPr/>
        </p:nvSpPr>
        <p:spPr>
          <a:xfrm>
            <a:off x="841248" y="2148840"/>
            <a:ext cx="3255264" cy="54864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وحدة قياس، ومعالج، وجهاز إرسال، وبطارية.</a:t>
            </a:r>
            <a:endParaRPr lang="ar-EG" sz="1400" dirty="0"/>
          </a:p>
        </p:txBody>
      </p:sp>
      <p:sp>
        <p:nvSpPr>
          <p:cNvPr id="24" name="Shape 20"/>
          <p:cNvSpPr/>
          <p:nvPr/>
        </p:nvSpPr>
        <p:spPr>
          <a:xfrm>
            <a:off x="640080" y="2971800"/>
            <a:ext cx="3657600" cy="1417320"/>
          </a:xfrm>
          <a:prstGeom prst="roundRect">
            <a:avLst>
              <a:gd name="adj" fmla="val 7742"/>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5" name="Text 21"/>
          <p:cNvSpPr txBox="1"/>
          <p:nvPr/>
        </p:nvSpPr>
        <p:spPr>
          <a:xfrm>
            <a:off x="822960" y="3108960"/>
            <a:ext cx="325526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المحطة الرئيسية (Sink)</a:t>
            </a:r>
            <a:endParaRPr lang="ar-EG" sz="1500" dirty="0"/>
          </a:p>
        </p:txBody>
      </p:sp>
      <p:sp>
        <p:nvSpPr>
          <p:cNvPr id="26" name="Text 22"/>
          <p:cNvSpPr txBox="1"/>
          <p:nvPr/>
        </p:nvSpPr>
        <p:spPr>
          <a:xfrm>
            <a:off x="841248" y="3703320"/>
            <a:ext cx="3255264" cy="54864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بتجمع الداتا وتوصّل الشبكة بالمستخدم أو الإنترنت.</a:t>
            </a:r>
            <a:endParaRPr lang="ar-EG" sz="1400" dirty="0"/>
          </a:p>
        </p:txBody>
      </p:sp>
      <p:sp>
        <p:nvSpPr>
          <p:cNvPr id="27" name="Shape 23"/>
          <p:cNvSpPr/>
          <p:nvPr/>
        </p:nvSpPr>
        <p:spPr>
          <a:xfrm>
            <a:off x="640080" y="4526280"/>
            <a:ext cx="3657600" cy="1417320"/>
          </a:xfrm>
          <a:prstGeom prst="roundRect">
            <a:avLst>
              <a:gd name="adj" fmla="val 7742"/>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8" name="Text 24"/>
          <p:cNvSpPr txBox="1"/>
          <p:nvPr/>
        </p:nvSpPr>
        <p:spPr>
          <a:xfrm>
            <a:off x="822960" y="4663440"/>
            <a:ext cx="325526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مسار الداتا</a:t>
            </a:r>
            <a:endParaRPr lang="ar-EG" sz="1500" dirty="0"/>
          </a:p>
        </p:txBody>
      </p:sp>
      <p:sp>
        <p:nvSpPr>
          <p:cNvPr id="29" name="Text 25"/>
          <p:cNvSpPr txBox="1"/>
          <p:nvPr/>
        </p:nvSpPr>
        <p:spPr>
          <a:xfrm>
            <a:off x="841248" y="5257800"/>
            <a:ext cx="3255264" cy="54864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نود ← Cluster ← Sink ← مستخدم، على قفزة واحدة أو كذا قفزة.</a:t>
            </a:r>
            <a:endParaRPr lang="ar-EG"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الـ Clustering</a:t>
            </a:r>
            <a:pPr algn="r" indent="0" marL="0">
              <a:buNone/>
            </a:pPr>
            <a:r>
              <a:rPr lang="ar-EG" altLang="en-US" sz="2100" dirty="0">
                <a:solidFill>
                  <a:srgbClr val="8A2522"/>
                </a:solidFill>
                <a:latin typeface="Arial" pitchFamily="34" charset="0"/>
                <a:ea typeface="Arial" pitchFamily="34" charset="-122"/>
                <a:cs typeface="Arial" pitchFamily="34" charset="-120"/>
              </a:rPr>
              <a:t>  –  ليه محتاجين Cluster Head؟</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12</a:t>
            </a:r>
            <a:endParaRPr lang="en-US" sz="1000" dirty="0"/>
          </a:p>
        </p:txBody>
      </p:sp>
      <p:sp>
        <p:nvSpPr>
          <p:cNvPr id="20" name="Shape 17"/>
          <p:cNvSpPr/>
          <p:nvPr/>
        </p:nvSpPr>
        <p:spPr>
          <a:xfrm>
            <a:off x="8065008" y="1508760"/>
            <a:ext cx="3364992" cy="1188720"/>
          </a:xfrm>
          <a:prstGeom prst="roundRect">
            <a:avLst>
              <a:gd name="adj" fmla="val 7692"/>
            </a:avLst>
          </a:prstGeom>
          <a:solidFill>
            <a:srgbClr val="FFFFFF"/>
          </a:solidFill>
          <a:ln w="12700">
            <a:solidFill>
              <a:srgbClr val="D6D3C7"/>
            </a:solidFill>
            <a:prstDash val="solid"/>
          </a:ln>
        </p:spPr>
      </p:sp>
      <p:sp>
        <p:nvSpPr>
          <p:cNvPr id="21" name="Text 18"/>
          <p:cNvSpPr txBox="1"/>
          <p:nvPr/>
        </p:nvSpPr>
        <p:spPr>
          <a:xfrm>
            <a:off x="8138160" y="1563624"/>
            <a:ext cx="3218688" cy="1078992"/>
          </a:xfrm>
          <a:prstGeom prst="rect">
            <a:avLst/>
          </a:prstGeom>
          <a:noFill/>
          <a:ln/>
        </p:spPr>
        <p:txBody>
          <a:bodyPr wrap="square" lIns="0" tIns="0" rIns="0" bIns="0" rtlCol="0" anchor="ctr"/>
          <a:lstStyle/>
          <a:p>
            <a:pPr algn="ctr" indent="0" marL="0">
              <a:buNone/>
            </a:pPr>
            <a:r>
              <a:rPr lang="ar-EG" altLang="en-US" sz="1500" b="1" dirty="0">
                <a:solidFill>
                  <a:srgbClr val="8A2522"/>
                </a:solidFill>
                <a:latin typeface="Arial" pitchFamily="34" charset="0"/>
                <a:ea typeface="Arial" pitchFamily="34" charset="-122"/>
                <a:cs typeface="Arial" pitchFamily="34" charset="-120"/>
              </a:rPr>
              <a:t>الأعضاء</a:t>
            </a:r>
            <a:endParaRPr lang="ar-EG" sz="1500" dirty="0"/>
          </a:p>
          <a:p>
            <a:pPr algn="ctr" indent="0" marL="0">
              <a:buNone/>
            </a:pPr>
            <a:r>
              <a:rPr lang="ar-EG" altLang="en-US" sz="1250" dirty="0">
                <a:solidFill>
                  <a:srgbClr val="323232"/>
                </a:solidFill>
                <a:latin typeface="Arial" pitchFamily="34" charset="0"/>
                <a:ea typeface="Arial" pitchFamily="34" charset="-122"/>
                <a:cs typeface="Arial" pitchFamily="34" charset="-120"/>
              </a:rPr>
              <a:t>بيبعتوا لمسافة قصيرة للـ CH</a:t>
            </a:r>
            <a:endParaRPr lang="ar-EG" sz="1500" dirty="0"/>
          </a:p>
        </p:txBody>
      </p:sp>
      <p:sp>
        <p:nvSpPr>
          <p:cNvPr id="22" name="Shape 19"/>
          <p:cNvSpPr/>
          <p:nvPr/>
        </p:nvSpPr>
        <p:spPr>
          <a:xfrm>
            <a:off x="7847381" y="2002536"/>
            <a:ext cx="179222" cy="201168"/>
          </a:xfrm>
          <a:prstGeom prst="leftArrow">
            <a:avLst/>
          </a:prstGeom>
          <a:solidFill>
            <a:srgbClr val="8A2522"/>
          </a:solidFill>
          <a:ln w="12700">
            <a:solidFill>
              <a:srgbClr val="8A2522"/>
            </a:solidFill>
            <a:prstDash val="solid"/>
          </a:ln>
        </p:spPr>
      </p:sp>
      <p:sp>
        <p:nvSpPr>
          <p:cNvPr id="23" name="Shape 20"/>
          <p:cNvSpPr/>
          <p:nvPr/>
        </p:nvSpPr>
        <p:spPr>
          <a:xfrm>
            <a:off x="4443984" y="1508760"/>
            <a:ext cx="3364992" cy="1188720"/>
          </a:xfrm>
          <a:prstGeom prst="roundRect">
            <a:avLst>
              <a:gd name="adj" fmla="val 7692"/>
            </a:avLst>
          </a:prstGeom>
          <a:solidFill>
            <a:srgbClr val="FFFFFF"/>
          </a:solidFill>
          <a:ln w="12700">
            <a:solidFill>
              <a:srgbClr val="D6D3C7"/>
            </a:solidFill>
            <a:prstDash val="solid"/>
          </a:ln>
        </p:spPr>
      </p:sp>
      <p:sp>
        <p:nvSpPr>
          <p:cNvPr id="24" name="Text 21"/>
          <p:cNvSpPr txBox="1"/>
          <p:nvPr/>
        </p:nvSpPr>
        <p:spPr>
          <a:xfrm>
            <a:off x="4517136" y="1563624"/>
            <a:ext cx="3218688" cy="1078992"/>
          </a:xfrm>
          <a:prstGeom prst="rect">
            <a:avLst/>
          </a:prstGeom>
          <a:noFill/>
          <a:ln/>
        </p:spPr>
        <p:txBody>
          <a:bodyPr wrap="square" lIns="0" tIns="0" rIns="0" bIns="0" rtlCol="0" anchor="ctr"/>
          <a:lstStyle/>
          <a:p>
            <a:pPr algn="ctr" indent="0" marL="0">
              <a:buNone/>
            </a:pPr>
            <a:r>
              <a:rPr lang="ar-EG" altLang="en-US" sz="1500" b="1" dirty="0">
                <a:solidFill>
                  <a:srgbClr val="8A2522"/>
                </a:solidFill>
                <a:latin typeface="Arial" pitchFamily="34" charset="0"/>
                <a:ea typeface="Arial" pitchFamily="34" charset="-122"/>
                <a:cs typeface="Arial" pitchFamily="34" charset="-120"/>
              </a:rPr>
              <a:t>الـ Cluster Head</a:t>
            </a:r>
            <a:endParaRPr lang="ar-EG" sz="1500" dirty="0"/>
          </a:p>
          <a:p>
            <a:pPr algn="ctr" indent="0" marL="0">
              <a:buNone/>
            </a:pPr>
            <a:r>
              <a:rPr lang="ar-EG" altLang="en-US" sz="1250" dirty="0">
                <a:solidFill>
                  <a:srgbClr val="323232"/>
                </a:solidFill>
                <a:latin typeface="Arial" pitchFamily="34" charset="0"/>
                <a:ea typeface="Arial" pitchFamily="34" charset="-122"/>
                <a:cs typeface="Arial" pitchFamily="34" charset="-120"/>
              </a:rPr>
              <a:t>بيستلم ويجمّع في رسالة واحدة</a:t>
            </a:r>
            <a:endParaRPr lang="ar-EG" sz="1500" dirty="0"/>
          </a:p>
        </p:txBody>
      </p:sp>
      <p:sp>
        <p:nvSpPr>
          <p:cNvPr id="25" name="Shape 22"/>
          <p:cNvSpPr/>
          <p:nvPr/>
        </p:nvSpPr>
        <p:spPr>
          <a:xfrm>
            <a:off x="4226357" y="2002536"/>
            <a:ext cx="179222" cy="201168"/>
          </a:xfrm>
          <a:prstGeom prst="leftArrow">
            <a:avLst/>
          </a:prstGeom>
          <a:solidFill>
            <a:srgbClr val="8A2522"/>
          </a:solidFill>
          <a:ln w="12700">
            <a:solidFill>
              <a:srgbClr val="8A2522"/>
            </a:solidFill>
            <a:prstDash val="solid"/>
          </a:ln>
        </p:spPr>
      </p:sp>
      <p:sp>
        <p:nvSpPr>
          <p:cNvPr id="26" name="Shape 23"/>
          <p:cNvSpPr/>
          <p:nvPr/>
        </p:nvSpPr>
        <p:spPr>
          <a:xfrm>
            <a:off x="822960" y="1508760"/>
            <a:ext cx="3364992" cy="1188720"/>
          </a:xfrm>
          <a:prstGeom prst="roundRect">
            <a:avLst>
              <a:gd name="adj" fmla="val 7692"/>
            </a:avLst>
          </a:prstGeom>
          <a:solidFill>
            <a:srgbClr val="FFFFFF"/>
          </a:solidFill>
          <a:ln w="12700">
            <a:solidFill>
              <a:srgbClr val="D6D3C7"/>
            </a:solidFill>
            <a:prstDash val="solid"/>
          </a:ln>
        </p:spPr>
      </p:sp>
      <p:sp>
        <p:nvSpPr>
          <p:cNvPr id="27" name="Text 24"/>
          <p:cNvSpPr txBox="1"/>
          <p:nvPr/>
        </p:nvSpPr>
        <p:spPr>
          <a:xfrm>
            <a:off x="896112" y="1563624"/>
            <a:ext cx="3218688" cy="1078992"/>
          </a:xfrm>
          <a:prstGeom prst="rect">
            <a:avLst/>
          </a:prstGeom>
          <a:noFill/>
          <a:ln/>
        </p:spPr>
        <p:txBody>
          <a:bodyPr wrap="square" lIns="0" tIns="0" rIns="0" bIns="0" rtlCol="0" anchor="ctr"/>
          <a:lstStyle/>
          <a:p>
            <a:pPr algn="ctr" indent="0" marL="0">
              <a:buNone/>
            </a:pPr>
            <a:r>
              <a:rPr lang="ar-EG" altLang="en-US" sz="1500" b="1" dirty="0">
                <a:solidFill>
                  <a:srgbClr val="8A2522"/>
                </a:solidFill>
                <a:latin typeface="Arial" pitchFamily="34" charset="0"/>
                <a:ea typeface="Arial" pitchFamily="34" charset="-122"/>
                <a:cs typeface="Arial" pitchFamily="34" charset="-120"/>
              </a:rPr>
              <a:t>الـ Base Station</a:t>
            </a:r>
            <a:endParaRPr lang="ar-EG" sz="1500" dirty="0"/>
          </a:p>
          <a:p>
            <a:pPr algn="ctr" indent="0" marL="0">
              <a:buNone/>
            </a:pPr>
            <a:r>
              <a:rPr lang="ar-EG" altLang="en-US" sz="1250" dirty="0">
                <a:solidFill>
                  <a:srgbClr val="323232"/>
                </a:solidFill>
                <a:latin typeface="Arial" pitchFamily="34" charset="0"/>
                <a:ea typeface="Arial" pitchFamily="34" charset="-122"/>
                <a:cs typeface="Arial" pitchFamily="34" charset="-120"/>
              </a:rPr>
              <a:t>بتستلم رسالة واحدة من كل مجموعة</a:t>
            </a:r>
            <a:endParaRPr lang="ar-EG" sz="1500" dirty="0"/>
          </a:p>
        </p:txBody>
      </p:sp>
      <p:sp>
        <p:nvSpPr>
          <p:cNvPr id="28" name="Shape 25"/>
          <p:cNvSpPr/>
          <p:nvPr/>
        </p:nvSpPr>
        <p:spPr>
          <a:xfrm>
            <a:off x="8046720" y="3063240"/>
            <a:ext cx="3383280" cy="2834640"/>
          </a:xfrm>
          <a:prstGeom prst="roundRect">
            <a:avLst>
              <a:gd name="adj" fmla="val 3871"/>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9" name="Shape 26"/>
          <p:cNvSpPr/>
          <p:nvPr/>
        </p:nvSpPr>
        <p:spPr>
          <a:xfrm>
            <a:off x="10771632" y="3246120"/>
            <a:ext cx="457200" cy="457200"/>
          </a:xfrm>
          <a:prstGeom prst="ellipse">
            <a:avLst/>
          </a:prstGeom>
          <a:solidFill>
            <a:srgbClr val="4E7D3A"/>
          </a:solidFill>
          <a:ln w="12700">
            <a:solidFill>
              <a:srgbClr val="4E7D3A"/>
            </a:solidFill>
            <a:prstDash val="solid"/>
          </a:ln>
        </p:spPr>
      </p:sp>
      <p:sp>
        <p:nvSpPr>
          <p:cNvPr id="30" name="Text 27"/>
          <p:cNvSpPr txBox="1"/>
          <p:nvPr/>
        </p:nvSpPr>
        <p:spPr>
          <a:xfrm>
            <a:off x="10771632" y="32461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31" name="Text 28"/>
          <p:cNvSpPr txBox="1"/>
          <p:nvPr/>
        </p:nvSpPr>
        <p:spPr>
          <a:xfrm>
            <a:off x="8229600" y="3200400"/>
            <a:ext cx="2423160"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المميزات</a:t>
            </a:r>
            <a:endParaRPr lang="ar-EG" sz="1500" dirty="0"/>
          </a:p>
        </p:txBody>
      </p:sp>
      <p:sp>
        <p:nvSpPr>
          <p:cNvPr id="32" name="Text 29"/>
          <p:cNvSpPr txBox="1"/>
          <p:nvPr/>
        </p:nvSpPr>
        <p:spPr>
          <a:xfrm>
            <a:off x="8247888" y="3794760"/>
            <a:ext cx="2980944" cy="196596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 إرسال بعيد أقل</a:t>
            </a:r>
            <a:endParaRPr lang="ar-EG" sz="1400" dirty="0"/>
          </a:p>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 التجميع بيشيل التكرار</a:t>
            </a:r>
            <a:endParaRPr lang="ar-EG" sz="1400" dirty="0"/>
          </a:p>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 ينفع لعدد نودز كبير</a:t>
            </a:r>
            <a:endParaRPr lang="ar-EG" sz="1400" dirty="0"/>
          </a:p>
        </p:txBody>
      </p:sp>
      <p:sp>
        <p:nvSpPr>
          <p:cNvPr id="33" name="Shape 30"/>
          <p:cNvSpPr/>
          <p:nvPr/>
        </p:nvSpPr>
        <p:spPr>
          <a:xfrm>
            <a:off x="4434840" y="3063240"/>
            <a:ext cx="3383280" cy="2834640"/>
          </a:xfrm>
          <a:prstGeom prst="roundRect">
            <a:avLst>
              <a:gd name="adj" fmla="val 3871"/>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34" name="Shape 31"/>
          <p:cNvSpPr/>
          <p:nvPr/>
        </p:nvSpPr>
        <p:spPr>
          <a:xfrm>
            <a:off x="7159752" y="3246120"/>
            <a:ext cx="457200" cy="457200"/>
          </a:xfrm>
          <a:prstGeom prst="ellipse">
            <a:avLst/>
          </a:prstGeom>
          <a:solidFill>
            <a:srgbClr val="B8860B"/>
          </a:solidFill>
          <a:ln w="12700">
            <a:solidFill>
              <a:srgbClr val="B8860B"/>
            </a:solidFill>
            <a:prstDash val="solid"/>
          </a:ln>
        </p:spPr>
      </p:sp>
      <p:sp>
        <p:nvSpPr>
          <p:cNvPr id="35" name="Text 32"/>
          <p:cNvSpPr txBox="1"/>
          <p:nvPr/>
        </p:nvSpPr>
        <p:spPr>
          <a:xfrm>
            <a:off x="7159752" y="32461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36" name="Text 33"/>
          <p:cNvSpPr txBox="1"/>
          <p:nvPr/>
        </p:nvSpPr>
        <p:spPr>
          <a:xfrm>
            <a:off x="4617720" y="3200400"/>
            <a:ext cx="2423160"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المشكلة</a:t>
            </a:r>
            <a:endParaRPr lang="ar-EG" sz="1500" dirty="0"/>
          </a:p>
        </p:txBody>
      </p:sp>
      <p:sp>
        <p:nvSpPr>
          <p:cNvPr id="37" name="Text 34"/>
          <p:cNvSpPr txBox="1"/>
          <p:nvPr/>
        </p:nvSpPr>
        <p:spPr>
          <a:xfrm>
            <a:off x="4636008" y="3794760"/>
            <a:ext cx="2980944" cy="196596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 الـ CH بيصرف طاقة أكتر بكتير (استقبال + تجميع + إرسال بعيد)</a:t>
            </a:r>
            <a:endParaRPr lang="ar-EG" sz="1400" dirty="0"/>
          </a:p>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 لو اخترناه غلط أو شغّلناه زيادة، بيموت بدري</a:t>
            </a:r>
            <a:endParaRPr lang="ar-EG" sz="1400" dirty="0"/>
          </a:p>
        </p:txBody>
      </p:sp>
      <p:sp>
        <p:nvSpPr>
          <p:cNvPr id="38" name="Shape 35"/>
          <p:cNvSpPr/>
          <p:nvPr/>
        </p:nvSpPr>
        <p:spPr>
          <a:xfrm>
            <a:off x="822960" y="3063240"/>
            <a:ext cx="3383280" cy="2834640"/>
          </a:xfrm>
          <a:prstGeom prst="roundRect">
            <a:avLst>
              <a:gd name="adj" fmla="val 3871"/>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39" name="Shape 36"/>
          <p:cNvSpPr/>
          <p:nvPr/>
        </p:nvSpPr>
        <p:spPr>
          <a:xfrm>
            <a:off x="3547872" y="3246120"/>
            <a:ext cx="457200" cy="457200"/>
          </a:xfrm>
          <a:prstGeom prst="ellipse">
            <a:avLst/>
          </a:prstGeom>
          <a:solidFill>
            <a:srgbClr val="8A2522"/>
          </a:solidFill>
          <a:ln w="12700">
            <a:solidFill>
              <a:srgbClr val="8A2522"/>
            </a:solidFill>
            <a:prstDash val="solid"/>
          </a:ln>
        </p:spPr>
      </p:sp>
      <p:sp>
        <p:nvSpPr>
          <p:cNvPr id="40" name="Text 37"/>
          <p:cNvSpPr txBox="1"/>
          <p:nvPr/>
        </p:nvSpPr>
        <p:spPr>
          <a:xfrm>
            <a:off x="3547872" y="32461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41" name="Text 38"/>
          <p:cNvSpPr txBox="1"/>
          <p:nvPr/>
        </p:nvSpPr>
        <p:spPr>
          <a:xfrm>
            <a:off x="1005840" y="3200400"/>
            <a:ext cx="2423160"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عشان كده</a:t>
            </a:r>
            <a:endParaRPr lang="ar-EG" sz="1500" dirty="0"/>
          </a:p>
        </p:txBody>
      </p:sp>
      <p:sp>
        <p:nvSpPr>
          <p:cNvPr id="42" name="Text 39"/>
          <p:cNvSpPr txBox="1"/>
          <p:nvPr/>
        </p:nvSpPr>
        <p:spPr>
          <a:xfrm>
            <a:off x="1024128" y="3794760"/>
            <a:ext cx="2980944" cy="196596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اختيار الـ CH، وتغييره بالدور، والتصرف لو مات، هما اللي بيحددوا عمر الشبكة.</a:t>
            </a:r>
            <a:endParaRPr lang="ar-EG"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نموذج طاقة الراديو</a:t>
            </a:r>
            <a:pPr algn="r" indent="0" marL="0">
              <a:buNone/>
            </a:pPr>
            <a:r>
              <a:rPr lang="ar-EG" altLang="en-US" sz="2100" dirty="0">
                <a:solidFill>
                  <a:srgbClr val="8A2522"/>
                </a:solidFill>
                <a:latin typeface="Arial" pitchFamily="34" charset="0"/>
                <a:ea typeface="Arial" pitchFamily="34" charset="-122"/>
                <a:cs typeface="Arial" pitchFamily="34" charset="-120"/>
              </a:rPr>
              <a:t>  –  بمعادلتين (Two-slope)</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13</a:t>
            </a:r>
            <a:endParaRPr lang="en-US" sz="1000" dirty="0"/>
          </a:p>
        </p:txBody>
      </p:sp>
      <p:sp>
        <p:nvSpPr>
          <p:cNvPr id="20" name="Shape 17"/>
          <p:cNvSpPr/>
          <p:nvPr/>
        </p:nvSpPr>
        <p:spPr>
          <a:xfrm>
            <a:off x="5577840" y="1463040"/>
            <a:ext cx="5852160" cy="2377440"/>
          </a:xfrm>
          <a:prstGeom prst="roundRect">
            <a:avLst>
              <a:gd name="adj" fmla="val 4615"/>
            </a:avLst>
          </a:prstGeom>
          <a:solidFill>
            <a:srgbClr val="FFFFFF"/>
          </a:solidFill>
          <a:ln w="12700">
            <a:solidFill>
              <a:srgbClr val="D6D3C7"/>
            </a:solidFill>
            <a:prstDash val="solid"/>
          </a:ln>
        </p:spPr>
      </p:sp>
      <p:sp>
        <p:nvSpPr>
          <p:cNvPr id="21" name="Text 18"/>
          <p:cNvSpPr txBox="1"/>
          <p:nvPr/>
        </p:nvSpPr>
        <p:spPr>
          <a:xfrm>
            <a:off x="5806440" y="1600200"/>
            <a:ext cx="5486400" cy="2148840"/>
          </a:xfrm>
          <a:prstGeom prst="rect">
            <a:avLst/>
          </a:prstGeom>
          <a:noFill/>
          <a:ln/>
        </p:spPr>
        <p:txBody>
          <a:bodyPr wrap="square" lIns="0" tIns="0" rIns="0" bIns="0" rtlCol="0" anchor="t"/>
          <a:lstStyle/>
          <a:p>
            <a:pPr algn="r" indent="0" marL="0">
              <a:spcAft>
                <a:spcPts val="800"/>
              </a:spcAft>
              <a:buNone/>
            </a:pPr>
            <a:r>
              <a:rPr lang="ar-EG" altLang="en-US" sz="1600" b="1" dirty="0">
                <a:solidFill>
                  <a:srgbClr val="8A2522"/>
                </a:solidFill>
                <a:latin typeface="Arial" pitchFamily="34" charset="0"/>
                <a:ea typeface="Arial" pitchFamily="34" charset="-122"/>
                <a:cs typeface="Arial" pitchFamily="34" charset="-120"/>
              </a:rPr>
              <a:t>إرسال k بت لمسافة d</a:t>
            </a:r>
            <a:endParaRPr lang="ar-EG" sz="1600" dirty="0"/>
          </a:p>
          <a:p>
            <a:pPr algn="r" indent="0" marL="0">
              <a:spcAft>
                <a:spcPts val="800"/>
              </a:spcAft>
              <a:buNone/>
            </a:pPr>
            <a:r>
              <a:rPr lang="ar-EG" altLang="en-US" sz="1600" dirty="0">
                <a:solidFill>
                  <a:srgbClr val="323232"/>
                </a:solidFill>
                <a:latin typeface="Arial" pitchFamily="34" charset="0"/>
                <a:ea typeface="Arial" pitchFamily="34" charset="-122"/>
                <a:cs typeface="Arial" pitchFamily="34" charset="-120"/>
              </a:rPr>
              <a:t>d &lt; d0 :  E_elec·k + E_fs·k·d²</a:t>
            </a:r>
            <a:endParaRPr lang="ar-EG" sz="1600" dirty="0"/>
          </a:p>
          <a:p>
            <a:pPr algn="r" indent="0" marL="0">
              <a:spcAft>
                <a:spcPts val="800"/>
              </a:spcAft>
              <a:buNone/>
            </a:pPr>
            <a:r>
              <a:rPr lang="ar-EG" altLang="en-US" sz="1600" dirty="0">
                <a:solidFill>
                  <a:srgbClr val="323232"/>
                </a:solidFill>
                <a:latin typeface="Arial" pitchFamily="34" charset="0"/>
                <a:ea typeface="Arial" pitchFamily="34" charset="-122"/>
                <a:cs typeface="Arial" pitchFamily="34" charset="-120"/>
              </a:rPr>
              <a:t>d ≥ d0 :  E_elec·k + E_mp·k·d⁴</a:t>
            </a:r>
            <a:endParaRPr lang="ar-EG" sz="1600" dirty="0"/>
          </a:p>
          <a:p>
            <a:pPr algn="r" indent="0" marL="0">
              <a:spcAft>
                <a:spcPts val="800"/>
              </a:spcAft>
              <a:buNone/>
            </a:pPr>
            <a:r>
              <a:rPr lang="ar-EG" altLang="en-US" sz="1600" dirty="0">
                <a:solidFill>
                  <a:srgbClr val="323232"/>
                </a:solidFill>
                <a:latin typeface="Arial" pitchFamily="34" charset="0"/>
                <a:ea typeface="Arial" pitchFamily="34" charset="-122"/>
                <a:cs typeface="Arial" pitchFamily="34" charset="-120"/>
              </a:rPr>
              <a:t>الاستقبال: E_elec·k    التجميع: E_DA</a:t>
            </a:r>
            <a:endParaRPr lang="ar-EG" sz="1600" dirty="0"/>
          </a:p>
          <a:p>
            <a:pPr algn="r" indent="0" marL="0">
              <a:spcAft>
                <a:spcPts val="800"/>
              </a:spcAft>
              <a:buNone/>
            </a:pPr>
            <a:r>
              <a:rPr lang="ar-EG" altLang="en-US" sz="1600" b="1" dirty="0">
                <a:solidFill>
                  <a:srgbClr val="8A2522"/>
                </a:solidFill>
                <a:latin typeface="Arial" pitchFamily="34" charset="0"/>
                <a:ea typeface="Arial" pitchFamily="34" charset="-122"/>
                <a:cs typeface="Arial" pitchFamily="34" charset="-120"/>
              </a:rPr>
              <a:t>d0 = √(E_fs / E_mp) ≈ 87.7 m</a:t>
            </a:r>
            <a:endParaRPr lang="ar-EG"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22960" y="1463040"/>
          <a:ext cx="4389120" cy="914400"/>
        </p:xfrm>
        <a:graphic>
          <a:graphicData uri="http://schemas.openxmlformats.org/drawingml/2006/table">
            <a:tbl>
              <a:tblPr/>
              <a:tblGrid>
                <a:gridCol w="2377440"/>
                <a:gridCol w="2011680"/>
              </a:tblGrid>
              <a:tr h="384048">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القيمة</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الثابت</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50 nJ/bit</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E_elec</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10 pJ/bit/m²</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E_fs</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0.0013 pJ/bit/m⁴</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E_mp</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5 nJ/bit</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E_DA</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2000 / 200 بت</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رسالة / تحكم</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bl>
          </a:graphicData>
        </a:graphic>
      </p:graphicFrame>
      <p:sp>
        <p:nvSpPr>
          <p:cNvPr id="23" name="Shape 19"/>
          <p:cNvSpPr/>
          <p:nvPr/>
        </p:nvSpPr>
        <p:spPr>
          <a:xfrm>
            <a:off x="822960" y="4114800"/>
            <a:ext cx="10607040" cy="1691640"/>
          </a:xfrm>
          <a:prstGeom prst="roundRect">
            <a:avLst>
              <a:gd name="adj" fmla="val 6486"/>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4" name="Text 20"/>
          <p:cNvSpPr txBox="1"/>
          <p:nvPr/>
        </p:nvSpPr>
        <p:spPr>
          <a:xfrm>
            <a:off x="1005840" y="4251960"/>
            <a:ext cx="1020470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يعني إيه الكلام ده؟</a:t>
            </a:r>
            <a:endParaRPr lang="ar-EG" sz="1500" dirty="0"/>
          </a:p>
        </p:txBody>
      </p:sp>
      <p:sp>
        <p:nvSpPr>
          <p:cNvPr id="25" name="Text 21"/>
          <p:cNvSpPr txBox="1"/>
          <p:nvPr/>
        </p:nvSpPr>
        <p:spPr>
          <a:xfrm>
            <a:off x="1024128" y="4846320"/>
            <a:ext cx="10204704" cy="822960"/>
          </a:xfrm>
          <a:prstGeom prst="rect">
            <a:avLst/>
          </a:prstGeom>
          <a:noFill/>
          <a:ln/>
        </p:spPr>
        <p:txBody>
          <a:bodyPr wrap="square" lIns="0" tIns="0" rIns="0" bIns="0" rtlCol="0" anchor="t"/>
          <a:lstStyle/>
          <a:p>
            <a:pPr rtl="1" algn="r" indent="0" marL="0">
              <a:spcAft>
                <a:spcPts val="400"/>
              </a:spcAft>
              <a:buNone/>
            </a:pPr>
            <a:r>
              <a:rPr lang="ar-EG" altLang="en-US" sz="1500" dirty="0">
                <a:solidFill>
                  <a:srgbClr val="323232"/>
                </a:solidFill>
                <a:latin typeface="Arial" pitchFamily="34" charset="0"/>
                <a:ea typeface="Arial" pitchFamily="34" charset="-122"/>
                <a:cs typeface="Arial" pitchFamily="34" charset="-120"/>
              </a:rPr>
              <a:t>المسافة القصيرة رخيصة، والبعيدة غالية جدًا (d² وبعدها d⁴). كل بروتوكول في الدراسة بيحاول: (1) يخلّي المسافة من العضو للـ CH قصيرة، (2) يقلّل الإرسال البعيد، (3) يوزّع دور الـ CH الغالي بالعدل.</a:t>
            </a:r>
            <a:endParaRPr lang="ar-EG"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مشكلة البحث والأهداف</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14</a:t>
            </a:r>
            <a:endParaRPr lang="en-US" sz="1000" dirty="0"/>
          </a:p>
        </p:txBody>
      </p:sp>
      <p:sp>
        <p:nvSpPr>
          <p:cNvPr id="20" name="Shape 17"/>
          <p:cNvSpPr/>
          <p:nvPr/>
        </p:nvSpPr>
        <p:spPr>
          <a:xfrm>
            <a:off x="822960" y="1417320"/>
            <a:ext cx="10607040" cy="1234440"/>
          </a:xfrm>
          <a:prstGeom prst="roundRect">
            <a:avLst>
              <a:gd name="adj" fmla="val 8889"/>
            </a:avLst>
          </a:prstGeom>
          <a:solidFill>
            <a:srgbClr val="8A2522"/>
          </a:solidFill>
          <a:ln w="12700">
            <a:solidFill>
              <a:srgbClr val="8A2522"/>
            </a:solidFill>
            <a:prstDash val="solid"/>
          </a:ln>
        </p:spPr>
      </p:sp>
      <p:sp>
        <p:nvSpPr>
          <p:cNvPr id="21" name="Text 18"/>
          <p:cNvSpPr txBox="1"/>
          <p:nvPr/>
        </p:nvSpPr>
        <p:spPr>
          <a:xfrm>
            <a:off x="1097280" y="1463040"/>
            <a:ext cx="10058400" cy="1143000"/>
          </a:xfrm>
          <a:prstGeom prst="rect">
            <a:avLst/>
          </a:prstGeom>
          <a:noFill/>
          <a:ln/>
        </p:spPr>
        <p:txBody>
          <a:bodyPr wrap="square" lIns="0" tIns="0" rIns="0" bIns="0" rtlCol="0" anchor="ctr"/>
          <a:lstStyle/>
          <a:p>
            <a:pPr rtl="1" algn="r" indent="0" marL="0">
              <a:buNone/>
            </a:pPr>
            <a:r>
              <a:rPr lang="ar-EG" altLang="en-US" sz="1800" b="1" dirty="0">
                <a:solidFill>
                  <a:srgbClr val="FFFFFF"/>
                </a:solidFill>
                <a:latin typeface="Arial" pitchFamily="34" charset="0"/>
                <a:ea typeface="Arial" pitchFamily="34" charset="-122"/>
                <a:cs typeface="Arial" pitchFamily="34" charset="-120"/>
              </a:rPr>
              <a:t>إزاي نصمم اختيار الـ CH، وصيانة الـ clusters، والتوصيل بينهم مع بعض، عشان الشبكة تعيش أطول وتوصّل داتا أكتر — من غير رسايل تحكم كتير؟</a:t>
            </a:r>
            <a:endParaRPr lang="ar-EG" sz="1800" dirty="0"/>
          </a:p>
        </p:txBody>
      </p:sp>
      <p:sp>
        <p:nvSpPr>
          <p:cNvPr id="22" name="Shape 19"/>
          <p:cNvSpPr/>
          <p:nvPr/>
        </p:nvSpPr>
        <p:spPr>
          <a:xfrm>
            <a:off x="8915400" y="2926080"/>
            <a:ext cx="2514600" cy="2971800"/>
          </a:xfrm>
          <a:prstGeom prst="roundRect">
            <a:avLst>
              <a:gd name="adj" fmla="val 4364"/>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3" name="Shape 20"/>
          <p:cNvSpPr/>
          <p:nvPr/>
        </p:nvSpPr>
        <p:spPr>
          <a:xfrm>
            <a:off x="10771632" y="3108960"/>
            <a:ext cx="457200" cy="457200"/>
          </a:xfrm>
          <a:prstGeom prst="ellipse">
            <a:avLst/>
          </a:prstGeom>
          <a:solidFill>
            <a:srgbClr val="8A2522"/>
          </a:solidFill>
          <a:ln w="12700">
            <a:solidFill>
              <a:srgbClr val="8A2522"/>
            </a:solidFill>
            <a:prstDash val="solid"/>
          </a:ln>
        </p:spPr>
      </p:sp>
      <p:sp>
        <p:nvSpPr>
          <p:cNvPr id="24" name="Text 21"/>
          <p:cNvSpPr txBox="1"/>
          <p:nvPr/>
        </p:nvSpPr>
        <p:spPr>
          <a:xfrm>
            <a:off x="10771632" y="3108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25" name="Text 22"/>
          <p:cNvSpPr txBox="1"/>
          <p:nvPr/>
        </p:nvSpPr>
        <p:spPr>
          <a:xfrm>
            <a:off x="9098280" y="3063240"/>
            <a:ext cx="1554480"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إعادة بناء عادلة</a:t>
            </a:r>
            <a:endParaRPr lang="ar-EG" sz="1500" dirty="0"/>
          </a:p>
        </p:txBody>
      </p:sp>
      <p:sp>
        <p:nvSpPr>
          <p:cNvPr id="26" name="Text 23"/>
          <p:cNvSpPr txBox="1"/>
          <p:nvPr/>
        </p:nvSpPr>
        <p:spPr>
          <a:xfrm>
            <a:off x="9116568" y="3657600"/>
            <a:ext cx="2112264" cy="210312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نبني LEACH وHEED وPEGASIS وهجينين تانيين في بيئة ns-3 واحدة.</a:t>
            </a:r>
            <a:endParaRPr lang="ar-EG" sz="1400" dirty="0"/>
          </a:p>
        </p:txBody>
      </p:sp>
      <p:sp>
        <p:nvSpPr>
          <p:cNvPr id="27" name="Shape 24"/>
          <p:cNvSpPr/>
          <p:nvPr/>
        </p:nvSpPr>
        <p:spPr>
          <a:xfrm>
            <a:off x="6199632" y="2926080"/>
            <a:ext cx="2514600" cy="2971800"/>
          </a:xfrm>
          <a:prstGeom prst="roundRect">
            <a:avLst>
              <a:gd name="adj" fmla="val 4364"/>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8" name="Shape 25"/>
          <p:cNvSpPr/>
          <p:nvPr/>
        </p:nvSpPr>
        <p:spPr>
          <a:xfrm>
            <a:off x="8055864" y="3108960"/>
            <a:ext cx="457200" cy="457200"/>
          </a:xfrm>
          <a:prstGeom prst="ellipse">
            <a:avLst/>
          </a:prstGeom>
          <a:solidFill>
            <a:srgbClr val="8A2522"/>
          </a:solidFill>
          <a:ln w="12700">
            <a:solidFill>
              <a:srgbClr val="8A2522"/>
            </a:solidFill>
            <a:prstDash val="solid"/>
          </a:ln>
        </p:spPr>
      </p:sp>
      <p:sp>
        <p:nvSpPr>
          <p:cNvPr id="29" name="Text 26"/>
          <p:cNvSpPr txBox="1"/>
          <p:nvPr/>
        </p:nvSpPr>
        <p:spPr>
          <a:xfrm>
            <a:off x="8055864" y="3108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30" name="Text 27"/>
          <p:cNvSpPr txBox="1"/>
          <p:nvPr/>
        </p:nvSpPr>
        <p:spPr>
          <a:xfrm>
            <a:off x="6382512" y="3063240"/>
            <a:ext cx="1554480"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التشخيص</a:t>
            </a:r>
            <a:endParaRPr lang="ar-EG" sz="1500" dirty="0"/>
          </a:p>
        </p:txBody>
      </p:sp>
      <p:sp>
        <p:nvSpPr>
          <p:cNvPr id="31" name="Text 28"/>
          <p:cNvSpPr txBox="1"/>
          <p:nvPr/>
        </p:nvSpPr>
        <p:spPr>
          <a:xfrm>
            <a:off x="6400800" y="3657600"/>
            <a:ext cx="2112264" cy="210312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نعرف كل بروتوكول بيكسب أو بيخسر ليه، وندوّر على أخطاء في الأبحاث نفسها.</a:t>
            </a:r>
            <a:endParaRPr lang="ar-EG" sz="1400" dirty="0"/>
          </a:p>
        </p:txBody>
      </p:sp>
      <p:sp>
        <p:nvSpPr>
          <p:cNvPr id="32" name="Shape 29"/>
          <p:cNvSpPr/>
          <p:nvPr/>
        </p:nvSpPr>
        <p:spPr>
          <a:xfrm>
            <a:off x="3483864" y="2926080"/>
            <a:ext cx="2514600" cy="2971800"/>
          </a:xfrm>
          <a:prstGeom prst="roundRect">
            <a:avLst>
              <a:gd name="adj" fmla="val 4364"/>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33" name="Shape 30"/>
          <p:cNvSpPr/>
          <p:nvPr/>
        </p:nvSpPr>
        <p:spPr>
          <a:xfrm>
            <a:off x="5340096" y="3108960"/>
            <a:ext cx="457200" cy="457200"/>
          </a:xfrm>
          <a:prstGeom prst="ellipse">
            <a:avLst/>
          </a:prstGeom>
          <a:solidFill>
            <a:srgbClr val="8A2522"/>
          </a:solidFill>
          <a:ln w="12700">
            <a:solidFill>
              <a:srgbClr val="8A2522"/>
            </a:solidFill>
            <a:prstDash val="solid"/>
          </a:ln>
        </p:spPr>
      </p:sp>
      <p:sp>
        <p:nvSpPr>
          <p:cNvPr id="34" name="Text 31"/>
          <p:cNvSpPr txBox="1"/>
          <p:nvPr/>
        </p:nvSpPr>
        <p:spPr>
          <a:xfrm>
            <a:off x="5340096" y="3108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35" name="Text 32"/>
          <p:cNvSpPr txBox="1"/>
          <p:nvPr/>
        </p:nvSpPr>
        <p:spPr>
          <a:xfrm>
            <a:off x="3666744" y="3063240"/>
            <a:ext cx="1554480"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التصميم</a:t>
            </a:r>
            <a:endParaRPr lang="ar-EG" sz="1500" dirty="0"/>
          </a:p>
        </p:txBody>
      </p:sp>
      <p:sp>
        <p:nvSpPr>
          <p:cNvPr id="36" name="Text 33"/>
          <p:cNvSpPr txBox="1"/>
          <p:nvPr/>
        </p:nvSpPr>
        <p:spPr>
          <a:xfrm>
            <a:off x="3685032" y="3657600"/>
            <a:ext cx="2112264" cy="210312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نطوّر بروتوكول هجين جديد، آلية آلية (من v1 لـ v8-Chain).</a:t>
            </a:r>
            <a:endParaRPr lang="ar-EG" sz="1400" dirty="0"/>
          </a:p>
        </p:txBody>
      </p:sp>
      <p:sp>
        <p:nvSpPr>
          <p:cNvPr id="37" name="Shape 34"/>
          <p:cNvSpPr/>
          <p:nvPr/>
        </p:nvSpPr>
        <p:spPr>
          <a:xfrm>
            <a:off x="768096" y="2926080"/>
            <a:ext cx="2514600" cy="2971800"/>
          </a:xfrm>
          <a:prstGeom prst="roundRect">
            <a:avLst>
              <a:gd name="adj" fmla="val 4364"/>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38" name="Shape 35"/>
          <p:cNvSpPr/>
          <p:nvPr/>
        </p:nvSpPr>
        <p:spPr>
          <a:xfrm>
            <a:off x="2624328" y="3108960"/>
            <a:ext cx="457200" cy="457200"/>
          </a:xfrm>
          <a:prstGeom prst="ellipse">
            <a:avLst/>
          </a:prstGeom>
          <a:solidFill>
            <a:srgbClr val="8A2522"/>
          </a:solidFill>
          <a:ln w="12700">
            <a:solidFill>
              <a:srgbClr val="8A2522"/>
            </a:solidFill>
            <a:prstDash val="solid"/>
          </a:ln>
        </p:spPr>
      </p:sp>
      <p:sp>
        <p:nvSpPr>
          <p:cNvPr id="39" name="Text 36"/>
          <p:cNvSpPr txBox="1"/>
          <p:nvPr/>
        </p:nvSpPr>
        <p:spPr>
          <a:xfrm>
            <a:off x="2624328" y="3108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40" name="Text 37"/>
          <p:cNvSpPr txBox="1"/>
          <p:nvPr/>
        </p:nvSpPr>
        <p:spPr>
          <a:xfrm>
            <a:off x="950976" y="3063240"/>
            <a:ext cx="1554480"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الاختبار</a:t>
            </a:r>
            <a:endParaRPr lang="ar-EG" sz="1500" dirty="0"/>
          </a:p>
        </p:txBody>
      </p:sp>
      <p:sp>
        <p:nvSpPr>
          <p:cNvPr id="41" name="Text 38"/>
          <p:cNvSpPr txBox="1"/>
          <p:nvPr/>
        </p:nvSpPr>
        <p:spPr>
          <a:xfrm>
            <a:off x="969264" y="3657600"/>
            <a:ext cx="2112264" cy="210312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نقيس FND وHND وLND والـ PDR بمكانين للـ BS و8 أشكال شبكات.</a:t>
            </a:r>
            <a:endParaRPr lang="ar-EG"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8A2522"/>
          </a:solidFill>
          <a:ln w="12700">
            <a:solidFill>
              <a:srgbClr val="8A2522"/>
            </a:solidFill>
            <a:prstDash val="solid"/>
          </a:ln>
        </p:spPr>
      </p:sp>
      <p:sp>
        <p:nvSpPr>
          <p:cNvPr id="3" name="Shape 1"/>
          <p:cNvSpPr/>
          <p:nvPr/>
        </p:nvSpPr>
        <p:spPr>
          <a:xfrm flipV="1">
            <a:off x="2455164" y="336042"/>
            <a:ext cx="1110996" cy="555498"/>
          </a:xfrm>
          <a:prstGeom prst="line">
            <a:avLst/>
          </a:prstGeom>
          <a:noFill/>
          <a:ln w="11430">
            <a:solidFill>
              <a:srgbClr val="E7C9C6"/>
            </a:solidFill>
            <a:prstDash val="solid"/>
          </a:ln>
        </p:spPr>
      </p:sp>
      <p:sp>
        <p:nvSpPr>
          <p:cNvPr id="4" name="Shape 2"/>
          <p:cNvSpPr/>
          <p:nvPr/>
        </p:nvSpPr>
        <p:spPr>
          <a:xfrm>
            <a:off x="1344168" y="459486"/>
            <a:ext cx="1110996" cy="432054"/>
          </a:xfrm>
          <a:prstGeom prst="line">
            <a:avLst/>
          </a:prstGeom>
          <a:noFill/>
          <a:ln w="11430">
            <a:solidFill>
              <a:srgbClr val="E7C9C6"/>
            </a:solidFill>
            <a:prstDash val="solid"/>
          </a:ln>
        </p:spPr>
      </p:sp>
      <p:sp>
        <p:nvSpPr>
          <p:cNvPr id="5" name="Shape 3"/>
          <p:cNvSpPr/>
          <p:nvPr/>
        </p:nvSpPr>
        <p:spPr>
          <a:xfrm flipV="1">
            <a:off x="418338" y="459486"/>
            <a:ext cx="925830" cy="864108"/>
          </a:xfrm>
          <a:prstGeom prst="line">
            <a:avLst/>
          </a:prstGeom>
          <a:noFill/>
          <a:ln w="11430">
            <a:solidFill>
              <a:srgbClr val="E7C9C6"/>
            </a:solidFill>
            <a:prstDash val="solid"/>
          </a:ln>
        </p:spPr>
      </p:sp>
      <p:sp>
        <p:nvSpPr>
          <p:cNvPr id="6" name="Shape 4"/>
          <p:cNvSpPr/>
          <p:nvPr/>
        </p:nvSpPr>
        <p:spPr>
          <a:xfrm flipV="1">
            <a:off x="1899666" y="891540"/>
            <a:ext cx="555498" cy="925830"/>
          </a:xfrm>
          <a:prstGeom prst="line">
            <a:avLst/>
          </a:prstGeom>
          <a:noFill/>
          <a:ln w="11430">
            <a:solidFill>
              <a:srgbClr val="E7C9C6"/>
            </a:solidFill>
            <a:prstDash val="solid"/>
          </a:ln>
        </p:spPr>
      </p:sp>
      <p:sp>
        <p:nvSpPr>
          <p:cNvPr id="7" name="Shape 5"/>
          <p:cNvSpPr/>
          <p:nvPr/>
        </p:nvSpPr>
        <p:spPr>
          <a:xfrm>
            <a:off x="418338" y="1323594"/>
            <a:ext cx="1481328" cy="493776"/>
          </a:xfrm>
          <a:prstGeom prst="line">
            <a:avLst/>
          </a:prstGeom>
          <a:noFill/>
          <a:ln w="11430">
            <a:solidFill>
              <a:srgbClr val="E7C9C6"/>
            </a:solidFill>
            <a:prstDash val="solid"/>
          </a:ln>
        </p:spPr>
      </p:sp>
      <p:sp>
        <p:nvSpPr>
          <p:cNvPr id="8" name="Shape 6"/>
          <p:cNvSpPr/>
          <p:nvPr/>
        </p:nvSpPr>
        <p:spPr>
          <a:xfrm flipV="1">
            <a:off x="726948" y="1817370"/>
            <a:ext cx="1172718" cy="555498"/>
          </a:xfrm>
          <a:prstGeom prst="line">
            <a:avLst/>
          </a:prstGeom>
          <a:noFill/>
          <a:ln w="11430">
            <a:solidFill>
              <a:srgbClr val="E7C9C6"/>
            </a:solidFill>
            <a:prstDash val="solid"/>
          </a:ln>
        </p:spPr>
      </p:sp>
      <p:sp>
        <p:nvSpPr>
          <p:cNvPr id="9" name="Shape 7"/>
          <p:cNvSpPr/>
          <p:nvPr/>
        </p:nvSpPr>
        <p:spPr>
          <a:xfrm>
            <a:off x="418338" y="1323594"/>
            <a:ext cx="308610" cy="1049274"/>
          </a:xfrm>
          <a:prstGeom prst="line">
            <a:avLst/>
          </a:prstGeom>
          <a:noFill/>
          <a:ln w="11430">
            <a:solidFill>
              <a:srgbClr val="E7C9C6"/>
            </a:solidFill>
            <a:prstDash val="solid"/>
          </a:ln>
        </p:spPr>
      </p:sp>
      <p:sp>
        <p:nvSpPr>
          <p:cNvPr id="10" name="Shape 8"/>
          <p:cNvSpPr/>
          <p:nvPr/>
        </p:nvSpPr>
        <p:spPr>
          <a:xfrm>
            <a:off x="2455164" y="891540"/>
            <a:ext cx="308610" cy="678942"/>
          </a:xfrm>
          <a:prstGeom prst="line">
            <a:avLst/>
          </a:prstGeom>
          <a:noFill/>
          <a:ln w="11430">
            <a:solidFill>
              <a:srgbClr val="E7C9C6"/>
            </a:solidFill>
            <a:prstDash val="solid"/>
          </a:ln>
        </p:spPr>
      </p:sp>
      <p:sp>
        <p:nvSpPr>
          <p:cNvPr id="11" name="Shape 9"/>
          <p:cNvSpPr/>
          <p:nvPr/>
        </p:nvSpPr>
        <p:spPr>
          <a:xfrm flipV="1">
            <a:off x="1899666" y="1570482"/>
            <a:ext cx="864108" cy="246888"/>
          </a:xfrm>
          <a:prstGeom prst="line">
            <a:avLst/>
          </a:prstGeom>
          <a:noFill/>
          <a:ln w="11430">
            <a:solidFill>
              <a:srgbClr val="E7C9C6"/>
            </a:solidFill>
            <a:prstDash val="solid"/>
          </a:ln>
        </p:spPr>
      </p:sp>
      <p:sp>
        <p:nvSpPr>
          <p:cNvPr id="12" name="Shape 10"/>
          <p:cNvSpPr/>
          <p:nvPr/>
        </p:nvSpPr>
        <p:spPr>
          <a:xfrm flipV="1">
            <a:off x="233172" y="459486"/>
            <a:ext cx="1110996" cy="61722"/>
          </a:xfrm>
          <a:prstGeom prst="line">
            <a:avLst/>
          </a:prstGeom>
          <a:noFill/>
          <a:ln w="11430">
            <a:solidFill>
              <a:srgbClr val="E7C9C6"/>
            </a:solidFill>
            <a:prstDash val="solid"/>
          </a:ln>
        </p:spPr>
      </p:sp>
      <p:sp>
        <p:nvSpPr>
          <p:cNvPr id="13" name="Shape 11"/>
          <p:cNvSpPr/>
          <p:nvPr/>
        </p:nvSpPr>
        <p:spPr>
          <a:xfrm>
            <a:off x="233172" y="521208"/>
            <a:ext cx="185166" cy="802386"/>
          </a:xfrm>
          <a:prstGeom prst="line">
            <a:avLst/>
          </a:prstGeom>
          <a:noFill/>
          <a:ln w="11430">
            <a:solidFill>
              <a:srgbClr val="E7C9C6"/>
            </a:solidFill>
            <a:prstDash val="solid"/>
          </a:ln>
        </p:spPr>
      </p:sp>
      <p:sp>
        <p:nvSpPr>
          <p:cNvPr id="14" name="Shape 12"/>
          <p:cNvSpPr/>
          <p:nvPr/>
        </p:nvSpPr>
        <p:spPr>
          <a:xfrm>
            <a:off x="726948" y="2372868"/>
            <a:ext cx="493776" cy="678942"/>
          </a:xfrm>
          <a:prstGeom prst="line">
            <a:avLst/>
          </a:prstGeom>
          <a:noFill/>
          <a:ln w="11430">
            <a:solidFill>
              <a:srgbClr val="E7C9C6"/>
            </a:solidFill>
            <a:prstDash val="solid"/>
          </a:ln>
        </p:spPr>
      </p:sp>
      <p:sp>
        <p:nvSpPr>
          <p:cNvPr id="15" name="Shape 13"/>
          <p:cNvSpPr/>
          <p:nvPr/>
        </p:nvSpPr>
        <p:spPr>
          <a:xfrm flipV="1">
            <a:off x="171450" y="3051810"/>
            <a:ext cx="1049274" cy="432054"/>
          </a:xfrm>
          <a:prstGeom prst="line">
            <a:avLst/>
          </a:prstGeom>
          <a:noFill/>
          <a:ln w="11430">
            <a:solidFill>
              <a:srgbClr val="E7C9C6"/>
            </a:solidFill>
            <a:prstDash val="solid"/>
          </a:ln>
        </p:spPr>
      </p:sp>
      <p:sp>
        <p:nvSpPr>
          <p:cNvPr id="16" name="Shape 14"/>
          <p:cNvSpPr/>
          <p:nvPr/>
        </p:nvSpPr>
        <p:spPr>
          <a:xfrm flipV="1">
            <a:off x="171450" y="2372868"/>
            <a:ext cx="555498" cy="1110996"/>
          </a:xfrm>
          <a:prstGeom prst="line">
            <a:avLst/>
          </a:prstGeom>
          <a:noFill/>
          <a:ln w="11430">
            <a:solidFill>
              <a:srgbClr val="E7C9C6"/>
            </a:solidFill>
            <a:prstDash val="solid"/>
          </a:ln>
        </p:spPr>
      </p:sp>
      <p:sp>
        <p:nvSpPr>
          <p:cNvPr id="17" name="Shape 15"/>
          <p:cNvSpPr/>
          <p:nvPr/>
        </p:nvSpPr>
        <p:spPr>
          <a:xfrm flipV="1">
            <a:off x="1220724" y="1817370"/>
            <a:ext cx="678942" cy="1234440"/>
          </a:xfrm>
          <a:prstGeom prst="line">
            <a:avLst/>
          </a:prstGeom>
          <a:noFill/>
          <a:ln w="11430">
            <a:solidFill>
              <a:srgbClr val="E7C9C6"/>
            </a:solidFill>
            <a:prstDash val="solid"/>
          </a:ln>
        </p:spPr>
      </p:sp>
      <p:sp>
        <p:nvSpPr>
          <p:cNvPr id="18" name="Shape 16"/>
          <p:cNvSpPr/>
          <p:nvPr/>
        </p:nvSpPr>
        <p:spPr>
          <a:xfrm>
            <a:off x="3525012" y="294894"/>
            <a:ext cx="82296" cy="82296"/>
          </a:xfrm>
          <a:prstGeom prst="ellipse">
            <a:avLst/>
          </a:prstGeom>
          <a:solidFill>
            <a:srgbClr val="8A2522"/>
          </a:solidFill>
          <a:ln w="11430">
            <a:solidFill>
              <a:srgbClr val="E7C9C6"/>
            </a:solidFill>
            <a:prstDash val="solid"/>
          </a:ln>
        </p:spPr>
      </p:sp>
      <p:sp>
        <p:nvSpPr>
          <p:cNvPr id="19" name="Shape 17"/>
          <p:cNvSpPr/>
          <p:nvPr/>
        </p:nvSpPr>
        <p:spPr>
          <a:xfrm>
            <a:off x="2414016" y="850392"/>
            <a:ext cx="82296" cy="82296"/>
          </a:xfrm>
          <a:prstGeom prst="ellipse">
            <a:avLst/>
          </a:prstGeom>
          <a:solidFill>
            <a:srgbClr val="8A2522"/>
          </a:solidFill>
          <a:ln w="11430">
            <a:solidFill>
              <a:srgbClr val="E7C9C6"/>
            </a:solidFill>
            <a:prstDash val="solid"/>
          </a:ln>
        </p:spPr>
      </p:sp>
      <p:sp>
        <p:nvSpPr>
          <p:cNvPr id="20" name="Shape 18"/>
          <p:cNvSpPr/>
          <p:nvPr/>
        </p:nvSpPr>
        <p:spPr>
          <a:xfrm>
            <a:off x="1303020" y="418338"/>
            <a:ext cx="82296" cy="82296"/>
          </a:xfrm>
          <a:prstGeom prst="ellipse">
            <a:avLst/>
          </a:prstGeom>
          <a:solidFill>
            <a:srgbClr val="8A2522"/>
          </a:solidFill>
          <a:ln w="11430">
            <a:solidFill>
              <a:srgbClr val="E7C9C6"/>
            </a:solidFill>
            <a:prstDash val="solid"/>
          </a:ln>
        </p:spPr>
      </p:sp>
      <p:sp>
        <p:nvSpPr>
          <p:cNvPr id="21" name="Shape 19"/>
          <p:cNvSpPr/>
          <p:nvPr/>
        </p:nvSpPr>
        <p:spPr>
          <a:xfrm>
            <a:off x="377190" y="1282446"/>
            <a:ext cx="82296" cy="82296"/>
          </a:xfrm>
          <a:prstGeom prst="ellipse">
            <a:avLst/>
          </a:prstGeom>
          <a:solidFill>
            <a:srgbClr val="8A2522"/>
          </a:solidFill>
          <a:ln w="11430">
            <a:solidFill>
              <a:srgbClr val="E7C9C6"/>
            </a:solidFill>
            <a:prstDash val="solid"/>
          </a:ln>
        </p:spPr>
      </p:sp>
      <p:sp>
        <p:nvSpPr>
          <p:cNvPr id="22" name="Shape 20"/>
          <p:cNvSpPr/>
          <p:nvPr/>
        </p:nvSpPr>
        <p:spPr>
          <a:xfrm>
            <a:off x="1858518" y="1776222"/>
            <a:ext cx="82296" cy="82296"/>
          </a:xfrm>
          <a:prstGeom prst="ellipse">
            <a:avLst/>
          </a:prstGeom>
          <a:solidFill>
            <a:srgbClr val="8A2522"/>
          </a:solidFill>
          <a:ln w="11430">
            <a:solidFill>
              <a:srgbClr val="E7C9C6"/>
            </a:solidFill>
            <a:prstDash val="solid"/>
          </a:ln>
        </p:spPr>
      </p:sp>
      <p:sp>
        <p:nvSpPr>
          <p:cNvPr id="23" name="Shape 21"/>
          <p:cNvSpPr/>
          <p:nvPr/>
        </p:nvSpPr>
        <p:spPr>
          <a:xfrm>
            <a:off x="685800" y="2331720"/>
            <a:ext cx="82296" cy="82296"/>
          </a:xfrm>
          <a:prstGeom prst="ellipse">
            <a:avLst/>
          </a:prstGeom>
          <a:solidFill>
            <a:srgbClr val="8A2522"/>
          </a:solidFill>
          <a:ln w="11430">
            <a:solidFill>
              <a:srgbClr val="E7C9C6"/>
            </a:solidFill>
            <a:prstDash val="solid"/>
          </a:ln>
        </p:spPr>
      </p:sp>
      <p:sp>
        <p:nvSpPr>
          <p:cNvPr id="24" name="Shape 22"/>
          <p:cNvSpPr/>
          <p:nvPr/>
        </p:nvSpPr>
        <p:spPr>
          <a:xfrm>
            <a:off x="2722626" y="1529334"/>
            <a:ext cx="82296" cy="82296"/>
          </a:xfrm>
          <a:prstGeom prst="ellipse">
            <a:avLst/>
          </a:prstGeom>
          <a:solidFill>
            <a:srgbClr val="8A2522"/>
          </a:solidFill>
          <a:ln w="11430">
            <a:solidFill>
              <a:srgbClr val="E7C9C6"/>
            </a:solidFill>
            <a:prstDash val="solid"/>
          </a:ln>
        </p:spPr>
      </p:sp>
      <p:sp>
        <p:nvSpPr>
          <p:cNvPr id="25" name="Shape 23"/>
          <p:cNvSpPr/>
          <p:nvPr/>
        </p:nvSpPr>
        <p:spPr>
          <a:xfrm>
            <a:off x="192024" y="480060"/>
            <a:ext cx="82296" cy="82296"/>
          </a:xfrm>
          <a:prstGeom prst="ellipse">
            <a:avLst/>
          </a:prstGeom>
          <a:solidFill>
            <a:srgbClr val="8A2522"/>
          </a:solidFill>
          <a:ln w="11430">
            <a:solidFill>
              <a:srgbClr val="E7C9C6"/>
            </a:solidFill>
            <a:prstDash val="solid"/>
          </a:ln>
        </p:spPr>
      </p:sp>
      <p:sp>
        <p:nvSpPr>
          <p:cNvPr id="26" name="Shape 24"/>
          <p:cNvSpPr/>
          <p:nvPr/>
        </p:nvSpPr>
        <p:spPr>
          <a:xfrm>
            <a:off x="1179576" y="3010662"/>
            <a:ext cx="82296" cy="82296"/>
          </a:xfrm>
          <a:prstGeom prst="ellipse">
            <a:avLst/>
          </a:prstGeom>
          <a:solidFill>
            <a:srgbClr val="8A2522"/>
          </a:solidFill>
          <a:ln w="11430">
            <a:solidFill>
              <a:srgbClr val="E7C9C6"/>
            </a:solidFill>
            <a:prstDash val="solid"/>
          </a:ln>
        </p:spPr>
      </p:sp>
      <p:sp>
        <p:nvSpPr>
          <p:cNvPr id="27" name="Shape 25"/>
          <p:cNvSpPr/>
          <p:nvPr/>
        </p:nvSpPr>
        <p:spPr>
          <a:xfrm>
            <a:off x="130302" y="3442716"/>
            <a:ext cx="82296" cy="82296"/>
          </a:xfrm>
          <a:prstGeom prst="ellipse">
            <a:avLst/>
          </a:prstGeom>
          <a:solidFill>
            <a:srgbClr val="8A2522"/>
          </a:solidFill>
          <a:ln w="11430">
            <a:solidFill>
              <a:srgbClr val="E7C9C6"/>
            </a:solidFill>
            <a:prstDash val="solid"/>
          </a:ln>
        </p:spPr>
      </p:sp>
      <p:sp>
        <p:nvSpPr>
          <p:cNvPr id="28" name="Shape 26"/>
          <p:cNvSpPr/>
          <p:nvPr/>
        </p:nvSpPr>
        <p:spPr>
          <a:xfrm>
            <a:off x="11020349" y="6163056"/>
            <a:ext cx="592531" cy="296266"/>
          </a:xfrm>
          <a:prstGeom prst="line">
            <a:avLst/>
          </a:prstGeom>
          <a:noFill/>
          <a:ln w="11430">
            <a:solidFill>
              <a:srgbClr val="E7C9C6"/>
            </a:solidFill>
            <a:prstDash val="solid"/>
          </a:ln>
        </p:spPr>
      </p:sp>
      <p:sp>
        <p:nvSpPr>
          <p:cNvPr id="29" name="Shape 27"/>
          <p:cNvSpPr/>
          <p:nvPr/>
        </p:nvSpPr>
        <p:spPr>
          <a:xfrm flipV="1">
            <a:off x="10427818" y="6163056"/>
            <a:ext cx="592531" cy="230429"/>
          </a:xfrm>
          <a:prstGeom prst="line">
            <a:avLst/>
          </a:prstGeom>
          <a:noFill/>
          <a:ln w="11430">
            <a:solidFill>
              <a:srgbClr val="E7C9C6"/>
            </a:solidFill>
            <a:prstDash val="solid"/>
          </a:ln>
        </p:spPr>
      </p:sp>
      <p:sp>
        <p:nvSpPr>
          <p:cNvPr id="30" name="Shape 28"/>
          <p:cNvSpPr/>
          <p:nvPr/>
        </p:nvSpPr>
        <p:spPr>
          <a:xfrm>
            <a:off x="9934042" y="5932627"/>
            <a:ext cx="493776" cy="460858"/>
          </a:xfrm>
          <a:prstGeom prst="line">
            <a:avLst/>
          </a:prstGeom>
          <a:noFill/>
          <a:ln w="11430">
            <a:solidFill>
              <a:srgbClr val="E7C9C6"/>
            </a:solidFill>
            <a:prstDash val="solid"/>
          </a:ln>
        </p:spPr>
      </p:sp>
      <p:sp>
        <p:nvSpPr>
          <p:cNvPr id="31" name="Shape 29"/>
          <p:cNvSpPr/>
          <p:nvPr/>
        </p:nvSpPr>
        <p:spPr>
          <a:xfrm>
            <a:off x="10724083" y="5669280"/>
            <a:ext cx="296266" cy="493776"/>
          </a:xfrm>
          <a:prstGeom prst="line">
            <a:avLst/>
          </a:prstGeom>
          <a:noFill/>
          <a:ln w="11430">
            <a:solidFill>
              <a:srgbClr val="E7C9C6"/>
            </a:solidFill>
            <a:prstDash val="solid"/>
          </a:ln>
        </p:spPr>
      </p:sp>
      <p:sp>
        <p:nvSpPr>
          <p:cNvPr id="32" name="Shape 30"/>
          <p:cNvSpPr/>
          <p:nvPr/>
        </p:nvSpPr>
        <p:spPr>
          <a:xfrm flipV="1">
            <a:off x="9934042" y="5669280"/>
            <a:ext cx="790042" cy="263347"/>
          </a:xfrm>
          <a:prstGeom prst="line">
            <a:avLst/>
          </a:prstGeom>
          <a:noFill/>
          <a:ln w="11430">
            <a:solidFill>
              <a:srgbClr val="E7C9C6"/>
            </a:solidFill>
            <a:prstDash val="solid"/>
          </a:ln>
        </p:spPr>
      </p:sp>
      <p:sp>
        <p:nvSpPr>
          <p:cNvPr id="33" name="Shape 31"/>
          <p:cNvSpPr/>
          <p:nvPr/>
        </p:nvSpPr>
        <p:spPr>
          <a:xfrm>
            <a:off x="10098634" y="5373014"/>
            <a:ext cx="625450" cy="296266"/>
          </a:xfrm>
          <a:prstGeom prst="line">
            <a:avLst/>
          </a:prstGeom>
          <a:noFill/>
          <a:ln w="11430">
            <a:solidFill>
              <a:srgbClr val="E7C9C6"/>
            </a:solidFill>
            <a:prstDash val="solid"/>
          </a:ln>
        </p:spPr>
      </p:sp>
      <p:sp>
        <p:nvSpPr>
          <p:cNvPr id="34" name="Shape 32"/>
          <p:cNvSpPr/>
          <p:nvPr/>
        </p:nvSpPr>
        <p:spPr>
          <a:xfrm flipV="1">
            <a:off x="9934042" y="5373014"/>
            <a:ext cx="164592" cy="559613"/>
          </a:xfrm>
          <a:prstGeom prst="line">
            <a:avLst/>
          </a:prstGeom>
          <a:noFill/>
          <a:ln w="11430">
            <a:solidFill>
              <a:srgbClr val="E7C9C6"/>
            </a:solidFill>
            <a:prstDash val="solid"/>
          </a:ln>
        </p:spPr>
      </p:sp>
      <p:sp>
        <p:nvSpPr>
          <p:cNvPr id="35" name="Shape 33"/>
          <p:cNvSpPr/>
          <p:nvPr/>
        </p:nvSpPr>
        <p:spPr>
          <a:xfrm flipV="1">
            <a:off x="11020349" y="5800954"/>
            <a:ext cx="164592" cy="362102"/>
          </a:xfrm>
          <a:prstGeom prst="line">
            <a:avLst/>
          </a:prstGeom>
          <a:noFill/>
          <a:ln w="11430">
            <a:solidFill>
              <a:srgbClr val="E7C9C6"/>
            </a:solidFill>
            <a:prstDash val="solid"/>
          </a:ln>
        </p:spPr>
      </p:sp>
      <p:sp>
        <p:nvSpPr>
          <p:cNvPr id="36" name="Shape 34"/>
          <p:cNvSpPr/>
          <p:nvPr/>
        </p:nvSpPr>
        <p:spPr>
          <a:xfrm>
            <a:off x="10724083" y="5669280"/>
            <a:ext cx="460858" cy="131674"/>
          </a:xfrm>
          <a:prstGeom prst="line">
            <a:avLst/>
          </a:prstGeom>
          <a:noFill/>
          <a:ln w="11430">
            <a:solidFill>
              <a:srgbClr val="E7C9C6"/>
            </a:solidFill>
            <a:prstDash val="solid"/>
          </a:ln>
        </p:spPr>
      </p:sp>
      <p:sp>
        <p:nvSpPr>
          <p:cNvPr id="37" name="Shape 35"/>
          <p:cNvSpPr/>
          <p:nvPr/>
        </p:nvSpPr>
        <p:spPr>
          <a:xfrm>
            <a:off x="9835286" y="6360566"/>
            <a:ext cx="592531" cy="32918"/>
          </a:xfrm>
          <a:prstGeom prst="line">
            <a:avLst/>
          </a:prstGeom>
          <a:noFill/>
          <a:ln w="11430">
            <a:solidFill>
              <a:srgbClr val="E7C9C6"/>
            </a:solidFill>
            <a:prstDash val="solid"/>
          </a:ln>
        </p:spPr>
      </p:sp>
      <p:sp>
        <p:nvSpPr>
          <p:cNvPr id="38" name="Shape 36"/>
          <p:cNvSpPr/>
          <p:nvPr/>
        </p:nvSpPr>
        <p:spPr>
          <a:xfrm flipV="1">
            <a:off x="9835286" y="5932627"/>
            <a:ext cx="98755" cy="427939"/>
          </a:xfrm>
          <a:prstGeom prst="line">
            <a:avLst/>
          </a:prstGeom>
          <a:noFill/>
          <a:ln w="11430">
            <a:solidFill>
              <a:srgbClr val="E7C9C6"/>
            </a:solidFill>
            <a:prstDash val="solid"/>
          </a:ln>
        </p:spPr>
      </p:sp>
      <p:sp>
        <p:nvSpPr>
          <p:cNvPr id="39" name="Shape 37"/>
          <p:cNvSpPr/>
          <p:nvPr/>
        </p:nvSpPr>
        <p:spPr>
          <a:xfrm flipV="1">
            <a:off x="10098634" y="5010912"/>
            <a:ext cx="263347" cy="362102"/>
          </a:xfrm>
          <a:prstGeom prst="line">
            <a:avLst/>
          </a:prstGeom>
          <a:noFill/>
          <a:ln w="11430">
            <a:solidFill>
              <a:srgbClr val="E7C9C6"/>
            </a:solidFill>
            <a:prstDash val="solid"/>
          </a:ln>
        </p:spPr>
      </p:sp>
      <p:sp>
        <p:nvSpPr>
          <p:cNvPr id="40" name="Shape 38"/>
          <p:cNvSpPr/>
          <p:nvPr/>
        </p:nvSpPr>
        <p:spPr>
          <a:xfrm>
            <a:off x="9802368" y="4780483"/>
            <a:ext cx="559613" cy="230429"/>
          </a:xfrm>
          <a:prstGeom prst="line">
            <a:avLst/>
          </a:prstGeom>
          <a:noFill/>
          <a:ln w="11430">
            <a:solidFill>
              <a:srgbClr val="E7C9C6"/>
            </a:solidFill>
            <a:prstDash val="solid"/>
          </a:ln>
        </p:spPr>
      </p:sp>
      <p:sp>
        <p:nvSpPr>
          <p:cNvPr id="41" name="Shape 39"/>
          <p:cNvSpPr/>
          <p:nvPr/>
        </p:nvSpPr>
        <p:spPr>
          <a:xfrm>
            <a:off x="9802368" y="4780483"/>
            <a:ext cx="296266" cy="592531"/>
          </a:xfrm>
          <a:prstGeom prst="line">
            <a:avLst/>
          </a:prstGeom>
          <a:noFill/>
          <a:ln w="11430">
            <a:solidFill>
              <a:srgbClr val="E7C9C6"/>
            </a:solidFill>
            <a:prstDash val="solid"/>
          </a:ln>
        </p:spPr>
      </p:sp>
      <p:sp>
        <p:nvSpPr>
          <p:cNvPr id="42" name="Shape 40"/>
          <p:cNvSpPr/>
          <p:nvPr/>
        </p:nvSpPr>
        <p:spPr>
          <a:xfrm>
            <a:off x="10361981" y="5010912"/>
            <a:ext cx="362102" cy="658368"/>
          </a:xfrm>
          <a:prstGeom prst="line">
            <a:avLst/>
          </a:prstGeom>
          <a:noFill/>
          <a:ln w="11430">
            <a:solidFill>
              <a:srgbClr val="E7C9C6"/>
            </a:solidFill>
            <a:prstDash val="solid"/>
          </a:ln>
        </p:spPr>
      </p:sp>
      <p:sp>
        <p:nvSpPr>
          <p:cNvPr id="43" name="Shape 41"/>
          <p:cNvSpPr/>
          <p:nvPr/>
        </p:nvSpPr>
        <p:spPr>
          <a:xfrm>
            <a:off x="11571732" y="6418174"/>
            <a:ext cx="82296" cy="82296"/>
          </a:xfrm>
          <a:prstGeom prst="ellipse">
            <a:avLst/>
          </a:prstGeom>
          <a:solidFill>
            <a:srgbClr val="8A2522"/>
          </a:solidFill>
          <a:ln w="11430">
            <a:solidFill>
              <a:srgbClr val="E7C9C6"/>
            </a:solidFill>
            <a:prstDash val="solid"/>
          </a:ln>
        </p:spPr>
      </p:sp>
      <p:sp>
        <p:nvSpPr>
          <p:cNvPr id="44" name="Shape 42"/>
          <p:cNvSpPr/>
          <p:nvPr/>
        </p:nvSpPr>
        <p:spPr>
          <a:xfrm>
            <a:off x="10979201" y="6121908"/>
            <a:ext cx="82296" cy="82296"/>
          </a:xfrm>
          <a:prstGeom prst="ellipse">
            <a:avLst/>
          </a:prstGeom>
          <a:solidFill>
            <a:srgbClr val="8A2522"/>
          </a:solidFill>
          <a:ln w="11430">
            <a:solidFill>
              <a:srgbClr val="E7C9C6"/>
            </a:solidFill>
            <a:prstDash val="solid"/>
          </a:ln>
        </p:spPr>
      </p:sp>
      <p:sp>
        <p:nvSpPr>
          <p:cNvPr id="45" name="Shape 43"/>
          <p:cNvSpPr/>
          <p:nvPr/>
        </p:nvSpPr>
        <p:spPr>
          <a:xfrm>
            <a:off x="10386670" y="6352337"/>
            <a:ext cx="82296" cy="82296"/>
          </a:xfrm>
          <a:prstGeom prst="ellipse">
            <a:avLst/>
          </a:prstGeom>
          <a:solidFill>
            <a:srgbClr val="8A2522"/>
          </a:solidFill>
          <a:ln w="11430">
            <a:solidFill>
              <a:srgbClr val="E7C9C6"/>
            </a:solidFill>
            <a:prstDash val="solid"/>
          </a:ln>
        </p:spPr>
      </p:sp>
      <p:sp>
        <p:nvSpPr>
          <p:cNvPr id="46" name="Shape 44"/>
          <p:cNvSpPr/>
          <p:nvPr/>
        </p:nvSpPr>
        <p:spPr>
          <a:xfrm>
            <a:off x="9892894" y="5891479"/>
            <a:ext cx="82296" cy="82296"/>
          </a:xfrm>
          <a:prstGeom prst="ellipse">
            <a:avLst/>
          </a:prstGeom>
          <a:solidFill>
            <a:srgbClr val="8A2522"/>
          </a:solidFill>
          <a:ln w="11430">
            <a:solidFill>
              <a:srgbClr val="E7C9C6"/>
            </a:solidFill>
            <a:prstDash val="solid"/>
          </a:ln>
        </p:spPr>
      </p:sp>
      <p:sp>
        <p:nvSpPr>
          <p:cNvPr id="47" name="Shape 45"/>
          <p:cNvSpPr/>
          <p:nvPr/>
        </p:nvSpPr>
        <p:spPr>
          <a:xfrm>
            <a:off x="10682935" y="5628132"/>
            <a:ext cx="82296" cy="82296"/>
          </a:xfrm>
          <a:prstGeom prst="ellipse">
            <a:avLst/>
          </a:prstGeom>
          <a:solidFill>
            <a:srgbClr val="8A2522"/>
          </a:solidFill>
          <a:ln w="11430">
            <a:solidFill>
              <a:srgbClr val="E7C9C6"/>
            </a:solidFill>
            <a:prstDash val="solid"/>
          </a:ln>
        </p:spPr>
      </p:sp>
      <p:sp>
        <p:nvSpPr>
          <p:cNvPr id="48" name="Shape 46"/>
          <p:cNvSpPr/>
          <p:nvPr/>
        </p:nvSpPr>
        <p:spPr>
          <a:xfrm>
            <a:off x="10057486" y="5331866"/>
            <a:ext cx="82296" cy="82296"/>
          </a:xfrm>
          <a:prstGeom prst="ellipse">
            <a:avLst/>
          </a:prstGeom>
          <a:solidFill>
            <a:srgbClr val="8A2522"/>
          </a:solidFill>
          <a:ln w="11430">
            <a:solidFill>
              <a:srgbClr val="E7C9C6"/>
            </a:solidFill>
            <a:prstDash val="solid"/>
          </a:ln>
        </p:spPr>
      </p:sp>
      <p:sp>
        <p:nvSpPr>
          <p:cNvPr id="49" name="Shape 47"/>
          <p:cNvSpPr/>
          <p:nvPr/>
        </p:nvSpPr>
        <p:spPr>
          <a:xfrm>
            <a:off x="11143793" y="5759806"/>
            <a:ext cx="82296" cy="82296"/>
          </a:xfrm>
          <a:prstGeom prst="ellipse">
            <a:avLst/>
          </a:prstGeom>
          <a:solidFill>
            <a:srgbClr val="8A2522"/>
          </a:solidFill>
          <a:ln w="11430">
            <a:solidFill>
              <a:srgbClr val="E7C9C6"/>
            </a:solidFill>
            <a:prstDash val="solid"/>
          </a:ln>
        </p:spPr>
      </p:sp>
      <p:sp>
        <p:nvSpPr>
          <p:cNvPr id="50" name="Shape 48"/>
          <p:cNvSpPr/>
          <p:nvPr/>
        </p:nvSpPr>
        <p:spPr>
          <a:xfrm>
            <a:off x="9794138" y="6319418"/>
            <a:ext cx="82296" cy="82296"/>
          </a:xfrm>
          <a:prstGeom prst="ellipse">
            <a:avLst/>
          </a:prstGeom>
          <a:solidFill>
            <a:srgbClr val="8A2522"/>
          </a:solidFill>
          <a:ln w="11430">
            <a:solidFill>
              <a:srgbClr val="E7C9C6"/>
            </a:solidFill>
            <a:prstDash val="solid"/>
          </a:ln>
        </p:spPr>
      </p:sp>
      <p:sp>
        <p:nvSpPr>
          <p:cNvPr id="51" name="Shape 49"/>
          <p:cNvSpPr/>
          <p:nvPr/>
        </p:nvSpPr>
        <p:spPr>
          <a:xfrm>
            <a:off x="10320833" y="4969764"/>
            <a:ext cx="82296" cy="82296"/>
          </a:xfrm>
          <a:prstGeom prst="ellipse">
            <a:avLst/>
          </a:prstGeom>
          <a:solidFill>
            <a:srgbClr val="8A2522"/>
          </a:solidFill>
          <a:ln w="11430">
            <a:solidFill>
              <a:srgbClr val="E7C9C6"/>
            </a:solidFill>
            <a:prstDash val="solid"/>
          </a:ln>
        </p:spPr>
      </p:sp>
      <p:sp>
        <p:nvSpPr>
          <p:cNvPr id="52" name="Shape 50"/>
          <p:cNvSpPr/>
          <p:nvPr/>
        </p:nvSpPr>
        <p:spPr>
          <a:xfrm>
            <a:off x="9761220" y="4739335"/>
            <a:ext cx="82296" cy="82296"/>
          </a:xfrm>
          <a:prstGeom prst="ellipse">
            <a:avLst/>
          </a:prstGeom>
          <a:solidFill>
            <a:srgbClr val="8A2522"/>
          </a:solidFill>
          <a:ln w="11430">
            <a:solidFill>
              <a:srgbClr val="E7C9C6"/>
            </a:solidFill>
            <a:prstDash val="solid"/>
          </a:ln>
        </p:spPr>
      </p:sp>
      <p:sp>
        <p:nvSpPr>
          <p:cNvPr id="53" name="Text 51"/>
          <p:cNvSpPr txBox="1"/>
          <p:nvPr/>
        </p:nvSpPr>
        <p:spPr>
          <a:xfrm>
            <a:off x="7680960" y="1600200"/>
            <a:ext cx="3657600" cy="1280160"/>
          </a:xfrm>
          <a:prstGeom prst="rect">
            <a:avLst/>
          </a:prstGeom>
          <a:noFill/>
          <a:ln/>
        </p:spPr>
        <p:txBody>
          <a:bodyPr wrap="square" lIns="0" tIns="0" rIns="0" bIns="0" rtlCol="0" anchor="ctr"/>
          <a:lstStyle/>
          <a:p>
            <a:pPr algn="r" indent="0" marL="0">
              <a:buNone/>
            </a:pPr>
            <a:r>
              <a:rPr lang="en-US" sz="8800" b="1" dirty="0">
                <a:solidFill>
                  <a:srgbClr val="E7C9C6"/>
                </a:solidFill>
                <a:latin typeface="Arial" pitchFamily="34" charset="0"/>
                <a:ea typeface="Arial" pitchFamily="34" charset="-122"/>
                <a:cs typeface="Arial" pitchFamily="34" charset="-120"/>
              </a:rPr>
              <a:t>02</a:t>
            </a:r>
            <a:endParaRPr lang="en-US" sz="8800" dirty="0"/>
          </a:p>
        </p:txBody>
      </p:sp>
      <p:sp>
        <p:nvSpPr>
          <p:cNvPr id="54" name="Text 52"/>
          <p:cNvSpPr txBox="1"/>
          <p:nvPr/>
        </p:nvSpPr>
        <p:spPr>
          <a:xfrm>
            <a:off x="1371600" y="2926080"/>
            <a:ext cx="9966960" cy="914400"/>
          </a:xfrm>
          <a:prstGeom prst="rect">
            <a:avLst/>
          </a:prstGeom>
          <a:noFill/>
          <a:ln/>
        </p:spPr>
        <p:txBody>
          <a:bodyPr wrap="square" lIns="0" tIns="0" rIns="0" bIns="0" rtlCol="0" anchor="ctr"/>
          <a:lstStyle/>
          <a:p>
            <a:pPr rtl="1" algn="r" indent="0" marL="0">
              <a:buNone/>
            </a:pPr>
            <a:r>
              <a:rPr lang="ar-EG" altLang="en-US" sz="4000" b="1" dirty="0">
                <a:solidFill>
                  <a:srgbClr val="FFFFFF"/>
                </a:solidFill>
                <a:latin typeface="Arial" pitchFamily="34" charset="0"/>
                <a:ea typeface="Arial" pitchFamily="34" charset="-122"/>
                <a:cs typeface="Arial" pitchFamily="34" charset="-120"/>
              </a:rPr>
              <a:t>الأبحاث السابقة</a:t>
            </a:r>
            <a:endParaRPr lang="ar-EG" sz="4000" dirty="0"/>
          </a:p>
        </p:txBody>
      </p:sp>
      <p:sp>
        <p:nvSpPr>
          <p:cNvPr id="55" name="Text 53"/>
          <p:cNvSpPr txBox="1"/>
          <p:nvPr/>
        </p:nvSpPr>
        <p:spPr>
          <a:xfrm>
            <a:off x="1371600" y="3886200"/>
            <a:ext cx="9966960" cy="822960"/>
          </a:xfrm>
          <a:prstGeom prst="rect">
            <a:avLst/>
          </a:prstGeom>
          <a:noFill/>
          <a:ln/>
        </p:spPr>
        <p:txBody>
          <a:bodyPr wrap="square" lIns="0" tIns="0" rIns="0" bIns="0" rtlCol="0" anchor="t"/>
          <a:lstStyle/>
          <a:p>
            <a:pPr rtl="1" algn="r" indent="0" marL="0">
              <a:buNone/>
            </a:pPr>
            <a:r>
              <a:rPr lang="ar-EG" altLang="en-US" sz="1800" dirty="0">
                <a:solidFill>
                  <a:srgbClr val="F3E3E1"/>
                </a:solidFill>
                <a:latin typeface="Arial" pitchFamily="34" charset="0"/>
                <a:ea typeface="Arial" pitchFamily="34" charset="-122"/>
                <a:cs typeface="Arial" pitchFamily="34" charset="-120"/>
              </a:rPr>
              <a:t>LEACH · HEED · PEGASIS · الهجين في الأبحاث · أبحاث حديثة</a:t>
            </a:r>
            <a:endParaRPr lang="ar-EG"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LEACH مقابل HEED</a:t>
            </a:r>
            <a:pPr algn="r" indent="0" marL="0">
              <a:buNone/>
            </a:pPr>
            <a:r>
              <a:rPr lang="ar-EG" altLang="en-US" sz="2100" dirty="0">
                <a:solidFill>
                  <a:srgbClr val="8A2522"/>
                </a:solidFill>
                <a:latin typeface="Arial" pitchFamily="34" charset="0"/>
                <a:ea typeface="Arial" pitchFamily="34" charset="-122"/>
                <a:cs typeface="Arial" pitchFamily="34" charset="-120"/>
              </a:rPr>
              <a:t>  –  الأساسين</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16</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931920" y="1463040"/>
          <a:ext cx="7498080" cy="914400"/>
        </p:xfrm>
        <a:graphic>
          <a:graphicData uri="http://schemas.openxmlformats.org/drawingml/2006/table">
            <a:tbl>
              <a:tblPr/>
              <a:tblGrid>
                <a:gridCol w="2834640"/>
                <a:gridCol w="2834640"/>
                <a:gridCol w="1828800"/>
              </a:tblGrid>
              <a:tr h="384048">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HEED (2004)</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LEACH (2000)</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r>
              <a:tr h="384048">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اختيار حسب الطاقة وتكلفة الاتصال</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اختيار الـ CH بالقرعة وبالدور</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الفكرة</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384048">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متكرر، الاحتمال ∝ البطارية</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عشوائي، معادلة T(n)</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طريقة الاختيار</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r h="384048">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 البطارية الباقية</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 لأ</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بيبص على الطاقة؟</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384048">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كتير (كذا دورة رسايل)</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قليلة</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رسايل التحكم</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r h="384048">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اختيار أذكى، وPDR عالي</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بسيط، والكل بياخد دوره</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ميزته</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384048">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الرسايل بتقصّر عمره</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ممكن يختار CH ضعيف</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عيبه</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bl>
          </a:graphicData>
        </a:graphic>
      </p:graphicFrame>
      <p:sp>
        <p:nvSpPr>
          <p:cNvPr id="21" name="Shape 17"/>
          <p:cNvSpPr/>
          <p:nvPr/>
        </p:nvSpPr>
        <p:spPr>
          <a:xfrm>
            <a:off x="822960" y="1463040"/>
            <a:ext cx="2834640" cy="4343400"/>
          </a:xfrm>
          <a:prstGeom prst="roundRect">
            <a:avLst>
              <a:gd name="adj" fmla="val 3871"/>
            </a:avLst>
          </a:prstGeom>
          <a:solidFill>
            <a:srgbClr val="F6E3E1"/>
          </a:solidFill>
          <a:ln w="12700">
            <a:solidFill>
              <a:srgbClr val="C9A09E"/>
            </a:solidFill>
            <a:prstDash val="solid"/>
          </a:ln>
          <a:effectLst>
            <a:outerShdw sx="100000" sy="100000" kx="0" ky="0" algn="bl" rotWithShape="0" blurRad="76200" dist="25400" dir="5400000">
              <a:srgbClr val="000000">
                <a:alpha val="10000"/>
              </a:srgbClr>
            </a:outerShdw>
          </a:effectLst>
        </p:spPr>
      </p:sp>
      <p:sp>
        <p:nvSpPr>
          <p:cNvPr id="22" name="Text 18"/>
          <p:cNvSpPr txBox="1"/>
          <p:nvPr/>
        </p:nvSpPr>
        <p:spPr>
          <a:xfrm>
            <a:off x="1005840" y="1600200"/>
            <a:ext cx="243230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الفكرة المهمة</a:t>
            </a:r>
            <a:endParaRPr lang="ar-EG" sz="1500" dirty="0"/>
          </a:p>
        </p:txBody>
      </p:sp>
      <p:sp>
        <p:nvSpPr>
          <p:cNvPr id="23" name="Text 19"/>
          <p:cNvSpPr txBox="1"/>
          <p:nvPr/>
        </p:nvSpPr>
        <p:spPr>
          <a:xfrm>
            <a:off x="1024128" y="2194560"/>
            <a:ext cx="2432304" cy="347472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ناخد بساطة LEACH ونضيف عليها ذكاء HEED في اختيار الـ CH (الطاقة والجيران) — من غير مفاوضات HEED كل round.</a:t>
            </a:r>
            <a:endParaRPr lang="ar-EG" sz="1400" dirty="0"/>
          </a:p>
          <a:p>
            <a:pPr rtl="1" algn="r" indent="0" marL="0">
              <a:spcAft>
                <a:spcPts val="400"/>
              </a:spcAft>
              <a:buNone/>
            </a:pPr>
            <a:endParaRPr lang="ar-EG" sz="1400" dirty="0"/>
          </a:p>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دي نقطة بداية البروتوكول المقترح (v1).</a:t>
            </a:r>
            <a:endParaRPr lang="ar-EG"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Clusters مقابل سلسلة</a:t>
            </a:r>
            <a:pPr algn="r" indent="0" marL="0">
              <a:buNone/>
            </a:pPr>
            <a:r>
              <a:rPr lang="ar-EG" altLang="en-US" sz="2100" dirty="0">
                <a:solidFill>
                  <a:srgbClr val="8A2522"/>
                </a:solidFill>
                <a:latin typeface="Arial" pitchFamily="34" charset="0"/>
                <a:ea typeface="Arial" pitchFamily="34" charset="-122"/>
                <a:cs typeface="Arial" pitchFamily="34" charset="-120"/>
              </a:rPr>
              <a:t>  –  LEACH وPEGASIS</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17</a:t>
            </a:r>
            <a:endParaRPr lang="en-US" sz="1000" dirty="0"/>
          </a:p>
        </p:txBody>
      </p:sp>
      <p:pic>
        <p:nvPicPr>
          <p:cNvPr id="20" name="Image 0" descr="img/bg_leach_pegasis.png">    </p:cNvPr>
          <p:cNvPicPr>
            <a:picLocks noChangeAspect="1"/>
          </p:cNvPicPr>
          <p:nvPr/>
        </p:nvPicPr>
        <p:blipFill>
          <a:blip r:embed="rId1"/>
          <a:stretch>
            <a:fillRect/>
          </a:stretch>
        </p:blipFill>
        <p:spPr>
          <a:xfrm>
            <a:off x="4754880" y="1447800"/>
            <a:ext cx="6766560" cy="4511040"/>
          </a:xfrm>
          <a:prstGeom prst="rect">
            <a:avLst/>
          </a:prstGeom>
        </p:spPr>
      </p:pic>
      <p:sp>
        <p:nvSpPr>
          <p:cNvPr id="21" name="Shape 17"/>
          <p:cNvSpPr/>
          <p:nvPr/>
        </p:nvSpPr>
        <p:spPr>
          <a:xfrm>
            <a:off x="640080" y="1417320"/>
            <a:ext cx="3840480" cy="2148840"/>
          </a:xfrm>
          <a:prstGeom prst="roundRect">
            <a:avLst>
              <a:gd name="adj" fmla="val 5106"/>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2" name="Text 18"/>
          <p:cNvSpPr txBox="1"/>
          <p:nvPr/>
        </p:nvSpPr>
        <p:spPr>
          <a:xfrm>
            <a:off x="822960" y="1554480"/>
            <a:ext cx="343814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PEGASIS (2002)</a:t>
            </a:r>
            <a:endParaRPr lang="ar-EG" sz="1500" dirty="0"/>
          </a:p>
        </p:txBody>
      </p:sp>
      <p:sp>
        <p:nvSpPr>
          <p:cNvPr id="23" name="Text 19"/>
          <p:cNvSpPr txBox="1"/>
          <p:nvPr/>
        </p:nvSpPr>
        <p:spPr>
          <a:xfrm>
            <a:off x="841248" y="2148840"/>
            <a:ext cx="3438144" cy="128016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سلسلة واحدة من كل النودز، وقائد بيتغير كل round بيبعت للـ BS. عمر طويل جدًا، بس بطيء، ولو السلسلة اتقطعت الكل يتأثر.</a:t>
            </a:r>
            <a:endParaRPr lang="ar-EG" sz="1400" dirty="0"/>
          </a:p>
        </p:txBody>
      </p:sp>
      <p:sp>
        <p:nvSpPr>
          <p:cNvPr id="24" name="Shape 20"/>
          <p:cNvSpPr/>
          <p:nvPr/>
        </p:nvSpPr>
        <p:spPr>
          <a:xfrm>
            <a:off x="640080" y="3749040"/>
            <a:ext cx="3840480" cy="2148840"/>
          </a:xfrm>
          <a:prstGeom prst="roundRect">
            <a:avLst>
              <a:gd name="adj" fmla="val 5106"/>
            </a:avLst>
          </a:prstGeom>
          <a:solidFill>
            <a:srgbClr val="F6E3E1"/>
          </a:solidFill>
          <a:ln w="12700">
            <a:solidFill>
              <a:srgbClr val="C9A09E"/>
            </a:solidFill>
            <a:prstDash val="solid"/>
          </a:ln>
          <a:effectLst>
            <a:outerShdw sx="100000" sy="100000" kx="0" ky="0" algn="bl" rotWithShape="0" blurRad="76200" dist="25400" dir="5400000">
              <a:srgbClr val="000000">
                <a:alpha val="10000"/>
              </a:srgbClr>
            </a:outerShdw>
          </a:effectLst>
        </p:spPr>
      </p:sp>
      <p:sp>
        <p:nvSpPr>
          <p:cNvPr id="25" name="Text 21"/>
          <p:cNvSpPr txBox="1"/>
          <p:nvPr/>
        </p:nvSpPr>
        <p:spPr>
          <a:xfrm>
            <a:off x="822960" y="3886200"/>
            <a:ext cx="343814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علاقته بالرسالة</a:t>
            </a:r>
            <a:endParaRPr lang="ar-EG" sz="1500" dirty="0"/>
          </a:p>
        </p:txBody>
      </p:sp>
      <p:sp>
        <p:nvSpPr>
          <p:cNvPr id="26" name="Text 22"/>
          <p:cNvSpPr txBox="1"/>
          <p:nvPr/>
        </p:nvSpPr>
        <p:spPr>
          <a:xfrm>
            <a:off x="841248" y="4480560"/>
            <a:ext cx="3438144" cy="128016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فكرة السلسلة ألهمت التوصيل بين الـ CHs (v6/v7)، وفي الآخر التوجيه الذكي في v8-Chain، اللي بيشتغل بس لما يوفّر طاقة.</a:t>
            </a:r>
            <a:endParaRPr lang="ar-EG"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الهجين في الأبحاث</a:t>
            </a:r>
            <a:pPr algn="r" indent="0" marL="0">
              <a:buNone/>
            </a:pPr>
            <a:r>
              <a:rPr lang="ar-EG" altLang="en-US" sz="2100" dirty="0">
                <a:solidFill>
                  <a:srgbClr val="8A2522"/>
                </a:solidFill>
                <a:latin typeface="Arial" pitchFamily="34" charset="0"/>
                <a:ea typeface="Arial" pitchFamily="34" charset="-122"/>
                <a:cs typeface="Arial" pitchFamily="34" charset="-120"/>
              </a:rPr>
              <a:t>  –  SH-LEACH وH-LEACH</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18</a:t>
            </a:r>
            <a:endParaRPr lang="en-US" sz="1000" dirty="0"/>
          </a:p>
        </p:txBody>
      </p:sp>
      <p:sp>
        <p:nvSpPr>
          <p:cNvPr id="20" name="Shape 17"/>
          <p:cNvSpPr/>
          <p:nvPr/>
        </p:nvSpPr>
        <p:spPr>
          <a:xfrm>
            <a:off x="6263640" y="1463040"/>
            <a:ext cx="5166360" cy="3108960"/>
          </a:xfrm>
          <a:prstGeom prst="roundRect">
            <a:avLst>
              <a:gd name="adj" fmla="val 3529"/>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1" name="Text 18"/>
          <p:cNvSpPr txBox="1"/>
          <p:nvPr/>
        </p:nvSpPr>
        <p:spPr>
          <a:xfrm>
            <a:off x="6446520" y="1600200"/>
            <a:ext cx="476402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SH-LEACH (2015)</a:t>
            </a:r>
            <a:endParaRPr lang="ar-EG" sz="1500" dirty="0"/>
          </a:p>
        </p:txBody>
      </p:sp>
      <p:sp>
        <p:nvSpPr>
          <p:cNvPr id="22" name="Text 19"/>
          <p:cNvSpPr txBox="1"/>
          <p:nvPr/>
        </p:nvSpPr>
        <p:spPr>
          <a:xfrm>
            <a:off x="6464808" y="2194560"/>
            <a:ext cx="4764024" cy="2240280"/>
          </a:xfrm>
          <a:prstGeom prst="rect">
            <a:avLst/>
          </a:prstGeom>
          <a:noFill/>
          <a:ln/>
        </p:spPr>
        <p:txBody>
          <a:bodyPr wrap="square" lIns="0" tIns="0" rIns="0" bIns="0" rtlCol="0" anchor="t"/>
          <a:lstStyle/>
          <a:p>
            <a:pPr rtl="1" algn="r" indent="0" marL="0">
              <a:spcAft>
                <a:spcPts val="400"/>
              </a:spcAft>
              <a:buNone/>
            </a:pPr>
            <a:r>
              <a:rPr lang="ar-EG" altLang="en-US" sz="1500" dirty="0">
                <a:solidFill>
                  <a:srgbClr val="323232"/>
                </a:solidFill>
                <a:latin typeface="Arial" pitchFamily="34" charset="0"/>
                <a:ea typeface="Arial" pitchFamily="34" charset="-122"/>
                <a:cs typeface="Arial" pitchFamily="34" charset="-120"/>
              </a:rPr>
              <a:t>• LEACH + مضاعفة الاحتمال بطريقة HEED</a:t>
            </a:r>
            <a:endParaRPr lang="ar-EG" sz="1500" dirty="0"/>
          </a:p>
          <a:p>
            <a:pPr rtl="1" algn="r" indent="0" marL="0">
              <a:spcAft>
                <a:spcPts val="400"/>
              </a:spcAft>
              <a:buNone/>
            </a:pPr>
            <a:r>
              <a:rPr lang="ar-EG" altLang="en-US" sz="1500" dirty="0">
                <a:solidFill>
                  <a:srgbClr val="323232"/>
                </a:solidFill>
                <a:latin typeface="Arial" pitchFamily="34" charset="0"/>
                <a:ea typeface="Arial" pitchFamily="34" charset="-122"/>
                <a:cs typeface="Arial" pitchFamily="34" charset="-120"/>
              </a:rPr>
              <a:t>• هدفه إن أول نود يموت متأخر</a:t>
            </a:r>
            <a:endParaRPr lang="ar-EG" sz="1500" dirty="0"/>
          </a:p>
          <a:p>
            <a:pPr rtl="1" algn="r" indent="0" marL="0">
              <a:spcAft>
                <a:spcPts val="400"/>
              </a:spcAft>
              <a:buNone/>
            </a:pPr>
            <a:endParaRPr lang="ar-EG" sz="1500" dirty="0"/>
          </a:p>
          <a:p>
            <a:pPr rtl="1" algn="r" indent="0" marL="0">
              <a:spcAft>
                <a:spcPts val="400"/>
              </a:spcAft>
              <a:buNone/>
            </a:pPr>
            <a:r>
              <a:rPr lang="ar-EG" altLang="en-US" sz="1500" dirty="0">
                <a:solidFill>
                  <a:srgbClr val="323232"/>
                </a:solidFill>
                <a:latin typeface="Arial" pitchFamily="34" charset="0"/>
                <a:ea typeface="Arial" pitchFamily="34" charset="-122"/>
                <a:cs typeface="Arial" pitchFamily="34" charset="-120"/>
              </a:rPr>
              <a:t>الغلطة: المعادلة بتضاعف مرة واحدة بس، بدل ما تكرر المضاعفة زي HEED.</a:t>
            </a:r>
            <a:endParaRPr lang="ar-EG" sz="1500" dirty="0"/>
          </a:p>
        </p:txBody>
      </p:sp>
      <p:sp>
        <p:nvSpPr>
          <p:cNvPr id="23" name="Shape 20"/>
          <p:cNvSpPr/>
          <p:nvPr/>
        </p:nvSpPr>
        <p:spPr>
          <a:xfrm>
            <a:off x="822960" y="1463040"/>
            <a:ext cx="5166360" cy="3108960"/>
          </a:xfrm>
          <a:prstGeom prst="roundRect">
            <a:avLst>
              <a:gd name="adj" fmla="val 3529"/>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4" name="Text 21"/>
          <p:cNvSpPr txBox="1"/>
          <p:nvPr/>
        </p:nvSpPr>
        <p:spPr>
          <a:xfrm>
            <a:off x="1005840" y="1600200"/>
            <a:ext cx="476402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H-LEACH (2016)</a:t>
            </a:r>
            <a:endParaRPr lang="ar-EG" sz="1500" dirty="0"/>
          </a:p>
        </p:txBody>
      </p:sp>
      <p:sp>
        <p:nvSpPr>
          <p:cNvPr id="25" name="Text 22"/>
          <p:cNvSpPr txBox="1"/>
          <p:nvPr/>
        </p:nvSpPr>
        <p:spPr>
          <a:xfrm>
            <a:off x="1024128" y="2194560"/>
            <a:ext cx="4764024" cy="2240280"/>
          </a:xfrm>
          <a:prstGeom prst="rect">
            <a:avLst/>
          </a:prstGeom>
          <a:noFill/>
          <a:ln/>
        </p:spPr>
        <p:txBody>
          <a:bodyPr wrap="square" lIns="0" tIns="0" rIns="0" bIns="0" rtlCol="0" anchor="t"/>
          <a:lstStyle/>
          <a:p>
            <a:pPr rtl="1" algn="r" indent="0" marL="0">
              <a:spcAft>
                <a:spcPts val="400"/>
              </a:spcAft>
              <a:buNone/>
            </a:pPr>
            <a:r>
              <a:rPr lang="ar-EG" altLang="en-US" sz="1500" dirty="0">
                <a:solidFill>
                  <a:srgbClr val="323232"/>
                </a:solidFill>
                <a:latin typeface="Arial" pitchFamily="34" charset="0"/>
                <a:ea typeface="Arial" pitchFamily="34" charset="-122"/>
                <a:cs typeface="Arial" pitchFamily="34" charset="-120"/>
              </a:rPr>
              <a:t>• مايبقاش CH غير اللي طاقته أكبر من المتوسط</a:t>
            </a:r>
            <a:endParaRPr lang="ar-EG" sz="1500" dirty="0"/>
          </a:p>
          <a:p>
            <a:pPr rtl="1" algn="r" indent="0" marL="0">
              <a:spcAft>
                <a:spcPts val="400"/>
              </a:spcAft>
              <a:buNone/>
            </a:pPr>
            <a:endParaRPr lang="ar-EG" sz="1500" dirty="0"/>
          </a:p>
          <a:p>
            <a:pPr rtl="1" algn="r" indent="0" marL="0">
              <a:spcAft>
                <a:spcPts val="400"/>
              </a:spcAft>
              <a:buNone/>
            </a:pPr>
            <a:r>
              <a:rPr lang="ar-EG" altLang="en-US" sz="1500" dirty="0">
                <a:solidFill>
                  <a:srgbClr val="323232"/>
                </a:solidFill>
                <a:latin typeface="Arial" pitchFamily="34" charset="0"/>
                <a:ea typeface="Arial" pitchFamily="34" charset="-122"/>
                <a:cs typeface="Arial" pitchFamily="34" charset="-120"/>
              </a:rPr>
              <a:t>الغلطة: في الأول كل الطاقات متساوية، فمحدش أكبر من المتوسط ← مفيش CH بيتختار أبدًا (البروتوكول بيقف).</a:t>
            </a:r>
            <a:endParaRPr lang="ar-EG" sz="1500" dirty="0"/>
          </a:p>
        </p:txBody>
      </p:sp>
      <p:sp>
        <p:nvSpPr>
          <p:cNvPr id="26" name="Shape 23"/>
          <p:cNvSpPr/>
          <p:nvPr/>
        </p:nvSpPr>
        <p:spPr>
          <a:xfrm>
            <a:off x="822960" y="4800600"/>
            <a:ext cx="10607040" cy="1097280"/>
          </a:xfrm>
          <a:prstGeom prst="roundRect">
            <a:avLst>
              <a:gd name="adj" fmla="val 10000"/>
            </a:avLst>
          </a:prstGeom>
          <a:solidFill>
            <a:srgbClr val="F6E3E1"/>
          </a:solidFill>
          <a:ln w="12700">
            <a:solidFill>
              <a:srgbClr val="C9A09E"/>
            </a:solidFill>
            <a:prstDash val="solid"/>
          </a:ln>
          <a:effectLst>
            <a:outerShdw sx="100000" sy="100000" kx="0" ky="0" algn="bl" rotWithShape="0" blurRad="76200" dist="25400" dir="5400000">
              <a:srgbClr val="000000">
                <a:alpha val="10000"/>
              </a:srgbClr>
            </a:outerShdw>
          </a:effectLst>
        </p:spPr>
      </p:sp>
      <p:sp>
        <p:nvSpPr>
          <p:cNvPr id="27" name="Text 24"/>
          <p:cNvSpPr txBox="1"/>
          <p:nvPr/>
        </p:nvSpPr>
        <p:spPr>
          <a:xfrm>
            <a:off x="1005840" y="4937760"/>
            <a:ext cx="1020470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الدرس</a:t>
            </a:r>
            <a:endParaRPr lang="ar-EG" sz="1500" dirty="0"/>
          </a:p>
        </p:txBody>
      </p:sp>
      <p:sp>
        <p:nvSpPr>
          <p:cNvPr id="28" name="Text 25"/>
          <p:cNvSpPr txBox="1"/>
          <p:nvPr/>
        </p:nvSpPr>
        <p:spPr>
          <a:xfrm>
            <a:off x="1024128" y="5532120"/>
            <a:ext cx="10204704" cy="228600"/>
          </a:xfrm>
          <a:prstGeom prst="rect">
            <a:avLst/>
          </a:prstGeom>
          <a:noFill/>
          <a:ln/>
        </p:spPr>
        <p:txBody>
          <a:bodyPr wrap="square" lIns="0" tIns="0" rIns="0" bIns="0" rtlCol="0" anchor="t"/>
          <a:lstStyle/>
          <a:p>
            <a:pPr rtl="1" algn="r" indent="0" marL="0">
              <a:spcAft>
                <a:spcPts val="400"/>
              </a:spcAft>
              <a:buNone/>
            </a:pPr>
            <a:r>
              <a:rPr lang="ar-EG" altLang="en-US" sz="1500" dirty="0">
                <a:solidFill>
                  <a:srgbClr val="323232"/>
                </a:solidFill>
                <a:latin typeface="Arial" pitchFamily="34" charset="0"/>
                <a:ea typeface="Arial" pitchFamily="34" charset="-122"/>
                <a:cs typeface="Arial" pitchFamily="34" charset="-120"/>
              </a:rPr>
              <a:t>دمج LEACH وHEED بيحسّن اختيار الـ CH — بس محدش فيهم حل إعادة الاستخدام، ولا موت الـ CH، ولا التوصيل بين الـ CHs.</a:t>
            </a:r>
            <a:endParaRPr lang="ar-EG"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أبحاث حديثة</a:t>
            </a:r>
            <a:pPr algn="r" indent="0" marL="0">
              <a:buNone/>
            </a:pPr>
            <a:r>
              <a:rPr lang="ar-EG" altLang="en-US" sz="2100" dirty="0">
                <a:solidFill>
                  <a:srgbClr val="8A2522"/>
                </a:solidFill>
                <a:latin typeface="Arial" pitchFamily="34" charset="0"/>
                <a:ea typeface="Arial" pitchFamily="34" charset="-122"/>
                <a:cs typeface="Arial" pitchFamily="34" charset="-120"/>
              </a:rPr>
              <a:t>  –  2024 – 2026</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19</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822960" y="1463040"/>
          <a:ext cx="10607040" cy="914400"/>
        </p:xfrm>
        <a:graphic>
          <a:graphicData uri="http://schemas.openxmlformats.org/drawingml/2006/table">
            <a:tbl>
              <a:tblPr/>
              <a:tblGrid>
                <a:gridCol w="3108960"/>
                <a:gridCol w="3291840"/>
                <a:gridCol w="1645920"/>
                <a:gridCol w="2560320"/>
              </a:tblGrid>
              <a:tr h="777240">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الناقص مقارنة بشغلنا</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الفكرة</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البروتوكول</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البحث</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r>
              <a:tr h="777240">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مش LEACH+HEED، ومفيش إعادة استخدام ولا حماية من الموت</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HEED + مناطق + إرسال بس لما القراءة تتغير</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EECH-HEED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Kaur وآخرين، 2025</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777240">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تكلفة تدريب، ومفيش إعادة استخدام ولا توصيل</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شبكة عصبية بدل معادلة HEED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DL-HEED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Juwaied وJackowska-Strumillo، 2025</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r h="777240">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مفيش حماية من موت الـ CH</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Clustering بمستويين + حل مشكلة الأطراف</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TLC-LEACH</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Subedi وآخرين، 2024</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777240">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تحسين الـ PDR مش مؤكد إحصائيًا</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تعلّم بالتجربة جوه ILEACH</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RL-ILEACH</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El-Sayed وآخرين، 2026</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r h="777240">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مفيش إعادة استخدام ولا Backup ولا توصيل — ده الـ gap</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دمج مباشر لـ LEACH + HEED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H-LEACH / SH-LEACH</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Razaque 2016 / Shrestha 2015</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آليات موجودة في الأبحاث</a:t>
            </a:r>
            <a:pPr algn="r" indent="0" marL="0">
              <a:buNone/>
            </a:pPr>
            <a:r>
              <a:rPr lang="ar-EG" altLang="en-US" sz="2100" dirty="0">
                <a:solidFill>
                  <a:srgbClr val="8A2522"/>
                </a:solidFill>
                <a:latin typeface="Arial" pitchFamily="34" charset="0"/>
                <a:ea typeface="Arial" pitchFamily="34" charset="-122"/>
                <a:cs typeface="Arial" pitchFamily="34" charset="-120"/>
              </a:rPr>
              <a:t>  –  إيه اللي موجود، وإيه الجديد</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20</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822960" y="1463040"/>
          <a:ext cx="10607040" cy="914400"/>
        </p:xfrm>
        <a:graphic>
          <a:graphicData uri="http://schemas.openxmlformats.org/drawingml/2006/table">
            <a:tbl>
              <a:tblPr/>
              <a:tblGrid>
                <a:gridCol w="4206240"/>
                <a:gridCol w="3474720"/>
                <a:gridCol w="2926080"/>
              </a:tblGrid>
              <a:tr h="548640">
                <a:tc>
                  <a:txBody>
                    <a:bodyPr/>
                    <a:lstStyle/>
                    <a:p>
                      <a:pPr rtl="1" algn="ctr" indent="0" marL="0">
                        <a:buNone/>
                      </a:pPr>
                      <a:r>
                        <a:rPr lang="en-US" sz="1300" b="1" dirty="0">
                          <a:solidFill>
                            <a:srgbClr val="FFFFFF"/>
                          </a:solidFill>
                          <a:latin typeface="Arial" pitchFamily="34" charset="0"/>
                          <a:ea typeface="Arial" pitchFamily="34" charset="-122"/>
                          <a:cs typeface="Arial" pitchFamily="34" charset="-120"/>
                        </a:rPr>
                        <a:t>الرسالة زوّدت إيه</a:t>
                      </a:r>
                      <a:endParaRPr lang="en-US" sz="13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300" b="1" dirty="0">
                          <a:solidFill>
                            <a:srgbClr val="FFFFFF"/>
                          </a:solidFill>
                          <a:latin typeface="Arial" pitchFamily="34" charset="0"/>
                          <a:ea typeface="Arial" pitchFamily="34" charset="-122"/>
                          <a:cs typeface="Arial" pitchFamily="34" charset="-120"/>
                        </a:rPr>
                        <a:t>موجودة فين قبل كده</a:t>
                      </a:r>
                      <a:endParaRPr lang="en-US" sz="13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300" b="1" dirty="0">
                          <a:solidFill>
                            <a:srgbClr val="FFFFFF"/>
                          </a:solidFill>
                          <a:latin typeface="Arial" pitchFamily="34" charset="0"/>
                          <a:ea typeface="Arial" pitchFamily="34" charset="-122"/>
                          <a:cs typeface="Arial" pitchFamily="34" charset="-120"/>
                        </a:rPr>
                        <a:t>الآلية في v8-Chain</a:t>
                      </a:r>
                      <a:endParaRPr lang="en-US" sz="13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r>
              <a:tr h="548640">
                <a:tc>
                  <a:txBody>
                    <a:bodyPr/>
                    <a:lstStyle/>
                    <a:p>
                      <a:pPr rtl="1" algn="r" indent="0" marL="0">
                        <a:buNone/>
                      </a:pPr>
                      <a:r>
                        <a:rPr lang="en-US" sz="1300" dirty="0">
                          <a:solidFill>
                            <a:srgbClr val="323232"/>
                          </a:solidFill>
                          <a:latin typeface="Arial" pitchFamily="34" charset="0"/>
                          <a:ea typeface="Arial" pitchFamily="34" charset="-122"/>
                          <a:cs typeface="Arial" pitchFamily="34" charset="-120"/>
                        </a:rPr>
                        <a:t>معادلة واحدة + إعادة استخدام؛ وتصليح البحثين</a:t>
                      </a:r>
                      <a:endParaRPr lang="en-US" sz="13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300" dirty="0">
                          <a:solidFill>
                            <a:srgbClr val="323232"/>
                          </a:solidFill>
                          <a:latin typeface="Arial" pitchFamily="34" charset="0"/>
                          <a:ea typeface="Arial" pitchFamily="34" charset="-122"/>
                          <a:cs typeface="Arial" pitchFamily="34" charset="-120"/>
                        </a:rPr>
                        <a:t>H-LEACH [5]، SH-LEACH [4]</a:t>
                      </a:r>
                      <a:endParaRPr lang="en-US" sz="13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300" b="1" dirty="0">
                          <a:solidFill>
                            <a:srgbClr val="323232"/>
                          </a:solidFill>
                          <a:latin typeface="Arial" pitchFamily="34" charset="0"/>
                          <a:ea typeface="Arial" pitchFamily="34" charset="-122"/>
                          <a:cs typeface="Arial" pitchFamily="34" charset="-120"/>
                        </a:rPr>
                        <a:t>دمج LEACH وHEED</a:t>
                      </a:r>
                      <a:endParaRPr lang="en-US" sz="13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548640">
                <a:tc>
                  <a:txBody>
                    <a:bodyPr/>
                    <a:lstStyle/>
                    <a:p>
                      <a:pPr rtl="1" algn="r" indent="0" marL="0">
                        <a:buNone/>
                      </a:pPr>
                      <a:r>
                        <a:rPr lang="en-US" sz="1300" dirty="0">
                          <a:solidFill>
                            <a:srgbClr val="323232"/>
                          </a:solidFill>
                          <a:latin typeface="Arial" pitchFamily="34" charset="0"/>
                          <a:ea typeface="Arial" pitchFamily="34" charset="-122"/>
                          <a:cs typeface="Arial" pitchFamily="34" charset="-120"/>
                        </a:rPr>
                        <a:t>نائب + إصلاح المجموعة بحد طاقة نسبي</a:t>
                      </a:r>
                      <a:endParaRPr lang="en-US" sz="13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300" dirty="0">
                          <a:solidFill>
                            <a:srgbClr val="323232"/>
                          </a:solidFill>
                          <a:latin typeface="Arial" pitchFamily="34" charset="0"/>
                          <a:ea typeface="Arial" pitchFamily="34" charset="-122"/>
                          <a:cs typeface="Arial" pitchFamily="34" charset="-120"/>
                        </a:rPr>
                        <a:t>FTEC [10] (HEED + نائب)</a:t>
                      </a:r>
                      <a:endParaRPr lang="en-US" sz="13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300" b="1" dirty="0">
                          <a:solidFill>
                            <a:srgbClr val="323232"/>
                          </a:solidFill>
                          <a:latin typeface="Arial" pitchFamily="34" charset="0"/>
                          <a:ea typeface="Arial" pitchFamily="34" charset="-122"/>
                          <a:cs typeface="Arial" pitchFamily="34" charset="-120"/>
                        </a:rPr>
                        <a:t>نائب للـ CH (Backup)</a:t>
                      </a:r>
                      <a:endParaRPr lang="en-US" sz="13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r h="548640">
                <a:tc>
                  <a:txBody>
                    <a:bodyPr/>
                    <a:lstStyle/>
                    <a:p>
                      <a:pPr rtl="1" algn="r" indent="0" marL="0">
                        <a:buNone/>
                      </a:pPr>
                      <a:r>
                        <a:rPr lang="en-US" sz="1300" dirty="0">
                          <a:solidFill>
                            <a:srgbClr val="323232"/>
                          </a:solidFill>
                          <a:latin typeface="Arial" pitchFamily="34" charset="0"/>
                          <a:ea typeface="Arial" pitchFamily="34" charset="-122"/>
                          <a:cs typeface="Arial" pitchFamily="34" charset="-120"/>
                        </a:rPr>
                        <a:t>تسليم استباقي كل round حسب تكلفة الشغل</a:t>
                      </a:r>
                      <a:endParaRPr lang="en-US" sz="13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300" dirty="0">
                          <a:solidFill>
                            <a:srgbClr val="323232"/>
                          </a:solidFill>
                          <a:latin typeface="Arial" pitchFamily="34" charset="0"/>
                          <a:ea typeface="Arial" pitchFamily="34" charset="-122"/>
                          <a:cs typeface="Arial" pitchFamily="34" charset="-120"/>
                        </a:rPr>
                        <a:t>تغيير الـ CH بحد طاقة (مراجعة [11])</a:t>
                      </a:r>
                      <a:endParaRPr lang="en-US" sz="13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300" b="1" dirty="0">
                          <a:solidFill>
                            <a:srgbClr val="323232"/>
                          </a:solidFill>
                          <a:latin typeface="Arial" pitchFamily="34" charset="0"/>
                          <a:ea typeface="Arial" pitchFamily="34" charset="-122"/>
                          <a:cs typeface="Arial" pitchFamily="34" charset="-120"/>
                        </a:rPr>
                        <a:t>تسليم الـ CH قبل ما طاقته تخلص</a:t>
                      </a:r>
                      <a:endParaRPr lang="en-US" sz="13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548640">
                <a:tc>
                  <a:txBody>
                    <a:bodyPr/>
                    <a:lstStyle/>
                    <a:p>
                      <a:pPr rtl="1" algn="r" indent="0" marL="0">
                        <a:buNone/>
                      </a:pPr>
                      <a:r>
                        <a:rPr lang="en-US" sz="1300" dirty="0">
                          <a:solidFill>
                            <a:srgbClr val="323232"/>
                          </a:solidFill>
                          <a:latin typeface="Arial" pitchFamily="34" charset="0"/>
                          <a:ea typeface="Arial" pitchFamily="34" charset="-122"/>
                          <a:cs typeface="Arial" pitchFamily="34" charset="-120"/>
                        </a:rPr>
                        <a:t>توصيل بس لما يبقى أرخص — بيتأقلم مع مكان الـ BS</a:t>
                      </a:r>
                      <a:endParaRPr lang="en-US" sz="13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300" dirty="0">
                          <a:solidFill>
                            <a:srgbClr val="323232"/>
                          </a:solidFill>
                          <a:latin typeface="Arial" pitchFamily="34" charset="0"/>
                          <a:ea typeface="Arial" pitchFamily="34" charset="-122"/>
                          <a:cs typeface="Arial" pitchFamily="34" charset="-120"/>
                        </a:rPr>
                        <a:t>EEUC [12]، EAUCA [13]</a:t>
                      </a:r>
                      <a:endParaRPr lang="en-US" sz="13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300" b="1" dirty="0">
                          <a:solidFill>
                            <a:srgbClr val="323232"/>
                          </a:solidFill>
                          <a:latin typeface="Arial" pitchFamily="34" charset="0"/>
                          <a:ea typeface="Arial" pitchFamily="34" charset="-122"/>
                          <a:cs typeface="Arial" pitchFamily="34" charset="-120"/>
                        </a:rPr>
                        <a:t>توصيل multi-hop بين المجموعات</a:t>
                      </a:r>
                      <a:endParaRPr lang="en-US" sz="13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r h="548640">
                <a:tc>
                  <a:txBody>
                    <a:bodyPr/>
                    <a:lstStyle/>
                    <a:p>
                      <a:pPr rtl="1" algn="r" indent="0" marL="0">
                        <a:buNone/>
                      </a:pPr>
                      <a:r>
                        <a:rPr lang="en-US" sz="1300" dirty="0">
                          <a:solidFill>
                            <a:srgbClr val="323232"/>
                          </a:solidFill>
                          <a:latin typeface="Arial" pitchFamily="34" charset="0"/>
                          <a:ea typeface="Arial" pitchFamily="34" charset="-122"/>
                          <a:cs typeface="Arial" pitchFamily="34" charset="-120"/>
                        </a:rPr>
                        <a:t>نفس النموذج لكل البروتوكولات (مقارنة عادلة)</a:t>
                      </a:r>
                      <a:endParaRPr lang="en-US" sz="13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300" dirty="0">
                          <a:solidFill>
                            <a:srgbClr val="323232"/>
                          </a:solidFill>
                          <a:latin typeface="Arial" pitchFamily="34" charset="0"/>
                          <a:ea typeface="Arial" pitchFamily="34" charset="-122"/>
                          <a:cs typeface="Arial" pitchFamily="34" charset="-120"/>
                        </a:rPr>
                        <a:t>Heinzelman وآخرين 2002 [14]</a:t>
                      </a:r>
                      <a:endParaRPr lang="en-US" sz="13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300" b="1" dirty="0">
                          <a:solidFill>
                            <a:srgbClr val="323232"/>
                          </a:solidFill>
                          <a:latin typeface="Arial" pitchFamily="34" charset="0"/>
                          <a:ea typeface="Arial" pitchFamily="34" charset="-122"/>
                          <a:cs typeface="Arial" pitchFamily="34" charset="-120"/>
                        </a:rPr>
                        <a:t>نموذج راديو بمعادلتين</a:t>
                      </a:r>
                      <a:endParaRPr lang="en-US" sz="13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bl>
          </a:graphicData>
        </a:graphic>
      </p:graphicFrame>
      <p:sp>
        <p:nvSpPr>
          <p:cNvPr id="21" name="Shape 17"/>
          <p:cNvSpPr/>
          <p:nvPr/>
        </p:nvSpPr>
        <p:spPr>
          <a:xfrm>
            <a:off x="822960" y="5303520"/>
            <a:ext cx="10607040" cy="640080"/>
          </a:xfrm>
          <a:prstGeom prst="roundRect">
            <a:avLst>
              <a:gd name="adj" fmla="val 17143"/>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2" name="Text 18"/>
          <p:cNvSpPr txBox="1"/>
          <p:nvPr/>
        </p:nvSpPr>
        <p:spPr>
          <a:xfrm>
            <a:off x="1005840" y="5440680"/>
            <a:ext cx="10204704" cy="548640"/>
          </a:xfrm>
          <a:prstGeom prst="rect">
            <a:avLst/>
          </a:prstGeom>
          <a:noFill/>
          <a:ln/>
        </p:spPr>
        <p:txBody>
          <a:bodyPr wrap="square" lIns="0" tIns="0" rIns="0" bIns="0" rtlCol="0" anchor="ctr"/>
          <a:lstStyle/>
          <a:p>
            <a:pPr rtl="1" algn="r" indent="0" marL="0">
              <a:buNone/>
            </a:pPr>
            <a:r>
              <a:rPr lang="ar-EG" altLang="en-US" sz="1400" b="1" dirty="0">
                <a:solidFill>
                  <a:srgbClr val="323232"/>
                </a:solidFill>
                <a:latin typeface="Arial" pitchFamily="34" charset="0"/>
                <a:ea typeface="Arial" pitchFamily="34" charset="-122"/>
                <a:cs typeface="Arial" pitchFamily="34" charset="-120"/>
              </a:rPr>
              <a:t>محدش من الأبحاث جمع الأربعة أعمدة — الجديد هو الدمج، والتقييم المضبوط خطوة بخطوة.</a:t>
            </a:r>
            <a:endParaRPr lang="ar-EG"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الفجوة البحثية</a:t>
            </a:r>
            <a:pPr algn="r" indent="0" marL="0">
              <a:buNone/>
            </a:pPr>
            <a:r>
              <a:rPr lang="ar-EG" altLang="en-US" sz="2100" dirty="0">
                <a:solidFill>
                  <a:srgbClr val="8A2522"/>
                </a:solidFill>
                <a:latin typeface="Arial" pitchFamily="34" charset="0"/>
                <a:ea typeface="Arial" pitchFamily="34" charset="-122"/>
                <a:cs typeface="Arial" pitchFamily="34" charset="-120"/>
              </a:rPr>
              <a:t>  –  إيه الناقص؟</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21</a:t>
            </a:r>
            <a:endParaRPr lang="en-US" sz="1000" dirty="0"/>
          </a:p>
        </p:txBody>
      </p:sp>
      <p:sp>
        <p:nvSpPr>
          <p:cNvPr id="20" name="Shape 17"/>
          <p:cNvSpPr/>
          <p:nvPr/>
        </p:nvSpPr>
        <p:spPr>
          <a:xfrm>
            <a:off x="8915400" y="1554480"/>
            <a:ext cx="2514600" cy="2377440"/>
          </a:xfrm>
          <a:prstGeom prst="roundRect">
            <a:avLst>
              <a:gd name="adj" fmla="val 4615"/>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1" name="Shape 18"/>
          <p:cNvSpPr/>
          <p:nvPr/>
        </p:nvSpPr>
        <p:spPr>
          <a:xfrm>
            <a:off x="10771632" y="1737360"/>
            <a:ext cx="457200" cy="457200"/>
          </a:xfrm>
          <a:prstGeom prst="ellipse">
            <a:avLst/>
          </a:prstGeom>
          <a:solidFill>
            <a:srgbClr val="8A2522"/>
          </a:solidFill>
          <a:ln w="12700">
            <a:solidFill>
              <a:srgbClr val="8A2522"/>
            </a:solidFill>
            <a:prstDash val="solid"/>
          </a:ln>
        </p:spPr>
      </p:sp>
      <p:sp>
        <p:nvSpPr>
          <p:cNvPr id="22" name="Text 19"/>
          <p:cNvSpPr txBox="1"/>
          <p:nvPr/>
        </p:nvSpPr>
        <p:spPr>
          <a:xfrm>
            <a:off x="10771632" y="1737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23" name="Text 20"/>
          <p:cNvSpPr txBox="1"/>
          <p:nvPr/>
        </p:nvSpPr>
        <p:spPr>
          <a:xfrm>
            <a:off x="9098280" y="1691640"/>
            <a:ext cx="1554480"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اختيار CH ذكي</a:t>
            </a:r>
            <a:endParaRPr lang="ar-EG" sz="1500" dirty="0"/>
          </a:p>
        </p:txBody>
      </p:sp>
      <p:sp>
        <p:nvSpPr>
          <p:cNvPr id="24" name="Text 21"/>
          <p:cNvSpPr txBox="1"/>
          <p:nvPr/>
        </p:nvSpPr>
        <p:spPr>
          <a:xfrm>
            <a:off x="9116568" y="2286000"/>
            <a:ext cx="2112264" cy="1508760"/>
          </a:xfrm>
          <a:prstGeom prst="rect">
            <a:avLst/>
          </a:prstGeom>
          <a:noFill/>
          <a:ln/>
        </p:spPr>
        <p:txBody>
          <a:bodyPr wrap="square" lIns="0" tIns="0" rIns="0" bIns="0" rtlCol="0" anchor="t"/>
          <a:lstStyle/>
          <a:p>
            <a:pPr rtl="1" algn="r" indent="0" marL="0">
              <a:spcAft>
                <a:spcPts val="400"/>
              </a:spcAft>
              <a:buNone/>
            </a:pPr>
            <a:r>
              <a:rPr lang="ar-EG" altLang="en-US" sz="1600" dirty="0">
                <a:solidFill>
                  <a:srgbClr val="323232"/>
                </a:solidFill>
                <a:latin typeface="Arial" pitchFamily="34" charset="0"/>
                <a:ea typeface="Arial" pitchFamily="34" charset="-122"/>
                <a:cs typeface="Arial" pitchFamily="34" charset="-120"/>
              </a:rPr>
              <a:t>الطاقة × عدد الجيران</a:t>
            </a:r>
            <a:endParaRPr lang="ar-EG" sz="1600" dirty="0"/>
          </a:p>
        </p:txBody>
      </p:sp>
      <p:sp>
        <p:nvSpPr>
          <p:cNvPr id="25" name="Shape 22"/>
          <p:cNvSpPr/>
          <p:nvPr/>
        </p:nvSpPr>
        <p:spPr>
          <a:xfrm>
            <a:off x="6199632" y="1554480"/>
            <a:ext cx="2514600" cy="2377440"/>
          </a:xfrm>
          <a:prstGeom prst="roundRect">
            <a:avLst>
              <a:gd name="adj" fmla="val 4615"/>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6" name="Shape 23"/>
          <p:cNvSpPr/>
          <p:nvPr/>
        </p:nvSpPr>
        <p:spPr>
          <a:xfrm>
            <a:off x="8055864" y="1737360"/>
            <a:ext cx="457200" cy="457200"/>
          </a:xfrm>
          <a:prstGeom prst="ellipse">
            <a:avLst/>
          </a:prstGeom>
          <a:solidFill>
            <a:srgbClr val="8A2522"/>
          </a:solidFill>
          <a:ln w="12700">
            <a:solidFill>
              <a:srgbClr val="8A2522"/>
            </a:solidFill>
            <a:prstDash val="solid"/>
          </a:ln>
        </p:spPr>
      </p:sp>
      <p:sp>
        <p:nvSpPr>
          <p:cNvPr id="27" name="Text 24"/>
          <p:cNvSpPr txBox="1"/>
          <p:nvPr/>
        </p:nvSpPr>
        <p:spPr>
          <a:xfrm>
            <a:off x="8055864" y="1737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28" name="Text 25"/>
          <p:cNvSpPr txBox="1"/>
          <p:nvPr/>
        </p:nvSpPr>
        <p:spPr>
          <a:xfrm>
            <a:off x="6382512" y="1691640"/>
            <a:ext cx="1554480"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إعادة استخدام الـ clusters</a:t>
            </a:r>
            <a:endParaRPr lang="ar-EG" sz="1500" dirty="0"/>
          </a:p>
        </p:txBody>
      </p:sp>
      <p:sp>
        <p:nvSpPr>
          <p:cNvPr id="29" name="Text 26"/>
          <p:cNvSpPr txBox="1"/>
          <p:nvPr/>
        </p:nvSpPr>
        <p:spPr>
          <a:xfrm>
            <a:off x="6400800" y="2286000"/>
            <a:ext cx="2112264" cy="1508760"/>
          </a:xfrm>
          <a:prstGeom prst="rect">
            <a:avLst/>
          </a:prstGeom>
          <a:noFill/>
          <a:ln/>
        </p:spPr>
        <p:txBody>
          <a:bodyPr wrap="square" lIns="0" tIns="0" rIns="0" bIns="0" rtlCol="0" anchor="t"/>
          <a:lstStyle/>
          <a:p>
            <a:pPr rtl="1" algn="r" indent="0" marL="0">
              <a:spcAft>
                <a:spcPts val="400"/>
              </a:spcAft>
              <a:buNone/>
            </a:pPr>
            <a:r>
              <a:rPr lang="ar-EG" altLang="en-US" sz="1600" dirty="0">
                <a:solidFill>
                  <a:srgbClr val="323232"/>
                </a:solidFill>
                <a:latin typeface="Arial" pitchFamily="34" charset="0"/>
                <a:ea typeface="Arial" pitchFamily="34" charset="-122"/>
                <a:cs typeface="Arial" pitchFamily="34" charset="-120"/>
              </a:rPr>
              <a:t>رسايل تحكم أقل</a:t>
            </a:r>
            <a:endParaRPr lang="ar-EG" sz="1600" dirty="0"/>
          </a:p>
        </p:txBody>
      </p:sp>
      <p:sp>
        <p:nvSpPr>
          <p:cNvPr id="30" name="Shape 27"/>
          <p:cNvSpPr/>
          <p:nvPr/>
        </p:nvSpPr>
        <p:spPr>
          <a:xfrm>
            <a:off x="3483864" y="1554480"/>
            <a:ext cx="2514600" cy="2377440"/>
          </a:xfrm>
          <a:prstGeom prst="roundRect">
            <a:avLst>
              <a:gd name="adj" fmla="val 4615"/>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31" name="Shape 28"/>
          <p:cNvSpPr/>
          <p:nvPr/>
        </p:nvSpPr>
        <p:spPr>
          <a:xfrm>
            <a:off x="5340096" y="1737360"/>
            <a:ext cx="457200" cy="457200"/>
          </a:xfrm>
          <a:prstGeom prst="ellipse">
            <a:avLst/>
          </a:prstGeom>
          <a:solidFill>
            <a:srgbClr val="8A2522"/>
          </a:solidFill>
          <a:ln w="12700">
            <a:solidFill>
              <a:srgbClr val="8A2522"/>
            </a:solidFill>
            <a:prstDash val="solid"/>
          </a:ln>
        </p:spPr>
      </p:sp>
      <p:sp>
        <p:nvSpPr>
          <p:cNvPr id="32" name="Text 29"/>
          <p:cNvSpPr txBox="1"/>
          <p:nvPr/>
        </p:nvSpPr>
        <p:spPr>
          <a:xfrm>
            <a:off x="5340096" y="1737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33" name="Text 30"/>
          <p:cNvSpPr txBox="1"/>
          <p:nvPr/>
        </p:nvSpPr>
        <p:spPr>
          <a:xfrm>
            <a:off x="3666744" y="1691640"/>
            <a:ext cx="1554480"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حماية من موت الـ CH</a:t>
            </a:r>
            <a:endParaRPr lang="ar-EG" sz="1500" dirty="0"/>
          </a:p>
        </p:txBody>
      </p:sp>
      <p:sp>
        <p:nvSpPr>
          <p:cNvPr id="34" name="Text 31"/>
          <p:cNvSpPr txBox="1"/>
          <p:nvPr/>
        </p:nvSpPr>
        <p:spPr>
          <a:xfrm>
            <a:off x="3685032" y="2286000"/>
            <a:ext cx="2112264" cy="1508760"/>
          </a:xfrm>
          <a:prstGeom prst="rect">
            <a:avLst/>
          </a:prstGeom>
          <a:noFill/>
          <a:ln/>
        </p:spPr>
        <p:txBody>
          <a:bodyPr wrap="square" lIns="0" tIns="0" rIns="0" bIns="0" rtlCol="0" anchor="t"/>
          <a:lstStyle/>
          <a:p>
            <a:pPr rtl="1" algn="r" indent="0" marL="0">
              <a:spcAft>
                <a:spcPts val="400"/>
              </a:spcAft>
              <a:buNone/>
            </a:pPr>
            <a:r>
              <a:rPr lang="ar-EG" altLang="en-US" sz="1600" dirty="0">
                <a:solidFill>
                  <a:srgbClr val="323232"/>
                </a:solidFill>
                <a:latin typeface="Arial" pitchFamily="34" charset="0"/>
                <a:ea typeface="Arial" pitchFamily="34" charset="-122"/>
                <a:cs typeface="Arial" pitchFamily="34" charset="-120"/>
              </a:rPr>
              <a:t>نائب + إصلاح + وقاية</a:t>
            </a:r>
            <a:endParaRPr lang="ar-EG" sz="1600" dirty="0"/>
          </a:p>
        </p:txBody>
      </p:sp>
      <p:sp>
        <p:nvSpPr>
          <p:cNvPr id="35" name="Shape 32"/>
          <p:cNvSpPr/>
          <p:nvPr/>
        </p:nvSpPr>
        <p:spPr>
          <a:xfrm>
            <a:off x="768096" y="1554480"/>
            <a:ext cx="2514600" cy="2377440"/>
          </a:xfrm>
          <a:prstGeom prst="roundRect">
            <a:avLst>
              <a:gd name="adj" fmla="val 4615"/>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36" name="Shape 33"/>
          <p:cNvSpPr/>
          <p:nvPr/>
        </p:nvSpPr>
        <p:spPr>
          <a:xfrm>
            <a:off x="2624328" y="1737360"/>
            <a:ext cx="457200" cy="457200"/>
          </a:xfrm>
          <a:prstGeom prst="ellipse">
            <a:avLst/>
          </a:prstGeom>
          <a:solidFill>
            <a:srgbClr val="8A2522"/>
          </a:solidFill>
          <a:ln w="12700">
            <a:solidFill>
              <a:srgbClr val="8A2522"/>
            </a:solidFill>
            <a:prstDash val="solid"/>
          </a:ln>
        </p:spPr>
      </p:sp>
      <p:sp>
        <p:nvSpPr>
          <p:cNvPr id="37" name="Text 34"/>
          <p:cNvSpPr txBox="1"/>
          <p:nvPr/>
        </p:nvSpPr>
        <p:spPr>
          <a:xfrm>
            <a:off x="2624328" y="1737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38" name="Text 35"/>
          <p:cNvSpPr txBox="1"/>
          <p:nvPr/>
        </p:nvSpPr>
        <p:spPr>
          <a:xfrm>
            <a:off x="950976" y="1691640"/>
            <a:ext cx="1554480"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توصيل ذكي بين الـ CHs</a:t>
            </a:r>
            <a:endParaRPr lang="ar-EG" sz="1500" dirty="0"/>
          </a:p>
        </p:txBody>
      </p:sp>
      <p:sp>
        <p:nvSpPr>
          <p:cNvPr id="39" name="Text 36"/>
          <p:cNvSpPr txBox="1"/>
          <p:nvPr/>
        </p:nvSpPr>
        <p:spPr>
          <a:xfrm>
            <a:off x="969264" y="2286000"/>
            <a:ext cx="2112264" cy="1508760"/>
          </a:xfrm>
          <a:prstGeom prst="rect">
            <a:avLst/>
          </a:prstGeom>
          <a:noFill/>
          <a:ln/>
        </p:spPr>
        <p:txBody>
          <a:bodyPr wrap="square" lIns="0" tIns="0" rIns="0" bIns="0" rtlCol="0" anchor="t"/>
          <a:lstStyle/>
          <a:p>
            <a:pPr rtl="1" algn="r" indent="0" marL="0">
              <a:spcAft>
                <a:spcPts val="400"/>
              </a:spcAft>
              <a:buNone/>
            </a:pPr>
            <a:r>
              <a:rPr lang="ar-EG" altLang="en-US" sz="1600" dirty="0">
                <a:solidFill>
                  <a:srgbClr val="323232"/>
                </a:solidFill>
                <a:latin typeface="Arial" pitchFamily="34" charset="0"/>
                <a:ea typeface="Arial" pitchFamily="34" charset="-122"/>
                <a:cs typeface="Arial" pitchFamily="34" charset="-120"/>
              </a:rPr>
              <a:t>بس لما يوفّر طاقة</a:t>
            </a:r>
            <a:endParaRPr lang="ar-EG" sz="1600" dirty="0"/>
          </a:p>
        </p:txBody>
      </p:sp>
      <p:sp>
        <p:nvSpPr>
          <p:cNvPr id="40" name="Shape 37"/>
          <p:cNvSpPr/>
          <p:nvPr/>
        </p:nvSpPr>
        <p:spPr>
          <a:xfrm>
            <a:off x="822960" y="4343400"/>
            <a:ext cx="10607040" cy="1463040"/>
          </a:xfrm>
          <a:prstGeom prst="roundRect">
            <a:avLst>
              <a:gd name="adj" fmla="val 7500"/>
            </a:avLst>
          </a:prstGeom>
          <a:solidFill>
            <a:srgbClr val="8A2522"/>
          </a:solidFill>
          <a:ln w="12700">
            <a:solidFill>
              <a:srgbClr val="8A2522"/>
            </a:solidFill>
            <a:prstDash val="solid"/>
          </a:ln>
        </p:spPr>
      </p:sp>
      <p:sp>
        <p:nvSpPr>
          <p:cNvPr id="41" name="Text 38"/>
          <p:cNvSpPr txBox="1"/>
          <p:nvPr/>
        </p:nvSpPr>
        <p:spPr>
          <a:xfrm>
            <a:off x="1097280" y="4389120"/>
            <a:ext cx="10058400" cy="1371600"/>
          </a:xfrm>
          <a:prstGeom prst="rect">
            <a:avLst/>
          </a:prstGeom>
          <a:noFill/>
          <a:ln/>
        </p:spPr>
        <p:txBody>
          <a:bodyPr wrap="square" lIns="0" tIns="0" rIns="0" bIns="0" rtlCol="0" anchor="ctr"/>
          <a:lstStyle/>
          <a:p>
            <a:pPr algn="r" indent="0" marL="0">
              <a:buNone/>
            </a:pPr>
            <a:r>
              <a:rPr lang="ar-EG" altLang="en-US" sz="1700" b="1" dirty="0">
                <a:solidFill>
                  <a:srgbClr val="FFFFFF"/>
                </a:solidFill>
                <a:latin typeface="Arial" pitchFamily="34" charset="0"/>
                <a:ea typeface="Arial" pitchFamily="34" charset="-122"/>
                <a:cs typeface="Arial" pitchFamily="34" charset="-120"/>
              </a:rPr>
              <a:t>اتجاهنا: </a:t>
            </a:r>
            <a:pPr algn="r" indent="0" marL="0">
              <a:buNone/>
            </a:pPr>
            <a:r>
              <a:rPr lang="ar-EG" altLang="en-US" sz="1700" dirty="0">
                <a:solidFill>
                  <a:srgbClr val="FFFFFF"/>
                </a:solidFill>
                <a:latin typeface="Arial" pitchFamily="34" charset="0"/>
                <a:ea typeface="Arial" pitchFamily="34" charset="-122"/>
                <a:cs typeface="Arial" pitchFamily="34" charset="-120"/>
              </a:rPr>
              <a:t>بروتوكول هجين واحد للـ clustering والتوجيه بيجمع الأربعة أعمدة — ويتقارن خطوة خطوة بالبروتوكولات اللي أعدنا بناءها.</a:t>
            </a:r>
            <a:endParaRPr lang="ar-EG"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8A2522"/>
          </a:solidFill>
          <a:ln w="12700">
            <a:solidFill>
              <a:srgbClr val="8A2522"/>
            </a:solidFill>
            <a:prstDash val="solid"/>
          </a:ln>
        </p:spPr>
      </p:sp>
      <p:sp>
        <p:nvSpPr>
          <p:cNvPr id="3" name="Shape 1"/>
          <p:cNvSpPr/>
          <p:nvPr/>
        </p:nvSpPr>
        <p:spPr>
          <a:xfrm flipV="1">
            <a:off x="2455164" y="336042"/>
            <a:ext cx="1110996" cy="555498"/>
          </a:xfrm>
          <a:prstGeom prst="line">
            <a:avLst/>
          </a:prstGeom>
          <a:noFill/>
          <a:ln w="11430">
            <a:solidFill>
              <a:srgbClr val="E7C9C6"/>
            </a:solidFill>
            <a:prstDash val="solid"/>
          </a:ln>
        </p:spPr>
      </p:sp>
      <p:sp>
        <p:nvSpPr>
          <p:cNvPr id="4" name="Shape 2"/>
          <p:cNvSpPr/>
          <p:nvPr/>
        </p:nvSpPr>
        <p:spPr>
          <a:xfrm>
            <a:off x="1344168" y="459486"/>
            <a:ext cx="1110996" cy="432054"/>
          </a:xfrm>
          <a:prstGeom prst="line">
            <a:avLst/>
          </a:prstGeom>
          <a:noFill/>
          <a:ln w="11430">
            <a:solidFill>
              <a:srgbClr val="E7C9C6"/>
            </a:solidFill>
            <a:prstDash val="solid"/>
          </a:ln>
        </p:spPr>
      </p:sp>
      <p:sp>
        <p:nvSpPr>
          <p:cNvPr id="5" name="Shape 3"/>
          <p:cNvSpPr/>
          <p:nvPr/>
        </p:nvSpPr>
        <p:spPr>
          <a:xfrm flipV="1">
            <a:off x="418338" y="459486"/>
            <a:ext cx="925830" cy="864108"/>
          </a:xfrm>
          <a:prstGeom prst="line">
            <a:avLst/>
          </a:prstGeom>
          <a:noFill/>
          <a:ln w="11430">
            <a:solidFill>
              <a:srgbClr val="E7C9C6"/>
            </a:solidFill>
            <a:prstDash val="solid"/>
          </a:ln>
        </p:spPr>
      </p:sp>
      <p:sp>
        <p:nvSpPr>
          <p:cNvPr id="6" name="Shape 4"/>
          <p:cNvSpPr/>
          <p:nvPr/>
        </p:nvSpPr>
        <p:spPr>
          <a:xfrm flipV="1">
            <a:off x="1899666" y="891540"/>
            <a:ext cx="555498" cy="925830"/>
          </a:xfrm>
          <a:prstGeom prst="line">
            <a:avLst/>
          </a:prstGeom>
          <a:noFill/>
          <a:ln w="11430">
            <a:solidFill>
              <a:srgbClr val="E7C9C6"/>
            </a:solidFill>
            <a:prstDash val="solid"/>
          </a:ln>
        </p:spPr>
      </p:sp>
      <p:sp>
        <p:nvSpPr>
          <p:cNvPr id="7" name="Shape 5"/>
          <p:cNvSpPr/>
          <p:nvPr/>
        </p:nvSpPr>
        <p:spPr>
          <a:xfrm>
            <a:off x="418338" y="1323594"/>
            <a:ext cx="1481328" cy="493776"/>
          </a:xfrm>
          <a:prstGeom prst="line">
            <a:avLst/>
          </a:prstGeom>
          <a:noFill/>
          <a:ln w="11430">
            <a:solidFill>
              <a:srgbClr val="E7C9C6"/>
            </a:solidFill>
            <a:prstDash val="solid"/>
          </a:ln>
        </p:spPr>
      </p:sp>
      <p:sp>
        <p:nvSpPr>
          <p:cNvPr id="8" name="Shape 6"/>
          <p:cNvSpPr/>
          <p:nvPr/>
        </p:nvSpPr>
        <p:spPr>
          <a:xfrm flipV="1">
            <a:off x="726948" y="1817370"/>
            <a:ext cx="1172718" cy="555498"/>
          </a:xfrm>
          <a:prstGeom prst="line">
            <a:avLst/>
          </a:prstGeom>
          <a:noFill/>
          <a:ln w="11430">
            <a:solidFill>
              <a:srgbClr val="E7C9C6"/>
            </a:solidFill>
            <a:prstDash val="solid"/>
          </a:ln>
        </p:spPr>
      </p:sp>
      <p:sp>
        <p:nvSpPr>
          <p:cNvPr id="9" name="Shape 7"/>
          <p:cNvSpPr/>
          <p:nvPr/>
        </p:nvSpPr>
        <p:spPr>
          <a:xfrm>
            <a:off x="418338" y="1323594"/>
            <a:ext cx="308610" cy="1049274"/>
          </a:xfrm>
          <a:prstGeom prst="line">
            <a:avLst/>
          </a:prstGeom>
          <a:noFill/>
          <a:ln w="11430">
            <a:solidFill>
              <a:srgbClr val="E7C9C6"/>
            </a:solidFill>
            <a:prstDash val="solid"/>
          </a:ln>
        </p:spPr>
      </p:sp>
      <p:sp>
        <p:nvSpPr>
          <p:cNvPr id="10" name="Shape 8"/>
          <p:cNvSpPr/>
          <p:nvPr/>
        </p:nvSpPr>
        <p:spPr>
          <a:xfrm>
            <a:off x="2455164" y="891540"/>
            <a:ext cx="308610" cy="678942"/>
          </a:xfrm>
          <a:prstGeom prst="line">
            <a:avLst/>
          </a:prstGeom>
          <a:noFill/>
          <a:ln w="11430">
            <a:solidFill>
              <a:srgbClr val="E7C9C6"/>
            </a:solidFill>
            <a:prstDash val="solid"/>
          </a:ln>
        </p:spPr>
      </p:sp>
      <p:sp>
        <p:nvSpPr>
          <p:cNvPr id="11" name="Shape 9"/>
          <p:cNvSpPr/>
          <p:nvPr/>
        </p:nvSpPr>
        <p:spPr>
          <a:xfrm flipV="1">
            <a:off x="1899666" y="1570482"/>
            <a:ext cx="864108" cy="246888"/>
          </a:xfrm>
          <a:prstGeom prst="line">
            <a:avLst/>
          </a:prstGeom>
          <a:noFill/>
          <a:ln w="11430">
            <a:solidFill>
              <a:srgbClr val="E7C9C6"/>
            </a:solidFill>
            <a:prstDash val="solid"/>
          </a:ln>
        </p:spPr>
      </p:sp>
      <p:sp>
        <p:nvSpPr>
          <p:cNvPr id="12" name="Shape 10"/>
          <p:cNvSpPr/>
          <p:nvPr/>
        </p:nvSpPr>
        <p:spPr>
          <a:xfrm flipV="1">
            <a:off x="233172" y="459486"/>
            <a:ext cx="1110996" cy="61722"/>
          </a:xfrm>
          <a:prstGeom prst="line">
            <a:avLst/>
          </a:prstGeom>
          <a:noFill/>
          <a:ln w="11430">
            <a:solidFill>
              <a:srgbClr val="E7C9C6"/>
            </a:solidFill>
            <a:prstDash val="solid"/>
          </a:ln>
        </p:spPr>
      </p:sp>
      <p:sp>
        <p:nvSpPr>
          <p:cNvPr id="13" name="Shape 11"/>
          <p:cNvSpPr/>
          <p:nvPr/>
        </p:nvSpPr>
        <p:spPr>
          <a:xfrm>
            <a:off x="233172" y="521208"/>
            <a:ext cx="185166" cy="802386"/>
          </a:xfrm>
          <a:prstGeom prst="line">
            <a:avLst/>
          </a:prstGeom>
          <a:noFill/>
          <a:ln w="11430">
            <a:solidFill>
              <a:srgbClr val="E7C9C6"/>
            </a:solidFill>
            <a:prstDash val="solid"/>
          </a:ln>
        </p:spPr>
      </p:sp>
      <p:sp>
        <p:nvSpPr>
          <p:cNvPr id="14" name="Shape 12"/>
          <p:cNvSpPr/>
          <p:nvPr/>
        </p:nvSpPr>
        <p:spPr>
          <a:xfrm>
            <a:off x="726948" y="2372868"/>
            <a:ext cx="493776" cy="678942"/>
          </a:xfrm>
          <a:prstGeom prst="line">
            <a:avLst/>
          </a:prstGeom>
          <a:noFill/>
          <a:ln w="11430">
            <a:solidFill>
              <a:srgbClr val="E7C9C6"/>
            </a:solidFill>
            <a:prstDash val="solid"/>
          </a:ln>
        </p:spPr>
      </p:sp>
      <p:sp>
        <p:nvSpPr>
          <p:cNvPr id="15" name="Shape 13"/>
          <p:cNvSpPr/>
          <p:nvPr/>
        </p:nvSpPr>
        <p:spPr>
          <a:xfrm flipV="1">
            <a:off x="171450" y="3051810"/>
            <a:ext cx="1049274" cy="432054"/>
          </a:xfrm>
          <a:prstGeom prst="line">
            <a:avLst/>
          </a:prstGeom>
          <a:noFill/>
          <a:ln w="11430">
            <a:solidFill>
              <a:srgbClr val="E7C9C6"/>
            </a:solidFill>
            <a:prstDash val="solid"/>
          </a:ln>
        </p:spPr>
      </p:sp>
      <p:sp>
        <p:nvSpPr>
          <p:cNvPr id="16" name="Shape 14"/>
          <p:cNvSpPr/>
          <p:nvPr/>
        </p:nvSpPr>
        <p:spPr>
          <a:xfrm flipV="1">
            <a:off x="171450" y="2372868"/>
            <a:ext cx="555498" cy="1110996"/>
          </a:xfrm>
          <a:prstGeom prst="line">
            <a:avLst/>
          </a:prstGeom>
          <a:noFill/>
          <a:ln w="11430">
            <a:solidFill>
              <a:srgbClr val="E7C9C6"/>
            </a:solidFill>
            <a:prstDash val="solid"/>
          </a:ln>
        </p:spPr>
      </p:sp>
      <p:sp>
        <p:nvSpPr>
          <p:cNvPr id="17" name="Shape 15"/>
          <p:cNvSpPr/>
          <p:nvPr/>
        </p:nvSpPr>
        <p:spPr>
          <a:xfrm flipV="1">
            <a:off x="1220724" y="1817370"/>
            <a:ext cx="678942" cy="1234440"/>
          </a:xfrm>
          <a:prstGeom prst="line">
            <a:avLst/>
          </a:prstGeom>
          <a:noFill/>
          <a:ln w="11430">
            <a:solidFill>
              <a:srgbClr val="E7C9C6"/>
            </a:solidFill>
            <a:prstDash val="solid"/>
          </a:ln>
        </p:spPr>
      </p:sp>
      <p:sp>
        <p:nvSpPr>
          <p:cNvPr id="18" name="Shape 16"/>
          <p:cNvSpPr/>
          <p:nvPr/>
        </p:nvSpPr>
        <p:spPr>
          <a:xfrm>
            <a:off x="3525012" y="294894"/>
            <a:ext cx="82296" cy="82296"/>
          </a:xfrm>
          <a:prstGeom prst="ellipse">
            <a:avLst/>
          </a:prstGeom>
          <a:solidFill>
            <a:srgbClr val="8A2522"/>
          </a:solidFill>
          <a:ln w="11430">
            <a:solidFill>
              <a:srgbClr val="E7C9C6"/>
            </a:solidFill>
            <a:prstDash val="solid"/>
          </a:ln>
        </p:spPr>
      </p:sp>
      <p:sp>
        <p:nvSpPr>
          <p:cNvPr id="19" name="Shape 17"/>
          <p:cNvSpPr/>
          <p:nvPr/>
        </p:nvSpPr>
        <p:spPr>
          <a:xfrm>
            <a:off x="2414016" y="850392"/>
            <a:ext cx="82296" cy="82296"/>
          </a:xfrm>
          <a:prstGeom prst="ellipse">
            <a:avLst/>
          </a:prstGeom>
          <a:solidFill>
            <a:srgbClr val="8A2522"/>
          </a:solidFill>
          <a:ln w="11430">
            <a:solidFill>
              <a:srgbClr val="E7C9C6"/>
            </a:solidFill>
            <a:prstDash val="solid"/>
          </a:ln>
        </p:spPr>
      </p:sp>
      <p:sp>
        <p:nvSpPr>
          <p:cNvPr id="20" name="Shape 18"/>
          <p:cNvSpPr/>
          <p:nvPr/>
        </p:nvSpPr>
        <p:spPr>
          <a:xfrm>
            <a:off x="1303020" y="418338"/>
            <a:ext cx="82296" cy="82296"/>
          </a:xfrm>
          <a:prstGeom prst="ellipse">
            <a:avLst/>
          </a:prstGeom>
          <a:solidFill>
            <a:srgbClr val="8A2522"/>
          </a:solidFill>
          <a:ln w="11430">
            <a:solidFill>
              <a:srgbClr val="E7C9C6"/>
            </a:solidFill>
            <a:prstDash val="solid"/>
          </a:ln>
        </p:spPr>
      </p:sp>
      <p:sp>
        <p:nvSpPr>
          <p:cNvPr id="21" name="Shape 19"/>
          <p:cNvSpPr/>
          <p:nvPr/>
        </p:nvSpPr>
        <p:spPr>
          <a:xfrm>
            <a:off x="377190" y="1282446"/>
            <a:ext cx="82296" cy="82296"/>
          </a:xfrm>
          <a:prstGeom prst="ellipse">
            <a:avLst/>
          </a:prstGeom>
          <a:solidFill>
            <a:srgbClr val="8A2522"/>
          </a:solidFill>
          <a:ln w="11430">
            <a:solidFill>
              <a:srgbClr val="E7C9C6"/>
            </a:solidFill>
            <a:prstDash val="solid"/>
          </a:ln>
        </p:spPr>
      </p:sp>
      <p:sp>
        <p:nvSpPr>
          <p:cNvPr id="22" name="Shape 20"/>
          <p:cNvSpPr/>
          <p:nvPr/>
        </p:nvSpPr>
        <p:spPr>
          <a:xfrm>
            <a:off x="1858518" y="1776222"/>
            <a:ext cx="82296" cy="82296"/>
          </a:xfrm>
          <a:prstGeom prst="ellipse">
            <a:avLst/>
          </a:prstGeom>
          <a:solidFill>
            <a:srgbClr val="8A2522"/>
          </a:solidFill>
          <a:ln w="11430">
            <a:solidFill>
              <a:srgbClr val="E7C9C6"/>
            </a:solidFill>
            <a:prstDash val="solid"/>
          </a:ln>
        </p:spPr>
      </p:sp>
      <p:sp>
        <p:nvSpPr>
          <p:cNvPr id="23" name="Shape 21"/>
          <p:cNvSpPr/>
          <p:nvPr/>
        </p:nvSpPr>
        <p:spPr>
          <a:xfrm>
            <a:off x="685800" y="2331720"/>
            <a:ext cx="82296" cy="82296"/>
          </a:xfrm>
          <a:prstGeom prst="ellipse">
            <a:avLst/>
          </a:prstGeom>
          <a:solidFill>
            <a:srgbClr val="8A2522"/>
          </a:solidFill>
          <a:ln w="11430">
            <a:solidFill>
              <a:srgbClr val="E7C9C6"/>
            </a:solidFill>
            <a:prstDash val="solid"/>
          </a:ln>
        </p:spPr>
      </p:sp>
      <p:sp>
        <p:nvSpPr>
          <p:cNvPr id="24" name="Shape 22"/>
          <p:cNvSpPr/>
          <p:nvPr/>
        </p:nvSpPr>
        <p:spPr>
          <a:xfrm>
            <a:off x="2722626" y="1529334"/>
            <a:ext cx="82296" cy="82296"/>
          </a:xfrm>
          <a:prstGeom prst="ellipse">
            <a:avLst/>
          </a:prstGeom>
          <a:solidFill>
            <a:srgbClr val="8A2522"/>
          </a:solidFill>
          <a:ln w="11430">
            <a:solidFill>
              <a:srgbClr val="E7C9C6"/>
            </a:solidFill>
            <a:prstDash val="solid"/>
          </a:ln>
        </p:spPr>
      </p:sp>
      <p:sp>
        <p:nvSpPr>
          <p:cNvPr id="25" name="Shape 23"/>
          <p:cNvSpPr/>
          <p:nvPr/>
        </p:nvSpPr>
        <p:spPr>
          <a:xfrm>
            <a:off x="192024" y="480060"/>
            <a:ext cx="82296" cy="82296"/>
          </a:xfrm>
          <a:prstGeom prst="ellipse">
            <a:avLst/>
          </a:prstGeom>
          <a:solidFill>
            <a:srgbClr val="8A2522"/>
          </a:solidFill>
          <a:ln w="11430">
            <a:solidFill>
              <a:srgbClr val="E7C9C6"/>
            </a:solidFill>
            <a:prstDash val="solid"/>
          </a:ln>
        </p:spPr>
      </p:sp>
      <p:sp>
        <p:nvSpPr>
          <p:cNvPr id="26" name="Shape 24"/>
          <p:cNvSpPr/>
          <p:nvPr/>
        </p:nvSpPr>
        <p:spPr>
          <a:xfrm>
            <a:off x="1179576" y="3010662"/>
            <a:ext cx="82296" cy="82296"/>
          </a:xfrm>
          <a:prstGeom prst="ellipse">
            <a:avLst/>
          </a:prstGeom>
          <a:solidFill>
            <a:srgbClr val="8A2522"/>
          </a:solidFill>
          <a:ln w="11430">
            <a:solidFill>
              <a:srgbClr val="E7C9C6"/>
            </a:solidFill>
            <a:prstDash val="solid"/>
          </a:ln>
        </p:spPr>
      </p:sp>
      <p:sp>
        <p:nvSpPr>
          <p:cNvPr id="27" name="Shape 25"/>
          <p:cNvSpPr/>
          <p:nvPr/>
        </p:nvSpPr>
        <p:spPr>
          <a:xfrm>
            <a:off x="130302" y="3442716"/>
            <a:ext cx="82296" cy="82296"/>
          </a:xfrm>
          <a:prstGeom prst="ellipse">
            <a:avLst/>
          </a:prstGeom>
          <a:solidFill>
            <a:srgbClr val="8A2522"/>
          </a:solidFill>
          <a:ln w="11430">
            <a:solidFill>
              <a:srgbClr val="E7C9C6"/>
            </a:solidFill>
            <a:prstDash val="solid"/>
          </a:ln>
        </p:spPr>
      </p:sp>
      <p:sp>
        <p:nvSpPr>
          <p:cNvPr id="28" name="Shape 26"/>
          <p:cNvSpPr/>
          <p:nvPr/>
        </p:nvSpPr>
        <p:spPr>
          <a:xfrm>
            <a:off x="11020349" y="6163056"/>
            <a:ext cx="592531" cy="296266"/>
          </a:xfrm>
          <a:prstGeom prst="line">
            <a:avLst/>
          </a:prstGeom>
          <a:noFill/>
          <a:ln w="11430">
            <a:solidFill>
              <a:srgbClr val="E7C9C6"/>
            </a:solidFill>
            <a:prstDash val="solid"/>
          </a:ln>
        </p:spPr>
      </p:sp>
      <p:sp>
        <p:nvSpPr>
          <p:cNvPr id="29" name="Shape 27"/>
          <p:cNvSpPr/>
          <p:nvPr/>
        </p:nvSpPr>
        <p:spPr>
          <a:xfrm flipV="1">
            <a:off x="10427818" y="6163056"/>
            <a:ext cx="592531" cy="230429"/>
          </a:xfrm>
          <a:prstGeom prst="line">
            <a:avLst/>
          </a:prstGeom>
          <a:noFill/>
          <a:ln w="11430">
            <a:solidFill>
              <a:srgbClr val="E7C9C6"/>
            </a:solidFill>
            <a:prstDash val="solid"/>
          </a:ln>
        </p:spPr>
      </p:sp>
      <p:sp>
        <p:nvSpPr>
          <p:cNvPr id="30" name="Shape 28"/>
          <p:cNvSpPr/>
          <p:nvPr/>
        </p:nvSpPr>
        <p:spPr>
          <a:xfrm>
            <a:off x="9934042" y="5932627"/>
            <a:ext cx="493776" cy="460858"/>
          </a:xfrm>
          <a:prstGeom prst="line">
            <a:avLst/>
          </a:prstGeom>
          <a:noFill/>
          <a:ln w="11430">
            <a:solidFill>
              <a:srgbClr val="E7C9C6"/>
            </a:solidFill>
            <a:prstDash val="solid"/>
          </a:ln>
        </p:spPr>
      </p:sp>
      <p:sp>
        <p:nvSpPr>
          <p:cNvPr id="31" name="Shape 29"/>
          <p:cNvSpPr/>
          <p:nvPr/>
        </p:nvSpPr>
        <p:spPr>
          <a:xfrm>
            <a:off x="10724083" y="5669280"/>
            <a:ext cx="296266" cy="493776"/>
          </a:xfrm>
          <a:prstGeom prst="line">
            <a:avLst/>
          </a:prstGeom>
          <a:noFill/>
          <a:ln w="11430">
            <a:solidFill>
              <a:srgbClr val="E7C9C6"/>
            </a:solidFill>
            <a:prstDash val="solid"/>
          </a:ln>
        </p:spPr>
      </p:sp>
      <p:sp>
        <p:nvSpPr>
          <p:cNvPr id="32" name="Shape 30"/>
          <p:cNvSpPr/>
          <p:nvPr/>
        </p:nvSpPr>
        <p:spPr>
          <a:xfrm flipV="1">
            <a:off x="9934042" y="5669280"/>
            <a:ext cx="790042" cy="263347"/>
          </a:xfrm>
          <a:prstGeom prst="line">
            <a:avLst/>
          </a:prstGeom>
          <a:noFill/>
          <a:ln w="11430">
            <a:solidFill>
              <a:srgbClr val="E7C9C6"/>
            </a:solidFill>
            <a:prstDash val="solid"/>
          </a:ln>
        </p:spPr>
      </p:sp>
      <p:sp>
        <p:nvSpPr>
          <p:cNvPr id="33" name="Shape 31"/>
          <p:cNvSpPr/>
          <p:nvPr/>
        </p:nvSpPr>
        <p:spPr>
          <a:xfrm>
            <a:off x="10098634" y="5373014"/>
            <a:ext cx="625450" cy="296266"/>
          </a:xfrm>
          <a:prstGeom prst="line">
            <a:avLst/>
          </a:prstGeom>
          <a:noFill/>
          <a:ln w="11430">
            <a:solidFill>
              <a:srgbClr val="E7C9C6"/>
            </a:solidFill>
            <a:prstDash val="solid"/>
          </a:ln>
        </p:spPr>
      </p:sp>
      <p:sp>
        <p:nvSpPr>
          <p:cNvPr id="34" name="Shape 32"/>
          <p:cNvSpPr/>
          <p:nvPr/>
        </p:nvSpPr>
        <p:spPr>
          <a:xfrm flipV="1">
            <a:off x="9934042" y="5373014"/>
            <a:ext cx="164592" cy="559613"/>
          </a:xfrm>
          <a:prstGeom prst="line">
            <a:avLst/>
          </a:prstGeom>
          <a:noFill/>
          <a:ln w="11430">
            <a:solidFill>
              <a:srgbClr val="E7C9C6"/>
            </a:solidFill>
            <a:prstDash val="solid"/>
          </a:ln>
        </p:spPr>
      </p:sp>
      <p:sp>
        <p:nvSpPr>
          <p:cNvPr id="35" name="Shape 33"/>
          <p:cNvSpPr/>
          <p:nvPr/>
        </p:nvSpPr>
        <p:spPr>
          <a:xfrm flipV="1">
            <a:off x="11020349" y="5800954"/>
            <a:ext cx="164592" cy="362102"/>
          </a:xfrm>
          <a:prstGeom prst="line">
            <a:avLst/>
          </a:prstGeom>
          <a:noFill/>
          <a:ln w="11430">
            <a:solidFill>
              <a:srgbClr val="E7C9C6"/>
            </a:solidFill>
            <a:prstDash val="solid"/>
          </a:ln>
        </p:spPr>
      </p:sp>
      <p:sp>
        <p:nvSpPr>
          <p:cNvPr id="36" name="Shape 34"/>
          <p:cNvSpPr/>
          <p:nvPr/>
        </p:nvSpPr>
        <p:spPr>
          <a:xfrm>
            <a:off x="10724083" y="5669280"/>
            <a:ext cx="460858" cy="131674"/>
          </a:xfrm>
          <a:prstGeom prst="line">
            <a:avLst/>
          </a:prstGeom>
          <a:noFill/>
          <a:ln w="11430">
            <a:solidFill>
              <a:srgbClr val="E7C9C6"/>
            </a:solidFill>
            <a:prstDash val="solid"/>
          </a:ln>
        </p:spPr>
      </p:sp>
      <p:sp>
        <p:nvSpPr>
          <p:cNvPr id="37" name="Shape 35"/>
          <p:cNvSpPr/>
          <p:nvPr/>
        </p:nvSpPr>
        <p:spPr>
          <a:xfrm>
            <a:off x="9835286" y="6360566"/>
            <a:ext cx="592531" cy="32918"/>
          </a:xfrm>
          <a:prstGeom prst="line">
            <a:avLst/>
          </a:prstGeom>
          <a:noFill/>
          <a:ln w="11430">
            <a:solidFill>
              <a:srgbClr val="E7C9C6"/>
            </a:solidFill>
            <a:prstDash val="solid"/>
          </a:ln>
        </p:spPr>
      </p:sp>
      <p:sp>
        <p:nvSpPr>
          <p:cNvPr id="38" name="Shape 36"/>
          <p:cNvSpPr/>
          <p:nvPr/>
        </p:nvSpPr>
        <p:spPr>
          <a:xfrm flipV="1">
            <a:off x="9835286" y="5932627"/>
            <a:ext cx="98755" cy="427939"/>
          </a:xfrm>
          <a:prstGeom prst="line">
            <a:avLst/>
          </a:prstGeom>
          <a:noFill/>
          <a:ln w="11430">
            <a:solidFill>
              <a:srgbClr val="E7C9C6"/>
            </a:solidFill>
            <a:prstDash val="solid"/>
          </a:ln>
        </p:spPr>
      </p:sp>
      <p:sp>
        <p:nvSpPr>
          <p:cNvPr id="39" name="Shape 37"/>
          <p:cNvSpPr/>
          <p:nvPr/>
        </p:nvSpPr>
        <p:spPr>
          <a:xfrm flipV="1">
            <a:off x="10098634" y="5010912"/>
            <a:ext cx="263347" cy="362102"/>
          </a:xfrm>
          <a:prstGeom prst="line">
            <a:avLst/>
          </a:prstGeom>
          <a:noFill/>
          <a:ln w="11430">
            <a:solidFill>
              <a:srgbClr val="E7C9C6"/>
            </a:solidFill>
            <a:prstDash val="solid"/>
          </a:ln>
        </p:spPr>
      </p:sp>
      <p:sp>
        <p:nvSpPr>
          <p:cNvPr id="40" name="Shape 38"/>
          <p:cNvSpPr/>
          <p:nvPr/>
        </p:nvSpPr>
        <p:spPr>
          <a:xfrm>
            <a:off x="9802368" y="4780483"/>
            <a:ext cx="559613" cy="230429"/>
          </a:xfrm>
          <a:prstGeom prst="line">
            <a:avLst/>
          </a:prstGeom>
          <a:noFill/>
          <a:ln w="11430">
            <a:solidFill>
              <a:srgbClr val="E7C9C6"/>
            </a:solidFill>
            <a:prstDash val="solid"/>
          </a:ln>
        </p:spPr>
      </p:sp>
      <p:sp>
        <p:nvSpPr>
          <p:cNvPr id="41" name="Shape 39"/>
          <p:cNvSpPr/>
          <p:nvPr/>
        </p:nvSpPr>
        <p:spPr>
          <a:xfrm>
            <a:off x="9802368" y="4780483"/>
            <a:ext cx="296266" cy="592531"/>
          </a:xfrm>
          <a:prstGeom prst="line">
            <a:avLst/>
          </a:prstGeom>
          <a:noFill/>
          <a:ln w="11430">
            <a:solidFill>
              <a:srgbClr val="E7C9C6"/>
            </a:solidFill>
            <a:prstDash val="solid"/>
          </a:ln>
        </p:spPr>
      </p:sp>
      <p:sp>
        <p:nvSpPr>
          <p:cNvPr id="42" name="Shape 40"/>
          <p:cNvSpPr/>
          <p:nvPr/>
        </p:nvSpPr>
        <p:spPr>
          <a:xfrm>
            <a:off x="10361981" y="5010912"/>
            <a:ext cx="362102" cy="658368"/>
          </a:xfrm>
          <a:prstGeom prst="line">
            <a:avLst/>
          </a:prstGeom>
          <a:noFill/>
          <a:ln w="11430">
            <a:solidFill>
              <a:srgbClr val="E7C9C6"/>
            </a:solidFill>
            <a:prstDash val="solid"/>
          </a:ln>
        </p:spPr>
      </p:sp>
      <p:sp>
        <p:nvSpPr>
          <p:cNvPr id="43" name="Shape 41"/>
          <p:cNvSpPr/>
          <p:nvPr/>
        </p:nvSpPr>
        <p:spPr>
          <a:xfrm>
            <a:off x="11571732" y="6418174"/>
            <a:ext cx="82296" cy="82296"/>
          </a:xfrm>
          <a:prstGeom prst="ellipse">
            <a:avLst/>
          </a:prstGeom>
          <a:solidFill>
            <a:srgbClr val="8A2522"/>
          </a:solidFill>
          <a:ln w="11430">
            <a:solidFill>
              <a:srgbClr val="E7C9C6"/>
            </a:solidFill>
            <a:prstDash val="solid"/>
          </a:ln>
        </p:spPr>
      </p:sp>
      <p:sp>
        <p:nvSpPr>
          <p:cNvPr id="44" name="Shape 42"/>
          <p:cNvSpPr/>
          <p:nvPr/>
        </p:nvSpPr>
        <p:spPr>
          <a:xfrm>
            <a:off x="10979201" y="6121908"/>
            <a:ext cx="82296" cy="82296"/>
          </a:xfrm>
          <a:prstGeom prst="ellipse">
            <a:avLst/>
          </a:prstGeom>
          <a:solidFill>
            <a:srgbClr val="8A2522"/>
          </a:solidFill>
          <a:ln w="11430">
            <a:solidFill>
              <a:srgbClr val="E7C9C6"/>
            </a:solidFill>
            <a:prstDash val="solid"/>
          </a:ln>
        </p:spPr>
      </p:sp>
      <p:sp>
        <p:nvSpPr>
          <p:cNvPr id="45" name="Shape 43"/>
          <p:cNvSpPr/>
          <p:nvPr/>
        </p:nvSpPr>
        <p:spPr>
          <a:xfrm>
            <a:off x="10386670" y="6352337"/>
            <a:ext cx="82296" cy="82296"/>
          </a:xfrm>
          <a:prstGeom prst="ellipse">
            <a:avLst/>
          </a:prstGeom>
          <a:solidFill>
            <a:srgbClr val="8A2522"/>
          </a:solidFill>
          <a:ln w="11430">
            <a:solidFill>
              <a:srgbClr val="E7C9C6"/>
            </a:solidFill>
            <a:prstDash val="solid"/>
          </a:ln>
        </p:spPr>
      </p:sp>
      <p:sp>
        <p:nvSpPr>
          <p:cNvPr id="46" name="Shape 44"/>
          <p:cNvSpPr/>
          <p:nvPr/>
        </p:nvSpPr>
        <p:spPr>
          <a:xfrm>
            <a:off x="9892894" y="5891479"/>
            <a:ext cx="82296" cy="82296"/>
          </a:xfrm>
          <a:prstGeom prst="ellipse">
            <a:avLst/>
          </a:prstGeom>
          <a:solidFill>
            <a:srgbClr val="8A2522"/>
          </a:solidFill>
          <a:ln w="11430">
            <a:solidFill>
              <a:srgbClr val="E7C9C6"/>
            </a:solidFill>
            <a:prstDash val="solid"/>
          </a:ln>
        </p:spPr>
      </p:sp>
      <p:sp>
        <p:nvSpPr>
          <p:cNvPr id="47" name="Shape 45"/>
          <p:cNvSpPr/>
          <p:nvPr/>
        </p:nvSpPr>
        <p:spPr>
          <a:xfrm>
            <a:off x="10682935" y="5628132"/>
            <a:ext cx="82296" cy="82296"/>
          </a:xfrm>
          <a:prstGeom prst="ellipse">
            <a:avLst/>
          </a:prstGeom>
          <a:solidFill>
            <a:srgbClr val="8A2522"/>
          </a:solidFill>
          <a:ln w="11430">
            <a:solidFill>
              <a:srgbClr val="E7C9C6"/>
            </a:solidFill>
            <a:prstDash val="solid"/>
          </a:ln>
        </p:spPr>
      </p:sp>
      <p:sp>
        <p:nvSpPr>
          <p:cNvPr id="48" name="Shape 46"/>
          <p:cNvSpPr/>
          <p:nvPr/>
        </p:nvSpPr>
        <p:spPr>
          <a:xfrm>
            <a:off x="10057486" y="5331866"/>
            <a:ext cx="82296" cy="82296"/>
          </a:xfrm>
          <a:prstGeom prst="ellipse">
            <a:avLst/>
          </a:prstGeom>
          <a:solidFill>
            <a:srgbClr val="8A2522"/>
          </a:solidFill>
          <a:ln w="11430">
            <a:solidFill>
              <a:srgbClr val="E7C9C6"/>
            </a:solidFill>
            <a:prstDash val="solid"/>
          </a:ln>
        </p:spPr>
      </p:sp>
      <p:sp>
        <p:nvSpPr>
          <p:cNvPr id="49" name="Shape 47"/>
          <p:cNvSpPr/>
          <p:nvPr/>
        </p:nvSpPr>
        <p:spPr>
          <a:xfrm>
            <a:off x="11143793" y="5759806"/>
            <a:ext cx="82296" cy="82296"/>
          </a:xfrm>
          <a:prstGeom prst="ellipse">
            <a:avLst/>
          </a:prstGeom>
          <a:solidFill>
            <a:srgbClr val="8A2522"/>
          </a:solidFill>
          <a:ln w="11430">
            <a:solidFill>
              <a:srgbClr val="E7C9C6"/>
            </a:solidFill>
            <a:prstDash val="solid"/>
          </a:ln>
        </p:spPr>
      </p:sp>
      <p:sp>
        <p:nvSpPr>
          <p:cNvPr id="50" name="Shape 48"/>
          <p:cNvSpPr/>
          <p:nvPr/>
        </p:nvSpPr>
        <p:spPr>
          <a:xfrm>
            <a:off x="9794138" y="6319418"/>
            <a:ext cx="82296" cy="82296"/>
          </a:xfrm>
          <a:prstGeom prst="ellipse">
            <a:avLst/>
          </a:prstGeom>
          <a:solidFill>
            <a:srgbClr val="8A2522"/>
          </a:solidFill>
          <a:ln w="11430">
            <a:solidFill>
              <a:srgbClr val="E7C9C6"/>
            </a:solidFill>
            <a:prstDash val="solid"/>
          </a:ln>
        </p:spPr>
      </p:sp>
      <p:sp>
        <p:nvSpPr>
          <p:cNvPr id="51" name="Shape 49"/>
          <p:cNvSpPr/>
          <p:nvPr/>
        </p:nvSpPr>
        <p:spPr>
          <a:xfrm>
            <a:off x="10320833" y="4969764"/>
            <a:ext cx="82296" cy="82296"/>
          </a:xfrm>
          <a:prstGeom prst="ellipse">
            <a:avLst/>
          </a:prstGeom>
          <a:solidFill>
            <a:srgbClr val="8A2522"/>
          </a:solidFill>
          <a:ln w="11430">
            <a:solidFill>
              <a:srgbClr val="E7C9C6"/>
            </a:solidFill>
            <a:prstDash val="solid"/>
          </a:ln>
        </p:spPr>
      </p:sp>
      <p:sp>
        <p:nvSpPr>
          <p:cNvPr id="52" name="Shape 50"/>
          <p:cNvSpPr/>
          <p:nvPr/>
        </p:nvSpPr>
        <p:spPr>
          <a:xfrm>
            <a:off x="9761220" y="4739335"/>
            <a:ext cx="82296" cy="82296"/>
          </a:xfrm>
          <a:prstGeom prst="ellipse">
            <a:avLst/>
          </a:prstGeom>
          <a:solidFill>
            <a:srgbClr val="8A2522"/>
          </a:solidFill>
          <a:ln w="11430">
            <a:solidFill>
              <a:srgbClr val="E7C9C6"/>
            </a:solidFill>
            <a:prstDash val="solid"/>
          </a:ln>
        </p:spPr>
      </p:sp>
      <p:sp>
        <p:nvSpPr>
          <p:cNvPr id="53" name="Text 51"/>
          <p:cNvSpPr txBox="1"/>
          <p:nvPr/>
        </p:nvSpPr>
        <p:spPr>
          <a:xfrm>
            <a:off x="7680960" y="1600200"/>
            <a:ext cx="3657600" cy="1280160"/>
          </a:xfrm>
          <a:prstGeom prst="rect">
            <a:avLst/>
          </a:prstGeom>
          <a:noFill/>
          <a:ln/>
        </p:spPr>
        <p:txBody>
          <a:bodyPr wrap="square" lIns="0" tIns="0" rIns="0" bIns="0" rtlCol="0" anchor="ctr"/>
          <a:lstStyle/>
          <a:p>
            <a:pPr algn="r" indent="0" marL="0">
              <a:buNone/>
            </a:pPr>
            <a:r>
              <a:rPr lang="en-US" sz="8800" b="1" dirty="0">
                <a:solidFill>
                  <a:srgbClr val="E7C9C6"/>
                </a:solidFill>
                <a:latin typeface="Arial" pitchFamily="34" charset="0"/>
                <a:ea typeface="Arial" pitchFamily="34" charset="-122"/>
                <a:cs typeface="Arial" pitchFamily="34" charset="-120"/>
              </a:rPr>
              <a:t>03</a:t>
            </a:r>
            <a:endParaRPr lang="en-US" sz="8800" dirty="0"/>
          </a:p>
        </p:txBody>
      </p:sp>
      <p:sp>
        <p:nvSpPr>
          <p:cNvPr id="54" name="Text 52"/>
          <p:cNvSpPr txBox="1"/>
          <p:nvPr/>
        </p:nvSpPr>
        <p:spPr>
          <a:xfrm>
            <a:off x="1371600" y="2926080"/>
            <a:ext cx="9966960" cy="914400"/>
          </a:xfrm>
          <a:prstGeom prst="rect">
            <a:avLst/>
          </a:prstGeom>
          <a:noFill/>
          <a:ln/>
        </p:spPr>
        <p:txBody>
          <a:bodyPr wrap="square" lIns="0" tIns="0" rIns="0" bIns="0" rtlCol="0" anchor="ctr"/>
          <a:lstStyle/>
          <a:p>
            <a:pPr rtl="1" algn="r" indent="0" marL="0">
              <a:buNone/>
            </a:pPr>
            <a:r>
              <a:rPr lang="ar-EG" altLang="en-US" sz="4000" b="1" dirty="0">
                <a:solidFill>
                  <a:srgbClr val="FFFFFF"/>
                </a:solidFill>
                <a:latin typeface="Arial" pitchFamily="34" charset="0"/>
                <a:ea typeface="Arial" pitchFamily="34" charset="-122"/>
                <a:cs typeface="Arial" pitchFamily="34" charset="-120"/>
              </a:rPr>
              <a:t>المنهجية</a:t>
            </a:r>
            <a:endParaRPr lang="ar-EG" sz="4000" dirty="0"/>
          </a:p>
        </p:txBody>
      </p:sp>
      <p:sp>
        <p:nvSpPr>
          <p:cNvPr id="55" name="Text 53"/>
          <p:cNvSpPr txBox="1"/>
          <p:nvPr/>
        </p:nvSpPr>
        <p:spPr>
          <a:xfrm>
            <a:off x="1371600" y="3886200"/>
            <a:ext cx="9966960" cy="822960"/>
          </a:xfrm>
          <a:prstGeom prst="rect">
            <a:avLst/>
          </a:prstGeom>
          <a:noFill/>
          <a:ln/>
        </p:spPr>
        <p:txBody>
          <a:bodyPr wrap="square" lIns="0" tIns="0" rIns="0" bIns="0" rtlCol="0" anchor="t"/>
          <a:lstStyle/>
          <a:p>
            <a:pPr rtl="1" algn="r" indent="0" marL="0">
              <a:buNone/>
            </a:pPr>
            <a:r>
              <a:rPr lang="ar-EG" altLang="en-US" sz="1800" dirty="0">
                <a:solidFill>
                  <a:srgbClr val="F3E3E1"/>
                </a:solidFill>
                <a:latin typeface="Arial" pitchFamily="34" charset="0"/>
                <a:ea typeface="Arial" pitchFamily="34" charset="-122"/>
                <a:cs typeface="Arial" pitchFamily="34" charset="-120"/>
              </a:rPr>
              <a:t>نعيد البناء ← نوحّد البيئة ← نصلّح ← نصمم ← نختبر</a:t>
            </a:r>
            <a:endParaRPr lang="ar-EG"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خطوات البحث</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23</a:t>
            </a:r>
            <a:endParaRPr lang="en-US" sz="1000" dirty="0"/>
          </a:p>
        </p:txBody>
      </p:sp>
      <p:sp>
        <p:nvSpPr>
          <p:cNvPr id="20" name="Shape 17"/>
          <p:cNvSpPr/>
          <p:nvPr/>
        </p:nvSpPr>
        <p:spPr>
          <a:xfrm>
            <a:off x="10149840" y="1600200"/>
            <a:ext cx="1280160" cy="1417320"/>
          </a:xfrm>
          <a:prstGeom prst="roundRect">
            <a:avLst>
              <a:gd name="adj" fmla="val 7143"/>
            </a:avLst>
          </a:prstGeom>
          <a:solidFill>
            <a:srgbClr val="FFFFFF"/>
          </a:solidFill>
          <a:ln w="12700">
            <a:solidFill>
              <a:srgbClr val="D6D3C7"/>
            </a:solidFill>
            <a:prstDash val="solid"/>
          </a:ln>
        </p:spPr>
      </p:sp>
      <p:sp>
        <p:nvSpPr>
          <p:cNvPr id="21" name="Text 18"/>
          <p:cNvSpPr txBox="1"/>
          <p:nvPr/>
        </p:nvSpPr>
        <p:spPr>
          <a:xfrm>
            <a:off x="10222992" y="1655064"/>
            <a:ext cx="1133856" cy="1307592"/>
          </a:xfrm>
          <a:prstGeom prst="rect">
            <a:avLst/>
          </a:prstGeom>
          <a:noFill/>
          <a:ln/>
        </p:spPr>
        <p:txBody>
          <a:bodyPr wrap="square" lIns="0" tIns="0" rIns="0" bIns="0" rtlCol="0" anchor="ctr"/>
          <a:lstStyle/>
          <a:p>
            <a:pPr algn="ctr" indent="0" marL="0">
              <a:buNone/>
            </a:pPr>
            <a:r>
              <a:rPr lang="ar-EG" altLang="en-US" sz="2200" b="1" dirty="0">
                <a:solidFill>
                  <a:srgbClr val="8A2522"/>
                </a:solidFill>
                <a:latin typeface="Arial" pitchFamily="34" charset="0"/>
                <a:ea typeface="Arial" pitchFamily="34" charset="-122"/>
                <a:cs typeface="Arial" pitchFamily="34" charset="-120"/>
              </a:rPr>
              <a:t>1</a:t>
            </a:r>
            <a:endParaRPr lang="ar-EG" sz="2200" dirty="0"/>
          </a:p>
          <a:p>
            <a:pPr algn="ctr" indent="0" marL="0">
              <a:buNone/>
            </a:pPr>
            <a:r>
              <a:rPr lang="ar-EG" altLang="en-US" sz="1250" dirty="0">
                <a:solidFill>
                  <a:srgbClr val="323232"/>
                </a:solidFill>
                <a:latin typeface="Arial" pitchFamily="34" charset="0"/>
                <a:ea typeface="Arial" pitchFamily="34" charset="-122"/>
                <a:cs typeface="Arial" pitchFamily="34" charset="-120"/>
              </a:rPr>
              <a:t>قراءة الأبحاث</a:t>
            </a:r>
            <a:endParaRPr lang="ar-EG" sz="2200" dirty="0"/>
          </a:p>
        </p:txBody>
      </p:sp>
      <p:sp>
        <p:nvSpPr>
          <p:cNvPr id="22" name="Shape 19"/>
          <p:cNvSpPr/>
          <p:nvPr/>
        </p:nvSpPr>
        <p:spPr>
          <a:xfrm>
            <a:off x="9916668" y="2208276"/>
            <a:ext cx="192024" cy="201168"/>
          </a:xfrm>
          <a:prstGeom prst="leftArrow">
            <a:avLst/>
          </a:prstGeom>
          <a:solidFill>
            <a:srgbClr val="8A2522"/>
          </a:solidFill>
          <a:ln w="12700">
            <a:solidFill>
              <a:srgbClr val="8A2522"/>
            </a:solidFill>
            <a:prstDash val="solid"/>
          </a:ln>
        </p:spPr>
      </p:sp>
      <p:sp>
        <p:nvSpPr>
          <p:cNvPr id="23" name="Shape 20"/>
          <p:cNvSpPr/>
          <p:nvPr/>
        </p:nvSpPr>
        <p:spPr>
          <a:xfrm>
            <a:off x="8595360" y="1600200"/>
            <a:ext cx="1280160" cy="1417320"/>
          </a:xfrm>
          <a:prstGeom prst="roundRect">
            <a:avLst>
              <a:gd name="adj" fmla="val 7143"/>
            </a:avLst>
          </a:prstGeom>
          <a:solidFill>
            <a:srgbClr val="FFFFFF"/>
          </a:solidFill>
          <a:ln w="12700">
            <a:solidFill>
              <a:srgbClr val="D6D3C7"/>
            </a:solidFill>
            <a:prstDash val="solid"/>
          </a:ln>
        </p:spPr>
      </p:sp>
      <p:sp>
        <p:nvSpPr>
          <p:cNvPr id="24" name="Text 21"/>
          <p:cNvSpPr txBox="1"/>
          <p:nvPr/>
        </p:nvSpPr>
        <p:spPr>
          <a:xfrm>
            <a:off x="8668512" y="1655064"/>
            <a:ext cx="1133856" cy="1307592"/>
          </a:xfrm>
          <a:prstGeom prst="rect">
            <a:avLst/>
          </a:prstGeom>
          <a:noFill/>
          <a:ln/>
        </p:spPr>
        <p:txBody>
          <a:bodyPr wrap="square" lIns="0" tIns="0" rIns="0" bIns="0" rtlCol="0" anchor="ctr"/>
          <a:lstStyle/>
          <a:p>
            <a:pPr algn="ctr" indent="0" marL="0">
              <a:buNone/>
            </a:pPr>
            <a:r>
              <a:rPr lang="ar-EG" altLang="en-US" sz="2200" b="1" dirty="0">
                <a:solidFill>
                  <a:srgbClr val="8A2522"/>
                </a:solidFill>
                <a:latin typeface="Arial" pitchFamily="34" charset="0"/>
                <a:ea typeface="Arial" pitchFamily="34" charset="-122"/>
                <a:cs typeface="Arial" pitchFamily="34" charset="-120"/>
              </a:rPr>
              <a:t>2</a:t>
            </a:r>
            <a:endParaRPr lang="ar-EG" sz="2200" dirty="0"/>
          </a:p>
          <a:p>
            <a:pPr algn="ctr" indent="0" marL="0">
              <a:buNone/>
            </a:pPr>
            <a:r>
              <a:rPr lang="ar-EG" altLang="en-US" sz="1250" dirty="0">
                <a:solidFill>
                  <a:srgbClr val="323232"/>
                </a:solidFill>
                <a:latin typeface="Arial" pitchFamily="34" charset="0"/>
                <a:ea typeface="Arial" pitchFamily="34" charset="-122"/>
                <a:cs typeface="Arial" pitchFamily="34" charset="-120"/>
              </a:rPr>
              <a:t>إعادة البناء</a:t>
            </a:r>
            <a:endParaRPr lang="ar-EG" sz="2200" dirty="0"/>
          </a:p>
        </p:txBody>
      </p:sp>
      <p:sp>
        <p:nvSpPr>
          <p:cNvPr id="25" name="Shape 22"/>
          <p:cNvSpPr/>
          <p:nvPr/>
        </p:nvSpPr>
        <p:spPr>
          <a:xfrm>
            <a:off x="8362188" y="2208276"/>
            <a:ext cx="192024" cy="201168"/>
          </a:xfrm>
          <a:prstGeom prst="leftArrow">
            <a:avLst/>
          </a:prstGeom>
          <a:solidFill>
            <a:srgbClr val="8A2522"/>
          </a:solidFill>
          <a:ln w="12700">
            <a:solidFill>
              <a:srgbClr val="8A2522"/>
            </a:solidFill>
            <a:prstDash val="solid"/>
          </a:ln>
        </p:spPr>
      </p:sp>
      <p:sp>
        <p:nvSpPr>
          <p:cNvPr id="26" name="Shape 23"/>
          <p:cNvSpPr/>
          <p:nvPr/>
        </p:nvSpPr>
        <p:spPr>
          <a:xfrm>
            <a:off x="7040880" y="1600200"/>
            <a:ext cx="1280160" cy="1417320"/>
          </a:xfrm>
          <a:prstGeom prst="roundRect">
            <a:avLst>
              <a:gd name="adj" fmla="val 7143"/>
            </a:avLst>
          </a:prstGeom>
          <a:solidFill>
            <a:srgbClr val="FFFFFF"/>
          </a:solidFill>
          <a:ln w="12700">
            <a:solidFill>
              <a:srgbClr val="D6D3C7"/>
            </a:solidFill>
            <a:prstDash val="solid"/>
          </a:ln>
        </p:spPr>
      </p:sp>
      <p:sp>
        <p:nvSpPr>
          <p:cNvPr id="27" name="Text 24"/>
          <p:cNvSpPr txBox="1"/>
          <p:nvPr/>
        </p:nvSpPr>
        <p:spPr>
          <a:xfrm>
            <a:off x="7114032" y="1655064"/>
            <a:ext cx="1133856" cy="1307592"/>
          </a:xfrm>
          <a:prstGeom prst="rect">
            <a:avLst/>
          </a:prstGeom>
          <a:noFill/>
          <a:ln/>
        </p:spPr>
        <p:txBody>
          <a:bodyPr wrap="square" lIns="0" tIns="0" rIns="0" bIns="0" rtlCol="0" anchor="ctr"/>
          <a:lstStyle/>
          <a:p>
            <a:pPr algn="ctr" indent="0" marL="0">
              <a:buNone/>
            </a:pPr>
            <a:r>
              <a:rPr lang="ar-EG" altLang="en-US" sz="2200" b="1" dirty="0">
                <a:solidFill>
                  <a:srgbClr val="8A2522"/>
                </a:solidFill>
                <a:latin typeface="Arial" pitchFamily="34" charset="0"/>
                <a:ea typeface="Arial" pitchFamily="34" charset="-122"/>
                <a:cs typeface="Arial" pitchFamily="34" charset="-120"/>
              </a:rPr>
              <a:t>3</a:t>
            </a:r>
            <a:endParaRPr lang="ar-EG" sz="2200" dirty="0"/>
          </a:p>
          <a:p>
            <a:pPr algn="ctr" indent="0" marL="0">
              <a:buNone/>
            </a:pPr>
            <a:r>
              <a:rPr lang="ar-EG" altLang="en-US" sz="1250" dirty="0">
                <a:solidFill>
                  <a:srgbClr val="323232"/>
                </a:solidFill>
                <a:latin typeface="Arial" pitchFamily="34" charset="0"/>
                <a:ea typeface="Arial" pitchFamily="34" charset="-122"/>
                <a:cs typeface="Arial" pitchFamily="34" charset="-120"/>
              </a:rPr>
              <a:t>بيئة موحّدة</a:t>
            </a:r>
            <a:endParaRPr lang="ar-EG" sz="2200" dirty="0"/>
          </a:p>
        </p:txBody>
      </p:sp>
      <p:sp>
        <p:nvSpPr>
          <p:cNvPr id="28" name="Shape 25"/>
          <p:cNvSpPr/>
          <p:nvPr/>
        </p:nvSpPr>
        <p:spPr>
          <a:xfrm>
            <a:off x="6807708" y="2208276"/>
            <a:ext cx="192024" cy="201168"/>
          </a:xfrm>
          <a:prstGeom prst="leftArrow">
            <a:avLst/>
          </a:prstGeom>
          <a:solidFill>
            <a:srgbClr val="8A2522"/>
          </a:solidFill>
          <a:ln w="12700">
            <a:solidFill>
              <a:srgbClr val="8A2522"/>
            </a:solidFill>
            <a:prstDash val="solid"/>
          </a:ln>
        </p:spPr>
      </p:sp>
      <p:sp>
        <p:nvSpPr>
          <p:cNvPr id="29" name="Shape 26"/>
          <p:cNvSpPr/>
          <p:nvPr/>
        </p:nvSpPr>
        <p:spPr>
          <a:xfrm>
            <a:off x="5486400" y="1600200"/>
            <a:ext cx="1280160" cy="1417320"/>
          </a:xfrm>
          <a:prstGeom prst="roundRect">
            <a:avLst>
              <a:gd name="adj" fmla="val 7143"/>
            </a:avLst>
          </a:prstGeom>
          <a:solidFill>
            <a:srgbClr val="FFFFFF"/>
          </a:solidFill>
          <a:ln w="12700">
            <a:solidFill>
              <a:srgbClr val="D6D3C7"/>
            </a:solidFill>
            <a:prstDash val="solid"/>
          </a:ln>
        </p:spPr>
      </p:sp>
      <p:sp>
        <p:nvSpPr>
          <p:cNvPr id="30" name="Text 27"/>
          <p:cNvSpPr txBox="1"/>
          <p:nvPr/>
        </p:nvSpPr>
        <p:spPr>
          <a:xfrm>
            <a:off x="5559552" y="1655064"/>
            <a:ext cx="1133856" cy="1307592"/>
          </a:xfrm>
          <a:prstGeom prst="rect">
            <a:avLst/>
          </a:prstGeom>
          <a:noFill/>
          <a:ln/>
        </p:spPr>
        <p:txBody>
          <a:bodyPr wrap="square" lIns="0" tIns="0" rIns="0" bIns="0" rtlCol="0" anchor="ctr"/>
          <a:lstStyle/>
          <a:p>
            <a:pPr algn="ctr" indent="0" marL="0">
              <a:buNone/>
            </a:pPr>
            <a:r>
              <a:rPr lang="ar-EG" altLang="en-US" sz="2200" b="1" dirty="0">
                <a:solidFill>
                  <a:srgbClr val="8A2522"/>
                </a:solidFill>
                <a:latin typeface="Arial" pitchFamily="34" charset="0"/>
                <a:ea typeface="Arial" pitchFamily="34" charset="-122"/>
                <a:cs typeface="Arial" pitchFamily="34" charset="-120"/>
              </a:rPr>
              <a:t>4</a:t>
            </a:r>
            <a:endParaRPr lang="ar-EG" sz="2200" dirty="0"/>
          </a:p>
          <a:p>
            <a:pPr algn="ctr" indent="0" marL="0">
              <a:buNone/>
            </a:pPr>
            <a:r>
              <a:rPr lang="ar-EG" altLang="en-US" sz="1250" dirty="0">
                <a:solidFill>
                  <a:srgbClr val="323232"/>
                </a:solidFill>
                <a:latin typeface="Arial" pitchFamily="34" charset="0"/>
                <a:ea typeface="Arial" pitchFamily="34" charset="-122"/>
                <a:cs typeface="Arial" pitchFamily="34" charset="-120"/>
              </a:rPr>
              <a:t>تصليحات</a:t>
            </a:r>
            <a:endParaRPr lang="ar-EG" sz="2200" dirty="0"/>
          </a:p>
        </p:txBody>
      </p:sp>
      <p:sp>
        <p:nvSpPr>
          <p:cNvPr id="31" name="Shape 28"/>
          <p:cNvSpPr/>
          <p:nvPr/>
        </p:nvSpPr>
        <p:spPr>
          <a:xfrm>
            <a:off x="5253228" y="2208276"/>
            <a:ext cx="192024" cy="201168"/>
          </a:xfrm>
          <a:prstGeom prst="leftArrow">
            <a:avLst/>
          </a:prstGeom>
          <a:solidFill>
            <a:srgbClr val="8A2522"/>
          </a:solidFill>
          <a:ln w="12700">
            <a:solidFill>
              <a:srgbClr val="8A2522"/>
            </a:solidFill>
            <a:prstDash val="solid"/>
          </a:ln>
        </p:spPr>
      </p:sp>
      <p:sp>
        <p:nvSpPr>
          <p:cNvPr id="32" name="Shape 29"/>
          <p:cNvSpPr/>
          <p:nvPr/>
        </p:nvSpPr>
        <p:spPr>
          <a:xfrm>
            <a:off x="3931920" y="1600200"/>
            <a:ext cx="1280160" cy="1417320"/>
          </a:xfrm>
          <a:prstGeom prst="roundRect">
            <a:avLst>
              <a:gd name="adj" fmla="val 7143"/>
            </a:avLst>
          </a:prstGeom>
          <a:solidFill>
            <a:srgbClr val="FFFFFF"/>
          </a:solidFill>
          <a:ln w="12700">
            <a:solidFill>
              <a:srgbClr val="D6D3C7"/>
            </a:solidFill>
            <a:prstDash val="solid"/>
          </a:ln>
        </p:spPr>
      </p:sp>
      <p:sp>
        <p:nvSpPr>
          <p:cNvPr id="33" name="Text 30"/>
          <p:cNvSpPr txBox="1"/>
          <p:nvPr/>
        </p:nvSpPr>
        <p:spPr>
          <a:xfrm>
            <a:off x="4005072" y="1655064"/>
            <a:ext cx="1133856" cy="1307592"/>
          </a:xfrm>
          <a:prstGeom prst="rect">
            <a:avLst/>
          </a:prstGeom>
          <a:noFill/>
          <a:ln/>
        </p:spPr>
        <p:txBody>
          <a:bodyPr wrap="square" lIns="0" tIns="0" rIns="0" bIns="0" rtlCol="0" anchor="ctr"/>
          <a:lstStyle/>
          <a:p>
            <a:pPr algn="ctr" indent="0" marL="0">
              <a:buNone/>
            </a:pPr>
            <a:r>
              <a:rPr lang="ar-EG" altLang="en-US" sz="2200" b="1" dirty="0">
                <a:solidFill>
                  <a:srgbClr val="8A2522"/>
                </a:solidFill>
                <a:latin typeface="Arial" pitchFamily="34" charset="0"/>
                <a:ea typeface="Arial" pitchFamily="34" charset="-122"/>
                <a:cs typeface="Arial" pitchFamily="34" charset="-120"/>
              </a:rPr>
              <a:t>5</a:t>
            </a:r>
            <a:endParaRPr lang="ar-EG" sz="2200" dirty="0"/>
          </a:p>
          <a:p>
            <a:pPr algn="ctr" indent="0" marL="0">
              <a:buNone/>
            </a:pPr>
            <a:r>
              <a:rPr lang="ar-EG" altLang="en-US" sz="1250" dirty="0">
                <a:solidFill>
                  <a:srgbClr val="323232"/>
                </a:solidFill>
                <a:latin typeface="Arial" pitchFamily="34" charset="0"/>
                <a:ea typeface="Arial" pitchFamily="34" charset="-122"/>
                <a:cs typeface="Arial" pitchFamily="34" charset="-120"/>
              </a:rPr>
              <a:t>البروتوكول المقترح</a:t>
            </a:r>
            <a:endParaRPr lang="ar-EG" sz="2200" dirty="0"/>
          </a:p>
        </p:txBody>
      </p:sp>
      <p:sp>
        <p:nvSpPr>
          <p:cNvPr id="34" name="Shape 31"/>
          <p:cNvSpPr/>
          <p:nvPr/>
        </p:nvSpPr>
        <p:spPr>
          <a:xfrm>
            <a:off x="3698748" y="2208276"/>
            <a:ext cx="192024" cy="201168"/>
          </a:xfrm>
          <a:prstGeom prst="leftArrow">
            <a:avLst/>
          </a:prstGeom>
          <a:solidFill>
            <a:srgbClr val="8A2522"/>
          </a:solidFill>
          <a:ln w="12700">
            <a:solidFill>
              <a:srgbClr val="8A2522"/>
            </a:solidFill>
            <a:prstDash val="solid"/>
          </a:ln>
        </p:spPr>
      </p:sp>
      <p:sp>
        <p:nvSpPr>
          <p:cNvPr id="35" name="Shape 32"/>
          <p:cNvSpPr/>
          <p:nvPr/>
        </p:nvSpPr>
        <p:spPr>
          <a:xfrm>
            <a:off x="2377440" y="1600200"/>
            <a:ext cx="1280160" cy="1417320"/>
          </a:xfrm>
          <a:prstGeom prst="roundRect">
            <a:avLst>
              <a:gd name="adj" fmla="val 7143"/>
            </a:avLst>
          </a:prstGeom>
          <a:solidFill>
            <a:srgbClr val="FFFFFF"/>
          </a:solidFill>
          <a:ln w="12700">
            <a:solidFill>
              <a:srgbClr val="D6D3C7"/>
            </a:solidFill>
            <a:prstDash val="solid"/>
          </a:ln>
        </p:spPr>
      </p:sp>
      <p:sp>
        <p:nvSpPr>
          <p:cNvPr id="36" name="Text 33"/>
          <p:cNvSpPr txBox="1"/>
          <p:nvPr/>
        </p:nvSpPr>
        <p:spPr>
          <a:xfrm>
            <a:off x="2450592" y="1655064"/>
            <a:ext cx="1133856" cy="1307592"/>
          </a:xfrm>
          <a:prstGeom prst="rect">
            <a:avLst/>
          </a:prstGeom>
          <a:noFill/>
          <a:ln/>
        </p:spPr>
        <p:txBody>
          <a:bodyPr wrap="square" lIns="0" tIns="0" rIns="0" bIns="0" rtlCol="0" anchor="ctr"/>
          <a:lstStyle/>
          <a:p>
            <a:pPr algn="ctr" indent="0" marL="0">
              <a:buNone/>
            </a:pPr>
            <a:r>
              <a:rPr lang="ar-EG" altLang="en-US" sz="2200" b="1" dirty="0">
                <a:solidFill>
                  <a:srgbClr val="8A2522"/>
                </a:solidFill>
                <a:latin typeface="Arial" pitchFamily="34" charset="0"/>
                <a:ea typeface="Arial" pitchFamily="34" charset="-122"/>
                <a:cs typeface="Arial" pitchFamily="34" charset="-120"/>
              </a:rPr>
              <a:t>6</a:t>
            </a:r>
            <a:endParaRPr lang="ar-EG" sz="2200" dirty="0"/>
          </a:p>
          <a:p>
            <a:pPr algn="ctr" indent="0" marL="0">
              <a:buNone/>
            </a:pPr>
            <a:r>
              <a:rPr lang="ar-EG" altLang="en-US" sz="1250" dirty="0">
                <a:solidFill>
                  <a:srgbClr val="323232"/>
                </a:solidFill>
                <a:latin typeface="Arial" pitchFamily="34" charset="0"/>
                <a:ea typeface="Arial" pitchFamily="34" charset="-122"/>
                <a:cs typeface="Arial" pitchFamily="34" charset="-120"/>
              </a:rPr>
              <a:t>تجارب مضبوطة</a:t>
            </a:r>
            <a:endParaRPr lang="ar-EG" sz="2200" dirty="0"/>
          </a:p>
        </p:txBody>
      </p:sp>
      <p:sp>
        <p:nvSpPr>
          <p:cNvPr id="37" name="Shape 34"/>
          <p:cNvSpPr/>
          <p:nvPr/>
        </p:nvSpPr>
        <p:spPr>
          <a:xfrm>
            <a:off x="2144268" y="2208276"/>
            <a:ext cx="192024" cy="201168"/>
          </a:xfrm>
          <a:prstGeom prst="leftArrow">
            <a:avLst/>
          </a:prstGeom>
          <a:solidFill>
            <a:srgbClr val="8A2522"/>
          </a:solidFill>
          <a:ln w="12700">
            <a:solidFill>
              <a:srgbClr val="8A2522"/>
            </a:solidFill>
            <a:prstDash val="solid"/>
          </a:ln>
        </p:spPr>
      </p:sp>
      <p:sp>
        <p:nvSpPr>
          <p:cNvPr id="38" name="Shape 35"/>
          <p:cNvSpPr/>
          <p:nvPr/>
        </p:nvSpPr>
        <p:spPr>
          <a:xfrm>
            <a:off x="822960" y="1600200"/>
            <a:ext cx="1280160" cy="1417320"/>
          </a:xfrm>
          <a:prstGeom prst="roundRect">
            <a:avLst>
              <a:gd name="adj" fmla="val 7143"/>
            </a:avLst>
          </a:prstGeom>
          <a:solidFill>
            <a:srgbClr val="FFFFFF"/>
          </a:solidFill>
          <a:ln w="12700">
            <a:solidFill>
              <a:srgbClr val="D6D3C7"/>
            </a:solidFill>
            <a:prstDash val="solid"/>
          </a:ln>
        </p:spPr>
      </p:sp>
      <p:sp>
        <p:nvSpPr>
          <p:cNvPr id="39" name="Text 36"/>
          <p:cNvSpPr txBox="1"/>
          <p:nvPr/>
        </p:nvSpPr>
        <p:spPr>
          <a:xfrm>
            <a:off x="896112" y="1655064"/>
            <a:ext cx="1133856" cy="1307592"/>
          </a:xfrm>
          <a:prstGeom prst="rect">
            <a:avLst/>
          </a:prstGeom>
          <a:noFill/>
          <a:ln/>
        </p:spPr>
        <p:txBody>
          <a:bodyPr wrap="square" lIns="0" tIns="0" rIns="0" bIns="0" rtlCol="0" anchor="ctr"/>
          <a:lstStyle/>
          <a:p>
            <a:pPr algn="ctr" indent="0" marL="0">
              <a:buNone/>
            </a:pPr>
            <a:r>
              <a:rPr lang="ar-EG" altLang="en-US" sz="2200" b="1" dirty="0">
                <a:solidFill>
                  <a:srgbClr val="8A2522"/>
                </a:solidFill>
                <a:latin typeface="Arial" pitchFamily="34" charset="0"/>
                <a:ea typeface="Arial" pitchFamily="34" charset="-122"/>
                <a:cs typeface="Arial" pitchFamily="34" charset="-120"/>
              </a:rPr>
              <a:t>7</a:t>
            </a:r>
            <a:endParaRPr lang="ar-EG" sz="2200" dirty="0"/>
          </a:p>
          <a:p>
            <a:pPr algn="ctr" indent="0" marL="0">
              <a:buNone/>
            </a:pPr>
            <a:r>
              <a:rPr lang="ar-EG" altLang="en-US" sz="1250" dirty="0">
                <a:solidFill>
                  <a:srgbClr val="323232"/>
                </a:solidFill>
                <a:latin typeface="Arial" pitchFamily="34" charset="0"/>
                <a:ea typeface="Arial" pitchFamily="34" charset="-122"/>
                <a:cs typeface="Arial" pitchFamily="34" charset="-120"/>
              </a:rPr>
              <a:t>التحليل</a:t>
            </a:r>
            <a:endParaRPr lang="ar-EG" sz="2200" dirty="0"/>
          </a:p>
        </p:txBody>
      </p:sp>
      <p:sp>
        <p:nvSpPr>
          <p:cNvPr id="40" name="Shape 37"/>
          <p:cNvSpPr/>
          <p:nvPr/>
        </p:nvSpPr>
        <p:spPr>
          <a:xfrm>
            <a:off x="6263640" y="3383280"/>
            <a:ext cx="5166360" cy="2468880"/>
          </a:xfrm>
          <a:prstGeom prst="roundRect">
            <a:avLst>
              <a:gd name="adj" fmla="val 4444"/>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41" name="Text 38"/>
          <p:cNvSpPr txBox="1"/>
          <p:nvPr/>
        </p:nvSpPr>
        <p:spPr>
          <a:xfrm>
            <a:off x="6446520" y="3520440"/>
            <a:ext cx="476402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إعادة بناء على خطوتين</a:t>
            </a:r>
            <a:endParaRPr lang="ar-EG" sz="1500" dirty="0"/>
          </a:p>
        </p:txBody>
      </p:sp>
      <p:sp>
        <p:nvSpPr>
          <p:cNvPr id="42" name="Text 39"/>
          <p:cNvSpPr txBox="1"/>
          <p:nvPr/>
        </p:nvSpPr>
        <p:spPr>
          <a:xfrm>
            <a:off x="6464808" y="4114800"/>
            <a:ext cx="4764024" cy="1600200"/>
          </a:xfrm>
          <a:prstGeom prst="rect">
            <a:avLst/>
          </a:prstGeom>
          <a:noFill/>
          <a:ln/>
        </p:spPr>
        <p:txBody>
          <a:bodyPr wrap="square" lIns="0" tIns="0" rIns="0" bIns="0" rtlCol="0" anchor="t"/>
          <a:lstStyle/>
          <a:p>
            <a:pPr rtl="1" algn="r" indent="0" marL="0">
              <a:spcAft>
                <a:spcPts val="400"/>
              </a:spcAft>
              <a:buNone/>
            </a:pPr>
            <a:r>
              <a:rPr lang="ar-EG" altLang="en-US" sz="1500" dirty="0">
                <a:solidFill>
                  <a:srgbClr val="323232"/>
                </a:solidFill>
                <a:latin typeface="Arial" pitchFamily="34" charset="0"/>
                <a:ea typeface="Arial" pitchFamily="34" charset="-122"/>
                <a:cs typeface="Arial" pitchFamily="34" charset="-120"/>
              </a:rPr>
              <a:t>الخطوة 1 (paper-exact): الكود بتاعنا بإعدادات كل بحث ← نتأكد إن الكود صح.</a:t>
            </a:r>
            <a:endParaRPr lang="ar-EG" sz="1500" dirty="0"/>
          </a:p>
          <a:p>
            <a:pPr rtl="1" algn="r" indent="0" marL="0">
              <a:spcAft>
                <a:spcPts val="400"/>
              </a:spcAft>
              <a:buNone/>
            </a:pPr>
            <a:r>
              <a:rPr lang="ar-EG" altLang="en-US" sz="1500" dirty="0">
                <a:solidFill>
                  <a:srgbClr val="323232"/>
                </a:solidFill>
                <a:latin typeface="Arial" pitchFamily="34" charset="0"/>
                <a:ea typeface="Arial" pitchFamily="34" charset="-122"/>
                <a:cs typeface="Arial" pitchFamily="34" charset="-120"/>
              </a:rPr>
              <a:t>الخطوة 2 (موحّدة): نفس الكود في بيئة واحدة ← البروتوكولات تبقى قابلة للمقارنة.</a:t>
            </a:r>
            <a:endParaRPr lang="ar-EG" sz="1500" dirty="0"/>
          </a:p>
        </p:txBody>
      </p:sp>
      <p:sp>
        <p:nvSpPr>
          <p:cNvPr id="43" name="Shape 40"/>
          <p:cNvSpPr/>
          <p:nvPr/>
        </p:nvSpPr>
        <p:spPr>
          <a:xfrm>
            <a:off x="822960" y="3383280"/>
            <a:ext cx="5166360" cy="2468880"/>
          </a:xfrm>
          <a:prstGeom prst="roundRect">
            <a:avLst>
              <a:gd name="adj" fmla="val 4444"/>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44" name="Text 41"/>
          <p:cNvSpPr txBox="1"/>
          <p:nvPr/>
        </p:nvSpPr>
        <p:spPr>
          <a:xfrm>
            <a:off x="1005840" y="3520440"/>
            <a:ext cx="476402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تغيير واحد في كل نسخة</a:t>
            </a:r>
            <a:endParaRPr lang="ar-EG" sz="1500" dirty="0"/>
          </a:p>
        </p:txBody>
      </p:sp>
      <p:sp>
        <p:nvSpPr>
          <p:cNvPr id="45" name="Text 42"/>
          <p:cNvSpPr txBox="1"/>
          <p:nvPr/>
        </p:nvSpPr>
        <p:spPr>
          <a:xfrm>
            <a:off x="1024128" y="4114800"/>
            <a:ext cx="4764024" cy="1600200"/>
          </a:xfrm>
          <a:prstGeom prst="rect">
            <a:avLst/>
          </a:prstGeom>
          <a:noFill/>
          <a:ln/>
        </p:spPr>
        <p:txBody>
          <a:bodyPr wrap="square" lIns="0" tIns="0" rIns="0" bIns="0" rtlCol="0" anchor="t"/>
          <a:lstStyle/>
          <a:p>
            <a:pPr rtl="1" algn="r" indent="0" marL="0">
              <a:spcAft>
                <a:spcPts val="400"/>
              </a:spcAft>
              <a:buNone/>
            </a:pPr>
            <a:r>
              <a:rPr lang="ar-EG" altLang="en-US" sz="1500" dirty="0">
                <a:solidFill>
                  <a:srgbClr val="323232"/>
                </a:solidFill>
                <a:latin typeface="Arial" pitchFamily="34" charset="0"/>
                <a:ea typeface="Arial" pitchFamily="34" charset="-122"/>
                <a:cs typeface="Arial" pitchFamily="34" charset="-120"/>
              </a:rPr>
              <a:t>البروتوكول المقترح اتطوّر نسخة نسخة، وكل نسخة بتغيّر آلية واحدة بس، فأي تحسين أو تدهور نعرف سببه.</a:t>
            </a:r>
            <a:endParaRPr lang="ar-EG"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بيئة المحاكاة الموحّدة</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24</a:t>
            </a:r>
            <a:endParaRPr lang="en-US" sz="1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846320" y="1417320"/>
          <a:ext cx="6583680" cy="914400"/>
        </p:xfrm>
        <a:graphic>
          <a:graphicData uri="http://schemas.openxmlformats.org/drawingml/2006/table">
            <a:tbl>
              <a:tblPr/>
              <a:tblGrid>
                <a:gridCol w="4206240"/>
                <a:gridCol w="2377440"/>
              </a:tblGrid>
              <a:tr h="384048">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القيمة</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الإعداد</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r>
              <a:tr h="384048">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100 نود</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عدد النودز</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384048">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100 × 100 متر</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مساحة الأرض</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r h="384048">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0.5 جول لكل نود</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الطاقة الابتدائية E0</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384048">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2000 بت (رسالة التحكم 200 بت)</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حجم الرسالة</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r h="384048">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250 kbps</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سرعة الإرسال</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384048">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(50, 50) في النص؛ وحالة البعيد (50, −100)</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مكان الـ BS</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r h="384048">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25 متر</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مدى الاتصال</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384048">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First-order بمعادلتين (d² / d⁴)</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نموذج الراديو</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r h="384048">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 87.7 متر</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d0 = √(E_fs/E_mp)</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384048">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12345 (واختبار الثبات: 8 seeds)</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الـ Random seed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r h="384048">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ns-3.41 بلغة C++ (نموذج طاقة حسابي)</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المحاكي</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bl>
          </a:graphicData>
        </a:graphic>
      </p:graphicFrame>
      <p:sp>
        <p:nvSpPr>
          <p:cNvPr id="21" name="Text 17"/>
          <p:cNvSpPr txBox="1"/>
          <p:nvPr/>
        </p:nvSpPr>
        <p:spPr>
          <a:xfrm>
            <a:off x="822960" y="1554480"/>
            <a:ext cx="3657600" cy="731520"/>
          </a:xfrm>
          <a:prstGeom prst="rect">
            <a:avLst/>
          </a:prstGeom>
          <a:noFill/>
          <a:ln/>
        </p:spPr>
        <p:txBody>
          <a:bodyPr wrap="square" lIns="0" tIns="0" rIns="0" bIns="0" rtlCol="0" anchor="ctr"/>
          <a:lstStyle/>
          <a:p>
            <a:pPr algn="r" indent="0" marL="0">
              <a:buNone/>
            </a:pPr>
            <a:r>
              <a:rPr lang="en-US" sz="3600" b="1" dirty="0">
                <a:solidFill>
                  <a:srgbClr val="8A2522"/>
                </a:solidFill>
                <a:latin typeface="Arial" pitchFamily="34" charset="0"/>
                <a:ea typeface="Arial" pitchFamily="34" charset="-122"/>
                <a:cs typeface="Arial" pitchFamily="34" charset="-120"/>
              </a:rPr>
              <a:t>100</a:t>
            </a:r>
            <a:endParaRPr lang="en-US" sz="3600" dirty="0"/>
          </a:p>
        </p:txBody>
      </p:sp>
      <p:sp>
        <p:nvSpPr>
          <p:cNvPr id="22" name="Text 18"/>
          <p:cNvSpPr txBox="1"/>
          <p:nvPr/>
        </p:nvSpPr>
        <p:spPr>
          <a:xfrm>
            <a:off x="822960" y="2286000"/>
            <a:ext cx="3657600" cy="548640"/>
          </a:xfrm>
          <a:prstGeom prst="rect">
            <a:avLst/>
          </a:prstGeom>
          <a:noFill/>
          <a:ln/>
        </p:spPr>
        <p:txBody>
          <a:bodyPr wrap="square" lIns="0" tIns="0" rIns="0" bIns="0" rtlCol="0" anchor="t"/>
          <a:lstStyle/>
          <a:p>
            <a:pPr rtl="1" algn="r" indent="0" marL="0">
              <a:buNone/>
            </a:pPr>
            <a:r>
              <a:rPr lang="ar-EG" altLang="en-US" sz="1350" dirty="0">
                <a:solidFill>
                  <a:srgbClr val="6B6B6B"/>
                </a:solidFill>
                <a:latin typeface="Arial" pitchFamily="34" charset="0"/>
                <a:ea typeface="Arial" pitchFamily="34" charset="-122"/>
                <a:cs typeface="Arial" pitchFamily="34" charset="-120"/>
              </a:rPr>
              <a:t>حساس في أرض 100 × 100 متر</a:t>
            </a:r>
            <a:endParaRPr lang="ar-EG" sz="1350" dirty="0"/>
          </a:p>
        </p:txBody>
      </p:sp>
      <p:sp>
        <p:nvSpPr>
          <p:cNvPr id="23" name="Text 19"/>
          <p:cNvSpPr txBox="1"/>
          <p:nvPr/>
        </p:nvSpPr>
        <p:spPr>
          <a:xfrm>
            <a:off x="822960" y="2926080"/>
            <a:ext cx="3657600" cy="731520"/>
          </a:xfrm>
          <a:prstGeom prst="rect">
            <a:avLst/>
          </a:prstGeom>
          <a:noFill/>
          <a:ln/>
        </p:spPr>
        <p:txBody>
          <a:bodyPr wrap="square" lIns="0" tIns="0" rIns="0" bIns="0" rtlCol="0" anchor="ctr"/>
          <a:lstStyle/>
          <a:p>
            <a:pPr algn="r" indent="0" marL="0">
              <a:buNone/>
            </a:pPr>
            <a:r>
              <a:rPr lang="en-US" sz="3600" b="1" dirty="0">
                <a:solidFill>
                  <a:srgbClr val="8A2522"/>
                </a:solidFill>
                <a:latin typeface="Arial" pitchFamily="34" charset="0"/>
                <a:ea typeface="Arial" pitchFamily="34" charset="-122"/>
                <a:cs typeface="Arial" pitchFamily="34" charset="-120"/>
              </a:rPr>
              <a:t>0.5 J</a:t>
            </a:r>
            <a:endParaRPr lang="en-US" sz="3600" dirty="0"/>
          </a:p>
        </p:txBody>
      </p:sp>
      <p:sp>
        <p:nvSpPr>
          <p:cNvPr id="24" name="Text 20"/>
          <p:cNvSpPr txBox="1"/>
          <p:nvPr/>
        </p:nvSpPr>
        <p:spPr>
          <a:xfrm>
            <a:off x="822960" y="3657600"/>
            <a:ext cx="3657600" cy="548640"/>
          </a:xfrm>
          <a:prstGeom prst="rect">
            <a:avLst/>
          </a:prstGeom>
          <a:noFill/>
          <a:ln/>
        </p:spPr>
        <p:txBody>
          <a:bodyPr wrap="square" lIns="0" tIns="0" rIns="0" bIns="0" rtlCol="0" anchor="t"/>
          <a:lstStyle/>
          <a:p>
            <a:pPr rtl="1" algn="r" indent="0" marL="0">
              <a:buNone/>
            </a:pPr>
            <a:r>
              <a:rPr lang="ar-EG" altLang="en-US" sz="1350" dirty="0">
                <a:solidFill>
                  <a:srgbClr val="6B6B6B"/>
                </a:solidFill>
                <a:latin typeface="Arial" pitchFamily="34" charset="0"/>
                <a:ea typeface="Arial" pitchFamily="34" charset="-122"/>
                <a:cs typeface="Arial" pitchFamily="34" charset="-120"/>
              </a:rPr>
              <a:t>الطاقة الابتدائية لكل نود</a:t>
            </a:r>
            <a:endParaRPr lang="ar-EG" sz="1350" dirty="0"/>
          </a:p>
        </p:txBody>
      </p:sp>
      <p:sp>
        <p:nvSpPr>
          <p:cNvPr id="25" name="Text 21"/>
          <p:cNvSpPr txBox="1"/>
          <p:nvPr/>
        </p:nvSpPr>
        <p:spPr>
          <a:xfrm>
            <a:off x="822960" y="4297680"/>
            <a:ext cx="3657600" cy="731520"/>
          </a:xfrm>
          <a:prstGeom prst="rect">
            <a:avLst/>
          </a:prstGeom>
          <a:noFill/>
          <a:ln/>
        </p:spPr>
        <p:txBody>
          <a:bodyPr wrap="square" lIns="0" tIns="0" rIns="0" bIns="0" rtlCol="0" anchor="ctr"/>
          <a:lstStyle/>
          <a:p>
            <a:pPr algn="r" indent="0" marL="0">
              <a:buNone/>
            </a:pPr>
            <a:r>
              <a:rPr lang="en-US" sz="3600" b="1" dirty="0">
                <a:solidFill>
                  <a:srgbClr val="8A2522"/>
                </a:solidFill>
                <a:latin typeface="Arial" pitchFamily="34" charset="0"/>
                <a:ea typeface="Arial" pitchFamily="34" charset="-122"/>
                <a:cs typeface="Arial" pitchFamily="34" charset="-120"/>
              </a:rPr>
              <a:t>2</a:t>
            </a:r>
            <a:endParaRPr lang="en-US" sz="3600" dirty="0"/>
          </a:p>
        </p:txBody>
      </p:sp>
      <p:sp>
        <p:nvSpPr>
          <p:cNvPr id="26" name="Text 22"/>
          <p:cNvSpPr txBox="1"/>
          <p:nvPr/>
        </p:nvSpPr>
        <p:spPr>
          <a:xfrm>
            <a:off x="822960" y="5029200"/>
            <a:ext cx="3657600" cy="548640"/>
          </a:xfrm>
          <a:prstGeom prst="rect">
            <a:avLst/>
          </a:prstGeom>
          <a:noFill/>
          <a:ln/>
        </p:spPr>
        <p:txBody>
          <a:bodyPr wrap="square" lIns="0" tIns="0" rIns="0" bIns="0" rtlCol="0" anchor="t"/>
          <a:lstStyle/>
          <a:p>
            <a:pPr rtl="1" algn="r" indent="0" marL="0">
              <a:buNone/>
            </a:pPr>
            <a:r>
              <a:rPr lang="ar-EG" altLang="en-US" sz="1350" dirty="0">
                <a:solidFill>
                  <a:srgbClr val="6B6B6B"/>
                </a:solidFill>
                <a:latin typeface="Arial" pitchFamily="34" charset="0"/>
                <a:ea typeface="Arial" pitchFamily="34" charset="-122"/>
                <a:cs typeface="Arial" pitchFamily="34" charset="-120"/>
              </a:rPr>
              <a:t>مكانين للـ BS: في النص (50,50) وبعيد (50,−100)</a:t>
            </a:r>
            <a:endParaRPr lang="ar-EG"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مقاييس الأداء</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25</a:t>
            </a:r>
            <a:endParaRPr lang="en-US" sz="1000" dirty="0"/>
          </a:p>
        </p:txBody>
      </p:sp>
      <p:sp>
        <p:nvSpPr>
          <p:cNvPr id="20" name="Shape 17"/>
          <p:cNvSpPr/>
          <p:nvPr/>
        </p:nvSpPr>
        <p:spPr>
          <a:xfrm>
            <a:off x="8915400" y="1508760"/>
            <a:ext cx="2514600" cy="3291840"/>
          </a:xfrm>
          <a:prstGeom prst="roundRect">
            <a:avLst>
              <a:gd name="adj" fmla="val 4364"/>
            </a:avLst>
          </a:prstGeom>
          <a:solidFill>
            <a:srgbClr val="FFFFFF"/>
          </a:solidFill>
          <a:ln w="12700">
            <a:solidFill>
              <a:srgbClr val="D6D3C7"/>
            </a:solidFill>
            <a:prstDash val="solid"/>
          </a:ln>
        </p:spPr>
      </p:sp>
      <p:sp>
        <p:nvSpPr>
          <p:cNvPr id="21" name="Text 18"/>
          <p:cNvSpPr txBox="1"/>
          <p:nvPr/>
        </p:nvSpPr>
        <p:spPr>
          <a:xfrm>
            <a:off x="8915400" y="1645920"/>
            <a:ext cx="2514600" cy="822960"/>
          </a:xfrm>
          <a:prstGeom prst="rect">
            <a:avLst/>
          </a:prstGeom>
          <a:noFill/>
          <a:ln/>
        </p:spPr>
        <p:txBody>
          <a:bodyPr wrap="square" lIns="0" tIns="0" rIns="0" bIns="0" rtlCol="0" anchor="ctr"/>
          <a:lstStyle/>
          <a:p>
            <a:pPr algn="ctr" indent="0" marL="0">
              <a:buNone/>
            </a:pPr>
            <a:r>
              <a:rPr lang="en-US" sz="3800" b="1" dirty="0">
                <a:solidFill>
                  <a:srgbClr val="8A2522"/>
                </a:solidFill>
                <a:latin typeface="Arial" pitchFamily="34" charset="0"/>
                <a:ea typeface="Arial" pitchFamily="34" charset="-122"/>
                <a:cs typeface="Arial" pitchFamily="34" charset="-120"/>
              </a:rPr>
              <a:t>FND</a:t>
            </a:r>
            <a:endParaRPr lang="en-US" sz="3800" dirty="0"/>
          </a:p>
        </p:txBody>
      </p:sp>
      <p:sp>
        <p:nvSpPr>
          <p:cNvPr id="22" name="Text 19"/>
          <p:cNvSpPr txBox="1"/>
          <p:nvPr/>
        </p:nvSpPr>
        <p:spPr>
          <a:xfrm>
            <a:off x="9052560" y="2514600"/>
            <a:ext cx="2240280" cy="457200"/>
          </a:xfrm>
          <a:prstGeom prst="rect">
            <a:avLst/>
          </a:prstGeom>
          <a:noFill/>
          <a:ln/>
        </p:spPr>
        <p:txBody>
          <a:bodyPr wrap="square" lIns="0" tIns="0" rIns="0" bIns="0" rtlCol="0" anchor="ctr"/>
          <a:lstStyle/>
          <a:p>
            <a:pPr rtl="1" algn="ctr" indent="0" marL="0">
              <a:buNone/>
            </a:pPr>
            <a:r>
              <a:rPr lang="ar-EG" altLang="en-US" sz="1500" b="1" dirty="0">
                <a:solidFill>
                  <a:srgbClr val="323232"/>
                </a:solidFill>
                <a:latin typeface="Arial" pitchFamily="34" charset="0"/>
                <a:ea typeface="Arial" pitchFamily="34" charset="-122"/>
                <a:cs typeface="Arial" pitchFamily="34" charset="-120"/>
              </a:rPr>
              <a:t>أول نود مات</a:t>
            </a:r>
            <a:endParaRPr lang="ar-EG" sz="1500" dirty="0"/>
          </a:p>
        </p:txBody>
      </p:sp>
      <p:sp>
        <p:nvSpPr>
          <p:cNvPr id="23" name="Text 20"/>
          <p:cNvSpPr txBox="1"/>
          <p:nvPr/>
        </p:nvSpPr>
        <p:spPr>
          <a:xfrm>
            <a:off x="9098280" y="3017520"/>
            <a:ext cx="2148840" cy="1645920"/>
          </a:xfrm>
          <a:prstGeom prst="rect">
            <a:avLst/>
          </a:prstGeom>
          <a:noFill/>
          <a:ln/>
        </p:spPr>
        <p:txBody>
          <a:bodyPr wrap="square" lIns="0" tIns="0" rIns="0" bIns="0" rtlCol="0" anchor="t"/>
          <a:lstStyle/>
          <a:p>
            <a:pPr rtl="1" algn="ctr" indent="0" marL="0">
              <a:buNone/>
            </a:pPr>
            <a:r>
              <a:rPr lang="ar-EG" altLang="en-US" sz="1400" dirty="0">
                <a:solidFill>
                  <a:srgbClr val="323232"/>
                </a:solidFill>
                <a:latin typeface="Arial" pitchFamily="34" charset="0"/>
                <a:ea typeface="Arial" pitchFamily="34" charset="-122"/>
                <a:cs typeface="Arial" pitchFamily="34" charset="-120"/>
              </a:rPr>
              <a:t>الـ round اللي مات فيه أول نود — توزيع الحمل والتغطية.</a:t>
            </a:r>
            <a:endParaRPr lang="ar-EG" sz="1400" dirty="0"/>
          </a:p>
        </p:txBody>
      </p:sp>
      <p:sp>
        <p:nvSpPr>
          <p:cNvPr id="24" name="Shape 21"/>
          <p:cNvSpPr/>
          <p:nvPr/>
        </p:nvSpPr>
        <p:spPr>
          <a:xfrm>
            <a:off x="6199632" y="1508760"/>
            <a:ext cx="2514600" cy="3291840"/>
          </a:xfrm>
          <a:prstGeom prst="roundRect">
            <a:avLst>
              <a:gd name="adj" fmla="val 4364"/>
            </a:avLst>
          </a:prstGeom>
          <a:solidFill>
            <a:srgbClr val="FFFFFF"/>
          </a:solidFill>
          <a:ln w="12700">
            <a:solidFill>
              <a:srgbClr val="D6D3C7"/>
            </a:solidFill>
            <a:prstDash val="solid"/>
          </a:ln>
        </p:spPr>
      </p:sp>
      <p:sp>
        <p:nvSpPr>
          <p:cNvPr id="25" name="Text 22"/>
          <p:cNvSpPr txBox="1"/>
          <p:nvPr/>
        </p:nvSpPr>
        <p:spPr>
          <a:xfrm>
            <a:off x="6199632" y="1645920"/>
            <a:ext cx="2514600" cy="822960"/>
          </a:xfrm>
          <a:prstGeom prst="rect">
            <a:avLst/>
          </a:prstGeom>
          <a:noFill/>
          <a:ln/>
        </p:spPr>
        <p:txBody>
          <a:bodyPr wrap="square" lIns="0" tIns="0" rIns="0" bIns="0" rtlCol="0" anchor="ctr"/>
          <a:lstStyle/>
          <a:p>
            <a:pPr algn="ctr" indent="0" marL="0">
              <a:buNone/>
            </a:pPr>
            <a:r>
              <a:rPr lang="en-US" sz="3800" b="1" dirty="0">
                <a:solidFill>
                  <a:srgbClr val="8A2522"/>
                </a:solidFill>
                <a:latin typeface="Arial" pitchFamily="34" charset="0"/>
                <a:ea typeface="Arial" pitchFamily="34" charset="-122"/>
                <a:cs typeface="Arial" pitchFamily="34" charset="-120"/>
              </a:rPr>
              <a:t>HND</a:t>
            </a:r>
            <a:endParaRPr lang="en-US" sz="3800" dirty="0"/>
          </a:p>
        </p:txBody>
      </p:sp>
      <p:sp>
        <p:nvSpPr>
          <p:cNvPr id="26" name="Text 23"/>
          <p:cNvSpPr txBox="1"/>
          <p:nvPr/>
        </p:nvSpPr>
        <p:spPr>
          <a:xfrm>
            <a:off x="6336792" y="2514600"/>
            <a:ext cx="2240280" cy="457200"/>
          </a:xfrm>
          <a:prstGeom prst="rect">
            <a:avLst/>
          </a:prstGeom>
          <a:noFill/>
          <a:ln/>
        </p:spPr>
        <p:txBody>
          <a:bodyPr wrap="square" lIns="0" tIns="0" rIns="0" bIns="0" rtlCol="0" anchor="ctr"/>
          <a:lstStyle/>
          <a:p>
            <a:pPr rtl="1" algn="ctr" indent="0" marL="0">
              <a:buNone/>
            </a:pPr>
            <a:r>
              <a:rPr lang="ar-EG" altLang="en-US" sz="1500" b="1" dirty="0">
                <a:solidFill>
                  <a:srgbClr val="323232"/>
                </a:solidFill>
                <a:latin typeface="Arial" pitchFamily="34" charset="0"/>
                <a:ea typeface="Arial" pitchFamily="34" charset="-122"/>
                <a:cs typeface="Arial" pitchFamily="34" charset="-120"/>
              </a:rPr>
              <a:t>نص النودز ماتوا</a:t>
            </a:r>
            <a:endParaRPr lang="ar-EG" sz="1500" dirty="0"/>
          </a:p>
        </p:txBody>
      </p:sp>
      <p:sp>
        <p:nvSpPr>
          <p:cNvPr id="27" name="Text 24"/>
          <p:cNvSpPr txBox="1"/>
          <p:nvPr/>
        </p:nvSpPr>
        <p:spPr>
          <a:xfrm>
            <a:off x="6382512" y="3017520"/>
            <a:ext cx="2148840" cy="1645920"/>
          </a:xfrm>
          <a:prstGeom prst="rect">
            <a:avLst/>
          </a:prstGeom>
          <a:noFill/>
          <a:ln/>
        </p:spPr>
        <p:txBody>
          <a:bodyPr wrap="square" lIns="0" tIns="0" rIns="0" bIns="0" rtlCol="0" anchor="t"/>
          <a:lstStyle/>
          <a:p>
            <a:pPr rtl="1" algn="ctr" indent="0" marL="0">
              <a:buNone/>
            </a:pPr>
            <a:r>
              <a:rPr lang="ar-EG" altLang="en-US" sz="1400" dirty="0">
                <a:solidFill>
                  <a:srgbClr val="323232"/>
                </a:solidFill>
                <a:latin typeface="Arial" pitchFamily="34" charset="0"/>
                <a:ea typeface="Arial" pitchFamily="34" charset="-122"/>
                <a:cs typeface="Arial" pitchFamily="34" charset="-120"/>
              </a:rPr>
              <a:t>الـ round اللي مات فيه 50% — العمر المفيد.</a:t>
            </a:r>
            <a:endParaRPr lang="ar-EG" sz="1400" dirty="0"/>
          </a:p>
        </p:txBody>
      </p:sp>
      <p:sp>
        <p:nvSpPr>
          <p:cNvPr id="28" name="Shape 25"/>
          <p:cNvSpPr/>
          <p:nvPr/>
        </p:nvSpPr>
        <p:spPr>
          <a:xfrm>
            <a:off x="3483864" y="1508760"/>
            <a:ext cx="2514600" cy="3291840"/>
          </a:xfrm>
          <a:prstGeom prst="roundRect">
            <a:avLst>
              <a:gd name="adj" fmla="val 4364"/>
            </a:avLst>
          </a:prstGeom>
          <a:solidFill>
            <a:srgbClr val="FFFFFF"/>
          </a:solidFill>
          <a:ln w="12700">
            <a:solidFill>
              <a:srgbClr val="D6D3C7"/>
            </a:solidFill>
            <a:prstDash val="solid"/>
          </a:ln>
        </p:spPr>
      </p:sp>
      <p:sp>
        <p:nvSpPr>
          <p:cNvPr id="29" name="Text 26"/>
          <p:cNvSpPr txBox="1"/>
          <p:nvPr/>
        </p:nvSpPr>
        <p:spPr>
          <a:xfrm>
            <a:off x="3483864" y="1645920"/>
            <a:ext cx="2514600" cy="822960"/>
          </a:xfrm>
          <a:prstGeom prst="rect">
            <a:avLst/>
          </a:prstGeom>
          <a:noFill/>
          <a:ln/>
        </p:spPr>
        <p:txBody>
          <a:bodyPr wrap="square" lIns="0" tIns="0" rIns="0" bIns="0" rtlCol="0" anchor="ctr"/>
          <a:lstStyle/>
          <a:p>
            <a:pPr algn="ctr" indent="0" marL="0">
              <a:buNone/>
            </a:pPr>
            <a:r>
              <a:rPr lang="en-US" sz="3800" b="1" dirty="0">
                <a:solidFill>
                  <a:srgbClr val="8A2522"/>
                </a:solidFill>
                <a:latin typeface="Arial" pitchFamily="34" charset="0"/>
                <a:ea typeface="Arial" pitchFamily="34" charset="-122"/>
                <a:cs typeface="Arial" pitchFamily="34" charset="-120"/>
              </a:rPr>
              <a:t>LND</a:t>
            </a:r>
            <a:endParaRPr lang="en-US" sz="3800" dirty="0"/>
          </a:p>
        </p:txBody>
      </p:sp>
      <p:sp>
        <p:nvSpPr>
          <p:cNvPr id="30" name="Text 27"/>
          <p:cNvSpPr txBox="1"/>
          <p:nvPr/>
        </p:nvSpPr>
        <p:spPr>
          <a:xfrm>
            <a:off x="3621024" y="2514600"/>
            <a:ext cx="2240280" cy="457200"/>
          </a:xfrm>
          <a:prstGeom prst="rect">
            <a:avLst/>
          </a:prstGeom>
          <a:noFill/>
          <a:ln/>
        </p:spPr>
        <p:txBody>
          <a:bodyPr wrap="square" lIns="0" tIns="0" rIns="0" bIns="0" rtlCol="0" anchor="ctr"/>
          <a:lstStyle/>
          <a:p>
            <a:pPr rtl="1" algn="ctr" indent="0" marL="0">
              <a:buNone/>
            </a:pPr>
            <a:r>
              <a:rPr lang="ar-EG" altLang="en-US" sz="1500" b="1" dirty="0">
                <a:solidFill>
                  <a:srgbClr val="323232"/>
                </a:solidFill>
                <a:latin typeface="Arial" pitchFamily="34" charset="0"/>
                <a:ea typeface="Arial" pitchFamily="34" charset="-122"/>
                <a:cs typeface="Arial" pitchFamily="34" charset="-120"/>
              </a:rPr>
              <a:t>آخر نود مات</a:t>
            </a:r>
            <a:endParaRPr lang="ar-EG" sz="1500" dirty="0"/>
          </a:p>
        </p:txBody>
      </p:sp>
      <p:sp>
        <p:nvSpPr>
          <p:cNvPr id="31" name="Text 28"/>
          <p:cNvSpPr txBox="1"/>
          <p:nvPr/>
        </p:nvSpPr>
        <p:spPr>
          <a:xfrm>
            <a:off x="3666744" y="3017520"/>
            <a:ext cx="2148840" cy="1645920"/>
          </a:xfrm>
          <a:prstGeom prst="rect">
            <a:avLst/>
          </a:prstGeom>
          <a:noFill/>
          <a:ln/>
        </p:spPr>
        <p:txBody>
          <a:bodyPr wrap="square" lIns="0" tIns="0" rIns="0" bIns="0" rtlCol="0" anchor="t"/>
          <a:lstStyle/>
          <a:p>
            <a:pPr rtl="1" algn="ctr" indent="0" marL="0">
              <a:buNone/>
            </a:pPr>
            <a:r>
              <a:rPr lang="ar-EG" altLang="en-US" sz="1400" dirty="0">
                <a:solidFill>
                  <a:srgbClr val="323232"/>
                </a:solidFill>
                <a:latin typeface="Arial" pitchFamily="34" charset="0"/>
                <a:ea typeface="Arial" pitchFamily="34" charset="-122"/>
                <a:cs typeface="Arial" pitchFamily="34" charset="-120"/>
              </a:rPr>
              <a:t>الـ round اللي مات فيه آخر نود — العمر الكلي (ممكن يبقى وهمي).</a:t>
            </a:r>
            <a:endParaRPr lang="ar-EG" sz="1400" dirty="0"/>
          </a:p>
        </p:txBody>
      </p:sp>
      <p:sp>
        <p:nvSpPr>
          <p:cNvPr id="32" name="Shape 29"/>
          <p:cNvSpPr/>
          <p:nvPr/>
        </p:nvSpPr>
        <p:spPr>
          <a:xfrm>
            <a:off x="768096" y="1508760"/>
            <a:ext cx="2514600" cy="3291840"/>
          </a:xfrm>
          <a:prstGeom prst="roundRect">
            <a:avLst>
              <a:gd name="adj" fmla="val 4364"/>
            </a:avLst>
          </a:prstGeom>
          <a:solidFill>
            <a:srgbClr val="FFFFFF"/>
          </a:solidFill>
          <a:ln w="12700">
            <a:solidFill>
              <a:srgbClr val="D6D3C7"/>
            </a:solidFill>
            <a:prstDash val="solid"/>
          </a:ln>
        </p:spPr>
      </p:sp>
      <p:sp>
        <p:nvSpPr>
          <p:cNvPr id="33" name="Text 30"/>
          <p:cNvSpPr txBox="1"/>
          <p:nvPr/>
        </p:nvSpPr>
        <p:spPr>
          <a:xfrm>
            <a:off x="768096" y="1645920"/>
            <a:ext cx="2514600" cy="822960"/>
          </a:xfrm>
          <a:prstGeom prst="rect">
            <a:avLst/>
          </a:prstGeom>
          <a:noFill/>
          <a:ln/>
        </p:spPr>
        <p:txBody>
          <a:bodyPr wrap="square" lIns="0" tIns="0" rIns="0" bIns="0" rtlCol="0" anchor="ctr"/>
          <a:lstStyle/>
          <a:p>
            <a:pPr algn="ctr" indent="0" marL="0">
              <a:buNone/>
            </a:pPr>
            <a:r>
              <a:rPr lang="en-US" sz="3800" b="1" dirty="0">
                <a:solidFill>
                  <a:srgbClr val="8A2522"/>
                </a:solidFill>
                <a:latin typeface="Arial" pitchFamily="34" charset="0"/>
                <a:ea typeface="Arial" pitchFamily="34" charset="-122"/>
                <a:cs typeface="Arial" pitchFamily="34" charset="-120"/>
              </a:rPr>
              <a:t>PDR</a:t>
            </a:r>
            <a:endParaRPr lang="en-US" sz="3800" dirty="0"/>
          </a:p>
        </p:txBody>
      </p:sp>
      <p:sp>
        <p:nvSpPr>
          <p:cNvPr id="34" name="Text 31"/>
          <p:cNvSpPr txBox="1"/>
          <p:nvPr/>
        </p:nvSpPr>
        <p:spPr>
          <a:xfrm>
            <a:off x="905256" y="2514600"/>
            <a:ext cx="2240280" cy="457200"/>
          </a:xfrm>
          <a:prstGeom prst="rect">
            <a:avLst/>
          </a:prstGeom>
          <a:noFill/>
          <a:ln/>
        </p:spPr>
        <p:txBody>
          <a:bodyPr wrap="square" lIns="0" tIns="0" rIns="0" bIns="0" rtlCol="0" anchor="ctr"/>
          <a:lstStyle/>
          <a:p>
            <a:pPr rtl="1" algn="ctr" indent="0" marL="0">
              <a:buNone/>
            </a:pPr>
            <a:r>
              <a:rPr lang="ar-EG" altLang="en-US" sz="1500" b="1" dirty="0">
                <a:solidFill>
                  <a:srgbClr val="323232"/>
                </a:solidFill>
                <a:latin typeface="Arial" pitchFamily="34" charset="0"/>
                <a:ea typeface="Arial" pitchFamily="34" charset="-122"/>
                <a:cs typeface="Arial" pitchFamily="34" charset="-120"/>
              </a:rPr>
              <a:t>نسبة التوصيل</a:t>
            </a:r>
            <a:endParaRPr lang="ar-EG" sz="1500" dirty="0"/>
          </a:p>
        </p:txBody>
      </p:sp>
      <p:sp>
        <p:nvSpPr>
          <p:cNvPr id="35" name="Text 32"/>
          <p:cNvSpPr txBox="1"/>
          <p:nvPr/>
        </p:nvSpPr>
        <p:spPr>
          <a:xfrm>
            <a:off x="950976" y="3017520"/>
            <a:ext cx="2148840" cy="1645920"/>
          </a:xfrm>
          <a:prstGeom prst="rect">
            <a:avLst/>
          </a:prstGeom>
          <a:noFill/>
          <a:ln/>
        </p:spPr>
        <p:txBody>
          <a:bodyPr wrap="square" lIns="0" tIns="0" rIns="0" bIns="0" rtlCol="0" anchor="t"/>
          <a:lstStyle/>
          <a:p>
            <a:pPr rtl="1" algn="ctr" indent="0" marL="0">
              <a:buNone/>
            </a:pPr>
            <a:r>
              <a:rPr lang="ar-EG" altLang="en-US" sz="1400" dirty="0">
                <a:solidFill>
                  <a:srgbClr val="323232"/>
                </a:solidFill>
                <a:latin typeface="Arial" pitchFamily="34" charset="0"/>
                <a:ea typeface="Arial" pitchFamily="34" charset="-122"/>
                <a:cs typeface="Arial" pitchFamily="34" charset="-120"/>
              </a:rPr>
              <a:t>الرسايل اللي وصلت ÷ اللي اتعملت — الاعتمادية.</a:t>
            </a:r>
            <a:endParaRPr lang="ar-EG" sz="1400" dirty="0"/>
          </a:p>
        </p:txBody>
      </p:sp>
      <p:sp>
        <p:nvSpPr>
          <p:cNvPr id="36" name="Shape 33"/>
          <p:cNvSpPr/>
          <p:nvPr/>
        </p:nvSpPr>
        <p:spPr>
          <a:xfrm>
            <a:off x="822960" y="5029200"/>
            <a:ext cx="10607040" cy="868680"/>
          </a:xfrm>
          <a:prstGeom prst="roundRect">
            <a:avLst>
              <a:gd name="adj" fmla="val 12632"/>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37" name="Text 34"/>
          <p:cNvSpPr txBox="1"/>
          <p:nvPr/>
        </p:nvSpPr>
        <p:spPr>
          <a:xfrm>
            <a:off x="1005840" y="5166360"/>
            <a:ext cx="10204704" cy="548640"/>
          </a:xfrm>
          <a:prstGeom prst="rect">
            <a:avLst/>
          </a:prstGeom>
          <a:noFill/>
          <a:ln/>
        </p:spPr>
        <p:txBody>
          <a:bodyPr wrap="square" lIns="0" tIns="0" rIns="0" bIns="0" rtlCol="0" anchor="ctr"/>
          <a:lstStyle/>
          <a:p>
            <a:pPr rtl="1" algn="r" indent="0" marL="0">
              <a:buNone/>
            </a:pPr>
            <a:r>
              <a:rPr lang="ar-EG" altLang="en-US" sz="1400" b="1" dirty="0">
                <a:solidFill>
                  <a:srgbClr val="323232"/>
                </a:solidFill>
                <a:latin typeface="Arial" pitchFamily="34" charset="0"/>
                <a:ea typeface="Arial" pitchFamily="34" charset="-122"/>
                <a:cs typeface="Arial" pitchFamily="34" charset="-120"/>
              </a:rPr>
              <a:t>وكمان بنعدّ الرسايل اللي وصلت فعلًا — عشان نكشف النودز "العايشة والساكتة" اللي بتخلّي الـ LND يبان أحسن من الحقيقة.</a:t>
            </a:r>
            <a:endParaRPr lang="ar-EG"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8A2522"/>
          </a:solidFill>
          <a:ln w="12700">
            <a:solidFill>
              <a:srgbClr val="8A2522"/>
            </a:solidFill>
            <a:prstDash val="solid"/>
          </a:ln>
        </p:spPr>
      </p:sp>
      <p:sp>
        <p:nvSpPr>
          <p:cNvPr id="3" name="Shape 1"/>
          <p:cNvSpPr/>
          <p:nvPr/>
        </p:nvSpPr>
        <p:spPr>
          <a:xfrm flipV="1">
            <a:off x="2455164" y="336042"/>
            <a:ext cx="1110996" cy="555498"/>
          </a:xfrm>
          <a:prstGeom prst="line">
            <a:avLst/>
          </a:prstGeom>
          <a:noFill/>
          <a:ln w="11430">
            <a:solidFill>
              <a:srgbClr val="E7C9C6"/>
            </a:solidFill>
            <a:prstDash val="solid"/>
          </a:ln>
        </p:spPr>
      </p:sp>
      <p:sp>
        <p:nvSpPr>
          <p:cNvPr id="4" name="Shape 2"/>
          <p:cNvSpPr/>
          <p:nvPr/>
        </p:nvSpPr>
        <p:spPr>
          <a:xfrm>
            <a:off x="1344168" y="459486"/>
            <a:ext cx="1110996" cy="432054"/>
          </a:xfrm>
          <a:prstGeom prst="line">
            <a:avLst/>
          </a:prstGeom>
          <a:noFill/>
          <a:ln w="11430">
            <a:solidFill>
              <a:srgbClr val="E7C9C6"/>
            </a:solidFill>
            <a:prstDash val="solid"/>
          </a:ln>
        </p:spPr>
      </p:sp>
      <p:sp>
        <p:nvSpPr>
          <p:cNvPr id="5" name="Shape 3"/>
          <p:cNvSpPr/>
          <p:nvPr/>
        </p:nvSpPr>
        <p:spPr>
          <a:xfrm flipV="1">
            <a:off x="418338" y="459486"/>
            <a:ext cx="925830" cy="864108"/>
          </a:xfrm>
          <a:prstGeom prst="line">
            <a:avLst/>
          </a:prstGeom>
          <a:noFill/>
          <a:ln w="11430">
            <a:solidFill>
              <a:srgbClr val="E7C9C6"/>
            </a:solidFill>
            <a:prstDash val="solid"/>
          </a:ln>
        </p:spPr>
      </p:sp>
      <p:sp>
        <p:nvSpPr>
          <p:cNvPr id="6" name="Shape 4"/>
          <p:cNvSpPr/>
          <p:nvPr/>
        </p:nvSpPr>
        <p:spPr>
          <a:xfrm flipV="1">
            <a:off x="1899666" y="891540"/>
            <a:ext cx="555498" cy="925830"/>
          </a:xfrm>
          <a:prstGeom prst="line">
            <a:avLst/>
          </a:prstGeom>
          <a:noFill/>
          <a:ln w="11430">
            <a:solidFill>
              <a:srgbClr val="E7C9C6"/>
            </a:solidFill>
            <a:prstDash val="solid"/>
          </a:ln>
        </p:spPr>
      </p:sp>
      <p:sp>
        <p:nvSpPr>
          <p:cNvPr id="7" name="Shape 5"/>
          <p:cNvSpPr/>
          <p:nvPr/>
        </p:nvSpPr>
        <p:spPr>
          <a:xfrm>
            <a:off x="418338" y="1323594"/>
            <a:ext cx="1481328" cy="493776"/>
          </a:xfrm>
          <a:prstGeom prst="line">
            <a:avLst/>
          </a:prstGeom>
          <a:noFill/>
          <a:ln w="11430">
            <a:solidFill>
              <a:srgbClr val="E7C9C6"/>
            </a:solidFill>
            <a:prstDash val="solid"/>
          </a:ln>
        </p:spPr>
      </p:sp>
      <p:sp>
        <p:nvSpPr>
          <p:cNvPr id="8" name="Shape 6"/>
          <p:cNvSpPr/>
          <p:nvPr/>
        </p:nvSpPr>
        <p:spPr>
          <a:xfrm flipV="1">
            <a:off x="726948" y="1817370"/>
            <a:ext cx="1172718" cy="555498"/>
          </a:xfrm>
          <a:prstGeom prst="line">
            <a:avLst/>
          </a:prstGeom>
          <a:noFill/>
          <a:ln w="11430">
            <a:solidFill>
              <a:srgbClr val="E7C9C6"/>
            </a:solidFill>
            <a:prstDash val="solid"/>
          </a:ln>
        </p:spPr>
      </p:sp>
      <p:sp>
        <p:nvSpPr>
          <p:cNvPr id="9" name="Shape 7"/>
          <p:cNvSpPr/>
          <p:nvPr/>
        </p:nvSpPr>
        <p:spPr>
          <a:xfrm>
            <a:off x="418338" y="1323594"/>
            <a:ext cx="308610" cy="1049274"/>
          </a:xfrm>
          <a:prstGeom prst="line">
            <a:avLst/>
          </a:prstGeom>
          <a:noFill/>
          <a:ln w="11430">
            <a:solidFill>
              <a:srgbClr val="E7C9C6"/>
            </a:solidFill>
            <a:prstDash val="solid"/>
          </a:ln>
        </p:spPr>
      </p:sp>
      <p:sp>
        <p:nvSpPr>
          <p:cNvPr id="10" name="Shape 8"/>
          <p:cNvSpPr/>
          <p:nvPr/>
        </p:nvSpPr>
        <p:spPr>
          <a:xfrm>
            <a:off x="2455164" y="891540"/>
            <a:ext cx="308610" cy="678942"/>
          </a:xfrm>
          <a:prstGeom prst="line">
            <a:avLst/>
          </a:prstGeom>
          <a:noFill/>
          <a:ln w="11430">
            <a:solidFill>
              <a:srgbClr val="E7C9C6"/>
            </a:solidFill>
            <a:prstDash val="solid"/>
          </a:ln>
        </p:spPr>
      </p:sp>
      <p:sp>
        <p:nvSpPr>
          <p:cNvPr id="11" name="Shape 9"/>
          <p:cNvSpPr/>
          <p:nvPr/>
        </p:nvSpPr>
        <p:spPr>
          <a:xfrm flipV="1">
            <a:off x="1899666" y="1570482"/>
            <a:ext cx="864108" cy="246888"/>
          </a:xfrm>
          <a:prstGeom prst="line">
            <a:avLst/>
          </a:prstGeom>
          <a:noFill/>
          <a:ln w="11430">
            <a:solidFill>
              <a:srgbClr val="E7C9C6"/>
            </a:solidFill>
            <a:prstDash val="solid"/>
          </a:ln>
        </p:spPr>
      </p:sp>
      <p:sp>
        <p:nvSpPr>
          <p:cNvPr id="12" name="Shape 10"/>
          <p:cNvSpPr/>
          <p:nvPr/>
        </p:nvSpPr>
        <p:spPr>
          <a:xfrm flipV="1">
            <a:off x="233172" y="459486"/>
            <a:ext cx="1110996" cy="61722"/>
          </a:xfrm>
          <a:prstGeom prst="line">
            <a:avLst/>
          </a:prstGeom>
          <a:noFill/>
          <a:ln w="11430">
            <a:solidFill>
              <a:srgbClr val="E7C9C6"/>
            </a:solidFill>
            <a:prstDash val="solid"/>
          </a:ln>
        </p:spPr>
      </p:sp>
      <p:sp>
        <p:nvSpPr>
          <p:cNvPr id="13" name="Shape 11"/>
          <p:cNvSpPr/>
          <p:nvPr/>
        </p:nvSpPr>
        <p:spPr>
          <a:xfrm>
            <a:off x="233172" y="521208"/>
            <a:ext cx="185166" cy="802386"/>
          </a:xfrm>
          <a:prstGeom prst="line">
            <a:avLst/>
          </a:prstGeom>
          <a:noFill/>
          <a:ln w="11430">
            <a:solidFill>
              <a:srgbClr val="E7C9C6"/>
            </a:solidFill>
            <a:prstDash val="solid"/>
          </a:ln>
        </p:spPr>
      </p:sp>
      <p:sp>
        <p:nvSpPr>
          <p:cNvPr id="14" name="Shape 12"/>
          <p:cNvSpPr/>
          <p:nvPr/>
        </p:nvSpPr>
        <p:spPr>
          <a:xfrm>
            <a:off x="726948" y="2372868"/>
            <a:ext cx="493776" cy="678942"/>
          </a:xfrm>
          <a:prstGeom prst="line">
            <a:avLst/>
          </a:prstGeom>
          <a:noFill/>
          <a:ln w="11430">
            <a:solidFill>
              <a:srgbClr val="E7C9C6"/>
            </a:solidFill>
            <a:prstDash val="solid"/>
          </a:ln>
        </p:spPr>
      </p:sp>
      <p:sp>
        <p:nvSpPr>
          <p:cNvPr id="15" name="Shape 13"/>
          <p:cNvSpPr/>
          <p:nvPr/>
        </p:nvSpPr>
        <p:spPr>
          <a:xfrm flipV="1">
            <a:off x="171450" y="3051810"/>
            <a:ext cx="1049274" cy="432054"/>
          </a:xfrm>
          <a:prstGeom prst="line">
            <a:avLst/>
          </a:prstGeom>
          <a:noFill/>
          <a:ln w="11430">
            <a:solidFill>
              <a:srgbClr val="E7C9C6"/>
            </a:solidFill>
            <a:prstDash val="solid"/>
          </a:ln>
        </p:spPr>
      </p:sp>
      <p:sp>
        <p:nvSpPr>
          <p:cNvPr id="16" name="Shape 14"/>
          <p:cNvSpPr/>
          <p:nvPr/>
        </p:nvSpPr>
        <p:spPr>
          <a:xfrm flipV="1">
            <a:off x="171450" y="2372868"/>
            <a:ext cx="555498" cy="1110996"/>
          </a:xfrm>
          <a:prstGeom prst="line">
            <a:avLst/>
          </a:prstGeom>
          <a:noFill/>
          <a:ln w="11430">
            <a:solidFill>
              <a:srgbClr val="E7C9C6"/>
            </a:solidFill>
            <a:prstDash val="solid"/>
          </a:ln>
        </p:spPr>
      </p:sp>
      <p:sp>
        <p:nvSpPr>
          <p:cNvPr id="17" name="Shape 15"/>
          <p:cNvSpPr/>
          <p:nvPr/>
        </p:nvSpPr>
        <p:spPr>
          <a:xfrm flipV="1">
            <a:off x="1220724" y="1817370"/>
            <a:ext cx="678942" cy="1234440"/>
          </a:xfrm>
          <a:prstGeom prst="line">
            <a:avLst/>
          </a:prstGeom>
          <a:noFill/>
          <a:ln w="11430">
            <a:solidFill>
              <a:srgbClr val="E7C9C6"/>
            </a:solidFill>
            <a:prstDash val="solid"/>
          </a:ln>
        </p:spPr>
      </p:sp>
      <p:sp>
        <p:nvSpPr>
          <p:cNvPr id="18" name="Shape 16"/>
          <p:cNvSpPr/>
          <p:nvPr/>
        </p:nvSpPr>
        <p:spPr>
          <a:xfrm>
            <a:off x="3525012" y="294894"/>
            <a:ext cx="82296" cy="82296"/>
          </a:xfrm>
          <a:prstGeom prst="ellipse">
            <a:avLst/>
          </a:prstGeom>
          <a:solidFill>
            <a:srgbClr val="8A2522"/>
          </a:solidFill>
          <a:ln w="11430">
            <a:solidFill>
              <a:srgbClr val="E7C9C6"/>
            </a:solidFill>
            <a:prstDash val="solid"/>
          </a:ln>
        </p:spPr>
      </p:sp>
      <p:sp>
        <p:nvSpPr>
          <p:cNvPr id="19" name="Shape 17"/>
          <p:cNvSpPr/>
          <p:nvPr/>
        </p:nvSpPr>
        <p:spPr>
          <a:xfrm>
            <a:off x="2414016" y="850392"/>
            <a:ext cx="82296" cy="82296"/>
          </a:xfrm>
          <a:prstGeom prst="ellipse">
            <a:avLst/>
          </a:prstGeom>
          <a:solidFill>
            <a:srgbClr val="8A2522"/>
          </a:solidFill>
          <a:ln w="11430">
            <a:solidFill>
              <a:srgbClr val="E7C9C6"/>
            </a:solidFill>
            <a:prstDash val="solid"/>
          </a:ln>
        </p:spPr>
      </p:sp>
      <p:sp>
        <p:nvSpPr>
          <p:cNvPr id="20" name="Shape 18"/>
          <p:cNvSpPr/>
          <p:nvPr/>
        </p:nvSpPr>
        <p:spPr>
          <a:xfrm>
            <a:off x="1303020" y="418338"/>
            <a:ext cx="82296" cy="82296"/>
          </a:xfrm>
          <a:prstGeom prst="ellipse">
            <a:avLst/>
          </a:prstGeom>
          <a:solidFill>
            <a:srgbClr val="8A2522"/>
          </a:solidFill>
          <a:ln w="11430">
            <a:solidFill>
              <a:srgbClr val="E7C9C6"/>
            </a:solidFill>
            <a:prstDash val="solid"/>
          </a:ln>
        </p:spPr>
      </p:sp>
      <p:sp>
        <p:nvSpPr>
          <p:cNvPr id="21" name="Shape 19"/>
          <p:cNvSpPr/>
          <p:nvPr/>
        </p:nvSpPr>
        <p:spPr>
          <a:xfrm>
            <a:off x="377190" y="1282446"/>
            <a:ext cx="82296" cy="82296"/>
          </a:xfrm>
          <a:prstGeom prst="ellipse">
            <a:avLst/>
          </a:prstGeom>
          <a:solidFill>
            <a:srgbClr val="8A2522"/>
          </a:solidFill>
          <a:ln w="11430">
            <a:solidFill>
              <a:srgbClr val="E7C9C6"/>
            </a:solidFill>
            <a:prstDash val="solid"/>
          </a:ln>
        </p:spPr>
      </p:sp>
      <p:sp>
        <p:nvSpPr>
          <p:cNvPr id="22" name="Shape 20"/>
          <p:cNvSpPr/>
          <p:nvPr/>
        </p:nvSpPr>
        <p:spPr>
          <a:xfrm>
            <a:off x="1858518" y="1776222"/>
            <a:ext cx="82296" cy="82296"/>
          </a:xfrm>
          <a:prstGeom prst="ellipse">
            <a:avLst/>
          </a:prstGeom>
          <a:solidFill>
            <a:srgbClr val="8A2522"/>
          </a:solidFill>
          <a:ln w="11430">
            <a:solidFill>
              <a:srgbClr val="E7C9C6"/>
            </a:solidFill>
            <a:prstDash val="solid"/>
          </a:ln>
        </p:spPr>
      </p:sp>
      <p:sp>
        <p:nvSpPr>
          <p:cNvPr id="23" name="Shape 21"/>
          <p:cNvSpPr/>
          <p:nvPr/>
        </p:nvSpPr>
        <p:spPr>
          <a:xfrm>
            <a:off x="685800" y="2331720"/>
            <a:ext cx="82296" cy="82296"/>
          </a:xfrm>
          <a:prstGeom prst="ellipse">
            <a:avLst/>
          </a:prstGeom>
          <a:solidFill>
            <a:srgbClr val="8A2522"/>
          </a:solidFill>
          <a:ln w="11430">
            <a:solidFill>
              <a:srgbClr val="E7C9C6"/>
            </a:solidFill>
            <a:prstDash val="solid"/>
          </a:ln>
        </p:spPr>
      </p:sp>
      <p:sp>
        <p:nvSpPr>
          <p:cNvPr id="24" name="Shape 22"/>
          <p:cNvSpPr/>
          <p:nvPr/>
        </p:nvSpPr>
        <p:spPr>
          <a:xfrm>
            <a:off x="2722626" y="1529334"/>
            <a:ext cx="82296" cy="82296"/>
          </a:xfrm>
          <a:prstGeom prst="ellipse">
            <a:avLst/>
          </a:prstGeom>
          <a:solidFill>
            <a:srgbClr val="8A2522"/>
          </a:solidFill>
          <a:ln w="11430">
            <a:solidFill>
              <a:srgbClr val="E7C9C6"/>
            </a:solidFill>
            <a:prstDash val="solid"/>
          </a:ln>
        </p:spPr>
      </p:sp>
      <p:sp>
        <p:nvSpPr>
          <p:cNvPr id="25" name="Shape 23"/>
          <p:cNvSpPr/>
          <p:nvPr/>
        </p:nvSpPr>
        <p:spPr>
          <a:xfrm>
            <a:off x="192024" y="480060"/>
            <a:ext cx="82296" cy="82296"/>
          </a:xfrm>
          <a:prstGeom prst="ellipse">
            <a:avLst/>
          </a:prstGeom>
          <a:solidFill>
            <a:srgbClr val="8A2522"/>
          </a:solidFill>
          <a:ln w="11430">
            <a:solidFill>
              <a:srgbClr val="E7C9C6"/>
            </a:solidFill>
            <a:prstDash val="solid"/>
          </a:ln>
        </p:spPr>
      </p:sp>
      <p:sp>
        <p:nvSpPr>
          <p:cNvPr id="26" name="Shape 24"/>
          <p:cNvSpPr/>
          <p:nvPr/>
        </p:nvSpPr>
        <p:spPr>
          <a:xfrm>
            <a:off x="1179576" y="3010662"/>
            <a:ext cx="82296" cy="82296"/>
          </a:xfrm>
          <a:prstGeom prst="ellipse">
            <a:avLst/>
          </a:prstGeom>
          <a:solidFill>
            <a:srgbClr val="8A2522"/>
          </a:solidFill>
          <a:ln w="11430">
            <a:solidFill>
              <a:srgbClr val="E7C9C6"/>
            </a:solidFill>
            <a:prstDash val="solid"/>
          </a:ln>
        </p:spPr>
      </p:sp>
      <p:sp>
        <p:nvSpPr>
          <p:cNvPr id="27" name="Shape 25"/>
          <p:cNvSpPr/>
          <p:nvPr/>
        </p:nvSpPr>
        <p:spPr>
          <a:xfrm>
            <a:off x="130302" y="3442716"/>
            <a:ext cx="82296" cy="82296"/>
          </a:xfrm>
          <a:prstGeom prst="ellipse">
            <a:avLst/>
          </a:prstGeom>
          <a:solidFill>
            <a:srgbClr val="8A2522"/>
          </a:solidFill>
          <a:ln w="11430">
            <a:solidFill>
              <a:srgbClr val="E7C9C6"/>
            </a:solidFill>
            <a:prstDash val="solid"/>
          </a:ln>
        </p:spPr>
      </p:sp>
      <p:sp>
        <p:nvSpPr>
          <p:cNvPr id="28" name="Shape 26"/>
          <p:cNvSpPr/>
          <p:nvPr/>
        </p:nvSpPr>
        <p:spPr>
          <a:xfrm>
            <a:off x="11020349" y="6163056"/>
            <a:ext cx="592531" cy="296266"/>
          </a:xfrm>
          <a:prstGeom prst="line">
            <a:avLst/>
          </a:prstGeom>
          <a:noFill/>
          <a:ln w="11430">
            <a:solidFill>
              <a:srgbClr val="E7C9C6"/>
            </a:solidFill>
            <a:prstDash val="solid"/>
          </a:ln>
        </p:spPr>
      </p:sp>
      <p:sp>
        <p:nvSpPr>
          <p:cNvPr id="29" name="Shape 27"/>
          <p:cNvSpPr/>
          <p:nvPr/>
        </p:nvSpPr>
        <p:spPr>
          <a:xfrm flipV="1">
            <a:off x="10427818" y="6163056"/>
            <a:ext cx="592531" cy="230429"/>
          </a:xfrm>
          <a:prstGeom prst="line">
            <a:avLst/>
          </a:prstGeom>
          <a:noFill/>
          <a:ln w="11430">
            <a:solidFill>
              <a:srgbClr val="E7C9C6"/>
            </a:solidFill>
            <a:prstDash val="solid"/>
          </a:ln>
        </p:spPr>
      </p:sp>
      <p:sp>
        <p:nvSpPr>
          <p:cNvPr id="30" name="Shape 28"/>
          <p:cNvSpPr/>
          <p:nvPr/>
        </p:nvSpPr>
        <p:spPr>
          <a:xfrm>
            <a:off x="9934042" y="5932627"/>
            <a:ext cx="493776" cy="460858"/>
          </a:xfrm>
          <a:prstGeom prst="line">
            <a:avLst/>
          </a:prstGeom>
          <a:noFill/>
          <a:ln w="11430">
            <a:solidFill>
              <a:srgbClr val="E7C9C6"/>
            </a:solidFill>
            <a:prstDash val="solid"/>
          </a:ln>
        </p:spPr>
      </p:sp>
      <p:sp>
        <p:nvSpPr>
          <p:cNvPr id="31" name="Shape 29"/>
          <p:cNvSpPr/>
          <p:nvPr/>
        </p:nvSpPr>
        <p:spPr>
          <a:xfrm>
            <a:off x="10724083" y="5669280"/>
            <a:ext cx="296266" cy="493776"/>
          </a:xfrm>
          <a:prstGeom prst="line">
            <a:avLst/>
          </a:prstGeom>
          <a:noFill/>
          <a:ln w="11430">
            <a:solidFill>
              <a:srgbClr val="E7C9C6"/>
            </a:solidFill>
            <a:prstDash val="solid"/>
          </a:ln>
        </p:spPr>
      </p:sp>
      <p:sp>
        <p:nvSpPr>
          <p:cNvPr id="32" name="Shape 30"/>
          <p:cNvSpPr/>
          <p:nvPr/>
        </p:nvSpPr>
        <p:spPr>
          <a:xfrm flipV="1">
            <a:off x="9934042" y="5669280"/>
            <a:ext cx="790042" cy="263347"/>
          </a:xfrm>
          <a:prstGeom prst="line">
            <a:avLst/>
          </a:prstGeom>
          <a:noFill/>
          <a:ln w="11430">
            <a:solidFill>
              <a:srgbClr val="E7C9C6"/>
            </a:solidFill>
            <a:prstDash val="solid"/>
          </a:ln>
        </p:spPr>
      </p:sp>
      <p:sp>
        <p:nvSpPr>
          <p:cNvPr id="33" name="Shape 31"/>
          <p:cNvSpPr/>
          <p:nvPr/>
        </p:nvSpPr>
        <p:spPr>
          <a:xfrm>
            <a:off x="10098634" y="5373014"/>
            <a:ext cx="625450" cy="296266"/>
          </a:xfrm>
          <a:prstGeom prst="line">
            <a:avLst/>
          </a:prstGeom>
          <a:noFill/>
          <a:ln w="11430">
            <a:solidFill>
              <a:srgbClr val="E7C9C6"/>
            </a:solidFill>
            <a:prstDash val="solid"/>
          </a:ln>
        </p:spPr>
      </p:sp>
      <p:sp>
        <p:nvSpPr>
          <p:cNvPr id="34" name="Shape 32"/>
          <p:cNvSpPr/>
          <p:nvPr/>
        </p:nvSpPr>
        <p:spPr>
          <a:xfrm flipV="1">
            <a:off x="9934042" y="5373014"/>
            <a:ext cx="164592" cy="559613"/>
          </a:xfrm>
          <a:prstGeom prst="line">
            <a:avLst/>
          </a:prstGeom>
          <a:noFill/>
          <a:ln w="11430">
            <a:solidFill>
              <a:srgbClr val="E7C9C6"/>
            </a:solidFill>
            <a:prstDash val="solid"/>
          </a:ln>
        </p:spPr>
      </p:sp>
      <p:sp>
        <p:nvSpPr>
          <p:cNvPr id="35" name="Shape 33"/>
          <p:cNvSpPr/>
          <p:nvPr/>
        </p:nvSpPr>
        <p:spPr>
          <a:xfrm flipV="1">
            <a:off x="11020349" y="5800954"/>
            <a:ext cx="164592" cy="362102"/>
          </a:xfrm>
          <a:prstGeom prst="line">
            <a:avLst/>
          </a:prstGeom>
          <a:noFill/>
          <a:ln w="11430">
            <a:solidFill>
              <a:srgbClr val="E7C9C6"/>
            </a:solidFill>
            <a:prstDash val="solid"/>
          </a:ln>
        </p:spPr>
      </p:sp>
      <p:sp>
        <p:nvSpPr>
          <p:cNvPr id="36" name="Shape 34"/>
          <p:cNvSpPr/>
          <p:nvPr/>
        </p:nvSpPr>
        <p:spPr>
          <a:xfrm>
            <a:off x="10724083" y="5669280"/>
            <a:ext cx="460858" cy="131674"/>
          </a:xfrm>
          <a:prstGeom prst="line">
            <a:avLst/>
          </a:prstGeom>
          <a:noFill/>
          <a:ln w="11430">
            <a:solidFill>
              <a:srgbClr val="E7C9C6"/>
            </a:solidFill>
            <a:prstDash val="solid"/>
          </a:ln>
        </p:spPr>
      </p:sp>
      <p:sp>
        <p:nvSpPr>
          <p:cNvPr id="37" name="Shape 35"/>
          <p:cNvSpPr/>
          <p:nvPr/>
        </p:nvSpPr>
        <p:spPr>
          <a:xfrm>
            <a:off x="9835286" y="6360566"/>
            <a:ext cx="592531" cy="32918"/>
          </a:xfrm>
          <a:prstGeom prst="line">
            <a:avLst/>
          </a:prstGeom>
          <a:noFill/>
          <a:ln w="11430">
            <a:solidFill>
              <a:srgbClr val="E7C9C6"/>
            </a:solidFill>
            <a:prstDash val="solid"/>
          </a:ln>
        </p:spPr>
      </p:sp>
      <p:sp>
        <p:nvSpPr>
          <p:cNvPr id="38" name="Shape 36"/>
          <p:cNvSpPr/>
          <p:nvPr/>
        </p:nvSpPr>
        <p:spPr>
          <a:xfrm flipV="1">
            <a:off x="9835286" y="5932627"/>
            <a:ext cx="98755" cy="427939"/>
          </a:xfrm>
          <a:prstGeom prst="line">
            <a:avLst/>
          </a:prstGeom>
          <a:noFill/>
          <a:ln w="11430">
            <a:solidFill>
              <a:srgbClr val="E7C9C6"/>
            </a:solidFill>
            <a:prstDash val="solid"/>
          </a:ln>
        </p:spPr>
      </p:sp>
      <p:sp>
        <p:nvSpPr>
          <p:cNvPr id="39" name="Shape 37"/>
          <p:cNvSpPr/>
          <p:nvPr/>
        </p:nvSpPr>
        <p:spPr>
          <a:xfrm flipV="1">
            <a:off x="10098634" y="5010912"/>
            <a:ext cx="263347" cy="362102"/>
          </a:xfrm>
          <a:prstGeom prst="line">
            <a:avLst/>
          </a:prstGeom>
          <a:noFill/>
          <a:ln w="11430">
            <a:solidFill>
              <a:srgbClr val="E7C9C6"/>
            </a:solidFill>
            <a:prstDash val="solid"/>
          </a:ln>
        </p:spPr>
      </p:sp>
      <p:sp>
        <p:nvSpPr>
          <p:cNvPr id="40" name="Shape 38"/>
          <p:cNvSpPr/>
          <p:nvPr/>
        </p:nvSpPr>
        <p:spPr>
          <a:xfrm>
            <a:off x="9802368" y="4780483"/>
            <a:ext cx="559613" cy="230429"/>
          </a:xfrm>
          <a:prstGeom prst="line">
            <a:avLst/>
          </a:prstGeom>
          <a:noFill/>
          <a:ln w="11430">
            <a:solidFill>
              <a:srgbClr val="E7C9C6"/>
            </a:solidFill>
            <a:prstDash val="solid"/>
          </a:ln>
        </p:spPr>
      </p:sp>
      <p:sp>
        <p:nvSpPr>
          <p:cNvPr id="41" name="Shape 39"/>
          <p:cNvSpPr/>
          <p:nvPr/>
        </p:nvSpPr>
        <p:spPr>
          <a:xfrm>
            <a:off x="9802368" y="4780483"/>
            <a:ext cx="296266" cy="592531"/>
          </a:xfrm>
          <a:prstGeom prst="line">
            <a:avLst/>
          </a:prstGeom>
          <a:noFill/>
          <a:ln w="11430">
            <a:solidFill>
              <a:srgbClr val="E7C9C6"/>
            </a:solidFill>
            <a:prstDash val="solid"/>
          </a:ln>
        </p:spPr>
      </p:sp>
      <p:sp>
        <p:nvSpPr>
          <p:cNvPr id="42" name="Shape 40"/>
          <p:cNvSpPr/>
          <p:nvPr/>
        </p:nvSpPr>
        <p:spPr>
          <a:xfrm>
            <a:off x="10361981" y="5010912"/>
            <a:ext cx="362102" cy="658368"/>
          </a:xfrm>
          <a:prstGeom prst="line">
            <a:avLst/>
          </a:prstGeom>
          <a:noFill/>
          <a:ln w="11430">
            <a:solidFill>
              <a:srgbClr val="E7C9C6"/>
            </a:solidFill>
            <a:prstDash val="solid"/>
          </a:ln>
        </p:spPr>
      </p:sp>
      <p:sp>
        <p:nvSpPr>
          <p:cNvPr id="43" name="Shape 41"/>
          <p:cNvSpPr/>
          <p:nvPr/>
        </p:nvSpPr>
        <p:spPr>
          <a:xfrm>
            <a:off x="11571732" y="6418174"/>
            <a:ext cx="82296" cy="82296"/>
          </a:xfrm>
          <a:prstGeom prst="ellipse">
            <a:avLst/>
          </a:prstGeom>
          <a:solidFill>
            <a:srgbClr val="8A2522"/>
          </a:solidFill>
          <a:ln w="11430">
            <a:solidFill>
              <a:srgbClr val="E7C9C6"/>
            </a:solidFill>
            <a:prstDash val="solid"/>
          </a:ln>
        </p:spPr>
      </p:sp>
      <p:sp>
        <p:nvSpPr>
          <p:cNvPr id="44" name="Shape 42"/>
          <p:cNvSpPr/>
          <p:nvPr/>
        </p:nvSpPr>
        <p:spPr>
          <a:xfrm>
            <a:off x="10979201" y="6121908"/>
            <a:ext cx="82296" cy="82296"/>
          </a:xfrm>
          <a:prstGeom prst="ellipse">
            <a:avLst/>
          </a:prstGeom>
          <a:solidFill>
            <a:srgbClr val="8A2522"/>
          </a:solidFill>
          <a:ln w="11430">
            <a:solidFill>
              <a:srgbClr val="E7C9C6"/>
            </a:solidFill>
            <a:prstDash val="solid"/>
          </a:ln>
        </p:spPr>
      </p:sp>
      <p:sp>
        <p:nvSpPr>
          <p:cNvPr id="45" name="Shape 43"/>
          <p:cNvSpPr/>
          <p:nvPr/>
        </p:nvSpPr>
        <p:spPr>
          <a:xfrm>
            <a:off x="10386670" y="6352337"/>
            <a:ext cx="82296" cy="82296"/>
          </a:xfrm>
          <a:prstGeom prst="ellipse">
            <a:avLst/>
          </a:prstGeom>
          <a:solidFill>
            <a:srgbClr val="8A2522"/>
          </a:solidFill>
          <a:ln w="11430">
            <a:solidFill>
              <a:srgbClr val="E7C9C6"/>
            </a:solidFill>
            <a:prstDash val="solid"/>
          </a:ln>
        </p:spPr>
      </p:sp>
      <p:sp>
        <p:nvSpPr>
          <p:cNvPr id="46" name="Shape 44"/>
          <p:cNvSpPr/>
          <p:nvPr/>
        </p:nvSpPr>
        <p:spPr>
          <a:xfrm>
            <a:off x="9892894" y="5891479"/>
            <a:ext cx="82296" cy="82296"/>
          </a:xfrm>
          <a:prstGeom prst="ellipse">
            <a:avLst/>
          </a:prstGeom>
          <a:solidFill>
            <a:srgbClr val="8A2522"/>
          </a:solidFill>
          <a:ln w="11430">
            <a:solidFill>
              <a:srgbClr val="E7C9C6"/>
            </a:solidFill>
            <a:prstDash val="solid"/>
          </a:ln>
        </p:spPr>
      </p:sp>
      <p:sp>
        <p:nvSpPr>
          <p:cNvPr id="47" name="Shape 45"/>
          <p:cNvSpPr/>
          <p:nvPr/>
        </p:nvSpPr>
        <p:spPr>
          <a:xfrm>
            <a:off x="10682935" y="5628132"/>
            <a:ext cx="82296" cy="82296"/>
          </a:xfrm>
          <a:prstGeom prst="ellipse">
            <a:avLst/>
          </a:prstGeom>
          <a:solidFill>
            <a:srgbClr val="8A2522"/>
          </a:solidFill>
          <a:ln w="11430">
            <a:solidFill>
              <a:srgbClr val="E7C9C6"/>
            </a:solidFill>
            <a:prstDash val="solid"/>
          </a:ln>
        </p:spPr>
      </p:sp>
      <p:sp>
        <p:nvSpPr>
          <p:cNvPr id="48" name="Shape 46"/>
          <p:cNvSpPr/>
          <p:nvPr/>
        </p:nvSpPr>
        <p:spPr>
          <a:xfrm>
            <a:off x="10057486" y="5331866"/>
            <a:ext cx="82296" cy="82296"/>
          </a:xfrm>
          <a:prstGeom prst="ellipse">
            <a:avLst/>
          </a:prstGeom>
          <a:solidFill>
            <a:srgbClr val="8A2522"/>
          </a:solidFill>
          <a:ln w="11430">
            <a:solidFill>
              <a:srgbClr val="E7C9C6"/>
            </a:solidFill>
            <a:prstDash val="solid"/>
          </a:ln>
        </p:spPr>
      </p:sp>
      <p:sp>
        <p:nvSpPr>
          <p:cNvPr id="49" name="Shape 47"/>
          <p:cNvSpPr/>
          <p:nvPr/>
        </p:nvSpPr>
        <p:spPr>
          <a:xfrm>
            <a:off x="11143793" y="5759806"/>
            <a:ext cx="82296" cy="82296"/>
          </a:xfrm>
          <a:prstGeom prst="ellipse">
            <a:avLst/>
          </a:prstGeom>
          <a:solidFill>
            <a:srgbClr val="8A2522"/>
          </a:solidFill>
          <a:ln w="11430">
            <a:solidFill>
              <a:srgbClr val="E7C9C6"/>
            </a:solidFill>
            <a:prstDash val="solid"/>
          </a:ln>
        </p:spPr>
      </p:sp>
      <p:sp>
        <p:nvSpPr>
          <p:cNvPr id="50" name="Shape 48"/>
          <p:cNvSpPr/>
          <p:nvPr/>
        </p:nvSpPr>
        <p:spPr>
          <a:xfrm>
            <a:off x="9794138" y="6319418"/>
            <a:ext cx="82296" cy="82296"/>
          </a:xfrm>
          <a:prstGeom prst="ellipse">
            <a:avLst/>
          </a:prstGeom>
          <a:solidFill>
            <a:srgbClr val="8A2522"/>
          </a:solidFill>
          <a:ln w="11430">
            <a:solidFill>
              <a:srgbClr val="E7C9C6"/>
            </a:solidFill>
            <a:prstDash val="solid"/>
          </a:ln>
        </p:spPr>
      </p:sp>
      <p:sp>
        <p:nvSpPr>
          <p:cNvPr id="51" name="Shape 49"/>
          <p:cNvSpPr/>
          <p:nvPr/>
        </p:nvSpPr>
        <p:spPr>
          <a:xfrm>
            <a:off x="10320833" y="4969764"/>
            <a:ext cx="82296" cy="82296"/>
          </a:xfrm>
          <a:prstGeom prst="ellipse">
            <a:avLst/>
          </a:prstGeom>
          <a:solidFill>
            <a:srgbClr val="8A2522"/>
          </a:solidFill>
          <a:ln w="11430">
            <a:solidFill>
              <a:srgbClr val="E7C9C6"/>
            </a:solidFill>
            <a:prstDash val="solid"/>
          </a:ln>
        </p:spPr>
      </p:sp>
      <p:sp>
        <p:nvSpPr>
          <p:cNvPr id="52" name="Shape 50"/>
          <p:cNvSpPr/>
          <p:nvPr/>
        </p:nvSpPr>
        <p:spPr>
          <a:xfrm>
            <a:off x="9761220" y="4739335"/>
            <a:ext cx="82296" cy="82296"/>
          </a:xfrm>
          <a:prstGeom prst="ellipse">
            <a:avLst/>
          </a:prstGeom>
          <a:solidFill>
            <a:srgbClr val="8A2522"/>
          </a:solidFill>
          <a:ln w="11430">
            <a:solidFill>
              <a:srgbClr val="E7C9C6"/>
            </a:solidFill>
            <a:prstDash val="solid"/>
          </a:ln>
        </p:spPr>
      </p:sp>
      <p:sp>
        <p:nvSpPr>
          <p:cNvPr id="53" name="Text 51"/>
          <p:cNvSpPr txBox="1"/>
          <p:nvPr/>
        </p:nvSpPr>
        <p:spPr>
          <a:xfrm>
            <a:off x="7680960" y="1600200"/>
            <a:ext cx="3657600" cy="1280160"/>
          </a:xfrm>
          <a:prstGeom prst="rect">
            <a:avLst/>
          </a:prstGeom>
          <a:noFill/>
          <a:ln/>
        </p:spPr>
        <p:txBody>
          <a:bodyPr wrap="square" lIns="0" tIns="0" rIns="0" bIns="0" rtlCol="0" anchor="ctr"/>
          <a:lstStyle/>
          <a:p>
            <a:pPr algn="r" indent="0" marL="0">
              <a:buNone/>
            </a:pPr>
            <a:r>
              <a:rPr lang="en-US" sz="8800" b="1" dirty="0">
                <a:solidFill>
                  <a:srgbClr val="E7C9C6"/>
                </a:solidFill>
                <a:latin typeface="Arial" pitchFamily="34" charset="0"/>
                <a:ea typeface="Arial" pitchFamily="34" charset="-122"/>
                <a:cs typeface="Arial" pitchFamily="34" charset="-120"/>
              </a:rPr>
              <a:t>04</a:t>
            </a:r>
            <a:endParaRPr lang="en-US" sz="8800" dirty="0"/>
          </a:p>
        </p:txBody>
      </p:sp>
      <p:sp>
        <p:nvSpPr>
          <p:cNvPr id="54" name="Text 52"/>
          <p:cNvSpPr txBox="1"/>
          <p:nvPr/>
        </p:nvSpPr>
        <p:spPr>
          <a:xfrm>
            <a:off x="1371600" y="2926080"/>
            <a:ext cx="9966960" cy="914400"/>
          </a:xfrm>
          <a:prstGeom prst="rect">
            <a:avLst/>
          </a:prstGeom>
          <a:noFill/>
          <a:ln/>
        </p:spPr>
        <p:txBody>
          <a:bodyPr wrap="square" lIns="0" tIns="0" rIns="0" bIns="0" rtlCol="0" anchor="ctr"/>
          <a:lstStyle/>
          <a:p>
            <a:pPr rtl="1" algn="r" indent="0" marL="0">
              <a:buNone/>
            </a:pPr>
            <a:r>
              <a:rPr lang="ar-EG" altLang="en-US" sz="4000" b="1" dirty="0">
                <a:solidFill>
                  <a:srgbClr val="FFFFFF"/>
                </a:solidFill>
                <a:latin typeface="Arial" pitchFamily="34" charset="0"/>
                <a:ea typeface="Arial" pitchFamily="34" charset="-122"/>
                <a:cs typeface="Arial" pitchFamily="34" charset="-120"/>
              </a:rPr>
              <a:t>إعادة بناء البروتوكولات الموجودة</a:t>
            </a:r>
            <a:endParaRPr lang="ar-EG" sz="4000" dirty="0"/>
          </a:p>
        </p:txBody>
      </p:sp>
      <p:sp>
        <p:nvSpPr>
          <p:cNvPr id="55" name="Text 53"/>
          <p:cNvSpPr txBox="1"/>
          <p:nvPr/>
        </p:nvSpPr>
        <p:spPr>
          <a:xfrm>
            <a:off x="1371600" y="3886200"/>
            <a:ext cx="9966960" cy="822960"/>
          </a:xfrm>
          <a:prstGeom prst="rect">
            <a:avLst/>
          </a:prstGeom>
          <a:noFill/>
          <a:ln/>
        </p:spPr>
        <p:txBody>
          <a:bodyPr wrap="square" lIns="0" tIns="0" rIns="0" bIns="0" rtlCol="0" anchor="t"/>
          <a:lstStyle/>
          <a:p>
            <a:pPr rtl="1" algn="r" indent="0" marL="0">
              <a:buNone/>
            </a:pPr>
            <a:r>
              <a:rPr lang="ar-EG" altLang="en-US" sz="1800" dirty="0">
                <a:solidFill>
                  <a:srgbClr val="F3E3E1"/>
                </a:solidFill>
                <a:latin typeface="Arial" pitchFamily="34" charset="0"/>
                <a:ea typeface="Arial" pitchFamily="34" charset="-122"/>
                <a:cs typeface="Arial" pitchFamily="34" charset="-120"/>
              </a:rPr>
              <a:t>المنشور ← بإعدادات البحث ← الموحّد ← بعد التحسين</a:t>
            </a:r>
            <a:endParaRPr lang="ar-EG"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المنشور مقابل إعادة البناء</a:t>
            </a:r>
            <a:pPr algn="r" indent="0" marL="0">
              <a:buNone/>
            </a:pPr>
            <a:r>
              <a:rPr lang="ar-EG" altLang="en-US" sz="2100" dirty="0">
                <a:solidFill>
                  <a:srgbClr val="8A2522"/>
                </a:solidFill>
                <a:latin typeface="Arial" pitchFamily="34" charset="0"/>
                <a:ea typeface="Arial" pitchFamily="34" charset="-122"/>
                <a:cs typeface="Arial" pitchFamily="34" charset="-120"/>
              </a:rPr>
              <a:t>  –  الخطوة 1: بإعدادات البحث</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27</a:t>
            </a:r>
            <a:endParaRPr lang="en-US" sz="1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480560" y="1463040"/>
          <a:ext cx="6949440" cy="914400"/>
        </p:xfrm>
        <a:graphic>
          <a:graphicData uri="http://schemas.openxmlformats.org/drawingml/2006/table">
            <a:tbl>
              <a:tblPr/>
              <a:tblGrid>
                <a:gridCol w="1005840"/>
                <a:gridCol w="1005840"/>
                <a:gridCol w="1005840"/>
                <a:gridCol w="1005840"/>
                <a:gridCol w="1371600"/>
                <a:gridCol w="1554480"/>
              </a:tblGrid>
              <a:tr h="384048">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PDR بتاعنا</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LND بتاعنا</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HND بتاعنا</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FND بتاعنا</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LND المنشور</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البروتوكول</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98.02%</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1321</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970</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882</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1312</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LEACH</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99.97%</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1996</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1626</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1106</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رسم بس</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HEED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97.75%</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2167</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2036</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1614</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2192</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PEGASIS</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99.53%</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884</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747</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493</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رسم بس</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SH-LEACH</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94.75%</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1210</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1160</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1080</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≈4312</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H-LEACH</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90.43%</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1129</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1079</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792</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2200</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EECH-HEED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bl>
          </a:graphicData>
        </a:graphic>
      </p:graphicFrame>
      <p:sp>
        <p:nvSpPr>
          <p:cNvPr id="21" name="Shape 17"/>
          <p:cNvSpPr/>
          <p:nvPr/>
        </p:nvSpPr>
        <p:spPr>
          <a:xfrm>
            <a:off x="822960" y="1463040"/>
            <a:ext cx="3337560" cy="4389120"/>
          </a:xfrm>
          <a:prstGeom prst="roundRect">
            <a:avLst>
              <a:gd name="adj" fmla="val 3288"/>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2" name="Text 18"/>
          <p:cNvSpPr txBox="1"/>
          <p:nvPr/>
        </p:nvSpPr>
        <p:spPr>
          <a:xfrm>
            <a:off x="1005840" y="1600200"/>
            <a:ext cx="293522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اللي طلع</a:t>
            </a:r>
            <a:endParaRPr lang="ar-EG" sz="1500" dirty="0"/>
          </a:p>
        </p:txBody>
      </p:sp>
      <p:sp>
        <p:nvSpPr>
          <p:cNvPr id="23" name="Text 19"/>
          <p:cNvSpPr txBox="1"/>
          <p:nvPr/>
        </p:nvSpPr>
        <p:spPr>
          <a:xfrm>
            <a:off x="1024128" y="2194560"/>
            <a:ext cx="2935224" cy="352044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 PEGASIS طابق بحثه بفرق أقل من 2.3%.</a:t>
            </a:r>
            <a:endParaRPr lang="ar-EG" sz="1400" dirty="0"/>
          </a:p>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 LEACH طابق الرسم في بحثه.</a:t>
            </a:r>
            <a:endParaRPr lang="ar-EG" sz="1400" dirty="0"/>
          </a:p>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 H-LEACH محتاج حل احتياطي عشان يشتغل أصلًا.</a:t>
            </a:r>
            <a:endParaRPr lang="ar-EG" sz="1400" dirty="0"/>
          </a:p>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 EECH-HEED أقل من المنشور، لأن آلية الإرسال الذكي بتاعته ماكانتش اتعملت لسه.</a:t>
            </a:r>
            <a:endParaRPr lang="ar-EG"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البيئة الموحّدة</a:t>
            </a:r>
            <a:pPr algn="r" indent="0" marL="0">
              <a:buNone/>
            </a:pPr>
            <a:r>
              <a:rPr lang="ar-EG" altLang="en-US" sz="2100" dirty="0">
                <a:solidFill>
                  <a:srgbClr val="8A2522"/>
                </a:solidFill>
                <a:latin typeface="Arial" pitchFamily="34" charset="0"/>
                <a:ea typeface="Arial" pitchFamily="34" charset="-122"/>
                <a:cs typeface="Arial" pitchFamily="34" charset="-120"/>
              </a:rPr>
              <a:t>  –  الخطوة 2: نفس الأرض والراديو والـ BS</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28</a:t>
            </a:r>
            <a:endParaRPr lang="en-US" sz="1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492240" y="1417320"/>
          <a:ext cx="4937760" cy="914400"/>
        </p:xfrm>
        <a:graphic>
          <a:graphicData uri="http://schemas.openxmlformats.org/drawingml/2006/table">
            <a:tbl>
              <a:tblPr/>
              <a:tblGrid>
                <a:gridCol w="868680"/>
                <a:gridCol w="777240"/>
                <a:gridCol w="777240"/>
                <a:gridCol w="777240"/>
                <a:gridCol w="1737360"/>
              </a:tblGrid>
              <a:tr h="384048">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PDR</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LND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HND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FND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البروتوكول</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98.37%</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1962</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1626</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1409</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LEACH</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99.69%</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1362</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570</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323</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HEED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99.67%</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1502</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549</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338</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HEED (fairness)</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98.67%</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2887</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2353</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1324</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PEGASIS</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99.17%</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1604</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1584</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1440</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SH-LEACH</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97.33%</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2305</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2255</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2177</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H-LEACH</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91.68%</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2184</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2134</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1653</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EECH-HEED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bl>
          </a:graphicData>
        </a:graphic>
      </p:graphicFrame>
      <p:graphicFrame>
        <p:nvGraphicFramePr>
          <p:cNvPr id="21" name="Chart 0" descr=""/>
          <p:cNvGraphicFramePr/>
          <p:nvPr/>
        </p:nvGraphicFramePr>
        <p:xfrm>
          <a:off x="640080" y="1325880"/>
          <a:ext cx="5669280" cy="46634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ليه الأرقام بتتغير؟</a:t>
            </a:r>
            <a:pPr algn="r" indent="0" marL="0">
              <a:buNone/>
            </a:pPr>
            <a:r>
              <a:rPr lang="ar-EG" altLang="en-US" sz="2100" dirty="0">
                <a:solidFill>
                  <a:srgbClr val="8A2522"/>
                </a:solidFill>
                <a:latin typeface="Arial" pitchFamily="34" charset="0"/>
                <a:ea typeface="Arial" pitchFamily="34" charset="-122"/>
                <a:cs typeface="Arial" pitchFamily="34" charset="-120"/>
              </a:rPr>
              <a:t>  –  LND بإعدادات البحث مقابل الموحّد</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29</a:t>
            </a:r>
            <a:endParaRPr lang="en-US" sz="1000" dirty="0"/>
          </a:p>
        </p:txBody>
      </p:sp>
      <p:graphicFrame>
        <p:nvGraphicFramePr>
          <p:cNvPr id="20" name="Chart 0" descr=""/>
          <p:cNvGraphicFramePr/>
          <p:nvPr/>
        </p:nvGraphicFramePr>
        <p:xfrm>
          <a:off x="4846320" y="1325880"/>
          <a:ext cx="6583680" cy="4663440"/>
        </p:xfrm>
        <a:graphic xmlns:a="http://schemas.openxmlformats.org/drawingml/2006/main">
          <a:graphicData uri="http://schemas.openxmlformats.org/drawingml/2006/chart">
            <c:chart xmlns:c="http://schemas.openxmlformats.org/drawingml/2006/chart" r:id="rId1"/>
          </a:graphicData>
        </a:graphic>
      </p:graphicFrame>
      <p:sp>
        <p:nvSpPr>
          <p:cNvPr id="21" name="Shape 17"/>
          <p:cNvSpPr/>
          <p:nvPr/>
        </p:nvSpPr>
        <p:spPr>
          <a:xfrm>
            <a:off x="822960" y="1463040"/>
            <a:ext cx="3840480" cy="4389120"/>
          </a:xfrm>
          <a:prstGeom prst="roundRect">
            <a:avLst>
              <a:gd name="adj" fmla="val 2857"/>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2" name="Text 18"/>
          <p:cNvSpPr txBox="1"/>
          <p:nvPr/>
        </p:nvSpPr>
        <p:spPr>
          <a:xfrm>
            <a:off x="1005840" y="1600200"/>
            <a:ext cx="343814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الأسباب</a:t>
            </a:r>
            <a:endParaRPr lang="ar-EG" sz="1500" dirty="0"/>
          </a:p>
        </p:txBody>
      </p:sp>
      <p:sp>
        <p:nvSpPr>
          <p:cNvPr id="23" name="Text 19"/>
          <p:cNvSpPr txBox="1"/>
          <p:nvPr/>
        </p:nvSpPr>
        <p:spPr>
          <a:xfrm>
            <a:off x="1024128" y="2194560"/>
            <a:ext cx="3438144" cy="352044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 مساحة الأرض (50×50 ← 100×100 م)</a:t>
            </a:r>
            <a:endParaRPr lang="ar-EG" sz="1400" dirty="0"/>
          </a:p>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 مكان الـ BS (بعيد ← في النص)</a:t>
            </a:r>
            <a:endParaRPr lang="ar-EG" sz="1400" dirty="0"/>
          </a:p>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 نموذج الراديو (معادلة واحدة ← معادلتين)</a:t>
            </a:r>
            <a:endParaRPr lang="ar-EG" sz="1400" dirty="0"/>
          </a:p>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 حجم الرسالة والطاقة (HEED: من 2 جول لـ 0.5)</a:t>
            </a:r>
            <a:endParaRPr lang="ar-EG" sz="1400" dirty="0"/>
          </a:p>
          <a:p>
            <a:pPr rtl="1" algn="r" indent="0" marL="0">
              <a:spcAft>
                <a:spcPts val="400"/>
              </a:spcAft>
              <a:buNone/>
            </a:pPr>
            <a:endParaRPr lang="ar-EG" sz="1400" dirty="0"/>
          </a:p>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الخوارزمية واحدة في العمودين — اللي اتغير الظروف بس.</a:t>
            </a:r>
            <a:endParaRPr lang="ar-EG"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تحسين الهجين اللي في الأبحاث</a:t>
            </a:r>
            <a:pPr algn="r" indent="0" marL="0">
              <a:buNone/>
            </a:pPr>
            <a:r>
              <a:rPr lang="ar-EG" altLang="en-US" sz="2100" dirty="0">
                <a:solidFill>
                  <a:srgbClr val="8A2522"/>
                </a:solidFill>
                <a:latin typeface="Arial" pitchFamily="34" charset="0"/>
                <a:ea typeface="Arial" pitchFamily="34" charset="-122"/>
                <a:cs typeface="Arial" pitchFamily="34" charset="-120"/>
              </a:rPr>
              <a:t>  –  تصليحات محددة</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30</a:t>
            </a:r>
            <a:endParaRPr lang="en-US" sz="1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394960" y="1463040"/>
          <a:ext cx="6035040" cy="914400"/>
        </p:xfrm>
        <a:graphic>
          <a:graphicData uri="http://schemas.openxmlformats.org/drawingml/2006/table">
            <a:tbl>
              <a:tblPr/>
              <a:tblGrid>
                <a:gridCol w="868680"/>
                <a:gridCol w="868680"/>
                <a:gridCol w="868680"/>
                <a:gridCol w="868680"/>
                <a:gridCol w="1188720"/>
                <a:gridCol w="1371600"/>
              </a:tblGrid>
              <a:tr h="384048">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PDR</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LND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HND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FND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المرحلة</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البروتوكول</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99.17%</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1604</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1584</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1440</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موحّد</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SH-LEACH</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384048">
                <a:tc>
                  <a:txBody>
                    <a:bodyPr/>
                    <a:lstStyle/>
                    <a:p>
                      <a:pPr rtl="1" algn="ctr" indent="0" marL="0">
                        <a:buNone/>
                      </a:pPr>
                      <a:r>
                        <a:rPr lang="en-US" sz="1400" b="1" dirty="0">
                          <a:solidFill>
                            <a:srgbClr val="323232"/>
                          </a:solidFill>
                          <a:latin typeface="Arial" pitchFamily="34" charset="0"/>
                          <a:ea typeface="Arial" pitchFamily="34" charset="-122"/>
                          <a:cs typeface="Arial" pitchFamily="34" charset="-120"/>
                        </a:rPr>
                        <a:t>99.79%</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ctr" indent="0" marL="0">
                        <a:buNone/>
                      </a:pPr>
                      <a:r>
                        <a:rPr lang="en-US" sz="1400" b="1" dirty="0">
                          <a:solidFill>
                            <a:srgbClr val="323232"/>
                          </a:solidFill>
                          <a:latin typeface="Arial" pitchFamily="34" charset="0"/>
                          <a:ea typeface="Arial" pitchFamily="34" charset="-122"/>
                          <a:cs typeface="Arial" pitchFamily="34" charset="-120"/>
                        </a:rPr>
                        <a:t>1649</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ctr" indent="0" marL="0">
                        <a:buNone/>
                      </a:pPr>
                      <a:r>
                        <a:rPr lang="en-US" sz="1400" b="1" dirty="0">
                          <a:solidFill>
                            <a:srgbClr val="323232"/>
                          </a:solidFill>
                          <a:latin typeface="Arial" pitchFamily="34" charset="0"/>
                          <a:ea typeface="Arial" pitchFamily="34" charset="-122"/>
                          <a:cs typeface="Arial" pitchFamily="34" charset="-120"/>
                        </a:rPr>
                        <a:t>1600</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ctr" indent="0" marL="0">
                        <a:buNone/>
                      </a:pPr>
                      <a:r>
                        <a:rPr lang="en-US" sz="1400" b="1" dirty="0">
                          <a:solidFill>
                            <a:srgbClr val="323232"/>
                          </a:solidFill>
                          <a:latin typeface="Arial" pitchFamily="34" charset="0"/>
                          <a:ea typeface="Arial" pitchFamily="34" charset="-122"/>
                          <a:cs typeface="Arial" pitchFamily="34" charset="-120"/>
                        </a:rPr>
                        <a:t>1247</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ctr" indent="0" marL="0">
                        <a:buNone/>
                      </a:pPr>
                      <a:r>
                        <a:rPr lang="en-US" sz="1400" b="1" dirty="0">
                          <a:solidFill>
                            <a:srgbClr val="323232"/>
                          </a:solidFill>
                          <a:latin typeface="Arial" pitchFamily="34" charset="0"/>
                          <a:ea typeface="Arial" pitchFamily="34" charset="-122"/>
                          <a:cs typeface="Arial" pitchFamily="34" charset="-120"/>
                        </a:rPr>
                        <a:t>محسّن</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SH-LEACH</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97.33%</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2305</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2255</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2177</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موحّد</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H-LEACH</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384048">
                <a:tc>
                  <a:txBody>
                    <a:bodyPr/>
                    <a:lstStyle/>
                    <a:p>
                      <a:pPr rtl="1" algn="ctr" indent="0" marL="0">
                        <a:buNone/>
                      </a:pPr>
                      <a:r>
                        <a:rPr lang="en-US" sz="1400" b="1" dirty="0">
                          <a:solidFill>
                            <a:srgbClr val="323232"/>
                          </a:solidFill>
                          <a:latin typeface="Arial" pitchFamily="34" charset="0"/>
                          <a:ea typeface="Arial" pitchFamily="34" charset="-122"/>
                          <a:cs typeface="Arial" pitchFamily="34" charset="-120"/>
                        </a:rPr>
                        <a:t>97.33%</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ctr" indent="0" marL="0">
                        <a:buNone/>
                      </a:pPr>
                      <a:r>
                        <a:rPr lang="en-US" sz="1400" b="1" dirty="0">
                          <a:solidFill>
                            <a:srgbClr val="323232"/>
                          </a:solidFill>
                          <a:latin typeface="Arial" pitchFamily="34" charset="0"/>
                          <a:ea typeface="Arial" pitchFamily="34" charset="-122"/>
                          <a:cs typeface="Arial" pitchFamily="34" charset="-120"/>
                        </a:rPr>
                        <a:t>2499</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ctr" indent="0" marL="0">
                        <a:buNone/>
                      </a:pPr>
                      <a:r>
                        <a:rPr lang="en-US" sz="1400" b="1" dirty="0">
                          <a:solidFill>
                            <a:srgbClr val="323232"/>
                          </a:solidFill>
                          <a:latin typeface="Arial" pitchFamily="34" charset="0"/>
                          <a:ea typeface="Arial" pitchFamily="34" charset="-122"/>
                          <a:cs typeface="Arial" pitchFamily="34" charset="-120"/>
                        </a:rPr>
                        <a:t>2449</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ctr" indent="0" marL="0">
                        <a:buNone/>
                      </a:pPr>
                      <a:r>
                        <a:rPr lang="en-US" sz="1400" b="1" dirty="0">
                          <a:solidFill>
                            <a:srgbClr val="323232"/>
                          </a:solidFill>
                          <a:latin typeface="Arial" pitchFamily="34" charset="0"/>
                          <a:ea typeface="Arial" pitchFamily="34" charset="-122"/>
                          <a:cs typeface="Arial" pitchFamily="34" charset="-120"/>
                        </a:rPr>
                        <a:t>2347</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ctr" indent="0" marL="0">
                        <a:buNone/>
                      </a:pPr>
                      <a:r>
                        <a:rPr lang="en-US" sz="1400" b="1" dirty="0">
                          <a:solidFill>
                            <a:srgbClr val="323232"/>
                          </a:solidFill>
                          <a:latin typeface="Arial" pitchFamily="34" charset="0"/>
                          <a:ea typeface="Arial" pitchFamily="34" charset="-122"/>
                          <a:cs typeface="Arial" pitchFamily="34" charset="-120"/>
                        </a:rPr>
                        <a:t>محسّن</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H-LEACH</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r>
            </a:tbl>
          </a:graphicData>
        </a:graphic>
      </p:graphicFrame>
      <p:sp>
        <p:nvSpPr>
          <p:cNvPr id="21" name="Shape 17"/>
          <p:cNvSpPr/>
          <p:nvPr/>
        </p:nvSpPr>
        <p:spPr>
          <a:xfrm>
            <a:off x="822960" y="1463040"/>
            <a:ext cx="4297680" cy="2057400"/>
          </a:xfrm>
          <a:prstGeom prst="roundRect">
            <a:avLst>
              <a:gd name="adj" fmla="val 5333"/>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2" name="Text 18"/>
          <p:cNvSpPr txBox="1"/>
          <p:nvPr/>
        </p:nvSpPr>
        <p:spPr>
          <a:xfrm>
            <a:off x="1005840" y="1600200"/>
            <a:ext cx="389534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تصليح SH-LEACH</a:t>
            </a:r>
            <a:endParaRPr lang="ar-EG" sz="1500" dirty="0"/>
          </a:p>
        </p:txBody>
      </p:sp>
      <p:sp>
        <p:nvSpPr>
          <p:cNvPr id="23" name="Text 19"/>
          <p:cNvSpPr txBox="1"/>
          <p:nvPr/>
        </p:nvSpPr>
        <p:spPr>
          <a:xfrm>
            <a:off x="1024128" y="2194560"/>
            <a:ext cx="3895344" cy="118872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مضاعفة متكررة حقيقية + Cprob من 0.10 لـ 0.03: HND وLND والـ PDR زادوا، والـ FND قل 13%.</a:t>
            </a:r>
            <a:endParaRPr lang="ar-EG" sz="1400" dirty="0"/>
          </a:p>
        </p:txBody>
      </p:sp>
      <p:sp>
        <p:nvSpPr>
          <p:cNvPr id="24" name="Shape 20"/>
          <p:cNvSpPr/>
          <p:nvPr/>
        </p:nvSpPr>
        <p:spPr>
          <a:xfrm>
            <a:off x="822960" y="3703320"/>
            <a:ext cx="4297680" cy="2148840"/>
          </a:xfrm>
          <a:prstGeom prst="roundRect">
            <a:avLst>
              <a:gd name="adj" fmla="val 5106"/>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5" name="Text 21"/>
          <p:cNvSpPr txBox="1"/>
          <p:nvPr/>
        </p:nvSpPr>
        <p:spPr>
          <a:xfrm>
            <a:off x="1005840" y="3840480"/>
            <a:ext cx="389534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تصليح H-LEACH</a:t>
            </a:r>
            <a:endParaRPr lang="ar-EG" sz="1500" dirty="0"/>
          </a:p>
        </p:txBody>
      </p:sp>
      <p:sp>
        <p:nvSpPr>
          <p:cNvPr id="26" name="Text 22"/>
          <p:cNvSpPr txBox="1"/>
          <p:nvPr/>
        </p:nvSpPr>
        <p:spPr>
          <a:xfrm>
            <a:off x="1024128" y="4434840"/>
            <a:ext cx="3895344" cy="128016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الشرط اتخفف من 1.0× لـ 0.8× المتوسط: الشرط الذكي بقى بيقرر فعلًا ← FND وHND وLND +7.8–8.6%.</a:t>
            </a:r>
            <a:endParaRPr lang="ar-EG" sz="1400" dirty="0"/>
          </a:p>
        </p:txBody>
      </p:sp>
      <p:sp>
        <p:nvSpPr>
          <p:cNvPr id="27" name="Shape 23"/>
          <p:cNvSpPr/>
          <p:nvPr/>
        </p:nvSpPr>
        <p:spPr>
          <a:xfrm>
            <a:off x="5394960" y="3703320"/>
            <a:ext cx="6035040" cy="2148840"/>
          </a:xfrm>
          <a:prstGeom prst="roundRect">
            <a:avLst>
              <a:gd name="adj" fmla="val 5106"/>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8" name="Text 24"/>
          <p:cNvSpPr txBox="1"/>
          <p:nvPr/>
        </p:nvSpPr>
        <p:spPr>
          <a:xfrm>
            <a:off x="5577840" y="3840480"/>
            <a:ext cx="563270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للمقارنة: EECH-HEED</a:t>
            </a:r>
            <a:endParaRPr lang="ar-EG" sz="1500" dirty="0"/>
          </a:p>
        </p:txBody>
      </p:sp>
      <p:sp>
        <p:nvSpPr>
          <p:cNvPr id="29" name="Text 25"/>
          <p:cNvSpPr txBox="1"/>
          <p:nvPr/>
        </p:nvSpPr>
        <p:spPr>
          <a:xfrm>
            <a:off x="5596128" y="4434840"/>
            <a:ext cx="5632704" cy="128016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لما ضفنا الإرسال بس لما القراءة تتغير، طلع أطول عمر (LND 3808) — لأنه بيبعت أقل، مش عشان الـ clustering أحسن. عشان كده اتحط للمقارنة بس.</a:t>
            </a:r>
            <a:endParaRPr lang="ar-EG"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الدروس اللي خدناها معانا</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31</a:t>
            </a:r>
            <a:endParaRPr lang="en-US" sz="1000" dirty="0"/>
          </a:p>
        </p:txBody>
      </p:sp>
      <p:sp>
        <p:nvSpPr>
          <p:cNvPr id="20" name="Shape 17"/>
          <p:cNvSpPr/>
          <p:nvPr/>
        </p:nvSpPr>
        <p:spPr>
          <a:xfrm>
            <a:off x="9464040" y="1645920"/>
            <a:ext cx="1965960" cy="2926080"/>
          </a:xfrm>
          <a:prstGeom prst="roundRect">
            <a:avLst>
              <a:gd name="adj" fmla="val 5581"/>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1" name="Shape 18"/>
          <p:cNvSpPr/>
          <p:nvPr/>
        </p:nvSpPr>
        <p:spPr>
          <a:xfrm>
            <a:off x="10771632" y="1828800"/>
            <a:ext cx="457200" cy="457200"/>
          </a:xfrm>
          <a:prstGeom prst="ellipse">
            <a:avLst/>
          </a:prstGeom>
          <a:solidFill>
            <a:srgbClr val="8A2522"/>
          </a:solidFill>
          <a:ln w="12700">
            <a:solidFill>
              <a:srgbClr val="8A2522"/>
            </a:solidFill>
            <a:prstDash val="solid"/>
          </a:ln>
        </p:spPr>
      </p:sp>
      <p:sp>
        <p:nvSpPr>
          <p:cNvPr id="22" name="Text 19"/>
          <p:cNvSpPr txBox="1"/>
          <p:nvPr/>
        </p:nvSpPr>
        <p:spPr>
          <a:xfrm>
            <a:off x="10771632" y="18288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23" name="Text 20"/>
          <p:cNvSpPr txBox="1"/>
          <p:nvPr/>
        </p:nvSpPr>
        <p:spPr>
          <a:xfrm>
            <a:off x="9646920" y="1783080"/>
            <a:ext cx="1005840" cy="548640"/>
          </a:xfrm>
          <a:prstGeom prst="rect">
            <a:avLst/>
          </a:prstGeom>
          <a:noFill/>
          <a:ln/>
        </p:spPr>
        <p:txBody>
          <a:bodyPr wrap="square" lIns="0" tIns="0" rIns="0" bIns="0" rtlCol="0" anchor="ctr"/>
          <a:lstStyle/>
          <a:p>
            <a:pPr rtl="1" algn="r" indent="0" marL="0">
              <a:buNone/>
            </a:pPr>
            <a:r>
              <a:rPr lang="ar-EG" altLang="en-US" sz="1400" b="1" dirty="0">
                <a:solidFill>
                  <a:srgbClr val="8A2522"/>
                </a:solidFill>
                <a:latin typeface="Arial" pitchFamily="34" charset="0"/>
                <a:ea typeface="Arial" pitchFamily="34" charset="-122"/>
                <a:cs typeface="Arial" pitchFamily="34" charset="-120"/>
              </a:rPr>
              <a:t>اختيار الـ CH</a:t>
            </a:r>
            <a:endParaRPr lang="ar-EG" sz="1400" dirty="0"/>
          </a:p>
        </p:txBody>
      </p:sp>
      <p:sp>
        <p:nvSpPr>
          <p:cNvPr id="24" name="Text 21"/>
          <p:cNvSpPr txBox="1"/>
          <p:nvPr/>
        </p:nvSpPr>
        <p:spPr>
          <a:xfrm>
            <a:off x="9665208" y="2377440"/>
            <a:ext cx="1563624" cy="2057400"/>
          </a:xfrm>
          <a:prstGeom prst="rect">
            <a:avLst/>
          </a:prstGeom>
          <a:noFill/>
          <a:ln/>
        </p:spPr>
        <p:txBody>
          <a:bodyPr wrap="square" lIns="0" tIns="0" rIns="0" bIns="0" rtlCol="0" anchor="t"/>
          <a:lstStyle/>
          <a:p>
            <a:pPr rtl="1" algn="r" indent="0" marL="0">
              <a:spcAft>
                <a:spcPts val="400"/>
              </a:spcAft>
              <a:buNone/>
            </a:pPr>
            <a:r>
              <a:rPr lang="ar-EG" altLang="en-US" sz="1500" dirty="0">
                <a:solidFill>
                  <a:srgbClr val="323232"/>
                </a:solidFill>
                <a:latin typeface="Arial" pitchFamily="34" charset="0"/>
                <a:ea typeface="Arial" pitchFamily="34" charset="-122"/>
                <a:cs typeface="Arial" pitchFamily="34" charset="-120"/>
              </a:rPr>
              <a:t>اختيار CH أحسن لوحده مش كفاية.</a:t>
            </a:r>
            <a:endParaRPr lang="ar-EG" sz="1500" dirty="0"/>
          </a:p>
        </p:txBody>
      </p:sp>
      <p:sp>
        <p:nvSpPr>
          <p:cNvPr id="25" name="Shape 22"/>
          <p:cNvSpPr/>
          <p:nvPr/>
        </p:nvSpPr>
        <p:spPr>
          <a:xfrm>
            <a:off x="7315200" y="1645920"/>
            <a:ext cx="1965960" cy="2926080"/>
          </a:xfrm>
          <a:prstGeom prst="roundRect">
            <a:avLst>
              <a:gd name="adj" fmla="val 5581"/>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6" name="Shape 23"/>
          <p:cNvSpPr/>
          <p:nvPr/>
        </p:nvSpPr>
        <p:spPr>
          <a:xfrm>
            <a:off x="8622792" y="1828800"/>
            <a:ext cx="457200" cy="457200"/>
          </a:xfrm>
          <a:prstGeom prst="ellipse">
            <a:avLst/>
          </a:prstGeom>
          <a:solidFill>
            <a:srgbClr val="8A2522"/>
          </a:solidFill>
          <a:ln w="12700">
            <a:solidFill>
              <a:srgbClr val="8A2522"/>
            </a:solidFill>
            <a:prstDash val="solid"/>
          </a:ln>
        </p:spPr>
      </p:sp>
      <p:sp>
        <p:nvSpPr>
          <p:cNvPr id="27" name="Text 24"/>
          <p:cNvSpPr txBox="1"/>
          <p:nvPr/>
        </p:nvSpPr>
        <p:spPr>
          <a:xfrm>
            <a:off x="8622792" y="18288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28" name="Text 25"/>
          <p:cNvSpPr txBox="1"/>
          <p:nvPr/>
        </p:nvSpPr>
        <p:spPr>
          <a:xfrm>
            <a:off x="7498080" y="1783080"/>
            <a:ext cx="1005840" cy="548640"/>
          </a:xfrm>
          <a:prstGeom prst="rect">
            <a:avLst/>
          </a:prstGeom>
          <a:noFill/>
          <a:ln/>
        </p:spPr>
        <p:txBody>
          <a:bodyPr wrap="square" lIns="0" tIns="0" rIns="0" bIns="0" rtlCol="0" anchor="ctr"/>
          <a:lstStyle/>
          <a:p>
            <a:pPr rtl="1" algn="r" indent="0" marL="0">
              <a:buNone/>
            </a:pPr>
            <a:r>
              <a:rPr lang="ar-EG" altLang="en-US" sz="1400" b="1" dirty="0">
                <a:solidFill>
                  <a:srgbClr val="8A2522"/>
                </a:solidFill>
                <a:latin typeface="Arial" pitchFamily="34" charset="0"/>
                <a:ea typeface="Arial" pitchFamily="34" charset="-122"/>
                <a:cs typeface="Arial" pitchFamily="34" charset="-120"/>
              </a:rPr>
              <a:t>رسايل التحكم</a:t>
            </a:r>
            <a:endParaRPr lang="ar-EG" sz="1400" dirty="0"/>
          </a:p>
        </p:txBody>
      </p:sp>
      <p:sp>
        <p:nvSpPr>
          <p:cNvPr id="29" name="Text 26"/>
          <p:cNvSpPr txBox="1"/>
          <p:nvPr/>
        </p:nvSpPr>
        <p:spPr>
          <a:xfrm>
            <a:off x="7516368" y="2377440"/>
            <a:ext cx="1563624" cy="2057400"/>
          </a:xfrm>
          <a:prstGeom prst="rect">
            <a:avLst/>
          </a:prstGeom>
          <a:noFill/>
          <a:ln/>
        </p:spPr>
        <p:txBody>
          <a:bodyPr wrap="square" lIns="0" tIns="0" rIns="0" bIns="0" rtlCol="0" anchor="t"/>
          <a:lstStyle/>
          <a:p>
            <a:pPr rtl="1" algn="r" indent="0" marL="0">
              <a:spcAft>
                <a:spcPts val="400"/>
              </a:spcAft>
              <a:buNone/>
            </a:pPr>
            <a:r>
              <a:rPr lang="ar-EG" altLang="en-US" sz="1500" dirty="0">
                <a:solidFill>
                  <a:srgbClr val="323232"/>
                </a:solidFill>
                <a:latin typeface="Arial" pitchFamily="34" charset="0"/>
                <a:ea typeface="Arial" pitchFamily="34" charset="-122"/>
                <a:cs typeface="Arial" pitchFamily="34" charset="-120"/>
              </a:rPr>
              <a:t>إعادة التكوين كل round بتضيّع طاقة.</a:t>
            </a:r>
            <a:endParaRPr lang="ar-EG" sz="1500" dirty="0"/>
          </a:p>
        </p:txBody>
      </p:sp>
      <p:sp>
        <p:nvSpPr>
          <p:cNvPr id="30" name="Shape 27"/>
          <p:cNvSpPr/>
          <p:nvPr/>
        </p:nvSpPr>
        <p:spPr>
          <a:xfrm>
            <a:off x="5166360" y="1645920"/>
            <a:ext cx="1965960" cy="2926080"/>
          </a:xfrm>
          <a:prstGeom prst="roundRect">
            <a:avLst>
              <a:gd name="adj" fmla="val 5581"/>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31" name="Shape 28"/>
          <p:cNvSpPr/>
          <p:nvPr/>
        </p:nvSpPr>
        <p:spPr>
          <a:xfrm>
            <a:off x="6473952" y="1828800"/>
            <a:ext cx="457200" cy="457200"/>
          </a:xfrm>
          <a:prstGeom prst="ellipse">
            <a:avLst/>
          </a:prstGeom>
          <a:solidFill>
            <a:srgbClr val="8A2522"/>
          </a:solidFill>
          <a:ln w="12700">
            <a:solidFill>
              <a:srgbClr val="8A2522"/>
            </a:solidFill>
            <a:prstDash val="solid"/>
          </a:ln>
        </p:spPr>
      </p:sp>
      <p:sp>
        <p:nvSpPr>
          <p:cNvPr id="32" name="Text 29"/>
          <p:cNvSpPr txBox="1"/>
          <p:nvPr/>
        </p:nvSpPr>
        <p:spPr>
          <a:xfrm>
            <a:off x="6473952" y="18288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33" name="Text 30"/>
          <p:cNvSpPr txBox="1"/>
          <p:nvPr/>
        </p:nvSpPr>
        <p:spPr>
          <a:xfrm>
            <a:off x="5349240" y="1783080"/>
            <a:ext cx="1005840" cy="548640"/>
          </a:xfrm>
          <a:prstGeom prst="rect">
            <a:avLst/>
          </a:prstGeom>
          <a:noFill/>
          <a:ln/>
        </p:spPr>
        <p:txBody>
          <a:bodyPr wrap="square" lIns="0" tIns="0" rIns="0" bIns="0" rtlCol="0" anchor="ctr"/>
          <a:lstStyle/>
          <a:p>
            <a:pPr rtl="1" algn="r" indent="0" marL="0">
              <a:buNone/>
            </a:pPr>
            <a:r>
              <a:rPr lang="ar-EG" altLang="en-US" sz="1400" b="1" dirty="0">
                <a:solidFill>
                  <a:srgbClr val="8A2522"/>
                </a:solidFill>
                <a:latin typeface="Arial" pitchFamily="34" charset="0"/>
                <a:ea typeface="Arial" pitchFamily="34" charset="-122"/>
                <a:cs typeface="Arial" pitchFamily="34" charset="-120"/>
              </a:rPr>
              <a:t>إعادة الاستخدام</a:t>
            </a:r>
            <a:endParaRPr lang="ar-EG" sz="1400" dirty="0"/>
          </a:p>
        </p:txBody>
      </p:sp>
      <p:sp>
        <p:nvSpPr>
          <p:cNvPr id="34" name="Text 31"/>
          <p:cNvSpPr txBox="1"/>
          <p:nvPr/>
        </p:nvSpPr>
        <p:spPr>
          <a:xfrm>
            <a:off x="5367528" y="2377440"/>
            <a:ext cx="1563624" cy="2057400"/>
          </a:xfrm>
          <a:prstGeom prst="rect">
            <a:avLst/>
          </a:prstGeom>
          <a:noFill/>
          <a:ln/>
        </p:spPr>
        <p:txBody>
          <a:bodyPr wrap="square" lIns="0" tIns="0" rIns="0" bIns="0" rtlCol="0" anchor="t"/>
          <a:lstStyle/>
          <a:p>
            <a:pPr rtl="1" algn="r" indent="0" marL="0">
              <a:spcAft>
                <a:spcPts val="400"/>
              </a:spcAft>
              <a:buNone/>
            </a:pPr>
            <a:r>
              <a:rPr lang="ar-EG" altLang="en-US" sz="1500" dirty="0">
                <a:solidFill>
                  <a:srgbClr val="323232"/>
                </a:solidFill>
                <a:latin typeface="Arial" pitchFamily="34" charset="0"/>
                <a:ea typeface="Arial" pitchFamily="34" charset="-122"/>
                <a:cs typeface="Arial" pitchFamily="34" charset="-120"/>
              </a:rPr>
              <a:t>الاستخدام الطويل بيوفّر، بس الـ clusters بتقدم.</a:t>
            </a:r>
            <a:endParaRPr lang="ar-EG" sz="1500" dirty="0"/>
          </a:p>
        </p:txBody>
      </p:sp>
      <p:sp>
        <p:nvSpPr>
          <p:cNvPr id="35" name="Shape 32"/>
          <p:cNvSpPr/>
          <p:nvPr/>
        </p:nvSpPr>
        <p:spPr>
          <a:xfrm>
            <a:off x="3017520" y="1645920"/>
            <a:ext cx="1965960" cy="2926080"/>
          </a:xfrm>
          <a:prstGeom prst="roundRect">
            <a:avLst>
              <a:gd name="adj" fmla="val 5581"/>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36" name="Shape 33"/>
          <p:cNvSpPr/>
          <p:nvPr/>
        </p:nvSpPr>
        <p:spPr>
          <a:xfrm>
            <a:off x="4325112" y="1828800"/>
            <a:ext cx="457200" cy="457200"/>
          </a:xfrm>
          <a:prstGeom prst="ellipse">
            <a:avLst/>
          </a:prstGeom>
          <a:solidFill>
            <a:srgbClr val="8A2522"/>
          </a:solidFill>
          <a:ln w="12700">
            <a:solidFill>
              <a:srgbClr val="8A2522"/>
            </a:solidFill>
            <a:prstDash val="solid"/>
          </a:ln>
        </p:spPr>
      </p:sp>
      <p:sp>
        <p:nvSpPr>
          <p:cNvPr id="37" name="Text 34"/>
          <p:cNvSpPr txBox="1"/>
          <p:nvPr/>
        </p:nvSpPr>
        <p:spPr>
          <a:xfrm>
            <a:off x="4325112" y="18288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38" name="Text 35"/>
          <p:cNvSpPr txBox="1"/>
          <p:nvPr/>
        </p:nvSpPr>
        <p:spPr>
          <a:xfrm>
            <a:off x="3200400" y="1783080"/>
            <a:ext cx="1005840" cy="548640"/>
          </a:xfrm>
          <a:prstGeom prst="rect">
            <a:avLst/>
          </a:prstGeom>
          <a:noFill/>
          <a:ln/>
        </p:spPr>
        <p:txBody>
          <a:bodyPr wrap="square" lIns="0" tIns="0" rIns="0" bIns="0" rtlCol="0" anchor="ctr"/>
          <a:lstStyle/>
          <a:p>
            <a:pPr rtl="1" algn="r" indent="0" marL="0">
              <a:buNone/>
            </a:pPr>
            <a:r>
              <a:rPr lang="ar-EG" altLang="en-US" sz="1400" b="1" dirty="0">
                <a:solidFill>
                  <a:srgbClr val="8A2522"/>
                </a:solidFill>
                <a:latin typeface="Arial" pitchFamily="34" charset="0"/>
                <a:ea typeface="Arial" pitchFamily="34" charset="-122"/>
                <a:cs typeface="Arial" pitchFamily="34" charset="-120"/>
              </a:rPr>
              <a:t>موت الـ CH</a:t>
            </a:r>
            <a:endParaRPr lang="ar-EG" sz="1400" dirty="0"/>
          </a:p>
        </p:txBody>
      </p:sp>
      <p:sp>
        <p:nvSpPr>
          <p:cNvPr id="39" name="Text 36"/>
          <p:cNvSpPr txBox="1"/>
          <p:nvPr/>
        </p:nvSpPr>
        <p:spPr>
          <a:xfrm>
            <a:off x="3218688" y="2377440"/>
            <a:ext cx="1563624" cy="2057400"/>
          </a:xfrm>
          <a:prstGeom prst="rect">
            <a:avLst/>
          </a:prstGeom>
          <a:noFill/>
          <a:ln/>
        </p:spPr>
        <p:txBody>
          <a:bodyPr wrap="square" lIns="0" tIns="0" rIns="0" bIns="0" rtlCol="0" anchor="t"/>
          <a:lstStyle/>
          <a:p>
            <a:pPr rtl="1" algn="r" indent="0" marL="0">
              <a:spcAft>
                <a:spcPts val="400"/>
              </a:spcAft>
              <a:buNone/>
            </a:pPr>
            <a:r>
              <a:rPr lang="ar-EG" altLang="en-US" sz="1500" dirty="0">
                <a:solidFill>
                  <a:srgbClr val="323232"/>
                </a:solidFill>
                <a:latin typeface="Arial" pitchFamily="34" charset="0"/>
                <a:ea typeface="Arial" pitchFamily="34" charset="-122"/>
                <a:cs typeface="Arial" pitchFamily="34" charset="-120"/>
              </a:rPr>
              <a:t>الـ CH الميت بيقطع مجموعته كلها.</a:t>
            </a:r>
            <a:endParaRPr lang="ar-EG" sz="1500" dirty="0"/>
          </a:p>
        </p:txBody>
      </p:sp>
      <p:sp>
        <p:nvSpPr>
          <p:cNvPr id="40" name="Shape 37"/>
          <p:cNvSpPr/>
          <p:nvPr/>
        </p:nvSpPr>
        <p:spPr>
          <a:xfrm>
            <a:off x="868680" y="1645920"/>
            <a:ext cx="1965960" cy="2926080"/>
          </a:xfrm>
          <a:prstGeom prst="roundRect">
            <a:avLst>
              <a:gd name="adj" fmla="val 5581"/>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41" name="Shape 38"/>
          <p:cNvSpPr/>
          <p:nvPr/>
        </p:nvSpPr>
        <p:spPr>
          <a:xfrm>
            <a:off x="2176272" y="1828800"/>
            <a:ext cx="457200" cy="457200"/>
          </a:xfrm>
          <a:prstGeom prst="ellipse">
            <a:avLst/>
          </a:prstGeom>
          <a:solidFill>
            <a:srgbClr val="8A2522"/>
          </a:solidFill>
          <a:ln w="12700">
            <a:solidFill>
              <a:srgbClr val="8A2522"/>
            </a:solidFill>
            <a:prstDash val="solid"/>
          </a:ln>
        </p:spPr>
      </p:sp>
      <p:sp>
        <p:nvSpPr>
          <p:cNvPr id="42" name="Text 39"/>
          <p:cNvSpPr txBox="1"/>
          <p:nvPr/>
        </p:nvSpPr>
        <p:spPr>
          <a:xfrm>
            <a:off x="2176272" y="18288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43" name="Text 40"/>
          <p:cNvSpPr txBox="1"/>
          <p:nvPr/>
        </p:nvSpPr>
        <p:spPr>
          <a:xfrm>
            <a:off x="1051560" y="1783080"/>
            <a:ext cx="1005840" cy="548640"/>
          </a:xfrm>
          <a:prstGeom prst="rect">
            <a:avLst/>
          </a:prstGeom>
          <a:noFill/>
          <a:ln/>
        </p:spPr>
        <p:txBody>
          <a:bodyPr wrap="square" lIns="0" tIns="0" rIns="0" bIns="0" rtlCol="0" anchor="ctr"/>
          <a:lstStyle/>
          <a:p>
            <a:pPr rtl="1" algn="r" indent="0" marL="0">
              <a:buNone/>
            </a:pPr>
            <a:r>
              <a:rPr lang="ar-EG" altLang="en-US" sz="1400" b="1" dirty="0">
                <a:solidFill>
                  <a:srgbClr val="8A2522"/>
                </a:solidFill>
                <a:latin typeface="Arial" pitchFamily="34" charset="0"/>
                <a:ea typeface="Arial" pitchFamily="34" charset="-122"/>
                <a:cs typeface="Arial" pitchFamily="34" charset="-120"/>
              </a:rPr>
              <a:t>التوصيل بين المجموعات</a:t>
            </a:r>
            <a:endParaRPr lang="ar-EG" sz="1400" dirty="0"/>
          </a:p>
        </p:txBody>
      </p:sp>
      <p:sp>
        <p:nvSpPr>
          <p:cNvPr id="44" name="Text 41"/>
          <p:cNvSpPr txBox="1"/>
          <p:nvPr/>
        </p:nvSpPr>
        <p:spPr>
          <a:xfrm>
            <a:off x="1069848" y="2377440"/>
            <a:ext cx="1563624" cy="2057400"/>
          </a:xfrm>
          <a:prstGeom prst="rect">
            <a:avLst/>
          </a:prstGeom>
          <a:noFill/>
          <a:ln/>
        </p:spPr>
        <p:txBody>
          <a:bodyPr wrap="square" lIns="0" tIns="0" rIns="0" bIns="0" rtlCol="0" anchor="t"/>
          <a:lstStyle/>
          <a:p>
            <a:pPr rtl="1" algn="r" indent="0" marL="0">
              <a:spcAft>
                <a:spcPts val="400"/>
              </a:spcAft>
              <a:buNone/>
            </a:pPr>
            <a:r>
              <a:rPr lang="ar-EG" altLang="en-US" sz="1500" dirty="0">
                <a:solidFill>
                  <a:srgbClr val="323232"/>
                </a:solidFill>
                <a:latin typeface="Arial" pitchFamily="34" charset="0"/>
                <a:ea typeface="Arial" pitchFamily="34" charset="-122"/>
                <a:cs typeface="Arial" pitchFamily="34" charset="-120"/>
              </a:rPr>
              <a:t>إرسال الـ CH للـ BS مباشرة غالي لو بعيد.</a:t>
            </a:r>
            <a:endParaRPr lang="ar-EG" sz="1500" dirty="0"/>
          </a:p>
        </p:txBody>
      </p:sp>
      <p:sp>
        <p:nvSpPr>
          <p:cNvPr id="45" name="Text 42"/>
          <p:cNvSpPr txBox="1"/>
          <p:nvPr/>
        </p:nvSpPr>
        <p:spPr>
          <a:xfrm>
            <a:off x="822960" y="4937760"/>
            <a:ext cx="10607040" cy="548640"/>
          </a:xfrm>
          <a:prstGeom prst="rect">
            <a:avLst/>
          </a:prstGeom>
          <a:noFill/>
          <a:ln/>
        </p:spPr>
        <p:txBody>
          <a:bodyPr wrap="square" lIns="0" tIns="0" rIns="0" bIns="0" rtlCol="0" anchor="ctr"/>
          <a:lstStyle/>
          <a:p>
            <a:pPr rtl="1" algn="r" indent="0" marL="0">
              <a:buNone/>
            </a:pPr>
            <a:r>
              <a:rPr lang="ar-EG" altLang="en-US" sz="1700" b="1" dirty="0">
                <a:solidFill>
                  <a:srgbClr val="8A2522"/>
                </a:solidFill>
                <a:latin typeface="Arial" pitchFamily="34" charset="0"/>
                <a:ea typeface="Arial" pitchFamily="34" charset="-122"/>
                <a:cs typeface="Arial" pitchFamily="34" charset="-120"/>
              </a:rPr>
              <a:t>← الملاحظات دي هي اللي حرّكت كل نسخة من البروتوكول المقترح.</a:t>
            </a:r>
            <a:endParaRPr lang="ar-EG" sz="1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8A2522"/>
          </a:solidFill>
          <a:ln w="12700">
            <a:solidFill>
              <a:srgbClr val="8A2522"/>
            </a:solidFill>
            <a:prstDash val="solid"/>
          </a:ln>
        </p:spPr>
      </p:sp>
      <p:sp>
        <p:nvSpPr>
          <p:cNvPr id="3" name="Shape 1"/>
          <p:cNvSpPr/>
          <p:nvPr/>
        </p:nvSpPr>
        <p:spPr>
          <a:xfrm flipV="1">
            <a:off x="2455164" y="336042"/>
            <a:ext cx="1110996" cy="555498"/>
          </a:xfrm>
          <a:prstGeom prst="line">
            <a:avLst/>
          </a:prstGeom>
          <a:noFill/>
          <a:ln w="11430">
            <a:solidFill>
              <a:srgbClr val="E7C9C6"/>
            </a:solidFill>
            <a:prstDash val="solid"/>
          </a:ln>
        </p:spPr>
      </p:sp>
      <p:sp>
        <p:nvSpPr>
          <p:cNvPr id="4" name="Shape 2"/>
          <p:cNvSpPr/>
          <p:nvPr/>
        </p:nvSpPr>
        <p:spPr>
          <a:xfrm>
            <a:off x="1344168" y="459486"/>
            <a:ext cx="1110996" cy="432054"/>
          </a:xfrm>
          <a:prstGeom prst="line">
            <a:avLst/>
          </a:prstGeom>
          <a:noFill/>
          <a:ln w="11430">
            <a:solidFill>
              <a:srgbClr val="E7C9C6"/>
            </a:solidFill>
            <a:prstDash val="solid"/>
          </a:ln>
        </p:spPr>
      </p:sp>
      <p:sp>
        <p:nvSpPr>
          <p:cNvPr id="5" name="Shape 3"/>
          <p:cNvSpPr/>
          <p:nvPr/>
        </p:nvSpPr>
        <p:spPr>
          <a:xfrm flipV="1">
            <a:off x="418338" y="459486"/>
            <a:ext cx="925830" cy="864108"/>
          </a:xfrm>
          <a:prstGeom prst="line">
            <a:avLst/>
          </a:prstGeom>
          <a:noFill/>
          <a:ln w="11430">
            <a:solidFill>
              <a:srgbClr val="E7C9C6"/>
            </a:solidFill>
            <a:prstDash val="solid"/>
          </a:ln>
        </p:spPr>
      </p:sp>
      <p:sp>
        <p:nvSpPr>
          <p:cNvPr id="6" name="Shape 4"/>
          <p:cNvSpPr/>
          <p:nvPr/>
        </p:nvSpPr>
        <p:spPr>
          <a:xfrm flipV="1">
            <a:off x="1899666" y="891540"/>
            <a:ext cx="555498" cy="925830"/>
          </a:xfrm>
          <a:prstGeom prst="line">
            <a:avLst/>
          </a:prstGeom>
          <a:noFill/>
          <a:ln w="11430">
            <a:solidFill>
              <a:srgbClr val="E7C9C6"/>
            </a:solidFill>
            <a:prstDash val="solid"/>
          </a:ln>
        </p:spPr>
      </p:sp>
      <p:sp>
        <p:nvSpPr>
          <p:cNvPr id="7" name="Shape 5"/>
          <p:cNvSpPr/>
          <p:nvPr/>
        </p:nvSpPr>
        <p:spPr>
          <a:xfrm>
            <a:off x="418338" y="1323594"/>
            <a:ext cx="1481328" cy="493776"/>
          </a:xfrm>
          <a:prstGeom prst="line">
            <a:avLst/>
          </a:prstGeom>
          <a:noFill/>
          <a:ln w="11430">
            <a:solidFill>
              <a:srgbClr val="E7C9C6"/>
            </a:solidFill>
            <a:prstDash val="solid"/>
          </a:ln>
        </p:spPr>
      </p:sp>
      <p:sp>
        <p:nvSpPr>
          <p:cNvPr id="8" name="Shape 6"/>
          <p:cNvSpPr/>
          <p:nvPr/>
        </p:nvSpPr>
        <p:spPr>
          <a:xfrm flipV="1">
            <a:off x="726948" y="1817370"/>
            <a:ext cx="1172718" cy="555498"/>
          </a:xfrm>
          <a:prstGeom prst="line">
            <a:avLst/>
          </a:prstGeom>
          <a:noFill/>
          <a:ln w="11430">
            <a:solidFill>
              <a:srgbClr val="E7C9C6"/>
            </a:solidFill>
            <a:prstDash val="solid"/>
          </a:ln>
        </p:spPr>
      </p:sp>
      <p:sp>
        <p:nvSpPr>
          <p:cNvPr id="9" name="Shape 7"/>
          <p:cNvSpPr/>
          <p:nvPr/>
        </p:nvSpPr>
        <p:spPr>
          <a:xfrm>
            <a:off x="418338" y="1323594"/>
            <a:ext cx="308610" cy="1049274"/>
          </a:xfrm>
          <a:prstGeom prst="line">
            <a:avLst/>
          </a:prstGeom>
          <a:noFill/>
          <a:ln w="11430">
            <a:solidFill>
              <a:srgbClr val="E7C9C6"/>
            </a:solidFill>
            <a:prstDash val="solid"/>
          </a:ln>
        </p:spPr>
      </p:sp>
      <p:sp>
        <p:nvSpPr>
          <p:cNvPr id="10" name="Shape 8"/>
          <p:cNvSpPr/>
          <p:nvPr/>
        </p:nvSpPr>
        <p:spPr>
          <a:xfrm>
            <a:off x="2455164" y="891540"/>
            <a:ext cx="308610" cy="678942"/>
          </a:xfrm>
          <a:prstGeom prst="line">
            <a:avLst/>
          </a:prstGeom>
          <a:noFill/>
          <a:ln w="11430">
            <a:solidFill>
              <a:srgbClr val="E7C9C6"/>
            </a:solidFill>
            <a:prstDash val="solid"/>
          </a:ln>
        </p:spPr>
      </p:sp>
      <p:sp>
        <p:nvSpPr>
          <p:cNvPr id="11" name="Shape 9"/>
          <p:cNvSpPr/>
          <p:nvPr/>
        </p:nvSpPr>
        <p:spPr>
          <a:xfrm flipV="1">
            <a:off x="1899666" y="1570482"/>
            <a:ext cx="864108" cy="246888"/>
          </a:xfrm>
          <a:prstGeom prst="line">
            <a:avLst/>
          </a:prstGeom>
          <a:noFill/>
          <a:ln w="11430">
            <a:solidFill>
              <a:srgbClr val="E7C9C6"/>
            </a:solidFill>
            <a:prstDash val="solid"/>
          </a:ln>
        </p:spPr>
      </p:sp>
      <p:sp>
        <p:nvSpPr>
          <p:cNvPr id="12" name="Shape 10"/>
          <p:cNvSpPr/>
          <p:nvPr/>
        </p:nvSpPr>
        <p:spPr>
          <a:xfrm flipV="1">
            <a:off x="233172" y="459486"/>
            <a:ext cx="1110996" cy="61722"/>
          </a:xfrm>
          <a:prstGeom prst="line">
            <a:avLst/>
          </a:prstGeom>
          <a:noFill/>
          <a:ln w="11430">
            <a:solidFill>
              <a:srgbClr val="E7C9C6"/>
            </a:solidFill>
            <a:prstDash val="solid"/>
          </a:ln>
        </p:spPr>
      </p:sp>
      <p:sp>
        <p:nvSpPr>
          <p:cNvPr id="13" name="Shape 11"/>
          <p:cNvSpPr/>
          <p:nvPr/>
        </p:nvSpPr>
        <p:spPr>
          <a:xfrm>
            <a:off x="233172" y="521208"/>
            <a:ext cx="185166" cy="802386"/>
          </a:xfrm>
          <a:prstGeom prst="line">
            <a:avLst/>
          </a:prstGeom>
          <a:noFill/>
          <a:ln w="11430">
            <a:solidFill>
              <a:srgbClr val="E7C9C6"/>
            </a:solidFill>
            <a:prstDash val="solid"/>
          </a:ln>
        </p:spPr>
      </p:sp>
      <p:sp>
        <p:nvSpPr>
          <p:cNvPr id="14" name="Shape 12"/>
          <p:cNvSpPr/>
          <p:nvPr/>
        </p:nvSpPr>
        <p:spPr>
          <a:xfrm>
            <a:off x="726948" y="2372868"/>
            <a:ext cx="493776" cy="678942"/>
          </a:xfrm>
          <a:prstGeom prst="line">
            <a:avLst/>
          </a:prstGeom>
          <a:noFill/>
          <a:ln w="11430">
            <a:solidFill>
              <a:srgbClr val="E7C9C6"/>
            </a:solidFill>
            <a:prstDash val="solid"/>
          </a:ln>
        </p:spPr>
      </p:sp>
      <p:sp>
        <p:nvSpPr>
          <p:cNvPr id="15" name="Shape 13"/>
          <p:cNvSpPr/>
          <p:nvPr/>
        </p:nvSpPr>
        <p:spPr>
          <a:xfrm flipV="1">
            <a:off x="171450" y="3051810"/>
            <a:ext cx="1049274" cy="432054"/>
          </a:xfrm>
          <a:prstGeom prst="line">
            <a:avLst/>
          </a:prstGeom>
          <a:noFill/>
          <a:ln w="11430">
            <a:solidFill>
              <a:srgbClr val="E7C9C6"/>
            </a:solidFill>
            <a:prstDash val="solid"/>
          </a:ln>
        </p:spPr>
      </p:sp>
      <p:sp>
        <p:nvSpPr>
          <p:cNvPr id="16" name="Shape 14"/>
          <p:cNvSpPr/>
          <p:nvPr/>
        </p:nvSpPr>
        <p:spPr>
          <a:xfrm flipV="1">
            <a:off x="171450" y="2372868"/>
            <a:ext cx="555498" cy="1110996"/>
          </a:xfrm>
          <a:prstGeom prst="line">
            <a:avLst/>
          </a:prstGeom>
          <a:noFill/>
          <a:ln w="11430">
            <a:solidFill>
              <a:srgbClr val="E7C9C6"/>
            </a:solidFill>
            <a:prstDash val="solid"/>
          </a:ln>
        </p:spPr>
      </p:sp>
      <p:sp>
        <p:nvSpPr>
          <p:cNvPr id="17" name="Shape 15"/>
          <p:cNvSpPr/>
          <p:nvPr/>
        </p:nvSpPr>
        <p:spPr>
          <a:xfrm flipV="1">
            <a:off x="1220724" y="1817370"/>
            <a:ext cx="678942" cy="1234440"/>
          </a:xfrm>
          <a:prstGeom prst="line">
            <a:avLst/>
          </a:prstGeom>
          <a:noFill/>
          <a:ln w="11430">
            <a:solidFill>
              <a:srgbClr val="E7C9C6"/>
            </a:solidFill>
            <a:prstDash val="solid"/>
          </a:ln>
        </p:spPr>
      </p:sp>
      <p:sp>
        <p:nvSpPr>
          <p:cNvPr id="18" name="Shape 16"/>
          <p:cNvSpPr/>
          <p:nvPr/>
        </p:nvSpPr>
        <p:spPr>
          <a:xfrm>
            <a:off x="3525012" y="294894"/>
            <a:ext cx="82296" cy="82296"/>
          </a:xfrm>
          <a:prstGeom prst="ellipse">
            <a:avLst/>
          </a:prstGeom>
          <a:solidFill>
            <a:srgbClr val="8A2522"/>
          </a:solidFill>
          <a:ln w="11430">
            <a:solidFill>
              <a:srgbClr val="E7C9C6"/>
            </a:solidFill>
            <a:prstDash val="solid"/>
          </a:ln>
        </p:spPr>
      </p:sp>
      <p:sp>
        <p:nvSpPr>
          <p:cNvPr id="19" name="Shape 17"/>
          <p:cNvSpPr/>
          <p:nvPr/>
        </p:nvSpPr>
        <p:spPr>
          <a:xfrm>
            <a:off x="2414016" y="850392"/>
            <a:ext cx="82296" cy="82296"/>
          </a:xfrm>
          <a:prstGeom prst="ellipse">
            <a:avLst/>
          </a:prstGeom>
          <a:solidFill>
            <a:srgbClr val="8A2522"/>
          </a:solidFill>
          <a:ln w="11430">
            <a:solidFill>
              <a:srgbClr val="E7C9C6"/>
            </a:solidFill>
            <a:prstDash val="solid"/>
          </a:ln>
        </p:spPr>
      </p:sp>
      <p:sp>
        <p:nvSpPr>
          <p:cNvPr id="20" name="Shape 18"/>
          <p:cNvSpPr/>
          <p:nvPr/>
        </p:nvSpPr>
        <p:spPr>
          <a:xfrm>
            <a:off x="1303020" y="418338"/>
            <a:ext cx="82296" cy="82296"/>
          </a:xfrm>
          <a:prstGeom prst="ellipse">
            <a:avLst/>
          </a:prstGeom>
          <a:solidFill>
            <a:srgbClr val="8A2522"/>
          </a:solidFill>
          <a:ln w="11430">
            <a:solidFill>
              <a:srgbClr val="E7C9C6"/>
            </a:solidFill>
            <a:prstDash val="solid"/>
          </a:ln>
        </p:spPr>
      </p:sp>
      <p:sp>
        <p:nvSpPr>
          <p:cNvPr id="21" name="Shape 19"/>
          <p:cNvSpPr/>
          <p:nvPr/>
        </p:nvSpPr>
        <p:spPr>
          <a:xfrm>
            <a:off x="377190" y="1282446"/>
            <a:ext cx="82296" cy="82296"/>
          </a:xfrm>
          <a:prstGeom prst="ellipse">
            <a:avLst/>
          </a:prstGeom>
          <a:solidFill>
            <a:srgbClr val="8A2522"/>
          </a:solidFill>
          <a:ln w="11430">
            <a:solidFill>
              <a:srgbClr val="E7C9C6"/>
            </a:solidFill>
            <a:prstDash val="solid"/>
          </a:ln>
        </p:spPr>
      </p:sp>
      <p:sp>
        <p:nvSpPr>
          <p:cNvPr id="22" name="Shape 20"/>
          <p:cNvSpPr/>
          <p:nvPr/>
        </p:nvSpPr>
        <p:spPr>
          <a:xfrm>
            <a:off x="1858518" y="1776222"/>
            <a:ext cx="82296" cy="82296"/>
          </a:xfrm>
          <a:prstGeom prst="ellipse">
            <a:avLst/>
          </a:prstGeom>
          <a:solidFill>
            <a:srgbClr val="8A2522"/>
          </a:solidFill>
          <a:ln w="11430">
            <a:solidFill>
              <a:srgbClr val="E7C9C6"/>
            </a:solidFill>
            <a:prstDash val="solid"/>
          </a:ln>
        </p:spPr>
      </p:sp>
      <p:sp>
        <p:nvSpPr>
          <p:cNvPr id="23" name="Shape 21"/>
          <p:cNvSpPr/>
          <p:nvPr/>
        </p:nvSpPr>
        <p:spPr>
          <a:xfrm>
            <a:off x="685800" y="2331720"/>
            <a:ext cx="82296" cy="82296"/>
          </a:xfrm>
          <a:prstGeom prst="ellipse">
            <a:avLst/>
          </a:prstGeom>
          <a:solidFill>
            <a:srgbClr val="8A2522"/>
          </a:solidFill>
          <a:ln w="11430">
            <a:solidFill>
              <a:srgbClr val="E7C9C6"/>
            </a:solidFill>
            <a:prstDash val="solid"/>
          </a:ln>
        </p:spPr>
      </p:sp>
      <p:sp>
        <p:nvSpPr>
          <p:cNvPr id="24" name="Shape 22"/>
          <p:cNvSpPr/>
          <p:nvPr/>
        </p:nvSpPr>
        <p:spPr>
          <a:xfrm>
            <a:off x="2722626" y="1529334"/>
            <a:ext cx="82296" cy="82296"/>
          </a:xfrm>
          <a:prstGeom prst="ellipse">
            <a:avLst/>
          </a:prstGeom>
          <a:solidFill>
            <a:srgbClr val="8A2522"/>
          </a:solidFill>
          <a:ln w="11430">
            <a:solidFill>
              <a:srgbClr val="E7C9C6"/>
            </a:solidFill>
            <a:prstDash val="solid"/>
          </a:ln>
        </p:spPr>
      </p:sp>
      <p:sp>
        <p:nvSpPr>
          <p:cNvPr id="25" name="Shape 23"/>
          <p:cNvSpPr/>
          <p:nvPr/>
        </p:nvSpPr>
        <p:spPr>
          <a:xfrm>
            <a:off x="192024" y="480060"/>
            <a:ext cx="82296" cy="82296"/>
          </a:xfrm>
          <a:prstGeom prst="ellipse">
            <a:avLst/>
          </a:prstGeom>
          <a:solidFill>
            <a:srgbClr val="8A2522"/>
          </a:solidFill>
          <a:ln w="11430">
            <a:solidFill>
              <a:srgbClr val="E7C9C6"/>
            </a:solidFill>
            <a:prstDash val="solid"/>
          </a:ln>
        </p:spPr>
      </p:sp>
      <p:sp>
        <p:nvSpPr>
          <p:cNvPr id="26" name="Shape 24"/>
          <p:cNvSpPr/>
          <p:nvPr/>
        </p:nvSpPr>
        <p:spPr>
          <a:xfrm>
            <a:off x="1179576" y="3010662"/>
            <a:ext cx="82296" cy="82296"/>
          </a:xfrm>
          <a:prstGeom prst="ellipse">
            <a:avLst/>
          </a:prstGeom>
          <a:solidFill>
            <a:srgbClr val="8A2522"/>
          </a:solidFill>
          <a:ln w="11430">
            <a:solidFill>
              <a:srgbClr val="E7C9C6"/>
            </a:solidFill>
            <a:prstDash val="solid"/>
          </a:ln>
        </p:spPr>
      </p:sp>
      <p:sp>
        <p:nvSpPr>
          <p:cNvPr id="27" name="Shape 25"/>
          <p:cNvSpPr/>
          <p:nvPr/>
        </p:nvSpPr>
        <p:spPr>
          <a:xfrm>
            <a:off x="130302" y="3442716"/>
            <a:ext cx="82296" cy="82296"/>
          </a:xfrm>
          <a:prstGeom prst="ellipse">
            <a:avLst/>
          </a:prstGeom>
          <a:solidFill>
            <a:srgbClr val="8A2522"/>
          </a:solidFill>
          <a:ln w="11430">
            <a:solidFill>
              <a:srgbClr val="E7C9C6"/>
            </a:solidFill>
            <a:prstDash val="solid"/>
          </a:ln>
        </p:spPr>
      </p:sp>
      <p:sp>
        <p:nvSpPr>
          <p:cNvPr id="28" name="Shape 26"/>
          <p:cNvSpPr/>
          <p:nvPr/>
        </p:nvSpPr>
        <p:spPr>
          <a:xfrm>
            <a:off x="11020349" y="6163056"/>
            <a:ext cx="592531" cy="296266"/>
          </a:xfrm>
          <a:prstGeom prst="line">
            <a:avLst/>
          </a:prstGeom>
          <a:noFill/>
          <a:ln w="11430">
            <a:solidFill>
              <a:srgbClr val="E7C9C6"/>
            </a:solidFill>
            <a:prstDash val="solid"/>
          </a:ln>
        </p:spPr>
      </p:sp>
      <p:sp>
        <p:nvSpPr>
          <p:cNvPr id="29" name="Shape 27"/>
          <p:cNvSpPr/>
          <p:nvPr/>
        </p:nvSpPr>
        <p:spPr>
          <a:xfrm flipV="1">
            <a:off x="10427818" y="6163056"/>
            <a:ext cx="592531" cy="230429"/>
          </a:xfrm>
          <a:prstGeom prst="line">
            <a:avLst/>
          </a:prstGeom>
          <a:noFill/>
          <a:ln w="11430">
            <a:solidFill>
              <a:srgbClr val="E7C9C6"/>
            </a:solidFill>
            <a:prstDash val="solid"/>
          </a:ln>
        </p:spPr>
      </p:sp>
      <p:sp>
        <p:nvSpPr>
          <p:cNvPr id="30" name="Shape 28"/>
          <p:cNvSpPr/>
          <p:nvPr/>
        </p:nvSpPr>
        <p:spPr>
          <a:xfrm>
            <a:off x="9934042" y="5932627"/>
            <a:ext cx="493776" cy="460858"/>
          </a:xfrm>
          <a:prstGeom prst="line">
            <a:avLst/>
          </a:prstGeom>
          <a:noFill/>
          <a:ln w="11430">
            <a:solidFill>
              <a:srgbClr val="E7C9C6"/>
            </a:solidFill>
            <a:prstDash val="solid"/>
          </a:ln>
        </p:spPr>
      </p:sp>
      <p:sp>
        <p:nvSpPr>
          <p:cNvPr id="31" name="Shape 29"/>
          <p:cNvSpPr/>
          <p:nvPr/>
        </p:nvSpPr>
        <p:spPr>
          <a:xfrm>
            <a:off x="10724083" y="5669280"/>
            <a:ext cx="296266" cy="493776"/>
          </a:xfrm>
          <a:prstGeom prst="line">
            <a:avLst/>
          </a:prstGeom>
          <a:noFill/>
          <a:ln w="11430">
            <a:solidFill>
              <a:srgbClr val="E7C9C6"/>
            </a:solidFill>
            <a:prstDash val="solid"/>
          </a:ln>
        </p:spPr>
      </p:sp>
      <p:sp>
        <p:nvSpPr>
          <p:cNvPr id="32" name="Shape 30"/>
          <p:cNvSpPr/>
          <p:nvPr/>
        </p:nvSpPr>
        <p:spPr>
          <a:xfrm flipV="1">
            <a:off x="9934042" y="5669280"/>
            <a:ext cx="790042" cy="263347"/>
          </a:xfrm>
          <a:prstGeom prst="line">
            <a:avLst/>
          </a:prstGeom>
          <a:noFill/>
          <a:ln w="11430">
            <a:solidFill>
              <a:srgbClr val="E7C9C6"/>
            </a:solidFill>
            <a:prstDash val="solid"/>
          </a:ln>
        </p:spPr>
      </p:sp>
      <p:sp>
        <p:nvSpPr>
          <p:cNvPr id="33" name="Shape 31"/>
          <p:cNvSpPr/>
          <p:nvPr/>
        </p:nvSpPr>
        <p:spPr>
          <a:xfrm>
            <a:off x="10098634" y="5373014"/>
            <a:ext cx="625450" cy="296266"/>
          </a:xfrm>
          <a:prstGeom prst="line">
            <a:avLst/>
          </a:prstGeom>
          <a:noFill/>
          <a:ln w="11430">
            <a:solidFill>
              <a:srgbClr val="E7C9C6"/>
            </a:solidFill>
            <a:prstDash val="solid"/>
          </a:ln>
        </p:spPr>
      </p:sp>
      <p:sp>
        <p:nvSpPr>
          <p:cNvPr id="34" name="Shape 32"/>
          <p:cNvSpPr/>
          <p:nvPr/>
        </p:nvSpPr>
        <p:spPr>
          <a:xfrm flipV="1">
            <a:off x="9934042" y="5373014"/>
            <a:ext cx="164592" cy="559613"/>
          </a:xfrm>
          <a:prstGeom prst="line">
            <a:avLst/>
          </a:prstGeom>
          <a:noFill/>
          <a:ln w="11430">
            <a:solidFill>
              <a:srgbClr val="E7C9C6"/>
            </a:solidFill>
            <a:prstDash val="solid"/>
          </a:ln>
        </p:spPr>
      </p:sp>
      <p:sp>
        <p:nvSpPr>
          <p:cNvPr id="35" name="Shape 33"/>
          <p:cNvSpPr/>
          <p:nvPr/>
        </p:nvSpPr>
        <p:spPr>
          <a:xfrm flipV="1">
            <a:off x="11020349" y="5800954"/>
            <a:ext cx="164592" cy="362102"/>
          </a:xfrm>
          <a:prstGeom prst="line">
            <a:avLst/>
          </a:prstGeom>
          <a:noFill/>
          <a:ln w="11430">
            <a:solidFill>
              <a:srgbClr val="E7C9C6"/>
            </a:solidFill>
            <a:prstDash val="solid"/>
          </a:ln>
        </p:spPr>
      </p:sp>
      <p:sp>
        <p:nvSpPr>
          <p:cNvPr id="36" name="Shape 34"/>
          <p:cNvSpPr/>
          <p:nvPr/>
        </p:nvSpPr>
        <p:spPr>
          <a:xfrm>
            <a:off x="10724083" y="5669280"/>
            <a:ext cx="460858" cy="131674"/>
          </a:xfrm>
          <a:prstGeom prst="line">
            <a:avLst/>
          </a:prstGeom>
          <a:noFill/>
          <a:ln w="11430">
            <a:solidFill>
              <a:srgbClr val="E7C9C6"/>
            </a:solidFill>
            <a:prstDash val="solid"/>
          </a:ln>
        </p:spPr>
      </p:sp>
      <p:sp>
        <p:nvSpPr>
          <p:cNvPr id="37" name="Shape 35"/>
          <p:cNvSpPr/>
          <p:nvPr/>
        </p:nvSpPr>
        <p:spPr>
          <a:xfrm>
            <a:off x="9835286" y="6360566"/>
            <a:ext cx="592531" cy="32918"/>
          </a:xfrm>
          <a:prstGeom prst="line">
            <a:avLst/>
          </a:prstGeom>
          <a:noFill/>
          <a:ln w="11430">
            <a:solidFill>
              <a:srgbClr val="E7C9C6"/>
            </a:solidFill>
            <a:prstDash val="solid"/>
          </a:ln>
        </p:spPr>
      </p:sp>
      <p:sp>
        <p:nvSpPr>
          <p:cNvPr id="38" name="Shape 36"/>
          <p:cNvSpPr/>
          <p:nvPr/>
        </p:nvSpPr>
        <p:spPr>
          <a:xfrm flipV="1">
            <a:off x="9835286" y="5932627"/>
            <a:ext cx="98755" cy="427939"/>
          </a:xfrm>
          <a:prstGeom prst="line">
            <a:avLst/>
          </a:prstGeom>
          <a:noFill/>
          <a:ln w="11430">
            <a:solidFill>
              <a:srgbClr val="E7C9C6"/>
            </a:solidFill>
            <a:prstDash val="solid"/>
          </a:ln>
        </p:spPr>
      </p:sp>
      <p:sp>
        <p:nvSpPr>
          <p:cNvPr id="39" name="Shape 37"/>
          <p:cNvSpPr/>
          <p:nvPr/>
        </p:nvSpPr>
        <p:spPr>
          <a:xfrm flipV="1">
            <a:off x="10098634" y="5010912"/>
            <a:ext cx="263347" cy="362102"/>
          </a:xfrm>
          <a:prstGeom prst="line">
            <a:avLst/>
          </a:prstGeom>
          <a:noFill/>
          <a:ln w="11430">
            <a:solidFill>
              <a:srgbClr val="E7C9C6"/>
            </a:solidFill>
            <a:prstDash val="solid"/>
          </a:ln>
        </p:spPr>
      </p:sp>
      <p:sp>
        <p:nvSpPr>
          <p:cNvPr id="40" name="Shape 38"/>
          <p:cNvSpPr/>
          <p:nvPr/>
        </p:nvSpPr>
        <p:spPr>
          <a:xfrm>
            <a:off x="9802368" y="4780483"/>
            <a:ext cx="559613" cy="230429"/>
          </a:xfrm>
          <a:prstGeom prst="line">
            <a:avLst/>
          </a:prstGeom>
          <a:noFill/>
          <a:ln w="11430">
            <a:solidFill>
              <a:srgbClr val="E7C9C6"/>
            </a:solidFill>
            <a:prstDash val="solid"/>
          </a:ln>
        </p:spPr>
      </p:sp>
      <p:sp>
        <p:nvSpPr>
          <p:cNvPr id="41" name="Shape 39"/>
          <p:cNvSpPr/>
          <p:nvPr/>
        </p:nvSpPr>
        <p:spPr>
          <a:xfrm>
            <a:off x="9802368" y="4780483"/>
            <a:ext cx="296266" cy="592531"/>
          </a:xfrm>
          <a:prstGeom prst="line">
            <a:avLst/>
          </a:prstGeom>
          <a:noFill/>
          <a:ln w="11430">
            <a:solidFill>
              <a:srgbClr val="E7C9C6"/>
            </a:solidFill>
            <a:prstDash val="solid"/>
          </a:ln>
        </p:spPr>
      </p:sp>
      <p:sp>
        <p:nvSpPr>
          <p:cNvPr id="42" name="Shape 40"/>
          <p:cNvSpPr/>
          <p:nvPr/>
        </p:nvSpPr>
        <p:spPr>
          <a:xfrm>
            <a:off x="10361981" y="5010912"/>
            <a:ext cx="362102" cy="658368"/>
          </a:xfrm>
          <a:prstGeom prst="line">
            <a:avLst/>
          </a:prstGeom>
          <a:noFill/>
          <a:ln w="11430">
            <a:solidFill>
              <a:srgbClr val="E7C9C6"/>
            </a:solidFill>
            <a:prstDash val="solid"/>
          </a:ln>
        </p:spPr>
      </p:sp>
      <p:sp>
        <p:nvSpPr>
          <p:cNvPr id="43" name="Shape 41"/>
          <p:cNvSpPr/>
          <p:nvPr/>
        </p:nvSpPr>
        <p:spPr>
          <a:xfrm>
            <a:off x="11571732" y="6418174"/>
            <a:ext cx="82296" cy="82296"/>
          </a:xfrm>
          <a:prstGeom prst="ellipse">
            <a:avLst/>
          </a:prstGeom>
          <a:solidFill>
            <a:srgbClr val="8A2522"/>
          </a:solidFill>
          <a:ln w="11430">
            <a:solidFill>
              <a:srgbClr val="E7C9C6"/>
            </a:solidFill>
            <a:prstDash val="solid"/>
          </a:ln>
        </p:spPr>
      </p:sp>
      <p:sp>
        <p:nvSpPr>
          <p:cNvPr id="44" name="Shape 42"/>
          <p:cNvSpPr/>
          <p:nvPr/>
        </p:nvSpPr>
        <p:spPr>
          <a:xfrm>
            <a:off x="10979201" y="6121908"/>
            <a:ext cx="82296" cy="82296"/>
          </a:xfrm>
          <a:prstGeom prst="ellipse">
            <a:avLst/>
          </a:prstGeom>
          <a:solidFill>
            <a:srgbClr val="8A2522"/>
          </a:solidFill>
          <a:ln w="11430">
            <a:solidFill>
              <a:srgbClr val="E7C9C6"/>
            </a:solidFill>
            <a:prstDash val="solid"/>
          </a:ln>
        </p:spPr>
      </p:sp>
      <p:sp>
        <p:nvSpPr>
          <p:cNvPr id="45" name="Shape 43"/>
          <p:cNvSpPr/>
          <p:nvPr/>
        </p:nvSpPr>
        <p:spPr>
          <a:xfrm>
            <a:off x="10386670" y="6352337"/>
            <a:ext cx="82296" cy="82296"/>
          </a:xfrm>
          <a:prstGeom prst="ellipse">
            <a:avLst/>
          </a:prstGeom>
          <a:solidFill>
            <a:srgbClr val="8A2522"/>
          </a:solidFill>
          <a:ln w="11430">
            <a:solidFill>
              <a:srgbClr val="E7C9C6"/>
            </a:solidFill>
            <a:prstDash val="solid"/>
          </a:ln>
        </p:spPr>
      </p:sp>
      <p:sp>
        <p:nvSpPr>
          <p:cNvPr id="46" name="Shape 44"/>
          <p:cNvSpPr/>
          <p:nvPr/>
        </p:nvSpPr>
        <p:spPr>
          <a:xfrm>
            <a:off x="9892894" y="5891479"/>
            <a:ext cx="82296" cy="82296"/>
          </a:xfrm>
          <a:prstGeom prst="ellipse">
            <a:avLst/>
          </a:prstGeom>
          <a:solidFill>
            <a:srgbClr val="8A2522"/>
          </a:solidFill>
          <a:ln w="11430">
            <a:solidFill>
              <a:srgbClr val="E7C9C6"/>
            </a:solidFill>
            <a:prstDash val="solid"/>
          </a:ln>
        </p:spPr>
      </p:sp>
      <p:sp>
        <p:nvSpPr>
          <p:cNvPr id="47" name="Shape 45"/>
          <p:cNvSpPr/>
          <p:nvPr/>
        </p:nvSpPr>
        <p:spPr>
          <a:xfrm>
            <a:off x="10682935" y="5628132"/>
            <a:ext cx="82296" cy="82296"/>
          </a:xfrm>
          <a:prstGeom prst="ellipse">
            <a:avLst/>
          </a:prstGeom>
          <a:solidFill>
            <a:srgbClr val="8A2522"/>
          </a:solidFill>
          <a:ln w="11430">
            <a:solidFill>
              <a:srgbClr val="E7C9C6"/>
            </a:solidFill>
            <a:prstDash val="solid"/>
          </a:ln>
        </p:spPr>
      </p:sp>
      <p:sp>
        <p:nvSpPr>
          <p:cNvPr id="48" name="Shape 46"/>
          <p:cNvSpPr/>
          <p:nvPr/>
        </p:nvSpPr>
        <p:spPr>
          <a:xfrm>
            <a:off x="10057486" y="5331866"/>
            <a:ext cx="82296" cy="82296"/>
          </a:xfrm>
          <a:prstGeom prst="ellipse">
            <a:avLst/>
          </a:prstGeom>
          <a:solidFill>
            <a:srgbClr val="8A2522"/>
          </a:solidFill>
          <a:ln w="11430">
            <a:solidFill>
              <a:srgbClr val="E7C9C6"/>
            </a:solidFill>
            <a:prstDash val="solid"/>
          </a:ln>
        </p:spPr>
      </p:sp>
      <p:sp>
        <p:nvSpPr>
          <p:cNvPr id="49" name="Shape 47"/>
          <p:cNvSpPr/>
          <p:nvPr/>
        </p:nvSpPr>
        <p:spPr>
          <a:xfrm>
            <a:off x="11143793" y="5759806"/>
            <a:ext cx="82296" cy="82296"/>
          </a:xfrm>
          <a:prstGeom prst="ellipse">
            <a:avLst/>
          </a:prstGeom>
          <a:solidFill>
            <a:srgbClr val="8A2522"/>
          </a:solidFill>
          <a:ln w="11430">
            <a:solidFill>
              <a:srgbClr val="E7C9C6"/>
            </a:solidFill>
            <a:prstDash val="solid"/>
          </a:ln>
        </p:spPr>
      </p:sp>
      <p:sp>
        <p:nvSpPr>
          <p:cNvPr id="50" name="Shape 48"/>
          <p:cNvSpPr/>
          <p:nvPr/>
        </p:nvSpPr>
        <p:spPr>
          <a:xfrm>
            <a:off x="9794138" y="6319418"/>
            <a:ext cx="82296" cy="82296"/>
          </a:xfrm>
          <a:prstGeom prst="ellipse">
            <a:avLst/>
          </a:prstGeom>
          <a:solidFill>
            <a:srgbClr val="8A2522"/>
          </a:solidFill>
          <a:ln w="11430">
            <a:solidFill>
              <a:srgbClr val="E7C9C6"/>
            </a:solidFill>
            <a:prstDash val="solid"/>
          </a:ln>
        </p:spPr>
      </p:sp>
      <p:sp>
        <p:nvSpPr>
          <p:cNvPr id="51" name="Shape 49"/>
          <p:cNvSpPr/>
          <p:nvPr/>
        </p:nvSpPr>
        <p:spPr>
          <a:xfrm>
            <a:off x="10320833" y="4969764"/>
            <a:ext cx="82296" cy="82296"/>
          </a:xfrm>
          <a:prstGeom prst="ellipse">
            <a:avLst/>
          </a:prstGeom>
          <a:solidFill>
            <a:srgbClr val="8A2522"/>
          </a:solidFill>
          <a:ln w="11430">
            <a:solidFill>
              <a:srgbClr val="E7C9C6"/>
            </a:solidFill>
            <a:prstDash val="solid"/>
          </a:ln>
        </p:spPr>
      </p:sp>
      <p:sp>
        <p:nvSpPr>
          <p:cNvPr id="52" name="Shape 50"/>
          <p:cNvSpPr/>
          <p:nvPr/>
        </p:nvSpPr>
        <p:spPr>
          <a:xfrm>
            <a:off x="9761220" y="4739335"/>
            <a:ext cx="82296" cy="82296"/>
          </a:xfrm>
          <a:prstGeom prst="ellipse">
            <a:avLst/>
          </a:prstGeom>
          <a:solidFill>
            <a:srgbClr val="8A2522"/>
          </a:solidFill>
          <a:ln w="11430">
            <a:solidFill>
              <a:srgbClr val="E7C9C6"/>
            </a:solidFill>
            <a:prstDash val="solid"/>
          </a:ln>
        </p:spPr>
      </p:sp>
      <p:sp>
        <p:nvSpPr>
          <p:cNvPr id="53" name="Text 51"/>
          <p:cNvSpPr txBox="1"/>
          <p:nvPr/>
        </p:nvSpPr>
        <p:spPr>
          <a:xfrm>
            <a:off x="7680960" y="1600200"/>
            <a:ext cx="3657600" cy="1280160"/>
          </a:xfrm>
          <a:prstGeom prst="rect">
            <a:avLst/>
          </a:prstGeom>
          <a:noFill/>
          <a:ln/>
        </p:spPr>
        <p:txBody>
          <a:bodyPr wrap="square" lIns="0" tIns="0" rIns="0" bIns="0" rtlCol="0" anchor="ctr"/>
          <a:lstStyle/>
          <a:p>
            <a:pPr algn="r" indent="0" marL="0">
              <a:buNone/>
            </a:pPr>
            <a:r>
              <a:rPr lang="en-US" sz="8800" b="1" dirty="0">
                <a:solidFill>
                  <a:srgbClr val="E7C9C6"/>
                </a:solidFill>
                <a:latin typeface="Arial" pitchFamily="34" charset="0"/>
                <a:ea typeface="Arial" pitchFamily="34" charset="-122"/>
                <a:cs typeface="Arial" pitchFamily="34" charset="-120"/>
              </a:rPr>
              <a:t>05</a:t>
            </a:r>
            <a:endParaRPr lang="en-US" sz="8800" dirty="0"/>
          </a:p>
        </p:txBody>
      </p:sp>
      <p:sp>
        <p:nvSpPr>
          <p:cNvPr id="54" name="Text 52"/>
          <p:cNvSpPr txBox="1"/>
          <p:nvPr/>
        </p:nvSpPr>
        <p:spPr>
          <a:xfrm>
            <a:off x="1371600" y="2926080"/>
            <a:ext cx="9966960" cy="914400"/>
          </a:xfrm>
          <a:prstGeom prst="rect">
            <a:avLst/>
          </a:prstGeom>
          <a:noFill/>
          <a:ln/>
        </p:spPr>
        <p:txBody>
          <a:bodyPr wrap="square" lIns="0" tIns="0" rIns="0" bIns="0" rtlCol="0" anchor="ctr"/>
          <a:lstStyle/>
          <a:p>
            <a:pPr rtl="1" algn="r" indent="0" marL="0">
              <a:buNone/>
            </a:pPr>
            <a:r>
              <a:rPr lang="ar-EG" altLang="en-US" sz="4000" b="1" dirty="0">
                <a:solidFill>
                  <a:srgbClr val="FFFFFF"/>
                </a:solidFill>
                <a:latin typeface="Arial" pitchFamily="34" charset="0"/>
                <a:ea typeface="Arial" pitchFamily="34" charset="-122"/>
                <a:cs typeface="Arial" pitchFamily="34" charset="-120"/>
              </a:rPr>
              <a:t>البروتوكول المقترح: من v1 لـ v7.2</a:t>
            </a:r>
            <a:endParaRPr lang="ar-EG" sz="4000" dirty="0"/>
          </a:p>
        </p:txBody>
      </p:sp>
      <p:sp>
        <p:nvSpPr>
          <p:cNvPr id="55" name="Text 53"/>
          <p:cNvSpPr txBox="1"/>
          <p:nvPr/>
        </p:nvSpPr>
        <p:spPr>
          <a:xfrm>
            <a:off x="1371600" y="3886200"/>
            <a:ext cx="9966960" cy="822960"/>
          </a:xfrm>
          <a:prstGeom prst="rect">
            <a:avLst/>
          </a:prstGeom>
          <a:noFill/>
          <a:ln/>
        </p:spPr>
        <p:txBody>
          <a:bodyPr wrap="square" lIns="0" tIns="0" rIns="0" bIns="0" rtlCol="0" anchor="t"/>
          <a:lstStyle/>
          <a:p>
            <a:pPr rtl="1" algn="r" indent="0" marL="0">
              <a:buNone/>
            </a:pPr>
            <a:r>
              <a:rPr lang="ar-EG" altLang="en-US" sz="1800" dirty="0">
                <a:solidFill>
                  <a:srgbClr val="F3E3E1"/>
                </a:solidFill>
                <a:latin typeface="Arial" pitchFamily="34" charset="0"/>
                <a:ea typeface="Arial" pitchFamily="34" charset="-122"/>
                <a:cs typeface="Arial" pitchFamily="34" charset="-120"/>
              </a:rPr>
              <a:t>آلية واحدة في كل نسخة، ومقاسة كل مرة</a:t>
            </a:r>
            <a:endParaRPr lang="ar-EG"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خريطة التطوير</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33</a:t>
            </a:r>
            <a:endParaRPr lang="en-US" sz="1000" dirty="0"/>
          </a:p>
        </p:txBody>
      </p:sp>
      <p:sp>
        <p:nvSpPr>
          <p:cNvPr id="20" name="Shape 17"/>
          <p:cNvSpPr/>
          <p:nvPr/>
        </p:nvSpPr>
        <p:spPr>
          <a:xfrm>
            <a:off x="1417320" y="3246120"/>
            <a:ext cx="9372600" cy="0"/>
          </a:xfrm>
          <a:prstGeom prst="line">
            <a:avLst/>
          </a:prstGeom>
          <a:noFill/>
          <a:ln w="38100">
            <a:solidFill>
              <a:srgbClr val="8A2522"/>
            </a:solidFill>
            <a:prstDash val="solid"/>
          </a:ln>
        </p:spPr>
      </p:sp>
      <p:sp>
        <p:nvSpPr>
          <p:cNvPr id="21" name="Shape 18"/>
          <p:cNvSpPr/>
          <p:nvPr/>
        </p:nvSpPr>
        <p:spPr>
          <a:xfrm>
            <a:off x="10588752" y="3044952"/>
            <a:ext cx="402336" cy="402336"/>
          </a:xfrm>
          <a:prstGeom prst="ellipse">
            <a:avLst/>
          </a:prstGeom>
          <a:solidFill>
            <a:srgbClr val="FFFFFF"/>
          </a:solidFill>
          <a:ln w="25400">
            <a:solidFill>
              <a:srgbClr val="8A2522"/>
            </a:solidFill>
            <a:prstDash val="solid"/>
          </a:ln>
        </p:spPr>
      </p:sp>
      <p:sp>
        <p:nvSpPr>
          <p:cNvPr id="22" name="Text 19"/>
          <p:cNvSpPr txBox="1"/>
          <p:nvPr/>
        </p:nvSpPr>
        <p:spPr>
          <a:xfrm>
            <a:off x="10149840" y="2148840"/>
            <a:ext cx="1280160" cy="411480"/>
          </a:xfrm>
          <a:prstGeom prst="rect">
            <a:avLst/>
          </a:prstGeom>
          <a:noFill/>
          <a:ln/>
        </p:spPr>
        <p:txBody>
          <a:bodyPr wrap="square" lIns="0" tIns="0" rIns="0" bIns="0" rtlCol="0" anchor="ctr"/>
          <a:lstStyle/>
          <a:p>
            <a:pPr algn="ctr" indent="0" marL="0">
              <a:buNone/>
            </a:pPr>
            <a:r>
              <a:rPr lang="en-US" sz="1500" b="1" dirty="0">
                <a:solidFill>
                  <a:srgbClr val="8A2522"/>
                </a:solidFill>
                <a:latin typeface="Arial" pitchFamily="34" charset="0"/>
                <a:ea typeface="Arial" pitchFamily="34" charset="-122"/>
                <a:cs typeface="Arial" pitchFamily="34" charset="-120"/>
              </a:rPr>
              <a:t>v1</a:t>
            </a:r>
            <a:endParaRPr lang="en-US" sz="1500" dirty="0"/>
          </a:p>
        </p:txBody>
      </p:sp>
      <p:sp>
        <p:nvSpPr>
          <p:cNvPr id="23" name="Text 20"/>
          <p:cNvSpPr txBox="1"/>
          <p:nvPr/>
        </p:nvSpPr>
        <p:spPr>
          <a:xfrm>
            <a:off x="10058400" y="1600200"/>
            <a:ext cx="1463040" cy="548640"/>
          </a:xfrm>
          <a:prstGeom prst="rect">
            <a:avLst/>
          </a:prstGeom>
          <a:noFill/>
          <a:ln/>
        </p:spPr>
        <p:txBody>
          <a:bodyPr wrap="square" lIns="0" tIns="0" rIns="0" bIns="0" rtlCol="0" anchor="b"/>
          <a:lstStyle/>
          <a:p>
            <a:pPr rtl="1" algn="ctr" indent="0" marL="0">
              <a:buNone/>
            </a:pPr>
            <a:r>
              <a:rPr lang="ar-EG" altLang="en-US" sz="1150" dirty="0">
                <a:solidFill>
                  <a:srgbClr val="323232"/>
                </a:solidFill>
                <a:latin typeface="Arial" pitchFamily="34" charset="0"/>
                <a:ea typeface="Arial" pitchFamily="34" charset="-122"/>
                <a:cs typeface="Arial" pitchFamily="34" charset="-120"/>
              </a:rPr>
              <a:t>HEED + LEACH</a:t>
            </a:r>
            <a:endParaRPr lang="ar-EG" sz="1150" dirty="0"/>
          </a:p>
        </p:txBody>
      </p:sp>
      <p:sp>
        <p:nvSpPr>
          <p:cNvPr id="24" name="Shape 21"/>
          <p:cNvSpPr/>
          <p:nvPr/>
        </p:nvSpPr>
        <p:spPr>
          <a:xfrm>
            <a:off x="9547352" y="3044952"/>
            <a:ext cx="402336" cy="402336"/>
          </a:xfrm>
          <a:prstGeom prst="ellipse">
            <a:avLst/>
          </a:prstGeom>
          <a:solidFill>
            <a:srgbClr val="FFFFFF"/>
          </a:solidFill>
          <a:ln w="25400">
            <a:solidFill>
              <a:srgbClr val="8A2522"/>
            </a:solidFill>
            <a:prstDash val="solid"/>
          </a:ln>
        </p:spPr>
      </p:sp>
      <p:sp>
        <p:nvSpPr>
          <p:cNvPr id="25" name="Text 22"/>
          <p:cNvSpPr txBox="1"/>
          <p:nvPr/>
        </p:nvSpPr>
        <p:spPr>
          <a:xfrm>
            <a:off x="9108440" y="3611880"/>
            <a:ext cx="1280160" cy="411480"/>
          </a:xfrm>
          <a:prstGeom prst="rect">
            <a:avLst/>
          </a:prstGeom>
          <a:noFill/>
          <a:ln/>
        </p:spPr>
        <p:txBody>
          <a:bodyPr wrap="square" lIns="0" tIns="0" rIns="0" bIns="0" rtlCol="0" anchor="ctr"/>
          <a:lstStyle/>
          <a:p>
            <a:pPr algn="ctr" indent="0" marL="0">
              <a:buNone/>
            </a:pPr>
            <a:r>
              <a:rPr lang="en-US" sz="1500" b="1" dirty="0">
                <a:solidFill>
                  <a:srgbClr val="8A2522"/>
                </a:solidFill>
                <a:latin typeface="Arial" pitchFamily="34" charset="0"/>
                <a:ea typeface="Arial" pitchFamily="34" charset="-122"/>
                <a:cs typeface="Arial" pitchFamily="34" charset="-120"/>
              </a:rPr>
              <a:t>v2</a:t>
            </a:r>
            <a:endParaRPr lang="en-US" sz="1500" dirty="0"/>
          </a:p>
        </p:txBody>
      </p:sp>
      <p:sp>
        <p:nvSpPr>
          <p:cNvPr id="26" name="Text 23"/>
          <p:cNvSpPr txBox="1"/>
          <p:nvPr/>
        </p:nvSpPr>
        <p:spPr>
          <a:xfrm>
            <a:off x="9017000" y="4023360"/>
            <a:ext cx="1463040" cy="548640"/>
          </a:xfrm>
          <a:prstGeom prst="rect">
            <a:avLst/>
          </a:prstGeom>
          <a:noFill/>
          <a:ln/>
        </p:spPr>
        <p:txBody>
          <a:bodyPr wrap="square" lIns="0" tIns="0" rIns="0" bIns="0" rtlCol="0" anchor="t"/>
          <a:lstStyle/>
          <a:p>
            <a:pPr rtl="1" algn="ctr" indent="0" marL="0">
              <a:buNone/>
            </a:pPr>
            <a:r>
              <a:rPr lang="ar-EG" altLang="en-US" sz="1150" dirty="0">
                <a:solidFill>
                  <a:srgbClr val="323232"/>
                </a:solidFill>
                <a:latin typeface="Arial" pitchFamily="34" charset="0"/>
                <a:ea typeface="Arial" pitchFamily="34" charset="-122"/>
                <a:cs typeface="Arial" pitchFamily="34" charset="-120"/>
              </a:rPr>
              <a:t>عدالة الدور</a:t>
            </a:r>
            <a:endParaRPr lang="ar-EG" sz="1150" dirty="0"/>
          </a:p>
        </p:txBody>
      </p:sp>
      <p:sp>
        <p:nvSpPr>
          <p:cNvPr id="27" name="Shape 24"/>
          <p:cNvSpPr/>
          <p:nvPr/>
        </p:nvSpPr>
        <p:spPr>
          <a:xfrm>
            <a:off x="8505952" y="3044952"/>
            <a:ext cx="402336" cy="402336"/>
          </a:xfrm>
          <a:prstGeom prst="ellipse">
            <a:avLst/>
          </a:prstGeom>
          <a:solidFill>
            <a:srgbClr val="FFFFFF"/>
          </a:solidFill>
          <a:ln w="25400">
            <a:solidFill>
              <a:srgbClr val="8A2522"/>
            </a:solidFill>
            <a:prstDash val="solid"/>
          </a:ln>
        </p:spPr>
      </p:sp>
      <p:sp>
        <p:nvSpPr>
          <p:cNvPr id="28" name="Text 25"/>
          <p:cNvSpPr txBox="1"/>
          <p:nvPr/>
        </p:nvSpPr>
        <p:spPr>
          <a:xfrm>
            <a:off x="8067040" y="2148840"/>
            <a:ext cx="1280160" cy="411480"/>
          </a:xfrm>
          <a:prstGeom prst="rect">
            <a:avLst/>
          </a:prstGeom>
          <a:noFill/>
          <a:ln/>
        </p:spPr>
        <p:txBody>
          <a:bodyPr wrap="square" lIns="0" tIns="0" rIns="0" bIns="0" rtlCol="0" anchor="ctr"/>
          <a:lstStyle/>
          <a:p>
            <a:pPr algn="ctr" indent="0" marL="0">
              <a:buNone/>
            </a:pPr>
            <a:r>
              <a:rPr lang="en-US" sz="1500" b="1" dirty="0">
                <a:solidFill>
                  <a:srgbClr val="8A2522"/>
                </a:solidFill>
                <a:latin typeface="Arial" pitchFamily="34" charset="0"/>
                <a:ea typeface="Arial" pitchFamily="34" charset="-122"/>
                <a:cs typeface="Arial" pitchFamily="34" charset="-120"/>
              </a:rPr>
              <a:t>v3</a:t>
            </a:r>
            <a:endParaRPr lang="en-US" sz="1500" dirty="0"/>
          </a:p>
        </p:txBody>
      </p:sp>
      <p:sp>
        <p:nvSpPr>
          <p:cNvPr id="29" name="Text 26"/>
          <p:cNvSpPr txBox="1"/>
          <p:nvPr/>
        </p:nvSpPr>
        <p:spPr>
          <a:xfrm>
            <a:off x="7975600" y="1600200"/>
            <a:ext cx="1463040" cy="548640"/>
          </a:xfrm>
          <a:prstGeom prst="rect">
            <a:avLst/>
          </a:prstGeom>
          <a:noFill/>
          <a:ln/>
        </p:spPr>
        <p:txBody>
          <a:bodyPr wrap="square" lIns="0" tIns="0" rIns="0" bIns="0" rtlCol="0" anchor="b"/>
          <a:lstStyle/>
          <a:p>
            <a:pPr rtl="1" algn="ctr" indent="0" marL="0">
              <a:buNone/>
            </a:pPr>
            <a:r>
              <a:rPr lang="ar-EG" altLang="en-US" sz="1150" dirty="0">
                <a:solidFill>
                  <a:srgbClr val="323232"/>
                </a:solidFill>
                <a:latin typeface="Arial" pitchFamily="34" charset="0"/>
                <a:ea typeface="Arial" pitchFamily="34" charset="-122"/>
                <a:cs typeface="Arial" pitchFamily="34" charset="-120"/>
              </a:rPr>
              <a:t>معادلة واحدة + إعادة استخدام</a:t>
            </a:r>
            <a:endParaRPr lang="ar-EG" sz="1150" dirty="0"/>
          </a:p>
        </p:txBody>
      </p:sp>
      <p:sp>
        <p:nvSpPr>
          <p:cNvPr id="30" name="Shape 27"/>
          <p:cNvSpPr/>
          <p:nvPr/>
        </p:nvSpPr>
        <p:spPr>
          <a:xfrm>
            <a:off x="7464552" y="3044952"/>
            <a:ext cx="402336" cy="402336"/>
          </a:xfrm>
          <a:prstGeom prst="ellipse">
            <a:avLst/>
          </a:prstGeom>
          <a:solidFill>
            <a:srgbClr val="FFFFFF"/>
          </a:solidFill>
          <a:ln w="25400">
            <a:solidFill>
              <a:srgbClr val="8A2522"/>
            </a:solidFill>
            <a:prstDash val="solid"/>
          </a:ln>
        </p:spPr>
      </p:sp>
      <p:sp>
        <p:nvSpPr>
          <p:cNvPr id="31" name="Text 28"/>
          <p:cNvSpPr txBox="1"/>
          <p:nvPr/>
        </p:nvSpPr>
        <p:spPr>
          <a:xfrm>
            <a:off x="7025640" y="3611880"/>
            <a:ext cx="1280160" cy="411480"/>
          </a:xfrm>
          <a:prstGeom prst="rect">
            <a:avLst/>
          </a:prstGeom>
          <a:noFill/>
          <a:ln/>
        </p:spPr>
        <p:txBody>
          <a:bodyPr wrap="square" lIns="0" tIns="0" rIns="0" bIns="0" rtlCol="0" anchor="ctr"/>
          <a:lstStyle/>
          <a:p>
            <a:pPr algn="ctr" indent="0" marL="0">
              <a:buNone/>
            </a:pPr>
            <a:r>
              <a:rPr lang="en-US" sz="1500" b="1" dirty="0">
                <a:solidFill>
                  <a:srgbClr val="8A2522"/>
                </a:solidFill>
                <a:latin typeface="Arial" pitchFamily="34" charset="0"/>
                <a:ea typeface="Arial" pitchFamily="34" charset="-122"/>
                <a:cs typeface="Arial" pitchFamily="34" charset="-120"/>
              </a:rPr>
              <a:t>v4</a:t>
            </a:r>
            <a:endParaRPr lang="en-US" sz="1500" dirty="0"/>
          </a:p>
        </p:txBody>
      </p:sp>
      <p:sp>
        <p:nvSpPr>
          <p:cNvPr id="32" name="Text 29"/>
          <p:cNvSpPr txBox="1"/>
          <p:nvPr/>
        </p:nvSpPr>
        <p:spPr>
          <a:xfrm>
            <a:off x="6934200" y="4023360"/>
            <a:ext cx="1463040" cy="548640"/>
          </a:xfrm>
          <a:prstGeom prst="rect">
            <a:avLst/>
          </a:prstGeom>
          <a:noFill/>
          <a:ln/>
        </p:spPr>
        <p:txBody>
          <a:bodyPr wrap="square" lIns="0" tIns="0" rIns="0" bIns="0" rtlCol="0" anchor="t"/>
          <a:lstStyle/>
          <a:p>
            <a:pPr rtl="1" algn="ctr" indent="0" marL="0">
              <a:buNone/>
            </a:pPr>
            <a:r>
              <a:rPr lang="ar-EG" altLang="en-US" sz="1150" dirty="0">
                <a:solidFill>
                  <a:srgbClr val="323232"/>
                </a:solidFill>
                <a:latin typeface="Arial" pitchFamily="34" charset="0"/>
                <a:ea typeface="Arial" pitchFamily="34" charset="-122"/>
                <a:cs typeface="Arial" pitchFamily="34" charset="-120"/>
              </a:rPr>
              <a:t>مدة 15</a:t>
            </a:r>
            <a:endParaRPr lang="ar-EG" sz="1150" dirty="0"/>
          </a:p>
        </p:txBody>
      </p:sp>
      <p:sp>
        <p:nvSpPr>
          <p:cNvPr id="33" name="Shape 30"/>
          <p:cNvSpPr/>
          <p:nvPr/>
        </p:nvSpPr>
        <p:spPr>
          <a:xfrm>
            <a:off x="6423152" y="3044952"/>
            <a:ext cx="402336" cy="402336"/>
          </a:xfrm>
          <a:prstGeom prst="ellipse">
            <a:avLst/>
          </a:prstGeom>
          <a:solidFill>
            <a:srgbClr val="FFFFFF"/>
          </a:solidFill>
          <a:ln w="25400">
            <a:solidFill>
              <a:srgbClr val="8A2522"/>
            </a:solidFill>
            <a:prstDash val="solid"/>
          </a:ln>
        </p:spPr>
      </p:sp>
      <p:sp>
        <p:nvSpPr>
          <p:cNvPr id="34" name="Text 31"/>
          <p:cNvSpPr txBox="1"/>
          <p:nvPr/>
        </p:nvSpPr>
        <p:spPr>
          <a:xfrm>
            <a:off x="5984240" y="2148840"/>
            <a:ext cx="1280160" cy="411480"/>
          </a:xfrm>
          <a:prstGeom prst="rect">
            <a:avLst/>
          </a:prstGeom>
          <a:noFill/>
          <a:ln/>
        </p:spPr>
        <p:txBody>
          <a:bodyPr wrap="square" lIns="0" tIns="0" rIns="0" bIns="0" rtlCol="0" anchor="ctr"/>
          <a:lstStyle/>
          <a:p>
            <a:pPr algn="ctr" indent="0" marL="0">
              <a:buNone/>
            </a:pPr>
            <a:r>
              <a:rPr lang="en-US" sz="1500" b="1" dirty="0">
                <a:solidFill>
                  <a:srgbClr val="8A2522"/>
                </a:solidFill>
                <a:latin typeface="Arial" pitchFamily="34" charset="0"/>
                <a:ea typeface="Arial" pitchFamily="34" charset="-122"/>
                <a:cs typeface="Arial" pitchFamily="34" charset="-120"/>
              </a:rPr>
              <a:t>v5</a:t>
            </a:r>
            <a:endParaRPr lang="en-US" sz="1500" dirty="0"/>
          </a:p>
        </p:txBody>
      </p:sp>
      <p:sp>
        <p:nvSpPr>
          <p:cNvPr id="35" name="Text 32"/>
          <p:cNvSpPr txBox="1"/>
          <p:nvPr/>
        </p:nvSpPr>
        <p:spPr>
          <a:xfrm>
            <a:off x="5892800" y="1600200"/>
            <a:ext cx="1463040" cy="548640"/>
          </a:xfrm>
          <a:prstGeom prst="rect">
            <a:avLst/>
          </a:prstGeom>
          <a:noFill/>
          <a:ln/>
        </p:spPr>
        <p:txBody>
          <a:bodyPr wrap="square" lIns="0" tIns="0" rIns="0" bIns="0" rtlCol="0" anchor="b"/>
          <a:lstStyle/>
          <a:p>
            <a:pPr rtl="1" algn="ctr" indent="0" marL="0">
              <a:buNone/>
            </a:pPr>
            <a:r>
              <a:rPr lang="ar-EG" altLang="en-US" sz="1150" dirty="0">
                <a:solidFill>
                  <a:srgbClr val="323232"/>
                </a:solidFill>
                <a:latin typeface="Arial" pitchFamily="34" charset="0"/>
                <a:ea typeface="Arial" pitchFamily="34" charset="-122"/>
                <a:cs typeface="Arial" pitchFamily="34" charset="-120"/>
              </a:rPr>
              <a:t>نائب CH</a:t>
            </a:r>
            <a:endParaRPr lang="ar-EG" sz="1150" dirty="0"/>
          </a:p>
        </p:txBody>
      </p:sp>
      <p:sp>
        <p:nvSpPr>
          <p:cNvPr id="36" name="Shape 33"/>
          <p:cNvSpPr/>
          <p:nvPr/>
        </p:nvSpPr>
        <p:spPr>
          <a:xfrm>
            <a:off x="5381752" y="3044952"/>
            <a:ext cx="402336" cy="402336"/>
          </a:xfrm>
          <a:prstGeom prst="ellipse">
            <a:avLst/>
          </a:prstGeom>
          <a:solidFill>
            <a:srgbClr val="FFFFFF"/>
          </a:solidFill>
          <a:ln w="25400">
            <a:solidFill>
              <a:srgbClr val="8A2522"/>
            </a:solidFill>
            <a:prstDash val="solid"/>
          </a:ln>
        </p:spPr>
      </p:sp>
      <p:sp>
        <p:nvSpPr>
          <p:cNvPr id="37" name="Text 34"/>
          <p:cNvSpPr txBox="1"/>
          <p:nvPr/>
        </p:nvSpPr>
        <p:spPr>
          <a:xfrm>
            <a:off x="4942840" y="3611880"/>
            <a:ext cx="1280160" cy="411480"/>
          </a:xfrm>
          <a:prstGeom prst="rect">
            <a:avLst/>
          </a:prstGeom>
          <a:noFill/>
          <a:ln/>
        </p:spPr>
        <p:txBody>
          <a:bodyPr wrap="square" lIns="0" tIns="0" rIns="0" bIns="0" rtlCol="0" anchor="ctr"/>
          <a:lstStyle/>
          <a:p>
            <a:pPr algn="ctr" indent="0" marL="0">
              <a:buNone/>
            </a:pPr>
            <a:r>
              <a:rPr lang="en-US" sz="1500" b="1" dirty="0">
                <a:solidFill>
                  <a:srgbClr val="8A2522"/>
                </a:solidFill>
                <a:latin typeface="Arial" pitchFamily="34" charset="0"/>
                <a:ea typeface="Arial" pitchFamily="34" charset="-122"/>
                <a:cs typeface="Arial" pitchFamily="34" charset="-120"/>
              </a:rPr>
              <a:t>v6</a:t>
            </a:r>
            <a:endParaRPr lang="en-US" sz="1500" dirty="0"/>
          </a:p>
        </p:txBody>
      </p:sp>
      <p:sp>
        <p:nvSpPr>
          <p:cNvPr id="38" name="Text 35"/>
          <p:cNvSpPr txBox="1"/>
          <p:nvPr/>
        </p:nvSpPr>
        <p:spPr>
          <a:xfrm>
            <a:off x="4851400" y="4023360"/>
            <a:ext cx="1463040" cy="548640"/>
          </a:xfrm>
          <a:prstGeom prst="rect">
            <a:avLst/>
          </a:prstGeom>
          <a:noFill/>
          <a:ln/>
        </p:spPr>
        <p:txBody>
          <a:bodyPr wrap="square" lIns="0" tIns="0" rIns="0" bIns="0" rtlCol="0" anchor="t"/>
          <a:lstStyle/>
          <a:p>
            <a:pPr rtl="1" algn="ctr" indent="0" marL="0">
              <a:buNone/>
            </a:pPr>
            <a:r>
              <a:rPr lang="ar-EG" altLang="en-US" sz="1150" dirty="0">
                <a:solidFill>
                  <a:srgbClr val="323232"/>
                </a:solidFill>
                <a:latin typeface="Arial" pitchFamily="34" charset="0"/>
                <a:ea typeface="Arial" pitchFamily="34" charset="-122"/>
                <a:cs typeface="Arial" pitchFamily="34" charset="-120"/>
              </a:rPr>
              <a:t>سلسلة CHs</a:t>
            </a:r>
            <a:endParaRPr lang="ar-EG" sz="1150" dirty="0"/>
          </a:p>
        </p:txBody>
      </p:sp>
      <p:sp>
        <p:nvSpPr>
          <p:cNvPr id="39" name="Shape 36"/>
          <p:cNvSpPr/>
          <p:nvPr/>
        </p:nvSpPr>
        <p:spPr>
          <a:xfrm>
            <a:off x="4340352" y="3044952"/>
            <a:ext cx="402336" cy="402336"/>
          </a:xfrm>
          <a:prstGeom prst="ellipse">
            <a:avLst/>
          </a:prstGeom>
          <a:solidFill>
            <a:srgbClr val="FFFFFF"/>
          </a:solidFill>
          <a:ln w="25400">
            <a:solidFill>
              <a:srgbClr val="8A2522"/>
            </a:solidFill>
            <a:prstDash val="solid"/>
          </a:ln>
        </p:spPr>
      </p:sp>
      <p:sp>
        <p:nvSpPr>
          <p:cNvPr id="40" name="Text 37"/>
          <p:cNvSpPr txBox="1"/>
          <p:nvPr/>
        </p:nvSpPr>
        <p:spPr>
          <a:xfrm>
            <a:off x="3901440" y="2148840"/>
            <a:ext cx="1280160" cy="411480"/>
          </a:xfrm>
          <a:prstGeom prst="rect">
            <a:avLst/>
          </a:prstGeom>
          <a:noFill/>
          <a:ln/>
        </p:spPr>
        <p:txBody>
          <a:bodyPr wrap="square" lIns="0" tIns="0" rIns="0" bIns="0" rtlCol="0" anchor="ctr"/>
          <a:lstStyle/>
          <a:p>
            <a:pPr algn="ctr" indent="0" marL="0">
              <a:buNone/>
            </a:pPr>
            <a:r>
              <a:rPr lang="en-US" sz="1500" b="1" dirty="0">
                <a:solidFill>
                  <a:srgbClr val="8A2522"/>
                </a:solidFill>
                <a:latin typeface="Arial" pitchFamily="34" charset="0"/>
                <a:ea typeface="Arial" pitchFamily="34" charset="-122"/>
                <a:cs typeface="Arial" pitchFamily="34" charset="-120"/>
              </a:rPr>
              <a:t>v7</a:t>
            </a:r>
            <a:endParaRPr lang="en-US" sz="1500" dirty="0"/>
          </a:p>
        </p:txBody>
      </p:sp>
      <p:sp>
        <p:nvSpPr>
          <p:cNvPr id="41" name="Text 38"/>
          <p:cNvSpPr txBox="1"/>
          <p:nvPr/>
        </p:nvSpPr>
        <p:spPr>
          <a:xfrm>
            <a:off x="3810000" y="1600200"/>
            <a:ext cx="1463040" cy="548640"/>
          </a:xfrm>
          <a:prstGeom prst="rect">
            <a:avLst/>
          </a:prstGeom>
          <a:noFill/>
          <a:ln/>
        </p:spPr>
        <p:txBody>
          <a:bodyPr wrap="square" lIns="0" tIns="0" rIns="0" bIns="0" rtlCol="0" anchor="b"/>
          <a:lstStyle/>
          <a:p>
            <a:pPr rtl="1" algn="ctr" indent="0" marL="0">
              <a:buNone/>
            </a:pPr>
            <a:r>
              <a:rPr lang="ar-EG" altLang="en-US" sz="1150" dirty="0">
                <a:solidFill>
                  <a:srgbClr val="323232"/>
                </a:solidFill>
                <a:latin typeface="Arial" pitchFamily="34" charset="0"/>
                <a:ea typeface="Arial" pitchFamily="34" charset="-122"/>
                <a:cs typeface="Arial" pitchFamily="34" charset="-120"/>
              </a:rPr>
              <a:t>سلسلة + إصلاح</a:t>
            </a:r>
            <a:endParaRPr lang="ar-EG" sz="1150" dirty="0"/>
          </a:p>
        </p:txBody>
      </p:sp>
      <p:sp>
        <p:nvSpPr>
          <p:cNvPr id="42" name="Shape 39"/>
          <p:cNvSpPr/>
          <p:nvPr/>
        </p:nvSpPr>
        <p:spPr>
          <a:xfrm>
            <a:off x="3298952" y="3044952"/>
            <a:ext cx="402336" cy="402336"/>
          </a:xfrm>
          <a:prstGeom prst="ellipse">
            <a:avLst/>
          </a:prstGeom>
          <a:solidFill>
            <a:srgbClr val="FFFFFF"/>
          </a:solidFill>
          <a:ln w="25400">
            <a:solidFill>
              <a:srgbClr val="8A2522"/>
            </a:solidFill>
            <a:prstDash val="solid"/>
          </a:ln>
        </p:spPr>
      </p:sp>
      <p:sp>
        <p:nvSpPr>
          <p:cNvPr id="43" name="Text 40"/>
          <p:cNvSpPr txBox="1"/>
          <p:nvPr/>
        </p:nvSpPr>
        <p:spPr>
          <a:xfrm>
            <a:off x="2860040" y="3611880"/>
            <a:ext cx="1280160" cy="411480"/>
          </a:xfrm>
          <a:prstGeom prst="rect">
            <a:avLst/>
          </a:prstGeom>
          <a:noFill/>
          <a:ln/>
        </p:spPr>
        <p:txBody>
          <a:bodyPr wrap="square" lIns="0" tIns="0" rIns="0" bIns="0" rtlCol="0" anchor="ctr"/>
          <a:lstStyle/>
          <a:p>
            <a:pPr algn="ctr" indent="0" marL="0">
              <a:buNone/>
            </a:pPr>
            <a:r>
              <a:rPr lang="en-US" sz="1500" b="1" dirty="0">
                <a:solidFill>
                  <a:srgbClr val="8A2522"/>
                </a:solidFill>
                <a:latin typeface="Arial" pitchFamily="34" charset="0"/>
                <a:ea typeface="Arial" pitchFamily="34" charset="-122"/>
                <a:cs typeface="Arial" pitchFamily="34" charset="-120"/>
              </a:rPr>
              <a:t>v7.1/2</a:t>
            </a:r>
            <a:endParaRPr lang="en-US" sz="1500" dirty="0"/>
          </a:p>
        </p:txBody>
      </p:sp>
      <p:sp>
        <p:nvSpPr>
          <p:cNvPr id="44" name="Text 41"/>
          <p:cNvSpPr txBox="1"/>
          <p:nvPr/>
        </p:nvSpPr>
        <p:spPr>
          <a:xfrm>
            <a:off x="2768600" y="4023360"/>
            <a:ext cx="1463040" cy="548640"/>
          </a:xfrm>
          <a:prstGeom prst="rect">
            <a:avLst/>
          </a:prstGeom>
          <a:noFill/>
          <a:ln/>
        </p:spPr>
        <p:txBody>
          <a:bodyPr wrap="square" lIns="0" tIns="0" rIns="0" bIns="0" rtlCol="0" anchor="t"/>
          <a:lstStyle/>
          <a:p>
            <a:pPr rtl="1" algn="ctr" indent="0" marL="0">
              <a:buNone/>
            </a:pPr>
            <a:r>
              <a:rPr lang="ar-EG" altLang="en-US" sz="1150" dirty="0">
                <a:solidFill>
                  <a:srgbClr val="323232"/>
                </a:solidFill>
                <a:latin typeface="Arial" pitchFamily="34" charset="0"/>
                <a:ea typeface="Arial" pitchFamily="34" charset="-122"/>
                <a:cs typeface="Arial" pitchFamily="34" charset="-120"/>
              </a:rPr>
              <a:t>Multihop</a:t>
            </a:r>
            <a:endParaRPr lang="ar-EG" sz="1150" dirty="0"/>
          </a:p>
        </p:txBody>
      </p:sp>
      <p:sp>
        <p:nvSpPr>
          <p:cNvPr id="45" name="Shape 42"/>
          <p:cNvSpPr/>
          <p:nvPr/>
        </p:nvSpPr>
        <p:spPr>
          <a:xfrm>
            <a:off x="2257552" y="3044952"/>
            <a:ext cx="402336" cy="402336"/>
          </a:xfrm>
          <a:prstGeom prst="ellipse">
            <a:avLst/>
          </a:prstGeom>
          <a:solidFill>
            <a:srgbClr val="8A2522"/>
          </a:solidFill>
          <a:ln w="25400">
            <a:solidFill>
              <a:srgbClr val="8A2522"/>
            </a:solidFill>
            <a:prstDash val="solid"/>
          </a:ln>
        </p:spPr>
      </p:sp>
      <p:sp>
        <p:nvSpPr>
          <p:cNvPr id="46" name="Text 43"/>
          <p:cNvSpPr txBox="1"/>
          <p:nvPr/>
        </p:nvSpPr>
        <p:spPr>
          <a:xfrm>
            <a:off x="1818640" y="2148840"/>
            <a:ext cx="1280160" cy="411480"/>
          </a:xfrm>
          <a:prstGeom prst="rect">
            <a:avLst/>
          </a:prstGeom>
          <a:noFill/>
          <a:ln/>
        </p:spPr>
        <p:txBody>
          <a:bodyPr wrap="square" lIns="0" tIns="0" rIns="0" bIns="0" rtlCol="0" anchor="ctr"/>
          <a:lstStyle/>
          <a:p>
            <a:pPr algn="ctr" indent="0" marL="0">
              <a:buNone/>
            </a:pPr>
            <a:r>
              <a:rPr lang="en-US" sz="1500" b="1" dirty="0">
                <a:solidFill>
                  <a:srgbClr val="8A2522"/>
                </a:solidFill>
                <a:latin typeface="Arial" pitchFamily="34" charset="0"/>
                <a:ea typeface="Arial" pitchFamily="34" charset="-122"/>
                <a:cs typeface="Arial" pitchFamily="34" charset="-120"/>
              </a:rPr>
              <a:t>v8</a:t>
            </a:r>
            <a:endParaRPr lang="en-US" sz="1500" dirty="0"/>
          </a:p>
        </p:txBody>
      </p:sp>
      <p:sp>
        <p:nvSpPr>
          <p:cNvPr id="47" name="Text 44"/>
          <p:cNvSpPr txBox="1"/>
          <p:nvPr/>
        </p:nvSpPr>
        <p:spPr>
          <a:xfrm>
            <a:off x="1727200" y="1600200"/>
            <a:ext cx="1463040" cy="548640"/>
          </a:xfrm>
          <a:prstGeom prst="rect">
            <a:avLst/>
          </a:prstGeom>
          <a:noFill/>
          <a:ln/>
        </p:spPr>
        <p:txBody>
          <a:bodyPr wrap="square" lIns="0" tIns="0" rIns="0" bIns="0" rtlCol="0" anchor="b"/>
          <a:lstStyle/>
          <a:p>
            <a:pPr rtl="1" algn="ctr" indent="0" marL="0">
              <a:buNone/>
            </a:pPr>
            <a:r>
              <a:rPr lang="ar-EG" altLang="en-US" sz="1150" dirty="0">
                <a:solidFill>
                  <a:srgbClr val="323232"/>
                </a:solidFill>
                <a:latin typeface="Arial" pitchFamily="34" charset="0"/>
                <a:ea typeface="Arial" pitchFamily="34" charset="-122"/>
                <a:cs typeface="Arial" pitchFamily="34" charset="-120"/>
              </a:rPr>
              <a:t>وقاية + إرسال مباشر</a:t>
            </a:r>
            <a:endParaRPr lang="ar-EG" sz="1150" dirty="0"/>
          </a:p>
        </p:txBody>
      </p:sp>
      <p:sp>
        <p:nvSpPr>
          <p:cNvPr id="48" name="Shape 45"/>
          <p:cNvSpPr/>
          <p:nvPr/>
        </p:nvSpPr>
        <p:spPr>
          <a:xfrm>
            <a:off x="1216152" y="3044952"/>
            <a:ext cx="402336" cy="402336"/>
          </a:xfrm>
          <a:prstGeom prst="ellipse">
            <a:avLst/>
          </a:prstGeom>
          <a:solidFill>
            <a:srgbClr val="8A2522"/>
          </a:solidFill>
          <a:ln w="25400">
            <a:solidFill>
              <a:srgbClr val="8A2522"/>
            </a:solidFill>
            <a:prstDash val="solid"/>
          </a:ln>
        </p:spPr>
      </p:sp>
      <p:sp>
        <p:nvSpPr>
          <p:cNvPr id="49" name="Text 46"/>
          <p:cNvSpPr txBox="1"/>
          <p:nvPr/>
        </p:nvSpPr>
        <p:spPr>
          <a:xfrm>
            <a:off x="777240" y="3611880"/>
            <a:ext cx="1280160" cy="411480"/>
          </a:xfrm>
          <a:prstGeom prst="rect">
            <a:avLst/>
          </a:prstGeom>
          <a:noFill/>
          <a:ln/>
        </p:spPr>
        <p:txBody>
          <a:bodyPr wrap="square" lIns="0" tIns="0" rIns="0" bIns="0" rtlCol="0" anchor="ctr"/>
          <a:lstStyle/>
          <a:p>
            <a:pPr algn="ctr" indent="0" marL="0">
              <a:buNone/>
            </a:pPr>
            <a:r>
              <a:rPr lang="en-US" sz="1500" b="1" dirty="0">
                <a:solidFill>
                  <a:srgbClr val="8A2522"/>
                </a:solidFill>
                <a:latin typeface="Arial" pitchFamily="34" charset="0"/>
                <a:ea typeface="Arial" pitchFamily="34" charset="-122"/>
                <a:cs typeface="Arial" pitchFamily="34" charset="-120"/>
              </a:rPr>
              <a:t>v8-Chain</a:t>
            </a:r>
            <a:endParaRPr lang="en-US" sz="1500" dirty="0"/>
          </a:p>
        </p:txBody>
      </p:sp>
      <p:sp>
        <p:nvSpPr>
          <p:cNvPr id="50" name="Text 47"/>
          <p:cNvSpPr txBox="1"/>
          <p:nvPr/>
        </p:nvSpPr>
        <p:spPr>
          <a:xfrm>
            <a:off x="685800" y="4023360"/>
            <a:ext cx="1463040" cy="548640"/>
          </a:xfrm>
          <a:prstGeom prst="rect">
            <a:avLst/>
          </a:prstGeom>
          <a:noFill/>
          <a:ln/>
        </p:spPr>
        <p:txBody>
          <a:bodyPr wrap="square" lIns="0" tIns="0" rIns="0" bIns="0" rtlCol="0" anchor="t"/>
          <a:lstStyle/>
          <a:p>
            <a:pPr rtl="1" algn="ctr" indent="0" marL="0">
              <a:buNone/>
            </a:pPr>
            <a:r>
              <a:rPr lang="ar-EG" altLang="en-US" sz="1150" dirty="0">
                <a:solidFill>
                  <a:srgbClr val="323232"/>
                </a:solidFill>
                <a:latin typeface="Arial" pitchFamily="34" charset="0"/>
                <a:ea typeface="Arial" pitchFamily="34" charset="-122"/>
                <a:cs typeface="Arial" pitchFamily="34" charset="-120"/>
              </a:rPr>
              <a:t>توجيه ذكي</a:t>
            </a:r>
            <a:endParaRPr lang="ar-EG" sz="1150" dirty="0"/>
          </a:p>
        </p:txBody>
      </p:sp>
      <p:sp>
        <p:nvSpPr>
          <p:cNvPr id="51" name="Shape 48"/>
          <p:cNvSpPr/>
          <p:nvPr/>
        </p:nvSpPr>
        <p:spPr>
          <a:xfrm>
            <a:off x="822960" y="4892040"/>
            <a:ext cx="10607040" cy="960120"/>
          </a:xfrm>
          <a:prstGeom prst="roundRect">
            <a:avLst>
              <a:gd name="adj" fmla="val 11429"/>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52" name="Text 49"/>
          <p:cNvSpPr txBox="1"/>
          <p:nvPr/>
        </p:nvSpPr>
        <p:spPr>
          <a:xfrm>
            <a:off x="1005840" y="5029200"/>
            <a:ext cx="10204704" cy="548640"/>
          </a:xfrm>
          <a:prstGeom prst="rect">
            <a:avLst/>
          </a:prstGeom>
          <a:noFill/>
          <a:ln/>
        </p:spPr>
        <p:txBody>
          <a:bodyPr wrap="square" lIns="0" tIns="0" rIns="0" bIns="0" rtlCol="0" anchor="ctr"/>
          <a:lstStyle/>
          <a:p>
            <a:pPr rtl="1" algn="r" indent="0" marL="0">
              <a:buNone/>
            </a:pPr>
            <a:r>
              <a:rPr lang="ar-EG" altLang="en-US" sz="1600" b="1" dirty="0">
                <a:solidFill>
                  <a:srgbClr val="323232"/>
                </a:solidFill>
                <a:latin typeface="Arial" pitchFamily="34" charset="0"/>
                <a:ea typeface="Arial" pitchFamily="34" charset="-122"/>
                <a:cs typeface="Arial" pitchFamily="34" charset="-120"/>
              </a:rPr>
              <a:t>اختيار  ←  إعادة استخدام  ←  حماية من الموت  ←  توصيل  ←  وقاية + توصيل ذكي</a:t>
            </a:r>
            <a:endParaRPr lang="ar-EG"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v1 ← v2</a:t>
            </a:r>
            <a:pPr algn="r" indent="0" marL="0">
              <a:buNone/>
            </a:pPr>
            <a:r>
              <a:rPr lang="ar-EG" altLang="en-US" sz="2100" dirty="0">
                <a:solidFill>
                  <a:srgbClr val="8A2522"/>
                </a:solidFill>
                <a:latin typeface="Arial" pitchFamily="34" charset="0"/>
                <a:ea typeface="Arial" pitchFamily="34" charset="-122"/>
                <a:cs typeface="Arial" pitchFamily="34" charset="-120"/>
              </a:rPr>
              <a:t>  –  الأساس الهجين</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34</a:t>
            </a:r>
            <a:endParaRPr lang="en-US" sz="1000" dirty="0"/>
          </a:p>
        </p:txBody>
      </p:sp>
      <p:sp>
        <p:nvSpPr>
          <p:cNvPr id="20" name="Shape 17"/>
          <p:cNvSpPr/>
          <p:nvPr/>
        </p:nvSpPr>
        <p:spPr>
          <a:xfrm>
            <a:off x="8970264" y="1508760"/>
            <a:ext cx="2459736" cy="868680"/>
          </a:xfrm>
          <a:prstGeom prst="roundRect">
            <a:avLst>
              <a:gd name="adj" fmla="val 10526"/>
            </a:avLst>
          </a:prstGeom>
          <a:solidFill>
            <a:srgbClr val="FFFFFF"/>
          </a:solidFill>
          <a:ln w="12700">
            <a:solidFill>
              <a:srgbClr val="D6D3C7"/>
            </a:solidFill>
            <a:prstDash val="solid"/>
          </a:ln>
        </p:spPr>
      </p:sp>
      <p:sp>
        <p:nvSpPr>
          <p:cNvPr id="21" name="Text 18"/>
          <p:cNvSpPr txBox="1"/>
          <p:nvPr/>
        </p:nvSpPr>
        <p:spPr>
          <a:xfrm>
            <a:off x="9043416" y="1563624"/>
            <a:ext cx="2313432" cy="758952"/>
          </a:xfrm>
          <a:prstGeom prst="rect">
            <a:avLst/>
          </a:prstGeom>
          <a:noFill/>
          <a:ln/>
        </p:spPr>
        <p:txBody>
          <a:bodyPr wrap="square" lIns="0" tIns="0" rIns="0" bIns="0" rtlCol="0" anchor="ctr"/>
          <a:lstStyle/>
          <a:p>
            <a:pPr algn="ctr" indent="0" marL="0">
              <a:buNone/>
            </a:pPr>
            <a:r>
              <a:rPr lang="ar-EG" altLang="en-US" sz="1400" b="1" dirty="0">
                <a:solidFill>
                  <a:srgbClr val="8A2522"/>
                </a:solidFill>
                <a:latin typeface="Arial" pitchFamily="34" charset="0"/>
                <a:ea typeface="Arial" pitchFamily="34" charset="-122"/>
                <a:cs typeface="Arial" pitchFamily="34" charset="-120"/>
              </a:rPr>
              <a:t>الطاقة الباقية</a:t>
            </a:r>
            <a:endParaRPr lang="ar-EG" sz="1400" dirty="0"/>
          </a:p>
        </p:txBody>
      </p:sp>
      <p:sp>
        <p:nvSpPr>
          <p:cNvPr id="22" name="Shape 19"/>
          <p:cNvSpPr/>
          <p:nvPr/>
        </p:nvSpPr>
        <p:spPr>
          <a:xfrm>
            <a:off x="8752637" y="1842516"/>
            <a:ext cx="179222" cy="201168"/>
          </a:xfrm>
          <a:prstGeom prst="leftArrow">
            <a:avLst/>
          </a:prstGeom>
          <a:solidFill>
            <a:srgbClr val="8A2522"/>
          </a:solidFill>
          <a:ln w="12700">
            <a:solidFill>
              <a:srgbClr val="8A2522"/>
            </a:solidFill>
            <a:prstDash val="solid"/>
          </a:ln>
        </p:spPr>
      </p:sp>
      <p:sp>
        <p:nvSpPr>
          <p:cNvPr id="23" name="Shape 20"/>
          <p:cNvSpPr/>
          <p:nvPr/>
        </p:nvSpPr>
        <p:spPr>
          <a:xfrm>
            <a:off x="6254496" y="1508760"/>
            <a:ext cx="2459736" cy="868680"/>
          </a:xfrm>
          <a:prstGeom prst="roundRect">
            <a:avLst>
              <a:gd name="adj" fmla="val 10526"/>
            </a:avLst>
          </a:prstGeom>
          <a:solidFill>
            <a:srgbClr val="FFFFFF"/>
          </a:solidFill>
          <a:ln w="12700">
            <a:solidFill>
              <a:srgbClr val="D6D3C7"/>
            </a:solidFill>
            <a:prstDash val="solid"/>
          </a:ln>
        </p:spPr>
      </p:sp>
      <p:sp>
        <p:nvSpPr>
          <p:cNvPr id="24" name="Text 21"/>
          <p:cNvSpPr txBox="1"/>
          <p:nvPr/>
        </p:nvSpPr>
        <p:spPr>
          <a:xfrm>
            <a:off x="6327648" y="1563624"/>
            <a:ext cx="2313432" cy="758952"/>
          </a:xfrm>
          <a:prstGeom prst="rect">
            <a:avLst/>
          </a:prstGeom>
          <a:noFill/>
          <a:ln/>
        </p:spPr>
        <p:txBody>
          <a:bodyPr wrap="square" lIns="0" tIns="0" rIns="0" bIns="0" rtlCol="0" anchor="ctr"/>
          <a:lstStyle/>
          <a:p>
            <a:pPr algn="ctr" indent="0" marL="0">
              <a:buNone/>
            </a:pPr>
            <a:r>
              <a:rPr lang="ar-EG" altLang="en-US" sz="1400" b="1" dirty="0">
                <a:solidFill>
                  <a:srgbClr val="8A2522"/>
                </a:solidFill>
                <a:latin typeface="Arial" pitchFamily="34" charset="0"/>
                <a:ea typeface="Arial" pitchFamily="34" charset="-122"/>
                <a:cs typeface="Arial" pitchFamily="34" charset="-120"/>
              </a:rPr>
              <a:t>اختيار CH بطريقة HEED</a:t>
            </a:r>
            <a:endParaRPr lang="ar-EG" sz="1400" dirty="0"/>
          </a:p>
        </p:txBody>
      </p:sp>
      <p:sp>
        <p:nvSpPr>
          <p:cNvPr id="25" name="Shape 22"/>
          <p:cNvSpPr/>
          <p:nvPr/>
        </p:nvSpPr>
        <p:spPr>
          <a:xfrm>
            <a:off x="6036869" y="1842516"/>
            <a:ext cx="179222" cy="201168"/>
          </a:xfrm>
          <a:prstGeom prst="leftArrow">
            <a:avLst/>
          </a:prstGeom>
          <a:solidFill>
            <a:srgbClr val="8A2522"/>
          </a:solidFill>
          <a:ln w="12700">
            <a:solidFill>
              <a:srgbClr val="8A2522"/>
            </a:solidFill>
            <a:prstDash val="solid"/>
          </a:ln>
        </p:spPr>
      </p:sp>
      <p:sp>
        <p:nvSpPr>
          <p:cNvPr id="26" name="Shape 23"/>
          <p:cNvSpPr/>
          <p:nvPr/>
        </p:nvSpPr>
        <p:spPr>
          <a:xfrm>
            <a:off x="3538728" y="1508760"/>
            <a:ext cx="2459736" cy="868680"/>
          </a:xfrm>
          <a:prstGeom prst="roundRect">
            <a:avLst>
              <a:gd name="adj" fmla="val 10526"/>
            </a:avLst>
          </a:prstGeom>
          <a:solidFill>
            <a:srgbClr val="FFFFFF"/>
          </a:solidFill>
          <a:ln w="12700">
            <a:solidFill>
              <a:srgbClr val="D6D3C7"/>
            </a:solidFill>
            <a:prstDash val="solid"/>
          </a:ln>
        </p:spPr>
      </p:sp>
      <p:sp>
        <p:nvSpPr>
          <p:cNvPr id="27" name="Text 24"/>
          <p:cNvSpPr txBox="1"/>
          <p:nvPr/>
        </p:nvSpPr>
        <p:spPr>
          <a:xfrm>
            <a:off x="3611880" y="1563624"/>
            <a:ext cx="2313432" cy="758952"/>
          </a:xfrm>
          <a:prstGeom prst="rect">
            <a:avLst/>
          </a:prstGeom>
          <a:noFill/>
          <a:ln/>
        </p:spPr>
        <p:txBody>
          <a:bodyPr wrap="square" lIns="0" tIns="0" rIns="0" bIns="0" rtlCol="0" anchor="ctr"/>
          <a:lstStyle/>
          <a:p>
            <a:pPr algn="ctr" indent="0" marL="0">
              <a:buNone/>
            </a:pPr>
            <a:r>
              <a:rPr lang="ar-EG" altLang="en-US" sz="1400" b="1" dirty="0">
                <a:solidFill>
                  <a:srgbClr val="8A2522"/>
                </a:solidFill>
                <a:latin typeface="Arial" pitchFamily="34" charset="0"/>
                <a:ea typeface="Arial" pitchFamily="34" charset="-122"/>
                <a:cs typeface="Arial" pitchFamily="34" charset="-120"/>
              </a:rPr>
              <a:t>انضمام لأقرب CH (LEACH)</a:t>
            </a:r>
            <a:endParaRPr lang="ar-EG" sz="1400" dirty="0"/>
          </a:p>
        </p:txBody>
      </p:sp>
      <p:sp>
        <p:nvSpPr>
          <p:cNvPr id="28" name="Shape 25"/>
          <p:cNvSpPr/>
          <p:nvPr/>
        </p:nvSpPr>
        <p:spPr>
          <a:xfrm>
            <a:off x="3321101" y="1842516"/>
            <a:ext cx="179222" cy="201168"/>
          </a:xfrm>
          <a:prstGeom prst="leftArrow">
            <a:avLst/>
          </a:prstGeom>
          <a:solidFill>
            <a:srgbClr val="8A2522"/>
          </a:solidFill>
          <a:ln w="12700">
            <a:solidFill>
              <a:srgbClr val="8A2522"/>
            </a:solidFill>
            <a:prstDash val="solid"/>
          </a:ln>
        </p:spPr>
      </p:sp>
      <p:sp>
        <p:nvSpPr>
          <p:cNvPr id="29" name="Shape 26"/>
          <p:cNvSpPr/>
          <p:nvPr/>
        </p:nvSpPr>
        <p:spPr>
          <a:xfrm>
            <a:off x="822960" y="1508760"/>
            <a:ext cx="2459736" cy="868680"/>
          </a:xfrm>
          <a:prstGeom prst="roundRect">
            <a:avLst>
              <a:gd name="adj" fmla="val 10526"/>
            </a:avLst>
          </a:prstGeom>
          <a:solidFill>
            <a:srgbClr val="FFFFFF"/>
          </a:solidFill>
          <a:ln w="12700">
            <a:solidFill>
              <a:srgbClr val="D6D3C7"/>
            </a:solidFill>
            <a:prstDash val="solid"/>
          </a:ln>
        </p:spPr>
      </p:sp>
      <p:sp>
        <p:nvSpPr>
          <p:cNvPr id="30" name="Text 27"/>
          <p:cNvSpPr txBox="1"/>
          <p:nvPr/>
        </p:nvSpPr>
        <p:spPr>
          <a:xfrm>
            <a:off x="896112" y="1563624"/>
            <a:ext cx="2313432" cy="758952"/>
          </a:xfrm>
          <a:prstGeom prst="rect">
            <a:avLst/>
          </a:prstGeom>
          <a:noFill/>
          <a:ln/>
        </p:spPr>
        <p:txBody>
          <a:bodyPr wrap="square" lIns="0" tIns="0" rIns="0" bIns="0" rtlCol="0" anchor="ctr"/>
          <a:lstStyle/>
          <a:p>
            <a:pPr algn="ctr" indent="0" marL="0">
              <a:buNone/>
            </a:pPr>
            <a:r>
              <a:rPr lang="ar-EG" altLang="en-US" sz="1400" b="1" dirty="0">
                <a:solidFill>
                  <a:srgbClr val="8A2522"/>
                </a:solidFill>
                <a:latin typeface="Arial" pitchFamily="34" charset="0"/>
                <a:ea typeface="Arial" pitchFamily="34" charset="-122"/>
                <a:cs typeface="Arial" pitchFamily="34" charset="-120"/>
              </a:rPr>
              <a:t>CH ← BS</a:t>
            </a:r>
            <a:endParaRPr lang="ar-EG" sz="14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822960" y="2743200"/>
          <a:ext cx="10607040" cy="914400"/>
        </p:xfrm>
        <a:graphic>
          <a:graphicData uri="http://schemas.openxmlformats.org/drawingml/2006/table">
            <a:tbl>
              <a:tblPr/>
              <a:tblGrid>
                <a:gridCol w="1097280"/>
                <a:gridCol w="1097280"/>
                <a:gridCol w="1097280"/>
                <a:gridCol w="1097280"/>
                <a:gridCol w="5120640"/>
                <a:gridCol w="1097280"/>
              </a:tblGrid>
              <a:tr h="384048">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PDR</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LND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HND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FND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الفكرة</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النسخة</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99.74%</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1318</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557</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330</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اختيار HEED + انضمام LEACH</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v1</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99.79%</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1393</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534</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345</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 عقوبة على التكرار (λ = 0.1)</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v2</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bl>
          </a:graphicData>
        </a:graphic>
      </p:graphicFrame>
      <p:sp>
        <p:nvSpPr>
          <p:cNvPr id="32" name="Shape 28"/>
          <p:cNvSpPr/>
          <p:nvPr/>
        </p:nvSpPr>
        <p:spPr>
          <a:xfrm>
            <a:off x="822960" y="4023360"/>
            <a:ext cx="10607040" cy="1828800"/>
          </a:xfrm>
          <a:prstGeom prst="roundRect">
            <a:avLst>
              <a:gd name="adj" fmla="val 6000"/>
            </a:avLst>
          </a:prstGeom>
          <a:solidFill>
            <a:srgbClr val="F6E3E1"/>
          </a:solidFill>
          <a:ln w="12700">
            <a:solidFill>
              <a:srgbClr val="C9A09E"/>
            </a:solidFill>
            <a:prstDash val="solid"/>
          </a:ln>
          <a:effectLst>
            <a:outerShdw sx="100000" sy="100000" kx="0" ky="0" algn="bl" rotWithShape="0" blurRad="76200" dist="25400" dir="5400000">
              <a:srgbClr val="000000">
                <a:alpha val="10000"/>
              </a:srgbClr>
            </a:outerShdw>
          </a:effectLst>
        </p:spPr>
      </p:sp>
      <p:sp>
        <p:nvSpPr>
          <p:cNvPr id="33" name="Text 29"/>
          <p:cNvSpPr txBox="1"/>
          <p:nvPr/>
        </p:nvSpPr>
        <p:spPr>
          <a:xfrm>
            <a:off x="1005840" y="4160520"/>
            <a:ext cx="1020470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التشخيص</a:t>
            </a:r>
            <a:endParaRPr lang="ar-EG" sz="1500" dirty="0"/>
          </a:p>
        </p:txBody>
      </p:sp>
      <p:sp>
        <p:nvSpPr>
          <p:cNvPr id="34" name="Text 30"/>
          <p:cNvSpPr txBox="1"/>
          <p:nvPr/>
        </p:nvSpPr>
        <p:spPr>
          <a:xfrm>
            <a:off x="1024128" y="4754880"/>
            <a:ext cx="10204704" cy="960120"/>
          </a:xfrm>
          <a:prstGeom prst="rect">
            <a:avLst/>
          </a:prstGeom>
          <a:noFill/>
          <a:ln/>
        </p:spPr>
        <p:txBody>
          <a:bodyPr wrap="square" lIns="0" tIns="0" rIns="0" bIns="0" rtlCol="0" anchor="t"/>
          <a:lstStyle/>
          <a:p>
            <a:pPr rtl="1" algn="r" indent="0" marL="0">
              <a:spcAft>
                <a:spcPts val="400"/>
              </a:spcAft>
              <a:buNone/>
            </a:pPr>
            <a:r>
              <a:rPr lang="ar-EG" altLang="en-US" sz="1500" dirty="0">
                <a:solidFill>
                  <a:srgbClr val="323232"/>
                </a:solidFill>
                <a:latin typeface="Arial" pitchFamily="34" charset="0"/>
                <a:ea typeface="Arial" pitchFamily="34" charset="-122"/>
                <a:cs typeface="Arial" pitchFamily="34" charset="-120"/>
              </a:rPr>
              <a:t>PDR عالي بس أول نود بيموت بدري جدًا: مفاوضات HEED بتتدفع كاملة كل round حتى لو الشبكة ماتغيرتش. يعني الرسايل الكتير هي سبب المشكلة، مش جودة الاختيار.</a:t>
            </a:r>
            <a:endParaRPr lang="ar-EG"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v3</a:t>
            </a:r>
            <a:pPr algn="r" indent="0" marL="0">
              <a:buNone/>
            </a:pPr>
            <a:r>
              <a:rPr lang="ar-EG" altLang="en-US" sz="2100" dirty="0">
                <a:solidFill>
                  <a:srgbClr val="8A2522"/>
                </a:solidFill>
                <a:latin typeface="Arial" pitchFamily="34" charset="0"/>
                <a:ea typeface="Arial" pitchFamily="34" charset="-122"/>
                <a:cs typeface="Arial" pitchFamily="34" charset="-120"/>
              </a:rPr>
              <a:t>  –  تصليح السبب الأساسي</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35</a:t>
            </a:r>
            <a:endParaRPr lang="en-US" sz="1000" dirty="0"/>
          </a:p>
        </p:txBody>
      </p:sp>
      <p:sp>
        <p:nvSpPr>
          <p:cNvPr id="20" name="Shape 17"/>
          <p:cNvSpPr/>
          <p:nvPr/>
        </p:nvSpPr>
        <p:spPr>
          <a:xfrm>
            <a:off x="4846320" y="1463040"/>
            <a:ext cx="6583680" cy="1371600"/>
          </a:xfrm>
          <a:prstGeom prst="roundRect">
            <a:avLst>
              <a:gd name="adj" fmla="val 8000"/>
            </a:avLst>
          </a:prstGeom>
          <a:solidFill>
            <a:srgbClr val="FFFFFF"/>
          </a:solidFill>
          <a:ln w="12700">
            <a:solidFill>
              <a:srgbClr val="D6D3C7"/>
            </a:solidFill>
            <a:prstDash val="solid"/>
          </a:ln>
        </p:spPr>
      </p:sp>
      <p:sp>
        <p:nvSpPr>
          <p:cNvPr id="21" name="Text 18"/>
          <p:cNvSpPr txBox="1"/>
          <p:nvPr/>
        </p:nvSpPr>
        <p:spPr>
          <a:xfrm>
            <a:off x="5029200" y="1508760"/>
            <a:ext cx="6309360" cy="1280160"/>
          </a:xfrm>
          <a:prstGeom prst="rect">
            <a:avLst/>
          </a:prstGeom>
          <a:noFill/>
          <a:ln/>
        </p:spPr>
        <p:txBody>
          <a:bodyPr wrap="square" lIns="0" tIns="0" rIns="0" bIns="0" rtlCol="0" anchor="ctr"/>
          <a:lstStyle/>
          <a:p>
            <a:pPr indent="0" marL="0">
              <a:spcAft>
                <a:spcPts val="600"/>
              </a:spcAft>
              <a:buNone/>
            </a:pPr>
            <a:r>
              <a:rPr lang="en-US" sz="1800" b="1" dirty="0">
                <a:solidFill>
                  <a:srgbClr val="8A2522"/>
                </a:solidFill>
                <a:latin typeface="Courier New" pitchFamily="34" charset="0"/>
                <a:ea typeface="Courier New" pitchFamily="34" charset="-122"/>
                <a:cs typeface="Courier New" pitchFamily="34" charset="-120"/>
              </a:rPr>
              <a:t>score = (E / E0) × (1 + degree / maxDegree)</a:t>
            </a:r>
            <a:endParaRPr lang="en-US" sz="1800" dirty="0"/>
          </a:p>
          <a:p>
            <a:pPr indent="0" marL="0">
              <a:spcAft>
                <a:spcPts val="600"/>
              </a:spcAft>
              <a:buNone/>
            </a:pPr>
            <a:r>
              <a:rPr lang="en-US" sz="1800" b="1" dirty="0">
                <a:solidFill>
                  <a:srgbClr val="8A2522"/>
                </a:solidFill>
                <a:latin typeface="Courier New" pitchFamily="34" charset="0"/>
                <a:ea typeface="Courier New" pitchFamily="34" charset="-122"/>
                <a:cs typeface="Courier New" pitchFamily="34" charset="-120"/>
              </a:rPr>
              <a:t>P(CH) = min(1, T(r) × score)</a:t>
            </a:r>
            <a:endParaRPr lang="en-US" sz="1800" dirty="0"/>
          </a:p>
        </p:txBody>
      </p:sp>
      <p:sp>
        <p:nvSpPr>
          <p:cNvPr id="22" name="Text 19"/>
          <p:cNvSpPr txBox="1"/>
          <p:nvPr/>
        </p:nvSpPr>
        <p:spPr>
          <a:xfrm>
            <a:off x="4846320" y="3063240"/>
            <a:ext cx="6583680" cy="2011680"/>
          </a:xfrm>
          <a:prstGeom prst="rect">
            <a:avLst/>
          </a:prstGeom>
          <a:noFill/>
          <a:ln/>
        </p:spPr>
        <p:txBody>
          <a:bodyPr wrap="square" lIns="635" tIns="635" rIns="635" bIns="635" rtlCol="0" anchor="t"/>
          <a:lstStyle/>
          <a:p>
            <a:pPr algn="r" marL="203200" indent="-203200">
              <a:spcAft>
                <a:spcPts val="600"/>
              </a:spcAft>
              <a:buSzPct val="100000"/>
              <a:buChar char="•"/>
            </a:pPr>
            <a:r>
              <a:rPr lang="ar-EG" altLang="en-US" sz="1500" dirty="0">
                <a:solidFill>
                  <a:srgbClr val="323232"/>
                </a:solidFill>
                <a:latin typeface="Arial" pitchFamily="34" charset="0"/>
                <a:ea typeface="Arial" pitchFamily="34" charset="-122"/>
                <a:cs typeface="Arial" pitchFamily="34" charset="-120"/>
              </a:rPr>
              <a:t>معادلة واحدة — من غير مفاوضات متكررة</a:t>
            </a:r>
            <a:endParaRPr lang="ar-EG" sz="1500" dirty="0"/>
          </a:p>
          <a:p>
            <a:pPr algn="r" marL="203200" indent="-203200">
              <a:spcAft>
                <a:spcPts val="600"/>
              </a:spcAft>
              <a:buSzPct val="100000"/>
              <a:buChar char="•"/>
            </a:pPr>
            <a:r>
              <a:rPr lang="ar-EG" altLang="en-US" sz="1500" dirty="0">
                <a:solidFill>
                  <a:srgbClr val="323232"/>
                </a:solidFill>
                <a:latin typeface="Arial" pitchFamily="34" charset="0"/>
                <a:ea typeface="Arial" pitchFamily="34" charset="-122"/>
                <a:cs typeface="Arial" pitchFamily="34" charset="-120"/>
              </a:rPr>
              <a:t>الـ CHs بتتحسب مرة كل 5 rounds بس</a:t>
            </a:r>
            <a:endParaRPr lang="ar-EG" sz="1500" dirty="0"/>
          </a:p>
          <a:p>
            <a:pPr algn="r" marL="203200" indent="-203200">
              <a:spcAft>
                <a:spcPts val="600"/>
              </a:spcAft>
              <a:buSzPct val="100000"/>
              <a:buChar char="•"/>
            </a:pPr>
            <a:r>
              <a:rPr lang="ar-EG" altLang="en-US" sz="1500" dirty="0">
                <a:solidFill>
                  <a:srgbClr val="323232"/>
                </a:solidFill>
                <a:latin typeface="Arial" pitchFamily="34" charset="0"/>
                <a:ea typeface="Arial" pitchFamily="34" charset="-122"/>
                <a:cs typeface="Arial" pitchFamily="34" charset="-120"/>
              </a:rPr>
              <a:t>معادلة T(r) والـ epoch بتوع LEACH بيخلّوا الدور عادل</a:t>
            </a:r>
            <a:endParaRPr lang="ar-EG" sz="1500" dirty="0"/>
          </a:p>
        </p:txBody>
      </p:sp>
      <p:sp>
        <p:nvSpPr>
          <p:cNvPr id="23" name="Text 20"/>
          <p:cNvSpPr txBox="1"/>
          <p:nvPr/>
        </p:nvSpPr>
        <p:spPr>
          <a:xfrm>
            <a:off x="822960" y="1463040"/>
            <a:ext cx="3566160" cy="731520"/>
          </a:xfrm>
          <a:prstGeom prst="rect">
            <a:avLst/>
          </a:prstGeom>
          <a:noFill/>
          <a:ln/>
        </p:spPr>
        <p:txBody>
          <a:bodyPr wrap="square" lIns="0" tIns="0" rIns="0" bIns="0" rtlCol="0" anchor="ctr"/>
          <a:lstStyle/>
          <a:p>
            <a:pPr algn="r" indent="0" marL="0">
              <a:buNone/>
            </a:pPr>
            <a:r>
              <a:rPr lang="en-US" sz="4800" b="1" dirty="0">
                <a:solidFill>
                  <a:srgbClr val="8A2522"/>
                </a:solidFill>
                <a:latin typeface="Arial" pitchFamily="34" charset="0"/>
                <a:ea typeface="Arial" pitchFamily="34" charset="-122"/>
                <a:cs typeface="Arial" pitchFamily="34" charset="-120"/>
              </a:rPr>
              <a:t>+94%</a:t>
            </a:r>
            <a:endParaRPr lang="en-US" sz="4800" dirty="0"/>
          </a:p>
        </p:txBody>
      </p:sp>
      <p:sp>
        <p:nvSpPr>
          <p:cNvPr id="24" name="Text 21"/>
          <p:cNvSpPr txBox="1"/>
          <p:nvPr/>
        </p:nvSpPr>
        <p:spPr>
          <a:xfrm>
            <a:off x="822960" y="2194560"/>
            <a:ext cx="3566160" cy="548640"/>
          </a:xfrm>
          <a:prstGeom prst="rect">
            <a:avLst/>
          </a:prstGeom>
          <a:noFill/>
          <a:ln/>
        </p:spPr>
        <p:txBody>
          <a:bodyPr wrap="square" lIns="0" tIns="0" rIns="0" bIns="0" rtlCol="0" anchor="t"/>
          <a:lstStyle/>
          <a:p>
            <a:pPr rtl="1" algn="r" indent="0" marL="0">
              <a:buNone/>
            </a:pPr>
            <a:r>
              <a:rPr lang="ar-EG" altLang="en-US" sz="1350" dirty="0">
                <a:solidFill>
                  <a:srgbClr val="6B6B6B"/>
                </a:solidFill>
                <a:latin typeface="Arial" pitchFamily="34" charset="0"/>
                <a:ea typeface="Arial" pitchFamily="34" charset="-122"/>
                <a:cs typeface="Arial" pitchFamily="34" charset="-120"/>
              </a:rPr>
              <a:t>الـ LND مقارنة بـ v2 (1393 ← 2703)</a:t>
            </a:r>
            <a:endParaRPr lang="ar-EG" sz="1350" dirty="0"/>
          </a:p>
        </p:txBody>
      </p:sp>
      <p:sp>
        <p:nvSpPr>
          <p:cNvPr id="25" name="Text 22"/>
          <p:cNvSpPr txBox="1"/>
          <p:nvPr/>
        </p:nvSpPr>
        <p:spPr>
          <a:xfrm>
            <a:off x="822960" y="3017520"/>
            <a:ext cx="3566160" cy="731520"/>
          </a:xfrm>
          <a:prstGeom prst="rect">
            <a:avLst/>
          </a:prstGeom>
          <a:noFill/>
          <a:ln/>
        </p:spPr>
        <p:txBody>
          <a:bodyPr wrap="square" lIns="0" tIns="0" rIns="0" bIns="0" rtlCol="0" anchor="ctr"/>
          <a:lstStyle/>
          <a:p>
            <a:pPr algn="r" indent="0" marL="0">
              <a:buNone/>
            </a:pPr>
            <a:r>
              <a:rPr lang="en-US" sz="4800" b="1" dirty="0">
                <a:solidFill>
                  <a:srgbClr val="8A2522"/>
                </a:solidFill>
                <a:latin typeface="Arial" pitchFamily="34" charset="0"/>
                <a:ea typeface="Arial" pitchFamily="34" charset="-122"/>
                <a:cs typeface="Arial" pitchFamily="34" charset="-120"/>
              </a:rPr>
              <a:t>×5</a:t>
            </a:r>
            <a:endParaRPr lang="en-US" sz="4800" dirty="0"/>
          </a:p>
        </p:txBody>
      </p:sp>
      <p:sp>
        <p:nvSpPr>
          <p:cNvPr id="26" name="Text 23"/>
          <p:cNvSpPr txBox="1"/>
          <p:nvPr/>
        </p:nvSpPr>
        <p:spPr>
          <a:xfrm>
            <a:off x="822960" y="3749040"/>
            <a:ext cx="3566160" cy="548640"/>
          </a:xfrm>
          <a:prstGeom prst="rect">
            <a:avLst/>
          </a:prstGeom>
          <a:noFill/>
          <a:ln/>
        </p:spPr>
        <p:txBody>
          <a:bodyPr wrap="square" lIns="0" tIns="0" rIns="0" bIns="0" rtlCol="0" anchor="t"/>
          <a:lstStyle/>
          <a:p>
            <a:pPr rtl="1" algn="r" indent="0" marL="0">
              <a:buNone/>
            </a:pPr>
            <a:r>
              <a:rPr lang="ar-EG" altLang="en-US" sz="1350" dirty="0">
                <a:solidFill>
                  <a:srgbClr val="6B6B6B"/>
                </a:solidFill>
                <a:latin typeface="Arial" pitchFamily="34" charset="0"/>
                <a:ea typeface="Arial" pitchFamily="34" charset="-122"/>
                <a:cs typeface="Arial" pitchFamily="34" charset="-120"/>
              </a:rPr>
              <a:t>أول نود بيموت متأخر 5 أضعاف (345 ← 1730)</a:t>
            </a:r>
            <a:endParaRPr lang="ar-EG" sz="13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846320" y="5074920"/>
          <a:ext cx="6583680" cy="914400"/>
        </p:xfrm>
        <a:graphic>
          <a:graphicData uri="http://schemas.openxmlformats.org/drawingml/2006/table">
            <a:tbl>
              <a:tblPr/>
              <a:tblGrid>
                <a:gridCol w="1645920"/>
                <a:gridCol w="1645920"/>
                <a:gridCol w="1645920"/>
                <a:gridCol w="1645920"/>
              </a:tblGrid>
              <a:tr h="384048">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PDR</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LND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HND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FND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97.72%</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2703</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2081</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1730</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v4 وv5</a:t>
            </a:r>
            <a:pPr algn="r" indent="0" marL="0">
              <a:buNone/>
            </a:pPr>
            <a:r>
              <a:rPr lang="ar-EG" altLang="en-US" sz="2100" dirty="0">
                <a:solidFill>
                  <a:srgbClr val="8A2522"/>
                </a:solidFill>
                <a:latin typeface="Arial" pitchFamily="34" charset="0"/>
                <a:ea typeface="Arial" pitchFamily="34" charset="-122"/>
                <a:cs typeface="Arial" pitchFamily="34" charset="-120"/>
              </a:rPr>
              <a:t>  –  مدة إعادة الاستخدام، والنائب</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36</a:t>
            </a:r>
            <a:endParaRPr lang="en-US" sz="1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663440" y="1463040"/>
          <a:ext cx="6766560" cy="914400"/>
        </p:xfrm>
        <a:graphic>
          <a:graphicData uri="http://schemas.openxmlformats.org/drawingml/2006/table">
            <a:tbl>
              <a:tblPr/>
              <a:tblGrid>
                <a:gridCol w="777240"/>
                <a:gridCol w="777240"/>
                <a:gridCol w="777240"/>
                <a:gridCol w="777240"/>
                <a:gridCol w="2743200"/>
                <a:gridCol w="914400"/>
              </a:tblGrid>
              <a:tr h="384048">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PDR</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LND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HND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FND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التغيير</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النسخة</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97.72%</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2703</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2081</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1730</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مدة 5</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v3</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94.67%</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2521</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2219</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1513</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مدة 5 ← 15</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v4</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97.05%</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2416</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2127</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1513</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 نائب CH</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v5</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98.27%</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2156</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2086</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1730</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مدة 5 + نائب + إصلاح</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v5-exp</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97.94%</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2291</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2141</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1621</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dirty="0">
                          <a:solidFill>
                            <a:srgbClr val="323232"/>
                          </a:solidFill>
                          <a:latin typeface="Arial" pitchFamily="34" charset="0"/>
                          <a:ea typeface="Arial" pitchFamily="34" charset="-122"/>
                          <a:cs typeface="Arial" pitchFamily="34" charset="-120"/>
                        </a:rPr>
                        <a:t>مدة 10 + نائب + إصلاح</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v5-exp</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bl>
          </a:graphicData>
        </a:graphic>
      </p:graphicFrame>
      <p:sp>
        <p:nvSpPr>
          <p:cNvPr id="21" name="Shape 17"/>
          <p:cNvSpPr/>
          <p:nvPr/>
        </p:nvSpPr>
        <p:spPr>
          <a:xfrm>
            <a:off x="822960" y="1463040"/>
            <a:ext cx="3566160" cy="2103120"/>
          </a:xfrm>
          <a:prstGeom prst="roundRect">
            <a:avLst>
              <a:gd name="adj" fmla="val 5217"/>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2" name="Text 18"/>
          <p:cNvSpPr txBox="1"/>
          <p:nvPr/>
        </p:nvSpPr>
        <p:spPr>
          <a:xfrm>
            <a:off x="1005840" y="1600200"/>
            <a:ext cx="316382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v4: المدة الطويلة بتضر</a:t>
            </a:r>
            <a:endParaRPr lang="ar-EG" sz="1500" dirty="0"/>
          </a:p>
        </p:txBody>
      </p:sp>
      <p:sp>
        <p:nvSpPr>
          <p:cNvPr id="23" name="Text 19"/>
          <p:cNvSpPr txBox="1"/>
          <p:nvPr/>
        </p:nvSpPr>
        <p:spPr>
          <a:xfrm>
            <a:off x="1024128" y="2194560"/>
            <a:ext cx="3163824" cy="123444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الـ CH اللي بيموت في النص بيسيب مجموعته مقطوعة مدة أطول ← الـ PDR من 97.72% لـ 94.67%.</a:t>
            </a:r>
            <a:endParaRPr lang="ar-EG" sz="1400" dirty="0"/>
          </a:p>
        </p:txBody>
      </p:sp>
      <p:sp>
        <p:nvSpPr>
          <p:cNvPr id="24" name="Shape 20"/>
          <p:cNvSpPr/>
          <p:nvPr/>
        </p:nvSpPr>
        <p:spPr>
          <a:xfrm>
            <a:off x="822960" y="3749040"/>
            <a:ext cx="3566160" cy="2103120"/>
          </a:xfrm>
          <a:prstGeom prst="roundRect">
            <a:avLst>
              <a:gd name="adj" fmla="val 5217"/>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5" name="Text 21"/>
          <p:cNvSpPr txBox="1"/>
          <p:nvPr/>
        </p:nvSpPr>
        <p:spPr>
          <a:xfrm>
            <a:off x="1005840" y="3886200"/>
            <a:ext cx="316382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v5: النائب</a:t>
            </a:r>
            <a:endParaRPr lang="ar-EG" sz="1500" dirty="0"/>
          </a:p>
        </p:txBody>
      </p:sp>
      <p:sp>
        <p:nvSpPr>
          <p:cNvPr id="26" name="Text 22"/>
          <p:cNvSpPr txBox="1"/>
          <p:nvPr/>
        </p:nvSpPr>
        <p:spPr>
          <a:xfrm>
            <a:off x="1024128" y="4480560"/>
            <a:ext cx="3163824" cy="123444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أقوى عضو بيتحدد من الأول (من غير رسايل زيادة) وبيترقّى لما الـ CH يموت ← الـ PDR رجع فوق 97%.</a:t>
            </a:r>
            <a:endParaRPr lang="ar-EG"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v6 وv7</a:t>
            </a:r>
            <a:pPr algn="r" indent="0" marL="0">
              <a:buNone/>
            </a:pPr>
            <a:r>
              <a:rPr lang="ar-EG" altLang="en-US" sz="2100" dirty="0">
                <a:solidFill>
                  <a:srgbClr val="8A2522"/>
                </a:solidFill>
                <a:latin typeface="Arial" pitchFamily="34" charset="0"/>
                <a:ea typeface="Arial" pitchFamily="34" charset="-122"/>
                <a:cs typeface="Arial" pitchFamily="34" charset="-120"/>
              </a:rPr>
              <a:t>  –  سلسلة بين الـ CHs + إصلاح</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37</a:t>
            </a:r>
            <a:endParaRPr lang="en-US" sz="1000" dirty="0"/>
          </a:p>
        </p:txBody>
      </p:sp>
      <p:sp>
        <p:nvSpPr>
          <p:cNvPr id="20" name="Shape 17"/>
          <p:cNvSpPr/>
          <p:nvPr/>
        </p:nvSpPr>
        <p:spPr>
          <a:xfrm>
            <a:off x="10369296" y="1463040"/>
            <a:ext cx="1060704" cy="731520"/>
          </a:xfrm>
          <a:prstGeom prst="roundRect">
            <a:avLst>
              <a:gd name="adj" fmla="val 12500"/>
            </a:avLst>
          </a:prstGeom>
          <a:solidFill>
            <a:srgbClr val="FFFFFF"/>
          </a:solidFill>
          <a:ln w="12700">
            <a:solidFill>
              <a:srgbClr val="D6D3C7"/>
            </a:solidFill>
            <a:prstDash val="solid"/>
          </a:ln>
        </p:spPr>
      </p:sp>
      <p:sp>
        <p:nvSpPr>
          <p:cNvPr id="21" name="Text 18"/>
          <p:cNvSpPr txBox="1"/>
          <p:nvPr/>
        </p:nvSpPr>
        <p:spPr>
          <a:xfrm>
            <a:off x="10442448" y="1517904"/>
            <a:ext cx="914400" cy="621792"/>
          </a:xfrm>
          <a:prstGeom prst="rect">
            <a:avLst/>
          </a:prstGeom>
          <a:noFill/>
          <a:ln/>
        </p:spPr>
        <p:txBody>
          <a:bodyPr wrap="square" lIns="0" tIns="0" rIns="0" bIns="0" rtlCol="0" anchor="ctr"/>
          <a:lstStyle/>
          <a:p>
            <a:pPr algn="ctr" indent="0" marL="0">
              <a:buNone/>
            </a:pPr>
            <a:r>
              <a:rPr lang="ar-EG" altLang="en-US" sz="1500" b="1" dirty="0">
                <a:solidFill>
                  <a:srgbClr val="8A2522"/>
                </a:solidFill>
                <a:latin typeface="Arial" pitchFamily="34" charset="0"/>
                <a:ea typeface="Arial" pitchFamily="34" charset="-122"/>
                <a:cs typeface="Arial" pitchFamily="34" charset="-120"/>
              </a:rPr>
              <a:t>CH₁</a:t>
            </a:r>
            <a:endParaRPr lang="ar-EG" sz="1500" dirty="0"/>
          </a:p>
        </p:txBody>
      </p:sp>
      <p:sp>
        <p:nvSpPr>
          <p:cNvPr id="22" name="Shape 19"/>
          <p:cNvSpPr/>
          <p:nvPr/>
        </p:nvSpPr>
        <p:spPr>
          <a:xfrm>
            <a:off x="10097262" y="1728216"/>
            <a:ext cx="224028" cy="201168"/>
          </a:xfrm>
          <a:prstGeom prst="leftArrow">
            <a:avLst/>
          </a:prstGeom>
          <a:solidFill>
            <a:srgbClr val="8A2522"/>
          </a:solidFill>
          <a:ln w="12700">
            <a:solidFill>
              <a:srgbClr val="8A2522"/>
            </a:solidFill>
            <a:prstDash val="solid"/>
          </a:ln>
        </p:spPr>
      </p:sp>
      <p:sp>
        <p:nvSpPr>
          <p:cNvPr id="23" name="Shape 20"/>
          <p:cNvSpPr/>
          <p:nvPr/>
        </p:nvSpPr>
        <p:spPr>
          <a:xfrm>
            <a:off x="8988552" y="1463040"/>
            <a:ext cx="1060704" cy="731520"/>
          </a:xfrm>
          <a:prstGeom prst="roundRect">
            <a:avLst>
              <a:gd name="adj" fmla="val 12500"/>
            </a:avLst>
          </a:prstGeom>
          <a:solidFill>
            <a:srgbClr val="FFFFFF"/>
          </a:solidFill>
          <a:ln w="12700">
            <a:solidFill>
              <a:srgbClr val="D6D3C7"/>
            </a:solidFill>
            <a:prstDash val="solid"/>
          </a:ln>
        </p:spPr>
      </p:sp>
      <p:sp>
        <p:nvSpPr>
          <p:cNvPr id="24" name="Text 21"/>
          <p:cNvSpPr txBox="1"/>
          <p:nvPr/>
        </p:nvSpPr>
        <p:spPr>
          <a:xfrm>
            <a:off x="9061704" y="1517904"/>
            <a:ext cx="914400" cy="621792"/>
          </a:xfrm>
          <a:prstGeom prst="rect">
            <a:avLst/>
          </a:prstGeom>
          <a:noFill/>
          <a:ln/>
        </p:spPr>
        <p:txBody>
          <a:bodyPr wrap="square" lIns="0" tIns="0" rIns="0" bIns="0" rtlCol="0" anchor="ctr"/>
          <a:lstStyle/>
          <a:p>
            <a:pPr algn="ctr" indent="0" marL="0">
              <a:buNone/>
            </a:pPr>
            <a:r>
              <a:rPr lang="ar-EG" altLang="en-US" sz="1500" b="1" dirty="0">
                <a:solidFill>
                  <a:srgbClr val="8A2522"/>
                </a:solidFill>
                <a:latin typeface="Arial" pitchFamily="34" charset="0"/>
                <a:ea typeface="Arial" pitchFamily="34" charset="-122"/>
                <a:cs typeface="Arial" pitchFamily="34" charset="-120"/>
              </a:rPr>
              <a:t>CH₂</a:t>
            </a:r>
            <a:endParaRPr lang="ar-EG" sz="1500" dirty="0"/>
          </a:p>
        </p:txBody>
      </p:sp>
      <p:sp>
        <p:nvSpPr>
          <p:cNvPr id="25" name="Shape 22"/>
          <p:cNvSpPr/>
          <p:nvPr/>
        </p:nvSpPr>
        <p:spPr>
          <a:xfrm>
            <a:off x="8716518" y="1728216"/>
            <a:ext cx="224028" cy="201168"/>
          </a:xfrm>
          <a:prstGeom prst="leftArrow">
            <a:avLst/>
          </a:prstGeom>
          <a:solidFill>
            <a:srgbClr val="8A2522"/>
          </a:solidFill>
          <a:ln w="12700">
            <a:solidFill>
              <a:srgbClr val="8A2522"/>
            </a:solidFill>
            <a:prstDash val="solid"/>
          </a:ln>
        </p:spPr>
      </p:sp>
      <p:sp>
        <p:nvSpPr>
          <p:cNvPr id="26" name="Shape 23"/>
          <p:cNvSpPr/>
          <p:nvPr/>
        </p:nvSpPr>
        <p:spPr>
          <a:xfrm>
            <a:off x="7607808" y="1463040"/>
            <a:ext cx="1060704" cy="731520"/>
          </a:xfrm>
          <a:prstGeom prst="roundRect">
            <a:avLst>
              <a:gd name="adj" fmla="val 12500"/>
            </a:avLst>
          </a:prstGeom>
          <a:solidFill>
            <a:srgbClr val="FFFFFF"/>
          </a:solidFill>
          <a:ln w="12700">
            <a:solidFill>
              <a:srgbClr val="D6D3C7"/>
            </a:solidFill>
            <a:prstDash val="solid"/>
          </a:ln>
        </p:spPr>
      </p:sp>
      <p:sp>
        <p:nvSpPr>
          <p:cNvPr id="27" name="Text 24"/>
          <p:cNvSpPr txBox="1"/>
          <p:nvPr/>
        </p:nvSpPr>
        <p:spPr>
          <a:xfrm>
            <a:off x="7680960" y="1517904"/>
            <a:ext cx="914400" cy="621792"/>
          </a:xfrm>
          <a:prstGeom prst="rect">
            <a:avLst/>
          </a:prstGeom>
          <a:noFill/>
          <a:ln/>
        </p:spPr>
        <p:txBody>
          <a:bodyPr wrap="square" lIns="0" tIns="0" rIns="0" bIns="0" rtlCol="0" anchor="ctr"/>
          <a:lstStyle/>
          <a:p>
            <a:pPr algn="ctr" indent="0" marL="0">
              <a:buNone/>
            </a:pPr>
            <a:r>
              <a:rPr lang="ar-EG" altLang="en-US" sz="1500" b="1" dirty="0">
                <a:solidFill>
                  <a:srgbClr val="8A2522"/>
                </a:solidFill>
                <a:latin typeface="Arial" pitchFamily="34" charset="0"/>
                <a:ea typeface="Arial" pitchFamily="34" charset="-122"/>
                <a:cs typeface="Arial" pitchFamily="34" charset="-120"/>
              </a:rPr>
              <a:t>CH₃</a:t>
            </a:r>
            <a:endParaRPr lang="ar-EG" sz="1500" dirty="0"/>
          </a:p>
        </p:txBody>
      </p:sp>
      <p:sp>
        <p:nvSpPr>
          <p:cNvPr id="28" name="Shape 25"/>
          <p:cNvSpPr/>
          <p:nvPr/>
        </p:nvSpPr>
        <p:spPr>
          <a:xfrm>
            <a:off x="7335774" y="1728216"/>
            <a:ext cx="224028" cy="201168"/>
          </a:xfrm>
          <a:prstGeom prst="leftArrow">
            <a:avLst/>
          </a:prstGeom>
          <a:solidFill>
            <a:srgbClr val="8A2522"/>
          </a:solidFill>
          <a:ln w="12700">
            <a:solidFill>
              <a:srgbClr val="8A2522"/>
            </a:solidFill>
            <a:prstDash val="solid"/>
          </a:ln>
        </p:spPr>
      </p:sp>
      <p:sp>
        <p:nvSpPr>
          <p:cNvPr id="29" name="Shape 26"/>
          <p:cNvSpPr/>
          <p:nvPr/>
        </p:nvSpPr>
        <p:spPr>
          <a:xfrm>
            <a:off x="6227064" y="1463040"/>
            <a:ext cx="1060704" cy="731520"/>
          </a:xfrm>
          <a:prstGeom prst="roundRect">
            <a:avLst>
              <a:gd name="adj" fmla="val 12500"/>
            </a:avLst>
          </a:prstGeom>
          <a:solidFill>
            <a:srgbClr val="FFFFFF"/>
          </a:solidFill>
          <a:ln w="12700">
            <a:solidFill>
              <a:srgbClr val="D6D3C7"/>
            </a:solidFill>
            <a:prstDash val="solid"/>
          </a:ln>
        </p:spPr>
      </p:sp>
      <p:sp>
        <p:nvSpPr>
          <p:cNvPr id="30" name="Text 27"/>
          <p:cNvSpPr txBox="1"/>
          <p:nvPr/>
        </p:nvSpPr>
        <p:spPr>
          <a:xfrm>
            <a:off x="6300216" y="1517904"/>
            <a:ext cx="914400" cy="621792"/>
          </a:xfrm>
          <a:prstGeom prst="rect">
            <a:avLst/>
          </a:prstGeom>
          <a:noFill/>
          <a:ln/>
        </p:spPr>
        <p:txBody>
          <a:bodyPr wrap="square" lIns="0" tIns="0" rIns="0" bIns="0" rtlCol="0" anchor="ctr"/>
          <a:lstStyle/>
          <a:p>
            <a:pPr algn="ctr" indent="0" marL="0">
              <a:buNone/>
            </a:pPr>
            <a:r>
              <a:rPr lang="ar-EG" altLang="en-US" sz="1500" b="1" dirty="0">
                <a:solidFill>
                  <a:srgbClr val="8A2522"/>
                </a:solidFill>
                <a:latin typeface="Arial" pitchFamily="34" charset="0"/>
                <a:ea typeface="Arial" pitchFamily="34" charset="-122"/>
                <a:cs typeface="Arial" pitchFamily="34" charset="-120"/>
              </a:rPr>
              <a:t>CH البوابة</a:t>
            </a:r>
            <a:endParaRPr lang="ar-EG" sz="1500" dirty="0"/>
          </a:p>
        </p:txBody>
      </p:sp>
      <p:sp>
        <p:nvSpPr>
          <p:cNvPr id="31" name="Shape 28"/>
          <p:cNvSpPr/>
          <p:nvPr/>
        </p:nvSpPr>
        <p:spPr>
          <a:xfrm>
            <a:off x="5955030" y="1728216"/>
            <a:ext cx="224028" cy="201168"/>
          </a:xfrm>
          <a:prstGeom prst="leftArrow">
            <a:avLst/>
          </a:prstGeom>
          <a:solidFill>
            <a:srgbClr val="8A2522"/>
          </a:solidFill>
          <a:ln w="12700">
            <a:solidFill>
              <a:srgbClr val="8A2522"/>
            </a:solidFill>
            <a:prstDash val="solid"/>
          </a:ln>
        </p:spPr>
      </p:sp>
      <p:sp>
        <p:nvSpPr>
          <p:cNvPr id="32" name="Shape 29"/>
          <p:cNvSpPr/>
          <p:nvPr/>
        </p:nvSpPr>
        <p:spPr>
          <a:xfrm>
            <a:off x="4846320" y="1463040"/>
            <a:ext cx="1060704" cy="731520"/>
          </a:xfrm>
          <a:prstGeom prst="roundRect">
            <a:avLst>
              <a:gd name="adj" fmla="val 12500"/>
            </a:avLst>
          </a:prstGeom>
          <a:solidFill>
            <a:srgbClr val="8A2522"/>
          </a:solidFill>
          <a:ln w="12700">
            <a:solidFill>
              <a:srgbClr val="8A2522"/>
            </a:solidFill>
            <a:prstDash val="solid"/>
          </a:ln>
        </p:spPr>
      </p:sp>
      <p:sp>
        <p:nvSpPr>
          <p:cNvPr id="33" name="Text 30"/>
          <p:cNvSpPr txBox="1"/>
          <p:nvPr/>
        </p:nvSpPr>
        <p:spPr>
          <a:xfrm>
            <a:off x="4919472" y="1517904"/>
            <a:ext cx="914400" cy="621792"/>
          </a:xfrm>
          <a:prstGeom prst="rect">
            <a:avLst/>
          </a:prstGeom>
          <a:noFill/>
          <a:ln/>
        </p:spPr>
        <p:txBody>
          <a:bodyPr wrap="square" lIns="0" tIns="0" rIns="0" bIns="0" rtlCol="0" anchor="ctr"/>
          <a:lstStyle/>
          <a:p>
            <a:pPr algn="ctr" indent="0" marL="0">
              <a:buNone/>
            </a:pPr>
            <a:r>
              <a:rPr lang="ar-EG" altLang="en-US" sz="1500" b="1" dirty="0">
                <a:solidFill>
                  <a:srgbClr val="FFFFFF"/>
                </a:solidFill>
                <a:latin typeface="Arial" pitchFamily="34" charset="0"/>
                <a:ea typeface="Arial" pitchFamily="34" charset="-122"/>
                <a:cs typeface="Arial" pitchFamily="34" charset="-120"/>
              </a:rPr>
              <a:t>BS</a:t>
            </a:r>
            <a:endParaRPr lang="ar-EG" sz="15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846320" y="2514600"/>
          <a:ext cx="6583680" cy="914400"/>
        </p:xfrm>
        <a:graphic>
          <a:graphicData uri="http://schemas.openxmlformats.org/drawingml/2006/table">
            <a:tbl>
              <a:tblPr/>
              <a:tblGrid>
                <a:gridCol w="1097280"/>
                <a:gridCol w="1097280"/>
                <a:gridCol w="1097280"/>
                <a:gridCol w="1097280"/>
                <a:gridCol w="1097280"/>
                <a:gridCol w="1097280"/>
              </a:tblGrid>
              <a:tr h="384048">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PDR</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LND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HND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FND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الـ BS</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النسخة</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97.49%</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2106</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1981</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1551</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في النص</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v6</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98.43%</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2066</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1976</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1551</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في النص</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v7</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97.08%</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2031</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1910</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1266</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بعيد</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v6</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98.14%</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1976</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1891</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1266</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بعيد</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v7</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bl>
          </a:graphicData>
        </a:graphic>
      </p:graphicFrame>
      <p:sp>
        <p:nvSpPr>
          <p:cNvPr id="35" name="Shape 31"/>
          <p:cNvSpPr/>
          <p:nvPr/>
        </p:nvSpPr>
        <p:spPr>
          <a:xfrm>
            <a:off x="822960" y="1463040"/>
            <a:ext cx="3703320" cy="2103120"/>
          </a:xfrm>
          <a:prstGeom prst="roundRect">
            <a:avLst>
              <a:gd name="adj" fmla="val 5217"/>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36" name="Text 32"/>
          <p:cNvSpPr txBox="1"/>
          <p:nvPr/>
        </p:nvSpPr>
        <p:spPr>
          <a:xfrm>
            <a:off x="1005840" y="1600200"/>
            <a:ext cx="330098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نائب + إصلاح السلسلة</a:t>
            </a:r>
            <a:endParaRPr lang="ar-EG" sz="1500" dirty="0"/>
          </a:p>
        </p:txBody>
      </p:sp>
      <p:sp>
        <p:nvSpPr>
          <p:cNvPr id="37" name="Text 33"/>
          <p:cNvSpPr txBox="1"/>
          <p:nvPr/>
        </p:nvSpPr>
        <p:spPr>
          <a:xfrm>
            <a:off x="1024128" y="2194560"/>
            <a:ext cx="3300984" cy="123444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اتأكدنا إن الإصلاح بيشتغل: 16/16 (في النص) و21/21 (بعيد) عن طريق ترقية النائب.</a:t>
            </a:r>
            <a:endParaRPr lang="ar-EG" sz="1400" dirty="0"/>
          </a:p>
        </p:txBody>
      </p:sp>
      <p:sp>
        <p:nvSpPr>
          <p:cNvPr id="38" name="Shape 34"/>
          <p:cNvSpPr/>
          <p:nvPr/>
        </p:nvSpPr>
        <p:spPr>
          <a:xfrm>
            <a:off x="822960" y="3749040"/>
            <a:ext cx="3703320" cy="2103120"/>
          </a:xfrm>
          <a:prstGeom prst="roundRect">
            <a:avLst>
              <a:gd name="adj" fmla="val 5217"/>
            </a:avLst>
          </a:prstGeom>
          <a:solidFill>
            <a:srgbClr val="F6E3E1"/>
          </a:solidFill>
          <a:ln w="12700">
            <a:solidFill>
              <a:srgbClr val="C9A09E"/>
            </a:solidFill>
            <a:prstDash val="solid"/>
          </a:ln>
          <a:effectLst>
            <a:outerShdw sx="100000" sy="100000" kx="0" ky="0" algn="bl" rotWithShape="0" blurRad="76200" dist="25400" dir="5400000">
              <a:srgbClr val="000000">
                <a:alpha val="10000"/>
              </a:srgbClr>
            </a:outerShdw>
          </a:effectLst>
        </p:spPr>
      </p:sp>
      <p:sp>
        <p:nvSpPr>
          <p:cNvPr id="39" name="Text 35"/>
          <p:cNvSpPr txBox="1"/>
          <p:nvPr/>
        </p:nvSpPr>
        <p:spPr>
          <a:xfrm>
            <a:off x="1005840" y="3886200"/>
            <a:ext cx="330098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ملاحظة</a:t>
            </a:r>
            <a:endParaRPr lang="ar-EG" sz="1500" dirty="0"/>
          </a:p>
        </p:txBody>
      </p:sp>
      <p:sp>
        <p:nvSpPr>
          <p:cNvPr id="40" name="Text 36"/>
          <p:cNvSpPr txBox="1"/>
          <p:nvPr/>
        </p:nvSpPr>
        <p:spPr>
          <a:xfrm>
            <a:off x="1024128" y="4480560"/>
            <a:ext cx="3300984" cy="123444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السلسلة بتزوّد الـ PDR، بس لو الـ BS قريب بتضيف تكلفة. السلسلة الثابتة مش الأحسن في كل مكان.</a:t>
            </a:r>
            <a:endParaRPr lang="ar-EG"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v7.1 وv7.2</a:t>
            </a:r>
            <a:pPr algn="r" indent="0" marL="0">
              <a:buNone/>
            </a:pPr>
            <a:r>
              <a:rPr lang="ar-EG" altLang="en-US" sz="2100" dirty="0">
                <a:solidFill>
                  <a:srgbClr val="8A2522"/>
                </a:solidFill>
                <a:latin typeface="Arial" pitchFamily="34" charset="0"/>
                <a:ea typeface="Arial" pitchFamily="34" charset="-122"/>
                <a:cs typeface="Arial" pitchFamily="34" charset="-120"/>
              </a:rPr>
              <a:t>  –  شجرة Multihop</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38</a:t>
            </a:r>
            <a:endParaRPr lang="en-US" sz="1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943600" y="1463040"/>
          <a:ext cx="5486400" cy="914400"/>
        </p:xfrm>
        <a:graphic>
          <a:graphicData uri="http://schemas.openxmlformats.org/drawingml/2006/table">
            <a:tbl>
              <a:tblPr/>
              <a:tblGrid>
                <a:gridCol w="2011680"/>
                <a:gridCol w="2011680"/>
                <a:gridCol w="1463040"/>
              </a:tblGrid>
              <a:tr h="640080">
                <a:tc>
                  <a:txBody>
                    <a:bodyPr/>
                    <a:lstStyle/>
                    <a:p>
                      <a:pPr rtl="1" algn="ctr" indent="0" marL="0">
                        <a:buNone/>
                      </a:pPr>
                      <a:r>
                        <a:rPr lang="en-US" sz="1600" b="1" dirty="0">
                          <a:solidFill>
                            <a:srgbClr val="FFFFFF"/>
                          </a:solidFill>
                          <a:latin typeface="Arial" pitchFamily="34" charset="0"/>
                          <a:ea typeface="Arial" pitchFamily="34" charset="-122"/>
                          <a:cs typeface="Arial" pitchFamily="34" charset="-120"/>
                        </a:rPr>
                        <a:t>v7.2 (مدة 10)</a:t>
                      </a:r>
                      <a:endParaRPr lang="en-US" sz="16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600" b="1" dirty="0">
                          <a:solidFill>
                            <a:srgbClr val="FFFFFF"/>
                          </a:solidFill>
                          <a:latin typeface="Arial" pitchFamily="34" charset="0"/>
                          <a:ea typeface="Arial" pitchFamily="34" charset="-122"/>
                          <a:cs typeface="Arial" pitchFamily="34" charset="-120"/>
                        </a:rPr>
                        <a:t>v7.1 (مدة 5)</a:t>
                      </a:r>
                      <a:endParaRPr lang="en-US" sz="16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600" b="1" dirty="0">
                          <a:solidFill>
                            <a:srgbClr val="FFFFFF"/>
                          </a:solidFill>
                          <a:latin typeface="Arial" pitchFamily="34" charset="0"/>
                          <a:ea typeface="Arial" pitchFamily="34" charset="-122"/>
                          <a:cs typeface="Arial" pitchFamily="34" charset="-120"/>
                        </a:rPr>
                        <a:t>المقياس</a:t>
                      </a:r>
                      <a:endParaRPr lang="en-US" sz="16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r>
              <a:tr h="640080">
                <a:tc>
                  <a:txBody>
                    <a:bodyPr/>
                    <a:lstStyle/>
                    <a:p>
                      <a:pPr rtl="1" algn="ctr" indent="0" marL="0">
                        <a:buNone/>
                      </a:pPr>
                      <a:r>
                        <a:rPr lang="en-US" sz="1600" dirty="0">
                          <a:solidFill>
                            <a:srgbClr val="323232"/>
                          </a:solidFill>
                          <a:latin typeface="Arial" pitchFamily="34" charset="0"/>
                          <a:ea typeface="Arial" pitchFamily="34" charset="-122"/>
                          <a:cs typeface="Arial" pitchFamily="34" charset="-120"/>
                        </a:rPr>
                        <a:t>1381</a:t>
                      </a:r>
                      <a:endParaRPr lang="en-US" sz="16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600" dirty="0">
                          <a:solidFill>
                            <a:srgbClr val="323232"/>
                          </a:solidFill>
                          <a:latin typeface="Arial" pitchFamily="34" charset="0"/>
                          <a:ea typeface="Arial" pitchFamily="34" charset="-122"/>
                          <a:cs typeface="Arial" pitchFamily="34" charset="-120"/>
                        </a:rPr>
                        <a:t>1491</a:t>
                      </a:r>
                      <a:endParaRPr lang="en-US" sz="16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600" b="1" dirty="0">
                          <a:solidFill>
                            <a:srgbClr val="323232"/>
                          </a:solidFill>
                          <a:latin typeface="Arial" pitchFamily="34" charset="0"/>
                          <a:ea typeface="Arial" pitchFamily="34" charset="-122"/>
                          <a:cs typeface="Arial" pitchFamily="34" charset="-120"/>
                        </a:rPr>
                        <a:t>FND</a:t>
                      </a:r>
                      <a:endParaRPr lang="en-US" sz="16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640080">
                <a:tc>
                  <a:txBody>
                    <a:bodyPr/>
                    <a:lstStyle/>
                    <a:p>
                      <a:pPr rtl="1" algn="ctr" indent="0" marL="0">
                        <a:buNone/>
                      </a:pPr>
                      <a:r>
                        <a:rPr lang="en-US" sz="1600" dirty="0">
                          <a:solidFill>
                            <a:srgbClr val="323232"/>
                          </a:solidFill>
                          <a:latin typeface="Arial" pitchFamily="34" charset="0"/>
                          <a:ea typeface="Arial" pitchFamily="34" charset="-122"/>
                          <a:cs typeface="Arial" pitchFamily="34" charset="-120"/>
                        </a:rPr>
                        <a:t>2071</a:t>
                      </a:r>
                      <a:endParaRPr lang="en-US" sz="16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600" dirty="0">
                          <a:solidFill>
                            <a:srgbClr val="323232"/>
                          </a:solidFill>
                          <a:latin typeface="Arial" pitchFamily="34" charset="0"/>
                          <a:ea typeface="Arial" pitchFamily="34" charset="-122"/>
                          <a:cs typeface="Arial" pitchFamily="34" charset="-120"/>
                        </a:rPr>
                        <a:t>1991</a:t>
                      </a:r>
                      <a:endParaRPr lang="en-US" sz="16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600" b="1" dirty="0">
                          <a:solidFill>
                            <a:srgbClr val="323232"/>
                          </a:solidFill>
                          <a:latin typeface="Arial" pitchFamily="34" charset="0"/>
                          <a:ea typeface="Arial" pitchFamily="34" charset="-122"/>
                          <a:cs typeface="Arial" pitchFamily="34" charset="-120"/>
                        </a:rPr>
                        <a:t>HND</a:t>
                      </a:r>
                      <a:endParaRPr lang="en-US" sz="16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r h="640080">
                <a:tc>
                  <a:txBody>
                    <a:bodyPr/>
                    <a:lstStyle/>
                    <a:p>
                      <a:pPr rtl="1" algn="ctr" indent="0" marL="0">
                        <a:buNone/>
                      </a:pPr>
                      <a:r>
                        <a:rPr lang="en-US" sz="1600" dirty="0">
                          <a:solidFill>
                            <a:srgbClr val="323232"/>
                          </a:solidFill>
                          <a:latin typeface="Arial" pitchFamily="34" charset="0"/>
                          <a:ea typeface="Arial" pitchFamily="34" charset="-122"/>
                          <a:cs typeface="Arial" pitchFamily="34" charset="-120"/>
                        </a:rPr>
                        <a:t>2241</a:t>
                      </a:r>
                      <a:endParaRPr lang="en-US" sz="16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600" dirty="0">
                          <a:solidFill>
                            <a:srgbClr val="323232"/>
                          </a:solidFill>
                          <a:latin typeface="Arial" pitchFamily="34" charset="0"/>
                          <a:ea typeface="Arial" pitchFamily="34" charset="-122"/>
                          <a:cs typeface="Arial" pitchFamily="34" charset="-120"/>
                        </a:rPr>
                        <a:t>2086</a:t>
                      </a:r>
                      <a:endParaRPr lang="en-US" sz="16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600" b="1" dirty="0">
                          <a:solidFill>
                            <a:srgbClr val="323232"/>
                          </a:solidFill>
                          <a:latin typeface="Arial" pitchFamily="34" charset="0"/>
                          <a:ea typeface="Arial" pitchFamily="34" charset="-122"/>
                          <a:cs typeface="Arial" pitchFamily="34" charset="-120"/>
                        </a:rPr>
                        <a:t>LND</a:t>
                      </a:r>
                      <a:endParaRPr lang="en-US" sz="16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640080">
                <a:tc>
                  <a:txBody>
                    <a:bodyPr/>
                    <a:lstStyle/>
                    <a:p>
                      <a:pPr rtl="1" algn="ctr" indent="0" marL="0">
                        <a:buNone/>
                      </a:pPr>
                      <a:r>
                        <a:rPr lang="en-US" sz="1600" dirty="0">
                          <a:solidFill>
                            <a:srgbClr val="323232"/>
                          </a:solidFill>
                          <a:latin typeface="Arial" pitchFamily="34" charset="0"/>
                          <a:ea typeface="Arial" pitchFamily="34" charset="-122"/>
                          <a:cs typeface="Arial" pitchFamily="34" charset="-120"/>
                        </a:rPr>
                        <a:t>97.88%</a:t>
                      </a:r>
                      <a:endParaRPr lang="en-US" sz="16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600" dirty="0">
                          <a:solidFill>
                            <a:srgbClr val="323232"/>
                          </a:solidFill>
                          <a:latin typeface="Arial" pitchFamily="34" charset="0"/>
                          <a:ea typeface="Arial" pitchFamily="34" charset="-122"/>
                          <a:cs typeface="Arial" pitchFamily="34" charset="-120"/>
                        </a:rPr>
                        <a:t>98.49%</a:t>
                      </a:r>
                      <a:endParaRPr lang="en-US" sz="16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600" b="1" dirty="0">
                          <a:solidFill>
                            <a:srgbClr val="323232"/>
                          </a:solidFill>
                          <a:latin typeface="Arial" pitchFamily="34" charset="0"/>
                          <a:ea typeface="Arial" pitchFamily="34" charset="-122"/>
                          <a:cs typeface="Arial" pitchFamily="34" charset="-120"/>
                        </a:rPr>
                        <a:t>PDR</a:t>
                      </a:r>
                      <a:endParaRPr lang="en-US" sz="16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bl>
          </a:graphicData>
        </a:graphic>
      </p:graphicFrame>
      <p:sp>
        <p:nvSpPr>
          <p:cNvPr id="21" name="Shape 17"/>
          <p:cNvSpPr/>
          <p:nvPr/>
        </p:nvSpPr>
        <p:spPr>
          <a:xfrm>
            <a:off x="822960" y="1463040"/>
            <a:ext cx="4846320" cy="2011680"/>
          </a:xfrm>
          <a:prstGeom prst="roundRect">
            <a:avLst>
              <a:gd name="adj" fmla="val 5455"/>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2" name="Text 18"/>
          <p:cNvSpPr txBox="1"/>
          <p:nvPr/>
        </p:nvSpPr>
        <p:spPr>
          <a:xfrm>
            <a:off x="1005840" y="1600200"/>
            <a:ext cx="444398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شجرة Multihop</a:t>
            </a:r>
            <a:endParaRPr lang="ar-EG" sz="1500" dirty="0"/>
          </a:p>
        </p:txBody>
      </p:sp>
      <p:sp>
        <p:nvSpPr>
          <p:cNvPr id="23" name="Text 19"/>
          <p:cNvSpPr txBox="1"/>
          <p:nvPr/>
        </p:nvSpPr>
        <p:spPr>
          <a:xfrm>
            <a:off x="1024128" y="2194560"/>
            <a:ext cx="4443984" cy="1143000"/>
          </a:xfrm>
          <a:prstGeom prst="rect">
            <a:avLst/>
          </a:prstGeom>
          <a:noFill/>
          <a:ln/>
        </p:spPr>
        <p:txBody>
          <a:bodyPr wrap="square" lIns="0" tIns="0" rIns="0" bIns="0" rtlCol="0" anchor="t"/>
          <a:lstStyle/>
          <a:p>
            <a:pPr rtl="1" algn="r" indent="0" marL="0">
              <a:spcAft>
                <a:spcPts val="400"/>
              </a:spcAft>
              <a:buNone/>
            </a:pPr>
            <a:r>
              <a:rPr lang="ar-EG" altLang="en-US" sz="1500" dirty="0">
                <a:solidFill>
                  <a:srgbClr val="323232"/>
                </a:solidFill>
                <a:latin typeface="Arial" pitchFamily="34" charset="0"/>
                <a:ea typeface="Arial" pitchFamily="34" charset="-122"/>
                <a:cs typeface="Arial" pitchFamily="34" charset="-120"/>
              </a:rPr>
              <a:t>مفيش بوابة واحدة الكل بيعدّي عليها ← أعلى PDR من v1 لـ v7 (98.49%)، على حساب FND أقل شوية.</a:t>
            </a:r>
            <a:endParaRPr lang="ar-EG" sz="1500" dirty="0"/>
          </a:p>
        </p:txBody>
      </p:sp>
      <p:sp>
        <p:nvSpPr>
          <p:cNvPr id="24" name="Shape 20"/>
          <p:cNvSpPr/>
          <p:nvPr/>
        </p:nvSpPr>
        <p:spPr>
          <a:xfrm>
            <a:off x="822960" y="3657600"/>
            <a:ext cx="4846320" cy="2194560"/>
          </a:xfrm>
          <a:prstGeom prst="roundRect">
            <a:avLst>
              <a:gd name="adj" fmla="val 5000"/>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5" name="Text 21"/>
          <p:cNvSpPr txBox="1"/>
          <p:nvPr/>
        </p:nvSpPr>
        <p:spPr>
          <a:xfrm>
            <a:off x="1005840" y="3794760"/>
            <a:ext cx="444398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المدة تاني</a:t>
            </a:r>
            <a:endParaRPr lang="ar-EG" sz="1500" dirty="0"/>
          </a:p>
        </p:txBody>
      </p:sp>
      <p:sp>
        <p:nvSpPr>
          <p:cNvPr id="26" name="Text 22"/>
          <p:cNvSpPr txBox="1"/>
          <p:nvPr/>
        </p:nvSpPr>
        <p:spPr>
          <a:xfrm>
            <a:off x="1024128" y="4389120"/>
            <a:ext cx="4443984" cy="1325880"/>
          </a:xfrm>
          <a:prstGeom prst="rect">
            <a:avLst/>
          </a:prstGeom>
          <a:noFill/>
          <a:ln/>
        </p:spPr>
        <p:txBody>
          <a:bodyPr wrap="square" lIns="0" tIns="0" rIns="0" bIns="0" rtlCol="0" anchor="t"/>
          <a:lstStyle/>
          <a:p>
            <a:pPr rtl="1" algn="r" indent="0" marL="0">
              <a:spcAft>
                <a:spcPts val="400"/>
              </a:spcAft>
              <a:buNone/>
            </a:pPr>
            <a:r>
              <a:rPr lang="ar-EG" altLang="en-US" sz="1500" dirty="0">
                <a:solidFill>
                  <a:srgbClr val="323232"/>
                </a:solidFill>
                <a:latin typeface="Arial" pitchFamily="34" charset="0"/>
                <a:ea typeface="Arial" pitchFamily="34" charset="-122"/>
                <a:cs typeface="Arial" pitchFamily="34" charset="-120"/>
              </a:rPr>
              <a:t>مدة 10 بتدّي LND أكتر بس PDR أقل — يعني المدة عامل لوحده، منفصل عن الاختيار أو شكل التوصيل.</a:t>
            </a:r>
            <a:endParaRPr lang="ar-EG"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من v1 لـ v7.2 في رسمة واحدة</a:t>
            </a:r>
            <a:pPr algn="r" indent="0" marL="0">
              <a:buNone/>
            </a:pPr>
            <a:r>
              <a:rPr lang="ar-EG" altLang="en-US" sz="2100" dirty="0">
                <a:solidFill>
                  <a:srgbClr val="8A2522"/>
                </a:solidFill>
                <a:latin typeface="Arial" pitchFamily="34" charset="0"/>
                <a:ea typeface="Arial" pitchFamily="34" charset="-122"/>
                <a:cs typeface="Arial" pitchFamily="34" charset="-120"/>
              </a:rPr>
              <a:t>  –  الـ BS في النص</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39</a:t>
            </a:r>
            <a:endParaRPr lang="en-US" sz="1000" dirty="0"/>
          </a:p>
        </p:txBody>
      </p:sp>
      <p:graphicFrame>
        <p:nvGraphicFramePr>
          <p:cNvPr id="20" name="Chart 0" descr=""/>
          <p:cNvGraphicFramePr/>
          <p:nvPr/>
        </p:nvGraphicFramePr>
        <p:xfrm>
          <a:off x="640080" y="1234440"/>
          <a:ext cx="10881360" cy="48463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كنا واقفين فين بعد v7.2؟</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40</a:t>
            </a:r>
            <a:endParaRPr lang="en-US" sz="1000" dirty="0"/>
          </a:p>
        </p:txBody>
      </p:sp>
      <p:graphicFrame>
        <p:nvGraphicFramePr>
          <p:cNvPr id="20" name="Chart 0" descr=""/>
          <p:cNvGraphicFramePr/>
          <p:nvPr/>
        </p:nvGraphicFramePr>
        <p:xfrm>
          <a:off x="4480560" y="123444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21" name="Shape 17"/>
          <p:cNvSpPr/>
          <p:nvPr/>
        </p:nvSpPr>
        <p:spPr>
          <a:xfrm>
            <a:off x="822960" y="1463040"/>
            <a:ext cx="3474720" cy="4389120"/>
          </a:xfrm>
          <a:prstGeom prst="roundRect">
            <a:avLst>
              <a:gd name="adj" fmla="val 3158"/>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2" name="Text 18"/>
          <p:cNvSpPr txBox="1"/>
          <p:nvPr/>
        </p:nvSpPr>
        <p:spPr>
          <a:xfrm>
            <a:off x="1005840" y="1600200"/>
            <a:ext cx="307238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المفاضلة لحد هنا</a:t>
            </a:r>
            <a:endParaRPr lang="ar-EG" sz="1500" dirty="0"/>
          </a:p>
        </p:txBody>
      </p:sp>
      <p:sp>
        <p:nvSpPr>
          <p:cNvPr id="23" name="Text 19"/>
          <p:cNvSpPr txBox="1"/>
          <p:nvPr/>
        </p:nvSpPr>
        <p:spPr>
          <a:xfrm>
            <a:off x="1024128" y="2194560"/>
            <a:ext cx="3072384" cy="352044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 v3: أحسن LND، والـ PDR أقل</a:t>
            </a:r>
            <a:endParaRPr lang="ar-EG" sz="1400" dirty="0"/>
          </a:p>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 v1/v2: أحسن PDR، والعمر قصير جدًا</a:t>
            </a:r>
            <a:endParaRPr lang="ar-EG" sz="1400" dirty="0"/>
          </a:p>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 v7 / v7.1: أحسن توازن، بس الـ FND ≤ 1551</a:t>
            </a:r>
            <a:endParaRPr lang="ar-EG" sz="1400" dirty="0"/>
          </a:p>
          <a:p>
            <a:pPr rtl="1" algn="r" indent="0" marL="0">
              <a:spcAft>
                <a:spcPts val="400"/>
              </a:spcAft>
              <a:buNone/>
            </a:pPr>
            <a:endParaRPr lang="ar-EG" sz="1400" dirty="0"/>
          </a:p>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الهدف: أول نود يموت متأخر والـ PDR أعلى في نفس الوقت.</a:t>
            </a:r>
            <a:endParaRPr lang="ar-EG"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8A2522"/>
          </a:solidFill>
          <a:ln w="12700">
            <a:solidFill>
              <a:srgbClr val="8A2522"/>
            </a:solidFill>
            <a:prstDash val="solid"/>
          </a:ln>
        </p:spPr>
      </p:sp>
      <p:sp>
        <p:nvSpPr>
          <p:cNvPr id="3" name="Shape 1"/>
          <p:cNvSpPr/>
          <p:nvPr/>
        </p:nvSpPr>
        <p:spPr>
          <a:xfrm flipV="1">
            <a:off x="2455164" y="336042"/>
            <a:ext cx="1110996" cy="555498"/>
          </a:xfrm>
          <a:prstGeom prst="line">
            <a:avLst/>
          </a:prstGeom>
          <a:noFill/>
          <a:ln w="11430">
            <a:solidFill>
              <a:srgbClr val="E7C9C6"/>
            </a:solidFill>
            <a:prstDash val="solid"/>
          </a:ln>
        </p:spPr>
      </p:sp>
      <p:sp>
        <p:nvSpPr>
          <p:cNvPr id="4" name="Shape 2"/>
          <p:cNvSpPr/>
          <p:nvPr/>
        </p:nvSpPr>
        <p:spPr>
          <a:xfrm>
            <a:off x="1344168" y="459486"/>
            <a:ext cx="1110996" cy="432054"/>
          </a:xfrm>
          <a:prstGeom prst="line">
            <a:avLst/>
          </a:prstGeom>
          <a:noFill/>
          <a:ln w="11430">
            <a:solidFill>
              <a:srgbClr val="E7C9C6"/>
            </a:solidFill>
            <a:prstDash val="solid"/>
          </a:ln>
        </p:spPr>
      </p:sp>
      <p:sp>
        <p:nvSpPr>
          <p:cNvPr id="5" name="Shape 3"/>
          <p:cNvSpPr/>
          <p:nvPr/>
        </p:nvSpPr>
        <p:spPr>
          <a:xfrm flipV="1">
            <a:off x="418338" y="459486"/>
            <a:ext cx="925830" cy="864108"/>
          </a:xfrm>
          <a:prstGeom prst="line">
            <a:avLst/>
          </a:prstGeom>
          <a:noFill/>
          <a:ln w="11430">
            <a:solidFill>
              <a:srgbClr val="E7C9C6"/>
            </a:solidFill>
            <a:prstDash val="solid"/>
          </a:ln>
        </p:spPr>
      </p:sp>
      <p:sp>
        <p:nvSpPr>
          <p:cNvPr id="6" name="Shape 4"/>
          <p:cNvSpPr/>
          <p:nvPr/>
        </p:nvSpPr>
        <p:spPr>
          <a:xfrm flipV="1">
            <a:off x="1899666" y="891540"/>
            <a:ext cx="555498" cy="925830"/>
          </a:xfrm>
          <a:prstGeom prst="line">
            <a:avLst/>
          </a:prstGeom>
          <a:noFill/>
          <a:ln w="11430">
            <a:solidFill>
              <a:srgbClr val="E7C9C6"/>
            </a:solidFill>
            <a:prstDash val="solid"/>
          </a:ln>
        </p:spPr>
      </p:sp>
      <p:sp>
        <p:nvSpPr>
          <p:cNvPr id="7" name="Shape 5"/>
          <p:cNvSpPr/>
          <p:nvPr/>
        </p:nvSpPr>
        <p:spPr>
          <a:xfrm>
            <a:off x="418338" y="1323594"/>
            <a:ext cx="1481328" cy="493776"/>
          </a:xfrm>
          <a:prstGeom prst="line">
            <a:avLst/>
          </a:prstGeom>
          <a:noFill/>
          <a:ln w="11430">
            <a:solidFill>
              <a:srgbClr val="E7C9C6"/>
            </a:solidFill>
            <a:prstDash val="solid"/>
          </a:ln>
        </p:spPr>
      </p:sp>
      <p:sp>
        <p:nvSpPr>
          <p:cNvPr id="8" name="Shape 6"/>
          <p:cNvSpPr/>
          <p:nvPr/>
        </p:nvSpPr>
        <p:spPr>
          <a:xfrm flipV="1">
            <a:off x="726948" y="1817370"/>
            <a:ext cx="1172718" cy="555498"/>
          </a:xfrm>
          <a:prstGeom prst="line">
            <a:avLst/>
          </a:prstGeom>
          <a:noFill/>
          <a:ln w="11430">
            <a:solidFill>
              <a:srgbClr val="E7C9C6"/>
            </a:solidFill>
            <a:prstDash val="solid"/>
          </a:ln>
        </p:spPr>
      </p:sp>
      <p:sp>
        <p:nvSpPr>
          <p:cNvPr id="9" name="Shape 7"/>
          <p:cNvSpPr/>
          <p:nvPr/>
        </p:nvSpPr>
        <p:spPr>
          <a:xfrm>
            <a:off x="418338" y="1323594"/>
            <a:ext cx="308610" cy="1049274"/>
          </a:xfrm>
          <a:prstGeom prst="line">
            <a:avLst/>
          </a:prstGeom>
          <a:noFill/>
          <a:ln w="11430">
            <a:solidFill>
              <a:srgbClr val="E7C9C6"/>
            </a:solidFill>
            <a:prstDash val="solid"/>
          </a:ln>
        </p:spPr>
      </p:sp>
      <p:sp>
        <p:nvSpPr>
          <p:cNvPr id="10" name="Shape 8"/>
          <p:cNvSpPr/>
          <p:nvPr/>
        </p:nvSpPr>
        <p:spPr>
          <a:xfrm>
            <a:off x="2455164" y="891540"/>
            <a:ext cx="308610" cy="678942"/>
          </a:xfrm>
          <a:prstGeom prst="line">
            <a:avLst/>
          </a:prstGeom>
          <a:noFill/>
          <a:ln w="11430">
            <a:solidFill>
              <a:srgbClr val="E7C9C6"/>
            </a:solidFill>
            <a:prstDash val="solid"/>
          </a:ln>
        </p:spPr>
      </p:sp>
      <p:sp>
        <p:nvSpPr>
          <p:cNvPr id="11" name="Shape 9"/>
          <p:cNvSpPr/>
          <p:nvPr/>
        </p:nvSpPr>
        <p:spPr>
          <a:xfrm flipV="1">
            <a:off x="1899666" y="1570482"/>
            <a:ext cx="864108" cy="246888"/>
          </a:xfrm>
          <a:prstGeom prst="line">
            <a:avLst/>
          </a:prstGeom>
          <a:noFill/>
          <a:ln w="11430">
            <a:solidFill>
              <a:srgbClr val="E7C9C6"/>
            </a:solidFill>
            <a:prstDash val="solid"/>
          </a:ln>
        </p:spPr>
      </p:sp>
      <p:sp>
        <p:nvSpPr>
          <p:cNvPr id="12" name="Shape 10"/>
          <p:cNvSpPr/>
          <p:nvPr/>
        </p:nvSpPr>
        <p:spPr>
          <a:xfrm flipV="1">
            <a:off x="233172" y="459486"/>
            <a:ext cx="1110996" cy="61722"/>
          </a:xfrm>
          <a:prstGeom prst="line">
            <a:avLst/>
          </a:prstGeom>
          <a:noFill/>
          <a:ln w="11430">
            <a:solidFill>
              <a:srgbClr val="E7C9C6"/>
            </a:solidFill>
            <a:prstDash val="solid"/>
          </a:ln>
        </p:spPr>
      </p:sp>
      <p:sp>
        <p:nvSpPr>
          <p:cNvPr id="13" name="Shape 11"/>
          <p:cNvSpPr/>
          <p:nvPr/>
        </p:nvSpPr>
        <p:spPr>
          <a:xfrm>
            <a:off x="233172" y="521208"/>
            <a:ext cx="185166" cy="802386"/>
          </a:xfrm>
          <a:prstGeom prst="line">
            <a:avLst/>
          </a:prstGeom>
          <a:noFill/>
          <a:ln w="11430">
            <a:solidFill>
              <a:srgbClr val="E7C9C6"/>
            </a:solidFill>
            <a:prstDash val="solid"/>
          </a:ln>
        </p:spPr>
      </p:sp>
      <p:sp>
        <p:nvSpPr>
          <p:cNvPr id="14" name="Shape 12"/>
          <p:cNvSpPr/>
          <p:nvPr/>
        </p:nvSpPr>
        <p:spPr>
          <a:xfrm>
            <a:off x="726948" y="2372868"/>
            <a:ext cx="493776" cy="678942"/>
          </a:xfrm>
          <a:prstGeom prst="line">
            <a:avLst/>
          </a:prstGeom>
          <a:noFill/>
          <a:ln w="11430">
            <a:solidFill>
              <a:srgbClr val="E7C9C6"/>
            </a:solidFill>
            <a:prstDash val="solid"/>
          </a:ln>
        </p:spPr>
      </p:sp>
      <p:sp>
        <p:nvSpPr>
          <p:cNvPr id="15" name="Shape 13"/>
          <p:cNvSpPr/>
          <p:nvPr/>
        </p:nvSpPr>
        <p:spPr>
          <a:xfrm flipV="1">
            <a:off x="171450" y="3051810"/>
            <a:ext cx="1049274" cy="432054"/>
          </a:xfrm>
          <a:prstGeom prst="line">
            <a:avLst/>
          </a:prstGeom>
          <a:noFill/>
          <a:ln w="11430">
            <a:solidFill>
              <a:srgbClr val="E7C9C6"/>
            </a:solidFill>
            <a:prstDash val="solid"/>
          </a:ln>
        </p:spPr>
      </p:sp>
      <p:sp>
        <p:nvSpPr>
          <p:cNvPr id="16" name="Shape 14"/>
          <p:cNvSpPr/>
          <p:nvPr/>
        </p:nvSpPr>
        <p:spPr>
          <a:xfrm flipV="1">
            <a:off x="171450" y="2372868"/>
            <a:ext cx="555498" cy="1110996"/>
          </a:xfrm>
          <a:prstGeom prst="line">
            <a:avLst/>
          </a:prstGeom>
          <a:noFill/>
          <a:ln w="11430">
            <a:solidFill>
              <a:srgbClr val="E7C9C6"/>
            </a:solidFill>
            <a:prstDash val="solid"/>
          </a:ln>
        </p:spPr>
      </p:sp>
      <p:sp>
        <p:nvSpPr>
          <p:cNvPr id="17" name="Shape 15"/>
          <p:cNvSpPr/>
          <p:nvPr/>
        </p:nvSpPr>
        <p:spPr>
          <a:xfrm flipV="1">
            <a:off x="1220724" y="1817370"/>
            <a:ext cx="678942" cy="1234440"/>
          </a:xfrm>
          <a:prstGeom prst="line">
            <a:avLst/>
          </a:prstGeom>
          <a:noFill/>
          <a:ln w="11430">
            <a:solidFill>
              <a:srgbClr val="E7C9C6"/>
            </a:solidFill>
            <a:prstDash val="solid"/>
          </a:ln>
        </p:spPr>
      </p:sp>
      <p:sp>
        <p:nvSpPr>
          <p:cNvPr id="18" name="Shape 16"/>
          <p:cNvSpPr/>
          <p:nvPr/>
        </p:nvSpPr>
        <p:spPr>
          <a:xfrm>
            <a:off x="3525012" y="294894"/>
            <a:ext cx="82296" cy="82296"/>
          </a:xfrm>
          <a:prstGeom prst="ellipse">
            <a:avLst/>
          </a:prstGeom>
          <a:solidFill>
            <a:srgbClr val="8A2522"/>
          </a:solidFill>
          <a:ln w="11430">
            <a:solidFill>
              <a:srgbClr val="E7C9C6"/>
            </a:solidFill>
            <a:prstDash val="solid"/>
          </a:ln>
        </p:spPr>
      </p:sp>
      <p:sp>
        <p:nvSpPr>
          <p:cNvPr id="19" name="Shape 17"/>
          <p:cNvSpPr/>
          <p:nvPr/>
        </p:nvSpPr>
        <p:spPr>
          <a:xfrm>
            <a:off x="2414016" y="850392"/>
            <a:ext cx="82296" cy="82296"/>
          </a:xfrm>
          <a:prstGeom prst="ellipse">
            <a:avLst/>
          </a:prstGeom>
          <a:solidFill>
            <a:srgbClr val="8A2522"/>
          </a:solidFill>
          <a:ln w="11430">
            <a:solidFill>
              <a:srgbClr val="E7C9C6"/>
            </a:solidFill>
            <a:prstDash val="solid"/>
          </a:ln>
        </p:spPr>
      </p:sp>
      <p:sp>
        <p:nvSpPr>
          <p:cNvPr id="20" name="Shape 18"/>
          <p:cNvSpPr/>
          <p:nvPr/>
        </p:nvSpPr>
        <p:spPr>
          <a:xfrm>
            <a:off x="1303020" y="418338"/>
            <a:ext cx="82296" cy="82296"/>
          </a:xfrm>
          <a:prstGeom prst="ellipse">
            <a:avLst/>
          </a:prstGeom>
          <a:solidFill>
            <a:srgbClr val="8A2522"/>
          </a:solidFill>
          <a:ln w="11430">
            <a:solidFill>
              <a:srgbClr val="E7C9C6"/>
            </a:solidFill>
            <a:prstDash val="solid"/>
          </a:ln>
        </p:spPr>
      </p:sp>
      <p:sp>
        <p:nvSpPr>
          <p:cNvPr id="21" name="Shape 19"/>
          <p:cNvSpPr/>
          <p:nvPr/>
        </p:nvSpPr>
        <p:spPr>
          <a:xfrm>
            <a:off x="377190" y="1282446"/>
            <a:ext cx="82296" cy="82296"/>
          </a:xfrm>
          <a:prstGeom prst="ellipse">
            <a:avLst/>
          </a:prstGeom>
          <a:solidFill>
            <a:srgbClr val="8A2522"/>
          </a:solidFill>
          <a:ln w="11430">
            <a:solidFill>
              <a:srgbClr val="E7C9C6"/>
            </a:solidFill>
            <a:prstDash val="solid"/>
          </a:ln>
        </p:spPr>
      </p:sp>
      <p:sp>
        <p:nvSpPr>
          <p:cNvPr id="22" name="Shape 20"/>
          <p:cNvSpPr/>
          <p:nvPr/>
        </p:nvSpPr>
        <p:spPr>
          <a:xfrm>
            <a:off x="1858518" y="1776222"/>
            <a:ext cx="82296" cy="82296"/>
          </a:xfrm>
          <a:prstGeom prst="ellipse">
            <a:avLst/>
          </a:prstGeom>
          <a:solidFill>
            <a:srgbClr val="8A2522"/>
          </a:solidFill>
          <a:ln w="11430">
            <a:solidFill>
              <a:srgbClr val="E7C9C6"/>
            </a:solidFill>
            <a:prstDash val="solid"/>
          </a:ln>
        </p:spPr>
      </p:sp>
      <p:sp>
        <p:nvSpPr>
          <p:cNvPr id="23" name="Shape 21"/>
          <p:cNvSpPr/>
          <p:nvPr/>
        </p:nvSpPr>
        <p:spPr>
          <a:xfrm>
            <a:off x="685800" y="2331720"/>
            <a:ext cx="82296" cy="82296"/>
          </a:xfrm>
          <a:prstGeom prst="ellipse">
            <a:avLst/>
          </a:prstGeom>
          <a:solidFill>
            <a:srgbClr val="8A2522"/>
          </a:solidFill>
          <a:ln w="11430">
            <a:solidFill>
              <a:srgbClr val="E7C9C6"/>
            </a:solidFill>
            <a:prstDash val="solid"/>
          </a:ln>
        </p:spPr>
      </p:sp>
      <p:sp>
        <p:nvSpPr>
          <p:cNvPr id="24" name="Shape 22"/>
          <p:cNvSpPr/>
          <p:nvPr/>
        </p:nvSpPr>
        <p:spPr>
          <a:xfrm>
            <a:off x="2722626" y="1529334"/>
            <a:ext cx="82296" cy="82296"/>
          </a:xfrm>
          <a:prstGeom prst="ellipse">
            <a:avLst/>
          </a:prstGeom>
          <a:solidFill>
            <a:srgbClr val="8A2522"/>
          </a:solidFill>
          <a:ln w="11430">
            <a:solidFill>
              <a:srgbClr val="E7C9C6"/>
            </a:solidFill>
            <a:prstDash val="solid"/>
          </a:ln>
        </p:spPr>
      </p:sp>
      <p:sp>
        <p:nvSpPr>
          <p:cNvPr id="25" name="Shape 23"/>
          <p:cNvSpPr/>
          <p:nvPr/>
        </p:nvSpPr>
        <p:spPr>
          <a:xfrm>
            <a:off x="192024" y="480060"/>
            <a:ext cx="82296" cy="82296"/>
          </a:xfrm>
          <a:prstGeom prst="ellipse">
            <a:avLst/>
          </a:prstGeom>
          <a:solidFill>
            <a:srgbClr val="8A2522"/>
          </a:solidFill>
          <a:ln w="11430">
            <a:solidFill>
              <a:srgbClr val="E7C9C6"/>
            </a:solidFill>
            <a:prstDash val="solid"/>
          </a:ln>
        </p:spPr>
      </p:sp>
      <p:sp>
        <p:nvSpPr>
          <p:cNvPr id="26" name="Shape 24"/>
          <p:cNvSpPr/>
          <p:nvPr/>
        </p:nvSpPr>
        <p:spPr>
          <a:xfrm>
            <a:off x="1179576" y="3010662"/>
            <a:ext cx="82296" cy="82296"/>
          </a:xfrm>
          <a:prstGeom prst="ellipse">
            <a:avLst/>
          </a:prstGeom>
          <a:solidFill>
            <a:srgbClr val="8A2522"/>
          </a:solidFill>
          <a:ln w="11430">
            <a:solidFill>
              <a:srgbClr val="E7C9C6"/>
            </a:solidFill>
            <a:prstDash val="solid"/>
          </a:ln>
        </p:spPr>
      </p:sp>
      <p:sp>
        <p:nvSpPr>
          <p:cNvPr id="27" name="Shape 25"/>
          <p:cNvSpPr/>
          <p:nvPr/>
        </p:nvSpPr>
        <p:spPr>
          <a:xfrm>
            <a:off x="130302" y="3442716"/>
            <a:ext cx="82296" cy="82296"/>
          </a:xfrm>
          <a:prstGeom prst="ellipse">
            <a:avLst/>
          </a:prstGeom>
          <a:solidFill>
            <a:srgbClr val="8A2522"/>
          </a:solidFill>
          <a:ln w="11430">
            <a:solidFill>
              <a:srgbClr val="E7C9C6"/>
            </a:solidFill>
            <a:prstDash val="solid"/>
          </a:ln>
        </p:spPr>
      </p:sp>
      <p:sp>
        <p:nvSpPr>
          <p:cNvPr id="28" name="Shape 26"/>
          <p:cNvSpPr/>
          <p:nvPr/>
        </p:nvSpPr>
        <p:spPr>
          <a:xfrm>
            <a:off x="11020349" y="6163056"/>
            <a:ext cx="592531" cy="296266"/>
          </a:xfrm>
          <a:prstGeom prst="line">
            <a:avLst/>
          </a:prstGeom>
          <a:noFill/>
          <a:ln w="11430">
            <a:solidFill>
              <a:srgbClr val="E7C9C6"/>
            </a:solidFill>
            <a:prstDash val="solid"/>
          </a:ln>
        </p:spPr>
      </p:sp>
      <p:sp>
        <p:nvSpPr>
          <p:cNvPr id="29" name="Shape 27"/>
          <p:cNvSpPr/>
          <p:nvPr/>
        </p:nvSpPr>
        <p:spPr>
          <a:xfrm flipV="1">
            <a:off x="10427818" y="6163056"/>
            <a:ext cx="592531" cy="230429"/>
          </a:xfrm>
          <a:prstGeom prst="line">
            <a:avLst/>
          </a:prstGeom>
          <a:noFill/>
          <a:ln w="11430">
            <a:solidFill>
              <a:srgbClr val="E7C9C6"/>
            </a:solidFill>
            <a:prstDash val="solid"/>
          </a:ln>
        </p:spPr>
      </p:sp>
      <p:sp>
        <p:nvSpPr>
          <p:cNvPr id="30" name="Shape 28"/>
          <p:cNvSpPr/>
          <p:nvPr/>
        </p:nvSpPr>
        <p:spPr>
          <a:xfrm>
            <a:off x="9934042" y="5932627"/>
            <a:ext cx="493776" cy="460858"/>
          </a:xfrm>
          <a:prstGeom prst="line">
            <a:avLst/>
          </a:prstGeom>
          <a:noFill/>
          <a:ln w="11430">
            <a:solidFill>
              <a:srgbClr val="E7C9C6"/>
            </a:solidFill>
            <a:prstDash val="solid"/>
          </a:ln>
        </p:spPr>
      </p:sp>
      <p:sp>
        <p:nvSpPr>
          <p:cNvPr id="31" name="Shape 29"/>
          <p:cNvSpPr/>
          <p:nvPr/>
        </p:nvSpPr>
        <p:spPr>
          <a:xfrm>
            <a:off x="10724083" y="5669280"/>
            <a:ext cx="296266" cy="493776"/>
          </a:xfrm>
          <a:prstGeom prst="line">
            <a:avLst/>
          </a:prstGeom>
          <a:noFill/>
          <a:ln w="11430">
            <a:solidFill>
              <a:srgbClr val="E7C9C6"/>
            </a:solidFill>
            <a:prstDash val="solid"/>
          </a:ln>
        </p:spPr>
      </p:sp>
      <p:sp>
        <p:nvSpPr>
          <p:cNvPr id="32" name="Shape 30"/>
          <p:cNvSpPr/>
          <p:nvPr/>
        </p:nvSpPr>
        <p:spPr>
          <a:xfrm flipV="1">
            <a:off x="9934042" y="5669280"/>
            <a:ext cx="790042" cy="263347"/>
          </a:xfrm>
          <a:prstGeom prst="line">
            <a:avLst/>
          </a:prstGeom>
          <a:noFill/>
          <a:ln w="11430">
            <a:solidFill>
              <a:srgbClr val="E7C9C6"/>
            </a:solidFill>
            <a:prstDash val="solid"/>
          </a:ln>
        </p:spPr>
      </p:sp>
      <p:sp>
        <p:nvSpPr>
          <p:cNvPr id="33" name="Shape 31"/>
          <p:cNvSpPr/>
          <p:nvPr/>
        </p:nvSpPr>
        <p:spPr>
          <a:xfrm>
            <a:off x="10098634" y="5373014"/>
            <a:ext cx="625450" cy="296266"/>
          </a:xfrm>
          <a:prstGeom prst="line">
            <a:avLst/>
          </a:prstGeom>
          <a:noFill/>
          <a:ln w="11430">
            <a:solidFill>
              <a:srgbClr val="E7C9C6"/>
            </a:solidFill>
            <a:prstDash val="solid"/>
          </a:ln>
        </p:spPr>
      </p:sp>
      <p:sp>
        <p:nvSpPr>
          <p:cNvPr id="34" name="Shape 32"/>
          <p:cNvSpPr/>
          <p:nvPr/>
        </p:nvSpPr>
        <p:spPr>
          <a:xfrm flipV="1">
            <a:off x="9934042" y="5373014"/>
            <a:ext cx="164592" cy="559613"/>
          </a:xfrm>
          <a:prstGeom prst="line">
            <a:avLst/>
          </a:prstGeom>
          <a:noFill/>
          <a:ln w="11430">
            <a:solidFill>
              <a:srgbClr val="E7C9C6"/>
            </a:solidFill>
            <a:prstDash val="solid"/>
          </a:ln>
        </p:spPr>
      </p:sp>
      <p:sp>
        <p:nvSpPr>
          <p:cNvPr id="35" name="Shape 33"/>
          <p:cNvSpPr/>
          <p:nvPr/>
        </p:nvSpPr>
        <p:spPr>
          <a:xfrm flipV="1">
            <a:off x="11020349" y="5800954"/>
            <a:ext cx="164592" cy="362102"/>
          </a:xfrm>
          <a:prstGeom prst="line">
            <a:avLst/>
          </a:prstGeom>
          <a:noFill/>
          <a:ln w="11430">
            <a:solidFill>
              <a:srgbClr val="E7C9C6"/>
            </a:solidFill>
            <a:prstDash val="solid"/>
          </a:ln>
        </p:spPr>
      </p:sp>
      <p:sp>
        <p:nvSpPr>
          <p:cNvPr id="36" name="Shape 34"/>
          <p:cNvSpPr/>
          <p:nvPr/>
        </p:nvSpPr>
        <p:spPr>
          <a:xfrm>
            <a:off x="10724083" y="5669280"/>
            <a:ext cx="460858" cy="131674"/>
          </a:xfrm>
          <a:prstGeom prst="line">
            <a:avLst/>
          </a:prstGeom>
          <a:noFill/>
          <a:ln w="11430">
            <a:solidFill>
              <a:srgbClr val="E7C9C6"/>
            </a:solidFill>
            <a:prstDash val="solid"/>
          </a:ln>
        </p:spPr>
      </p:sp>
      <p:sp>
        <p:nvSpPr>
          <p:cNvPr id="37" name="Shape 35"/>
          <p:cNvSpPr/>
          <p:nvPr/>
        </p:nvSpPr>
        <p:spPr>
          <a:xfrm>
            <a:off x="9835286" y="6360566"/>
            <a:ext cx="592531" cy="32918"/>
          </a:xfrm>
          <a:prstGeom prst="line">
            <a:avLst/>
          </a:prstGeom>
          <a:noFill/>
          <a:ln w="11430">
            <a:solidFill>
              <a:srgbClr val="E7C9C6"/>
            </a:solidFill>
            <a:prstDash val="solid"/>
          </a:ln>
        </p:spPr>
      </p:sp>
      <p:sp>
        <p:nvSpPr>
          <p:cNvPr id="38" name="Shape 36"/>
          <p:cNvSpPr/>
          <p:nvPr/>
        </p:nvSpPr>
        <p:spPr>
          <a:xfrm flipV="1">
            <a:off x="9835286" y="5932627"/>
            <a:ext cx="98755" cy="427939"/>
          </a:xfrm>
          <a:prstGeom prst="line">
            <a:avLst/>
          </a:prstGeom>
          <a:noFill/>
          <a:ln w="11430">
            <a:solidFill>
              <a:srgbClr val="E7C9C6"/>
            </a:solidFill>
            <a:prstDash val="solid"/>
          </a:ln>
        </p:spPr>
      </p:sp>
      <p:sp>
        <p:nvSpPr>
          <p:cNvPr id="39" name="Shape 37"/>
          <p:cNvSpPr/>
          <p:nvPr/>
        </p:nvSpPr>
        <p:spPr>
          <a:xfrm flipV="1">
            <a:off x="10098634" y="5010912"/>
            <a:ext cx="263347" cy="362102"/>
          </a:xfrm>
          <a:prstGeom prst="line">
            <a:avLst/>
          </a:prstGeom>
          <a:noFill/>
          <a:ln w="11430">
            <a:solidFill>
              <a:srgbClr val="E7C9C6"/>
            </a:solidFill>
            <a:prstDash val="solid"/>
          </a:ln>
        </p:spPr>
      </p:sp>
      <p:sp>
        <p:nvSpPr>
          <p:cNvPr id="40" name="Shape 38"/>
          <p:cNvSpPr/>
          <p:nvPr/>
        </p:nvSpPr>
        <p:spPr>
          <a:xfrm>
            <a:off x="9802368" y="4780483"/>
            <a:ext cx="559613" cy="230429"/>
          </a:xfrm>
          <a:prstGeom prst="line">
            <a:avLst/>
          </a:prstGeom>
          <a:noFill/>
          <a:ln w="11430">
            <a:solidFill>
              <a:srgbClr val="E7C9C6"/>
            </a:solidFill>
            <a:prstDash val="solid"/>
          </a:ln>
        </p:spPr>
      </p:sp>
      <p:sp>
        <p:nvSpPr>
          <p:cNvPr id="41" name="Shape 39"/>
          <p:cNvSpPr/>
          <p:nvPr/>
        </p:nvSpPr>
        <p:spPr>
          <a:xfrm>
            <a:off x="9802368" y="4780483"/>
            <a:ext cx="296266" cy="592531"/>
          </a:xfrm>
          <a:prstGeom prst="line">
            <a:avLst/>
          </a:prstGeom>
          <a:noFill/>
          <a:ln w="11430">
            <a:solidFill>
              <a:srgbClr val="E7C9C6"/>
            </a:solidFill>
            <a:prstDash val="solid"/>
          </a:ln>
        </p:spPr>
      </p:sp>
      <p:sp>
        <p:nvSpPr>
          <p:cNvPr id="42" name="Shape 40"/>
          <p:cNvSpPr/>
          <p:nvPr/>
        </p:nvSpPr>
        <p:spPr>
          <a:xfrm>
            <a:off x="10361981" y="5010912"/>
            <a:ext cx="362102" cy="658368"/>
          </a:xfrm>
          <a:prstGeom prst="line">
            <a:avLst/>
          </a:prstGeom>
          <a:noFill/>
          <a:ln w="11430">
            <a:solidFill>
              <a:srgbClr val="E7C9C6"/>
            </a:solidFill>
            <a:prstDash val="solid"/>
          </a:ln>
        </p:spPr>
      </p:sp>
      <p:sp>
        <p:nvSpPr>
          <p:cNvPr id="43" name="Shape 41"/>
          <p:cNvSpPr/>
          <p:nvPr/>
        </p:nvSpPr>
        <p:spPr>
          <a:xfrm>
            <a:off x="11571732" y="6418174"/>
            <a:ext cx="82296" cy="82296"/>
          </a:xfrm>
          <a:prstGeom prst="ellipse">
            <a:avLst/>
          </a:prstGeom>
          <a:solidFill>
            <a:srgbClr val="8A2522"/>
          </a:solidFill>
          <a:ln w="11430">
            <a:solidFill>
              <a:srgbClr val="E7C9C6"/>
            </a:solidFill>
            <a:prstDash val="solid"/>
          </a:ln>
        </p:spPr>
      </p:sp>
      <p:sp>
        <p:nvSpPr>
          <p:cNvPr id="44" name="Shape 42"/>
          <p:cNvSpPr/>
          <p:nvPr/>
        </p:nvSpPr>
        <p:spPr>
          <a:xfrm>
            <a:off x="10979201" y="6121908"/>
            <a:ext cx="82296" cy="82296"/>
          </a:xfrm>
          <a:prstGeom prst="ellipse">
            <a:avLst/>
          </a:prstGeom>
          <a:solidFill>
            <a:srgbClr val="8A2522"/>
          </a:solidFill>
          <a:ln w="11430">
            <a:solidFill>
              <a:srgbClr val="E7C9C6"/>
            </a:solidFill>
            <a:prstDash val="solid"/>
          </a:ln>
        </p:spPr>
      </p:sp>
      <p:sp>
        <p:nvSpPr>
          <p:cNvPr id="45" name="Shape 43"/>
          <p:cNvSpPr/>
          <p:nvPr/>
        </p:nvSpPr>
        <p:spPr>
          <a:xfrm>
            <a:off x="10386670" y="6352337"/>
            <a:ext cx="82296" cy="82296"/>
          </a:xfrm>
          <a:prstGeom prst="ellipse">
            <a:avLst/>
          </a:prstGeom>
          <a:solidFill>
            <a:srgbClr val="8A2522"/>
          </a:solidFill>
          <a:ln w="11430">
            <a:solidFill>
              <a:srgbClr val="E7C9C6"/>
            </a:solidFill>
            <a:prstDash val="solid"/>
          </a:ln>
        </p:spPr>
      </p:sp>
      <p:sp>
        <p:nvSpPr>
          <p:cNvPr id="46" name="Shape 44"/>
          <p:cNvSpPr/>
          <p:nvPr/>
        </p:nvSpPr>
        <p:spPr>
          <a:xfrm>
            <a:off x="9892894" y="5891479"/>
            <a:ext cx="82296" cy="82296"/>
          </a:xfrm>
          <a:prstGeom prst="ellipse">
            <a:avLst/>
          </a:prstGeom>
          <a:solidFill>
            <a:srgbClr val="8A2522"/>
          </a:solidFill>
          <a:ln w="11430">
            <a:solidFill>
              <a:srgbClr val="E7C9C6"/>
            </a:solidFill>
            <a:prstDash val="solid"/>
          </a:ln>
        </p:spPr>
      </p:sp>
      <p:sp>
        <p:nvSpPr>
          <p:cNvPr id="47" name="Shape 45"/>
          <p:cNvSpPr/>
          <p:nvPr/>
        </p:nvSpPr>
        <p:spPr>
          <a:xfrm>
            <a:off x="10682935" y="5628132"/>
            <a:ext cx="82296" cy="82296"/>
          </a:xfrm>
          <a:prstGeom prst="ellipse">
            <a:avLst/>
          </a:prstGeom>
          <a:solidFill>
            <a:srgbClr val="8A2522"/>
          </a:solidFill>
          <a:ln w="11430">
            <a:solidFill>
              <a:srgbClr val="E7C9C6"/>
            </a:solidFill>
            <a:prstDash val="solid"/>
          </a:ln>
        </p:spPr>
      </p:sp>
      <p:sp>
        <p:nvSpPr>
          <p:cNvPr id="48" name="Shape 46"/>
          <p:cNvSpPr/>
          <p:nvPr/>
        </p:nvSpPr>
        <p:spPr>
          <a:xfrm>
            <a:off x="10057486" y="5331866"/>
            <a:ext cx="82296" cy="82296"/>
          </a:xfrm>
          <a:prstGeom prst="ellipse">
            <a:avLst/>
          </a:prstGeom>
          <a:solidFill>
            <a:srgbClr val="8A2522"/>
          </a:solidFill>
          <a:ln w="11430">
            <a:solidFill>
              <a:srgbClr val="E7C9C6"/>
            </a:solidFill>
            <a:prstDash val="solid"/>
          </a:ln>
        </p:spPr>
      </p:sp>
      <p:sp>
        <p:nvSpPr>
          <p:cNvPr id="49" name="Shape 47"/>
          <p:cNvSpPr/>
          <p:nvPr/>
        </p:nvSpPr>
        <p:spPr>
          <a:xfrm>
            <a:off x="11143793" y="5759806"/>
            <a:ext cx="82296" cy="82296"/>
          </a:xfrm>
          <a:prstGeom prst="ellipse">
            <a:avLst/>
          </a:prstGeom>
          <a:solidFill>
            <a:srgbClr val="8A2522"/>
          </a:solidFill>
          <a:ln w="11430">
            <a:solidFill>
              <a:srgbClr val="E7C9C6"/>
            </a:solidFill>
            <a:prstDash val="solid"/>
          </a:ln>
        </p:spPr>
      </p:sp>
      <p:sp>
        <p:nvSpPr>
          <p:cNvPr id="50" name="Shape 48"/>
          <p:cNvSpPr/>
          <p:nvPr/>
        </p:nvSpPr>
        <p:spPr>
          <a:xfrm>
            <a:off x="9794138" y="6319418"/>
            <a:ext cx="82296" cy="82296"/>
          </a:xfrm>
          <a:prstGeom prst="ellipse">
            <a:avLst/>
          </a:prstGeom>
          <a:solidFill>
            <a:srgbClr val="8A2522"/>
          </a:solidFill>
          <a:ln w="11430">
            <a:solidFill>
              <a:srgbClr val="E7C9C6"/>
            </a:solidFill>
            <a:prstDash val="solid"/>
          </a:ln>
        </p:spPr>
      </p:sp>
      <p:sp>
        <p:nvSpPr>
          <p:cNvPr id="51" name="Shape 49"/>
          <p:cNvSpPr/>
          <p:nvPr/>
        </p:nvSpPr>
        <p:spPr>
          <a:xfrm>
            <a:off x="10320833" y="4969764"/>
            <a:ext cx="82296" cy="82296"/>
          </a:xfrm>
          <a:prstGeom prst="ellipse">
            <a:avLst/>
          </a:prstGeom>
          <a:solidFill>
            <a:srgbClr val="8A2522"/>
          </a:solidFill>
          <a:ln w="11430">
            <a:solidFill>
              <a:srgbClr val="E7C9C6"/>
            </a:solidFill>
            <a:prstDash val="solid"/>
          </a:ln>
        </p:spPr>
      </p:sp>
      <p:sp>
        <p:nvSpPr>
          <p:cNvPr id="52" name="Shape 50"/>
          <p:cNvSpPr/>
          <p:nvPr/>
        </p:nvSpPr>
        <p:spPr>
          <a:xfrm>
            <a:off x="9761220" y="4739335"/>
            <a:ext cx="82296" cy="82296"/>
          </a:xfrm>
          <a:prstGeom prst="ellipse">
            <a:avLst/>
          </a:prstGeom>
          <a:solidFill>
            <a:srgbClr val="8A2522"/>
          </a:solidFill>
          <a:ln w="11430">
            <a:solidFill>
              <a:srgbClr val="E7C9C6"/>
            </a:solidFill>
            <a:prstDash val="solid"/>
          </a:ln>
        </p:spPr>
      </p:sp>
      <p:sp>
        <p:nvSpPr>
          <p:cNvPr id="53" name="Text 51"/>
          <p:cNvSpPr txBox="1"/>
          <p:nvPr/>
        </p:nvSpPr>
        <p:spPr>
          <a:xfrm>
            <a:off x="7680960" y="1600200"/>
            <a:ext cx="3657600" cy="1280160"/>
          </a:xfrm>
          <a:prstGeom prst="rect">
            <a:avLst/>
          </a:prstGeom>
          <a:noFill/>
          <a:ln/>
        </p:spPr>
        <p:txBody>
          <a:bodyPr wrap="square" lIns="0" tIns="0" rIns="0" bIns="0" rtlCol="0" anchor="ctr"/>
          <a:lstStyle/>
          <a:p>
            <a:pPr algn="r" indent="0" marL="0">
              <a:buNone/>
            </a:pPr>
            <a:r>
              <a:rPr lang="en-US" sz="8800" b="1" dirty="0">
                <a:solidFill>
                  <a:srgbClr val="E7C9C6"/>
                </a:solidFill>
                <a:latin typeface="Arial" pitchFamily="34" charset="0"/>
                <a:ea typeface="Arial" pitchFamily="34" charset="-122"/>
                <a:cs typeface="Arial" pitchFamily="34" charset="-120"/>
              </a:rPr>
              <a:t>06</a:t>
            </a:r>
            <a:endParaRPr lang="en-US" sz="8800" dirty="0"/>
          </a:p>
        </p:txBody>
      </p:sp>
      <p:sp>
        <p:nvSpPr>
          <p:cNvPr id="54" name="Text 52"/>
          <p:cNvSpPr txBox="1"/>
          <p:nvPr/>
        </p:nvSpPr>
        <p:spPr>
          <a:xfrm>
            <a:off x="1371600" y="2926080"/>
            <a:ext cx="9966960" cy="914400"/>
          </a:xfrm>
          <a:prstGeom prst="rect">
            <a:avLst/>
          </a:prstGeom>
          <a:noFill/>
          <a:ln/>
        </p:spPr>
        <p:txBody>
          <a:bodyPr wrap="square" lIns="0" tIns="0" rIns="0" bIns="0" rtlCol="0" anchor="ctr"/>
          <a:lstStyle/>
          <a:p>
            <a:pPr rtl="1" algn="r" indent="0" marL="0">
              <a:buNone/>
            </a:pPr>
            <a:r>
              <a:rPr lang="ar-EG" altLang="en-US" sz="4000" b="1" dirty="0">
                <a:solidFill>
                  <a:srgbClr val="FFFFFF"/>
                </a:solidFill>
                <a:latin typeface="Arial" pitchFamily="34" charset="0"/>
                <a:ea typeface="Arial" pitchFamily="34" charset="-122"/>
                <a:cs typeface="Arial" pitchFamily="34" charset="-120"/>
              </a:rPr>
              <a:t>التصميم النهائي: v8-Chain</a:t>
            </a:r>
            <a:endParaRPr lang="ar-EG" sz="4000" dirty="0"/>
          </a:p>
        </p:txBody>
      </p:sp>
      <p:sp>
        <p:nvSpPr>
          <p:cNvPr id="55" name="Text 53"/>
          <p:cNvSpPr txBox="1"/>
          <p:nvPr/>
        </p:nvSpPr>
        <p:spPr>
          <a:xfrm>
            <a:off x="1371600" y="3886200"/>
            <a:ext cx="9966960" cy="822960"/>
          </a:xfrm>
          <a:prstGeom prst="rect">
            <a:avLst/>
          </a:prstGeom>
          <a:noFill/>
          <a:ln/>
        </p:spPr>
        <p:txBody>
          <a:bodyPr wrap="square" lIns="0" tIns="0" rIns="0" bIns="0" rtlCol="0" anchor="t"/>
          <a:lstStyle/>
          <a:p>
            <a:pPr rtl="1" algn="r" indent="0" marL="0">
              <a:buNone/>
            </a:pPr>
            <a:r>
              <a:rPr lang="ar-EG" altLang="en-US" sz="1800" dirty="0">
                <a:solidFill>
                  <a:srgbClr val="F3E3E1"/>
                </a:solidFill>
                <a:latin typeface="Arial" pitchFamily="34" charset="0"/>
                <a:ea typeface="Arial" pitchFamily="34" charset="-122"/>
                <a:cs typeface="Arial" pitchFamily="34" charset="-120"/>
              </a:rPr>
              <a:t>نمنع موت الـ CH، ونخفف حمله، ونوصّل بين الـ CHs بس لما يوفّر</a:t>
            </a:r>
            <a:endParaRPr lang="ar-EG" sz="1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اللي لقيناه في v5b</a:t>
            </a:r>
            <a:pPr algn="r" indent="0" marL="0">
              <a:buNone/>
            </a:pPr>
            <a:r>
              <a:rPr lang="ar-EG" altLang="en-US" sz="2100" dirty="0">
                <a:solidFill>
                  <a:srgbClr val="8A2522"/>
                </a:solidFill>
                <a:latin typeface="Arial" pitchFamily="34" charset="0"/>
                <a:ea typeface="Arial" pitchFamily="34" charset="-122"/>
                <a:cs typeface="Arial" pitchFamily="34" charset="-120"/>
              </a:rPr>
              <a:t>  –  قاعدة الـ Energy-Aware</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42</a:t>
            </a:r>
            <a:endParaRPr lang="en-US" sz="1000" dirty="0"/>
          </a:p>
        </p:txBody>
      </p:sp>
      <p:sp>
        <p:nvSpPr>
          <p:cNvPr id="20" name="Text 17"/>
          <p:cNvSpPr txBox="1"/>
          <p:nvPr/>
        </p:nvSpPr>
        <p:spPr>
          <a:xfrm>
            <a:off x="8138160" y="1463040"/>
            <a:ext cx="3291840" cy="731520"/>
          </a:xfrm>
          <a:prstGeom prst="rect">
            <a:avLst/>
          </a:prstGeom>
          <a:noFill/>
          <a:ln/>
        </p:spPr>
        <p:txBody>
          <a:bodyPr wrap="square" lIns="0" tIns="0" rIns="0" bIns="0" rtlCol="0" anchor="ctr"/>
          <a:lstStyle/>
          <a:p>
            <a:pPr algn="r" indent="0" marL="0">
              <a:buNone/>
            </a:pPr>
            <a:r>
              <a:rPr lang="en-US" sz="4400" b="1" dirty="0">
                <a:solidFill>
                  <a:srgbClr val="8A2522"/>
                </a:solidFill>
                <a:latin typeface="Arial" pitchFamily="34" charset="0"/>
                <a:ea typeface="Arial" pitchFamily="34" charset="-122"/>
                <a:cs typeface="Arial" pitchFamily="34" charset="-120"/>
              </a:rPr>
              <a:t>3203</a:t>
            </a:r>
            <a:endParaRPr lang="en-US" sz="4400" dirty="0"/>
          </a:p>
        </p:txBody>
      </p:sp>
      <p:sp>
        <p:nvSpPr>
          <p:cNvPr id="21" name="Text 18"/>
          <p:cNvSpPr txBox="1"/>
          <p:nvPr/>
        </p:nvSpPr>
        <p:spPr>
          <a:xfrm>
            <a:off x="8138160" y="2194560"/>
            <a:ext cx="3291840" cy="548640"/>
          </a:xfrm>
          <a:prstGeom prst="rect">
            <a:avLst/>
          </a:prstGeom>
          <a:noFill/>
          <a:ln/>
        </p:spPr>
        <p:txBody>
          <a:bodyPr wrap="square" lIns="0" tIns="0" rIns="0" bIns="0" rtlCol="0" anchor="t"/>
          <a:lstStyle/>
          <a:p>
            <a:pPr rtl="1" algn="r" indent="0" marL="0">
              <a:buNone/>
            </a:pPr>
            <a:r>
              <a:rPr lang="ar-EG" altLang="en-US" sz="1350" dirty="0">
                <a:solidFill>
                  <a:srgbClr val="6B6B6B"/>
                </a:solidFill>
                <a:latin typeface="Arial" pitchFamily="34" charset="0"/>
                <a:ea typeface="Arial" pitchFamily="34" charset="-122"/>
                <a:cs typeface="Arial" pitchFamily="34" charset="-120"/>
              </a:rPr>
              <a:t>LND بتاع v5b — شكله الأحسن…</a:t>
            </a:r>
            <a:endParaRPr lang="ar-EG" sz="1350" dirty="0"/>
          </a:p>
        </p:txBody>
      </p:sp>
      <p:sp>
        <p:nvSpPr>
          <p:cNvPr id="22" name="Text 19"/>
          <p:cNvSpPr txBox="1"/>
          <p:nvPr/>
        </p:nvSpPr>
        <p:spPr>
          <a:xfrm>
            <a:off x="4480560" y="1463040"/>
            <a:ext cx="3291840" cy="731520"/>
          </a:xfrm>
          <a:prstGeom prst="rect">
            <a:avLst/>
          </a:prstGeom>
          <a:noFill/>
          <a:ln/>
        </p:spPr>
        <p:txBody>
          <a:bodyPr wrap="square" lIns="0" tIns="0" rIns="0" bIns="0" rtlCol="0" anchor="ctr"/>
          <a:lstStyle/>
          <a:p>
            <a:pPr algn="r" indent="0" marL="0">
              <a:buNone/>
            </a:pPr>
            <a:r>
              <a:rPr lang="en-US" sz="4400" b="1" dirty="0">
                <a:solidFill>
                  <a:srgbClr val="8A2522"/>
                </a:solidFill>
                <a:latin typeface="Arial" pitchFamily="34" charset="0"/>
                <a:ea typeface="Arial" pitchFamily="34" charset="-122"/>
                <a:cs typeface="Arial" pitchFamily="34" charset="-120"/>
              </a:rPr>
              <a:t>59</a:t>
            </a:r>
            <a:endParaRPr lang="en-US" sz="4400" dirty="0"/>
          </a:p>
        </p:txBody>
      </p:sp>
      <p:sp>
        <p:nvSpPr>
          <p:cNvPr id="23" name="Text 20"/>
          <p:cNvSpPr txBox="1"/>
          <p:nvPr/>
        </p:nvSpPr>
        <p:spPr>
          <a:xfrm>
            <a:off x="4480560" y="2194560"/>
            <a:ext cx="3291840" cy="548640"/>
          </a:xfrm>
          <a:prstGeom prst="rect">
            <a:avLst/>
          </a:prstGeom>
          <a:noFill/>
          <a:ln/>
        </p:spPr>
        <p:txBody>
          <a:bodyPr wrap="square" lIns="0" tIns="0" rIns="0" bIns="0" rtlCol="0" anchor="t"/>
          <a:lstStyle/>
          <a:p>
            <a:pPr rtl="1" algn="r" indent="0" marL="0">
              <a:buNone/>
            </a:pPr>
            <a:r>
              <a:rPr lang="ar-EG" altLang="en-US" sz="1350" dirty="0">
                <a:solidFill>
                  <a:srgbClr val="6B6B6B"/>
                </a:solidFill>
                <a:latin typeface="Arial" pitchFamily="34" charset="0"/>
                <a:ea typeface="Arial" pitchFamily="34" charset="-122"/>
                <a:cs typeface="Arial" pitchFamily="34" charset="-120"/>
              </a:rPr>
              <a:t>رسالة بس وصلت في آخر 1038 round</a:t>
            </a:r>
            <a:endParaRPr lang="ar-EG" sz="1350" dirty="0"/>
          </a:p>
        </p:txBody>
      </p:sp>
      <p:sp>
        <p:nvSpPr>
          <p:cNvPr id="24" name="Text 21"/>
          <p:cNvSpPr txBox="1"/>
          <p:nvPr/>
        </p:nvSpPr>
        <p:spPr>
          <a:xfrm>
            <a:off x="822960" y="1463040"/>
            <a:ext cx="3291840" cy="731520"/>
          </a:xfrm>
          <a:prstGeom prst="rect">
            <a:avLst/>
          </a:prstGeom>
          <a:noFill/>
          <a:ln/>
        </p:spPr>
        <p:txBody>
          <a:bodyPr wrap="square" lIns="0" tIns="0" rIns="0" bIns="0" rtlCol="0" anchor="ctr"/>
          <a:lstStyle/>
          <a:p>
            <a:pPr algn="r" indent="0" marL="0">
              <a:buNone/>
            </a:pPr>
            <a:r>
              <a:rPr lang="en-US" sz="4400" b="1" dirty="0">
                <a:solidFill>
                  <a:srgbClr val="8A2522"/>
                </a:solidFill>
                <a:latin typeface="Arial" pitchFamily="34" charset="0"/>
                <a:ea typeface="Arial" pitchFamily="34" charset="-122"/>
                <a:cs typeface="Arial" pitchFamily="34" charset="-120"/>
              </a:rPr>
              <a:t>0 / 20</a:t>
            </a:r>
            <a:endParaRPr lang="en-US" sz="4400" dirty="0"/>
          </a:p>
        </p:txBody>
      </p:sp>
      <p:sp>
        <p:nvSpPr>
          <p:cNvPr id="25" name="Text 22"/>
          <p:cNvSpPr txBox="1"/>
          <p:nvPr/>
        </p:nvSpPr>
        <p:spPr>
          <a:xfrm>
            <a:off x="822960" y="2194560"/>
            <a:ext cx="3291840" cy="548640"/>
          </a:xfrm>
          <a:prstGeom prst="rect">
            <a:avLst/>
          </a:prstGeom>
          <a:noFill/>
          <a:ln/>
        </p:spPr>
        <p:txBody>
          <a:bodyPr wrap="square" lIns="0" tIns="0" rIns="0" bIns="0" rtlCol="0" anchor="t"/>
          <a:lstStyle/>
          <a:p>
            <a:pPr rtl="1" algn="r" indent="0" marL="0">
              <a:buNone/>
            </a:pPr>
            <a:r>
              <a:rPr lang="ar-EG" altLang="en-US" sz="1350" dirty="0">
                <a:solidFill>
                  <a:srgbClr val="6B6B6B"/>
                </a:solidFill>
                <a:latin typeface="Arial" pitchFamily="34" charset="0"/>
                <a:ea typeface="Arial" pitchFamily="34" charset="-122"/>
                <a:cs typeface="Arial" pitchFamily="34" charset="-120"/>
              </a:rPr>
              <a:t>ترقية نائب نجحت</a:t>
            </a:r>
            <a:endParaRPr lang="ar-EG" sz="1350" dirty="0"/>
          </a:p>
        </p:txBody>
      </p:sp>
      <p:sp>
        <p:nvSpPr>
          <p:cNvPr id="26" name="Shape 23"/>
          <p:cNvSpPr/>
          <p:nvPr/>
        </p:nvSpPr>
        <p:spPr>
          <a:xfrm>
            <a:off x="6263640" y="3291840"/>
            <a:ext cx="5166360" cy="2560320"/>
          </a:xfrm>
          <a:prstGeom prst="roundRect">
            <a:avLst>
              <a:gd name="adj" fmla="val 4286"/>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7" name="Text 24"/>
          <p:cNvSpPr txBox="1"/>
          <p:nvPr/>
        </p:nvSpPr>
        <p:spPr>
          <a:xfrm>
            <a:off x="6446520" y="3429000"/>
            <a:ext cx="476402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المشكلة 1: نودز عايشة وساكتة</a:t>
            </a:r>
            <a:endParaRPr lang="ar-EG" sz="1500" dirty="0"/>
          </a:p>
        </p:txBody>
      </p:sp>
      <p:sp>
        <p:nvSpPr>
          <p:cNvPr id="28" name="Text 25"/>
          <p:cNvSpPr txBox="1"/>
          <p:nvPr/>
        </p:nvSpPr>
        <p:spPr>
          <a:xfrm>
            <a:off x="6464808" y="4023360"/>
            <a:ext cx="4764024" cy="169164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الحد الثابت ساب الأعضاء الضعاف من غير CH: وقفوا يبعتوا، فماماتوش ← LND كبير ومفيش داتا تقريبًا.</a:t>
            </a:r>
            <a:endParaRPr lang="ar-EG" sz="1400" dirty="0"/>
          </a:p>
        </p:txBody>
      </p:sp>
      <p:sp>
        <p:nvSpPr>
          <p:cNvPr id="29" name="Shape 26"/>
          <p:cNvSpPr/>
          <p:nvPr/>
        </p:nvSpPr>
        <p:spPr>
          <a:xfrm>
            <a:off x="822960" y="3291840"/>
            <a:ext cx="5166360" cy="2560320"/>
          </a:xfrm>
          <a:prstGeom prst="roundRect">
            <a:avLst>
              <a:gd name="adj" fmla="val 4286"/>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30" name="Text 27"/>
          <p:cNvSpPr txBox="1"/>
          <p:nvPr/>
        </p:nvSpPr>
        <p:spPr>
          <a:xfrm>
            <a:off x="1005840" y="3429000"/>
            <a:ext cx="476402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المشكلة 2: rounds من غير CH</a:t>
            </a:r>
            <a:endParaRPr lang="ar-EG" sz="1500" dirty="0"/>
          </a:p>
        </p:txBody>
      </p:sp>
      <p:sp>
        <p:nvSpPr>
          <p:cNvPr id="31" name="Text 28"/>
          <p:cNvSpPr txBox="1"/>
          <p:nvPr/>
        </p:nvSpPr>
        <p:spPr>
          <a:xfrm>
            <a:off x="1024128" y="4023360"/>
            <a:ext cx="4764024" cy="169164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لما كل النودز العايشة تكون خدت دورها في الـ epoch، محدش مؤهل: 998 round من غير ولا CH (مثلًا rounds 196–200 والـ 100 نود عايشين).</a:t>
            </a:r>
            <a:endParaRPr lang="ar-EG"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آليات v8</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43</a:t>
            </a:r>
            <a:endParaRPr lang="en-US" sz="1000" dirty="0"/>
          </a:p>
        </p:txBody>
      </p:sp>
      <p:sp>
        <p:nvSpPr>
          <p:cNvPr id="20" name="Shape 17"/>
          <p:cNvSpPr/>
          <p:nvPr/>
        </p:nvSpPr>
        <p:spPr>
          <a:xfrm>
            <a:off x="8010144" y="1463040"/>
            <a:ext cx="3383280" cy="2057400"/>
          </a:xfrm>
          <a:prstGeom prst="roundRect">
            <a:avLst>
              <a:gd name="adj" fmla="val 5333"/>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1" name="Shape 18"/>
          <p:cNvSpPr/>
          <p:nvPr/>
        </p:nvSpPr>
        <p:spPr>
          <a:xfrm>
            <a:off x="10735056" y="1645920"/>
            <a:ext cx="457200" cy="457200"/>
          </a:xfrm>
          <a:prstGeom prst="ellipse">
            <a:avLst/>
          </a:prstGeom>
          <a:solidFill>
            <a:srgbClr val="8A2522"/>
          </a:solidFill>
          <a:ln w="12700">
            <a:solidFill>
              <a:srgbClr val="8A2522"/>
            </a:solidFill>
            <a:prstDash val="solid"/>
          </a:ln>
        </p:spPr>
      </p:sp>
      <p:sp>
        <p:nvSpPr>
          <p:cNvPr id="22" name="Text 19"/>
          <p:cNvSpPr txBox="1"/>
          <p:nvPr/>
        </p:nvSpPr>
        <p:spPr>
          <a:xfrm>
            <a:off x="10735056" y="16459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I1</a:t>
            </a:r>
            <a:endParaRPr lang="en-US" sz="1300" dirty="0"/>
          </a:p>
        </p:txBody>
      </p:sp>
      <p:sp>
        <p:nvSpPr>
          <p:cNvPr id="23" name="Text 20"/>
          <p:cNvSpPr txBox="1"/>
          <p:nvPr/>
        </p:nvSpPr>
        <p:spPr>
          <a:xfrm>
            <a:off x="8193024" y="1600200"/>
            <a:ext cx="2423160" cy="548640"/>
          </a:xfrm>
          <a:prstGeom prst="rect">
            <a:avLst/>
          </a:prstGeom>
          <a:noFill/>
          <a:ln/>
        </p:spPr>
        <p:txBody>
          <a:bodyPr wrap="square" lIns="0" tIns="0" rIns="0" bIns="0" rtlCol="0" anchor="ctr"/>
          <a:lstStyle/>
          <a:p>
            <a:pPr rtl="1" algn="r" indent="0" marL="0">
              <a:buNone/>
            </a:pPr>
            <a:r>
              <a:rPr lang="ar-EG" altLang="en-US" sz="1450" b="1" dirty="0">
                <a:solidFill>
                  <a:srgbClr val="8A2522"/>
                </a:solidFill>
                <a:latin typeface="Arial" pitchFamily="34" charset="0"/>
                <a:ea typeface="Arial" pitchFamily="34" charset="-122"/>
                <a:cs typeface="Arial" pitchFamily="34" charset="-120"/>
              </a:rPr>
              <a:t>إصلاح الـ epoch</a:t>
            </a:r>
            <a:endParaRPr lang="ar-EG" sz="1450" dirty="0"/>
          </a:p>
        </p:txBody>
      </p:sp>
      <p:sp>
        <p:nvSpPr>
          <p:cNvPr id="24" name="Text 21"/>
          <p:cNvSpPr txBox="1"/>
          <p:nvPr/>
        </p:nvSpPr>
        <p:spPr>
          <a:xfrm>
            <a:off x="8211312" y="2194560"/>
            <a:ext cx="2980944" cy="118872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epoch جديد لما محدش يبقى مؤهل ← عمر الشبكة ما تبقى من غير CH.</a:t>
            </a:r>
            <a:endParaRPr lang="ar-EG" sz="1400" dirty="0"/>
          </a:p>
        </p:txBody>
      </p:sp>
      <p:sp>
        <p:nvSpPr>
          <p:cNvPr id="25" name="Shape 22"/>
          <p:cNvSpPr/>
          <p:nvPr/>
        </p:nvSpPr>
        <p:spPr>
          <a:xfrm>
            <a:off x="4416552" y="1463040"/>
            <a:ext cx="3383280" cy="2057400"/>
          </a:xfrm>
          <a:prstGeom prst="roundRect">
            <a:avLst>
              <a:gd name="adj" fmla="val 5333"/>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6" name="Shape 23"/>
          <p:cNvSpPr/>
          <p:nvPr/>
        </p:nvSpPr>
        <p:spPr>
          <a:xfrm>
            <a:off x="7141464" y="1645920"/>
            <a:ext cx="457200" cy="457200"/>
          </a:xfrm>
          <a:prstGeom prst="ellipse">
            <a:avLst/>
          </a:prstGeom>
          <a:solidFill>
            <a:srgbClr val="8A2522"/>
          </a:solidFill>
          <a:ln w="12700">
            <a:solidFill>
              <a:srgbClr val="8A2522"/>
            </a:solidFill>
            <a:prstDash val="solid"/>
          </a:ln>
        </p:spPr>
      </p:sp>
      <p:sp>
        <p:nvSpPr>
          <p:cNvPr id="27" name="Text 24"/>
          <p:cNvSpPr txBox="1"/>
          <p:nvPr/>
        </p:nvSpPr>
        <p:spPr>
          <a:xfrm>
            <a:off x="7141464" y="16459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I2</a:t>
            </a:r>
            <a:endParaRPr lang="en-US" sz="1300" dirty="0"/>
          </a:p>
        </p:txBody>
      </p:sp>
      <p:sp>
        <p:nvSpPr>
          <p:cNvPr id="28" name="Text 25"/>
          <p:cNvSpPr txBox="1"/>
          <p:nvPr/>
        </p:nvSpPr>
        <p:spPr>
          <a:xfrm>
            <a:off x="4599432" y="1600200"/>
            <a:ext cx="2423160" cy="548640"/>
          </a:xfrm>
          <a:prstGeom prst="rect">
            <a:avLst/>
          </a:prstGeom>
          <a:noFill/>
          <a:ln/>
        </p:spPr>
        <p:txBody>
          <a:bodyPr wrap="square" lIns="0" tIns="0" rIns="0" bIns="0" rtlCol="0" anchor="ctr"/>
          <a:lstStyle/>
          <a:p>
            <a:pPr rtl="1" algn="r" indent="0" marL="0">
              <a:buNone/>
            </a:pPr>
            <a:r>
              <a:rPr lang="ar-EG" altLang="en-US" sz="1450" b="1" dirty="0">
                <a:solidFill>
                  <a:srgbClr val="8A2522"/>
                </a:solidFill>
                <a:latin typeface="Arial" pitchFamily="34" charset="0"/>
                <a:ea typeface="Arial" pitchFamily="34" charset="-122"/>
                <a:cs typeface="Arial" pitchFamily="34" charset="-120"/>
              </a:rPr>
              <a:t>التسليم الاستباقي</a:t>
            </a:r>
            <a:endParaRPr lang="ar-EG" sz="1450" dirty="0"/>
          </a:p>
        </p:txBody>
      </p:sp>
      <p:sp>
        <p:nvSpPr>
          <p:cNvPr id="29" name="Text 26"/>
          <p:cNvSpPr txBox="1"/>
          <p:nvPr/>
        </p:nvSpPr>
        <p:spPr>
          <a:xfrm>
            <a:off x="4617720" y="2194560"/>
            <a:ext cx="2980944" cy="118872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الـ CH اللي مش هيقدر يكمّل الـ round يسلّم لأقوى عضو قبل ما يموت.</a:t>
            </a:r>
            <a:endParaRPr lang="ar-EG" sz="1400" dirty="0"/>
          </a:p>
        </p:txBody>
      </p:sp>
      <p:sp>
        <p:nvSpPr>
          <p:cNvPr id="30" name="Shape 27"/>
          <p:cNvSpPr/>
          <p:nvPr/>
        </p:nvSpPr>
        <p:spPr>
          <a:xfrm>
            <a:off x="822960" y="1463040"/>
            <a:ext cx="3383280" cy="2057400"/>
          </a:xfrm>
          <a:prstGeom prst="roundRect">
            <a:avLst>
              <a:gd name="adj" fmla="val 5333"/>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31" name="Shape 28"/>
          <p:cNvSpPr/>
          <p:nvPr/>
        </p:nvSpPr>
        <p:spPr>
          <a:xfrm>
            <a:off x="3547872" y="1645920"/>
            <a:ext cx="457200" cy="457200"/>
          </a:xfrm>
          <a:prstGeom prst="ellipse">
            <a:avLst/>
          </a:prstGeom>
          <a:solidFill>
            <a:srgbClr val="8A2522"/>
          </a:solidFill>
          <a:ln w="12700">
            <a:solidFill>
              <a:srgbClr val="8A2522"/>
            </a:solidFill>
            <a:prstDash val="solid"/>
          </a:ln>
        </p:spPr>
      </p:sp>
      <p:sp>
        <p:nvSpPr>
          <p:cNvPr id="32" name="Text 29"/>
          <p:cNvSpPr txBox="1"/>
          <p:nvPr/>
        </p:nvSpPr>
        <p:spPr>
          <a:xfrm>
            <a:off x="3547872" y="16459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I3</a:t>
            </a:r>
            <a:endParaRPr lang="en-US" sz="1300" dirty="0"/>
          </a:p>
        </p:txBody>
      </p:sp>
      <p:sp>
        <p:nvSpPr>
          <p:cNvPr id="33" name="Text 30"/>
          <p:cNvSpPr txBox="1"/>
          <p:nvPr/>
        </p:nvSpPr>
        <p:spPr>
          <a:xfrm>
            <a:off x="1005840" y="1600200"/>
            <a:ext cx="2423160" cy="548640"/>
          </a:xfrm>
          <a:prstGeom prst="rect">
            <a:avLst/>
          </a:prstGeom>
          <a:noFill/>
          <a:ln/>
        </p:spPr>
        <p:txBody>
          <a:bodyPr wrap="square" lIns="0" tIns="0" rIns="0" bIns="0" rtlCol="0" anchor="ctr"/>
          <a:lstStyle/>
          <a:p>
            <a:pPr rtl="1" algn="r" indent="0" marL="0">
              <a:buNone/>
            </a:pPr>
            <a:r>
              <a:rPr lang="ar-EG" altLang="en-US" sz="1450" b="1" dirty="0">
                <a:solidFill>
                  <a:srgbClr val="8A2522"/>
                </a:solidFill>
                <a:latin typeface="Arial" pitchFamily="34" charset="0"/>
                <a:ea typeface="Arial" pitchFamily="34" charset="-122"/>
                <a:cs typeface="Arial" pitchFamily="34" charset="-120"/>
              </a:rPr>
              <a:t>انضمام الأيتام</a:t>
            </a:r>
            <a:endParaRPr lang="ar-EG" sz="1450" dirty="0"/>
          </a:p>
        </p:txBody>
      </p:sp>
      <p:sp>
        <p:nvSpPr>
          <p:cNvPr id="34" name="Text 31"/>
          <p:cNvSpPr txBox="1"/>
          <p:nvPr/>
        </p:nvSpPr>
        <p:spPr>
          <a:xfrm>
            <a:off x="1024128" y="2194560"/>
            <a:ext cx="2980944" cy="118872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أعضاء الـ CH الميت ينضموا لأقرب CH عايش.</a:t>
            </a:r>
            <a:endParaRPr lang="ar-EG" sz="1400" dirty="0"/>
          </a:p>
        </p:txBody>
      </p:sp>
      <p:sp>
        <p:nvSpPr>
          <p:cNvPr id="35" name="Shape 32"/>
          <p:cNvSpPr/>
          <p:nvPr/>
        </p:nvSpPr>
        <p:spPr>
          <a:xfrm>
            <a:off x="8010144" y="3703320"/>
            <a:ext cx="3383280" cy="2057400"/>
          </a:xfrm>
          <a:prstGeom prst="roundRect">
            <a:avLst>
              <a:gd name="adj" fmla="val 5333"/>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36" name="Shape 33"/>
          <p:cNvSpPr/>
          <p:nvPr/>
        </p:nvSpPr>
        <p:spPr>
          <a:xfrm>
            <a:off x="10735056" y="3886200"/>
            <a:ext cx="457200" cy="457200"/>
          </a:xfrm>
          <a:prstGeom prst="ellipse">
            <a:avLst/>
          </a:prstGeom>
          <a:solidFill>
            <a:srgbClr val="8A2522"/>
          </a:solidFill>
          <a:ln w="12700">
            <a:solidFill>
              <a:srgbClr val="8A2522"/>
            </a:solidFill>
            <a:prstDash val="solid"/>
          </a:ln>
        </p:spPr>
      </p:sp>
      <p:sp>
        <p:nvSpPr>
          <p:cNvPr id="37" name="Text 34"/>
          <p:cNvSpPr txBox="1"/>
          <p:nvPr/>
        </p:nvSpPr>
        <p:spPr>
          <a:xfrm>
            <a:off x="10735056" y="38862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I4</a:t>
            </a:r>
            <a:endParaRPr lang="en-US" sz="1300" dirty="0"/>
          </a:p>
        </p:txBody>
      </p:sp>
      <p:sp>
        <p:nvSpPr>
          <p:cNvPr id="38" name="Text 35"/>
          <p:cNvSpPr txBox="1"/>
          <p:nvPr/>
        </p:nvSpPr>
        <p:spPr>
          <a:xfrm>
            <a:off x="8193024" y="3840480"/>
            <a:ext cx="2423160" cy="548640"/>
          </a:xfrm>
          <a:prstGeom prst="rect">
            <a:avLst/>
          </a:prstGeom>
          <a:noFill/>
          <a:ln/>
        </p:spPr>
        <p:txBody>
          <a:bodyPr wrap="square" lIns="0" tIns="0" rIns="0" bIns="0" rtlCol="0" anchor="ctr"/>
          <a:lstStyle/>
          <a:p>
            <a:pPr rtl="1" algn="r" indent="0" marL="0">
              <a:buNone/>
            </a:pPr>
            <a:r>
              <a:rPr lang="ar-EG" altLang="en-US" sz="1450" b="1" dirty="0">
                <a:solidFill>
                  <a:srgbClr val="8A2522"/>
                </a:solidFill>
                <a:latin typeface="Arial" pitchFamily="34" charset="0"/>
                <a:ea typeface="Arial" pitchFamily="34" charset="-122"/>
                <a:cs typeface="Arial" pitchFamily="34" charset="-120"/>
              </a:rPr>
              <a:t>الإرسال المباشر</a:t>
            </a:r>
            <a:endParaRPr lang="ar-EG" sz="1450" dirty="0"/>
          </a:p>
        </p:txBody>
      </p:sp>
      <p:sp>
        <p:nvSpPr>
          <p:cNvPr id="39" name="Text 36"/>
          <p:cNvSpPr txBox="1"/>
          <p:nvPr/>
        </p:nvSpPr>
        <p:spPr>
          <a:xfrm>
            <a:off x="8211312" y="4434840"/>
            <a:ext cx="2980944" cy="118872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النود الأقرب للـ BS من الـ CH يبعت للـ BS على طول.</a:t>
            </a:r>
            <a:endParaRPr lang="ar-EG" sz="1400" dirty="0"/>
          </a:p>
        </p:txBody>
      </p:sp>
      <p:sp>
        <p:nvSpPr>
          <p:cNvPr id="40" name="Shape 37"/>
          <p:cNvSpPr/>
          <p:nvPr/>
        </p:nvSpPr>
        <p:spPr>
          <a:xfrm>
            <a:off x="4416552" y="3703320"/>
            <a:ext cx="3383280" cy="2057400"/>
          </a:xfrm>
          <a:prstGeom prst="roundRect">
            <a:avLst>
              <a:gd name="adj" fmla="val 5333"/>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41" name="Shape 38"/>
          <p:cNvSpPr/>
          <p:nvPr/>
        </p:nvSpPr>
        <p:spPr>
          <a:xfrm>
            <a:off x="7141464" y="3886200"/>
            <a:ext cx="457200" cy="457200"/>
          </a:xfrm>
          <a:prstGeom prst="ellipse">
            <a:avLst/>
          </a:prstGeom>
          <a:solidFill>
            <a:srgbClr val="8A2522"/>
          </a:solidFill>
          <a:ln w="12700">
            <a:solidFill>
              <a:srgbClr val="8A2522"/>
            </a:solidFill>
            <a:prstDash val="solid"/>
          </a:ln>
        </p:spPr>
      </p:sp>
      <p:sp>
        <p:nvSpPr>
          <p:cNvPr id="42" name="Text 39"/>
          <p:cNvSpPr txBox="1"/>
          <p:nvPr/>
        </p:nvSpPr>
        <p:spPr>
          <a:xfrm>
            <a:off x="7141464" y="38862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I5</a:t>
            </a:r>
            <a:endParaRPr lang="en-US" sz="1300" dirty="0"/>
          </a:p>
        </p:txBody>
      </p:sp>
      <p:sp>
        <p:nvSpPr>
          <p:cNvPr id="43" name="Text 40"/>
          <p:cNvSpPr txBox="1"/>
          <p:nvPr/>
        </p:nvSpPr>
        <p:spPr>
          <a:xfrm>
            <a:off x="4599432" y="3840480"/>
            <a:ext cx="2423160" cy="548640"/>
          </a:xfrm>
          <a:prstGeom prst="rect">
            <a:avLst/>
          </a:prstGeom>
          <a:noFill/>
          <a:ln/>
        </p:spPr>
        <p:txBody>
          <a:bodyPr wrap="square" lIns="0" tIns="0" rIns="0" bIns="0" rtlCol="0" anchor="ctr"/>
          <a:lstStyle/>
          <a:p>
            <a:pPr rtl="1" algn="r" indent="0" marL="0">
              <a:buNone/>
            </a:pPr>
            <a:r>
              <a:rPr lang="ar-EG" altLang="en-US" sz="1450" b="1" dirty="0">
                <a:solidFill>
                  <a:srgbClr val="8A2522"/>
                </a:solidFill>
                <a:latin typeface="Arial" pitchFamily="34" charset="0"/>
                <a:ea typeface="Arial" pitchFamily="34" charset="-122"/>
                <a:cs typeface="Arial" pitchFamily="34" charset="-120"/>
              </a:rPr>
              <a:t>ترشيح الأقوياء</a:t>
            </a:r>
            <a:endParaRPr lang="ar-EG" sz="1450" dirty="0"/>
          </a:p>
        </p:txBody>
      </p:sp>
      <p:sp>
        <p:nvSpPr>
          <p:cNvPr id="44" name="Text 41"/>
          <p:cNvSpPr txBox="1"/>
          <p:nvPr/>
        </p:nvSpPr>
        <p:spPr>
          <a:xfrm>
            <a:off x="4617720" y="4434840"/>
            <a:ext cx="2980944" cy="118872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مايبقاش CH غير اللي طاقته ≥ المتوسط.</a:t>
            </a:r>
            <a:endParaRPr lang="ar-EG" sz="1400" dirty="0"/>
          </a:p>
        </p:txBody>
      </p:sp>
      <p:sp>
        <p:nvSpPr>
          <p:cNvPr id="45" name="Shape 42"/>
          <p:cNvSpPr/>
          <p:nvPr/>
        </p:nvSpPr>
        <p:spPr>
          <a:xfrm>
            <a:off x="822960" y="3703320"/>
            <a:ext cx="3383280" cy="2057400"/>
          </a:xfrm>
          <a:prstGeom prst="roundRect">
            <a:avLst>
              <a:gd name="adj" fmla="val 5333"/>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46" name="Shape 43"/>
          <p:cNvSpPr/>
          <p:nvPr/>
        </p:nvSpPr>
        <p:spPr>
          <a:xfrm>
            <a:off x="3547872" y="3886200"/>
            <a:ext cx="457200" cy="457200"/>
          </a:xfrm>
          <a:prstGeom prst="ellipse">
            <a:avLst/>
          </a:prstGeom>
          <a:solidFill>
            <a:srgbClr val="8A2522"/>
          </a:solidFill>
          <a:ln w="12700">
            <a:solidFill>
              <a:srgbClr val="8A2522"/>
            </a:solidFill>
            <a:prstDash val="solid"/>
          </a:ln>
        </p:spPr>
      </p:sp>
      <p:sp>
        <p:nvSpPr>
          <p:cNvPr id="47" name="Text 44"/>
          <p:cNvSpPr txBox="1"/>
          <p:nvPr/>
        </p:nvSpPr>
        <p:spPr>
          <a:xfrm>
            <a:off x="3547872" y="3886200"/>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fix</a:t>
            </a:r>
            <a:endParaRPr lang="en-US" sz="1000" dirty="0"/>
          </a:p>
        </p:txBody>
      </p:sp>
      <p:sp>
        <p:nvSpPr>
          <p:cNvPr id="48" name="Text 45"/>
          <p:cNvSpPr txBox="1"/>
          <p:nvPr/>
        </p:nvSpPr>
        <p:spPr>
          <a:xfrm>
            <a:off x="1005840" y="3840480"/>
            <a:ext cx="2423160" cy="548640"/>
          </a:xfrm>
          <a:prstGeom prst="rect">
            <a:avLst/>
          </a:prstGeom>
          <a:noFill/>
          <a:ln/>
        </p:spPr>
        <p:txBody>
          <a:bodyPr wrap="square" lIns="0" tIns="0" rIns="0" bIns="0" rtlCol="0" anchor="ctr"/>
          <a:lstStyle/>
          <a:p>
            <a:pPr rtl="1" algn="r" indent="0" marL="0">
              <a:buNone/>
            </a:pPr>
            <a:r>
              <a:rPr lang="ar-EG" altLang="en-US" sz="1450" b="1" dirty="0">
                <a:solidFill>
                  <a:srgbClr val="8A2522"/>
                </a:solidFill>
                <a:latin typeface="Arial" pitchFamily="34" charset="0"/>
                <a:ea typeface="Arial" pitchFamily="34" charset="-122"/>
                <a:cs typeface="Arial" pitchFamily="34" charset="-120"/>
              </a:rPr>
              <a:t>حد الطاقة النسبي</a:t>
            </a:r>
            <a:endParaRPr lang="ar-EG" sz="1450" dirty="0"/>
          </a:p>
        </p:txBody>
      </p:sp>
      <p:sp>
        <p:nvSpPr>
          <p:cNvPr id="49" name="Text 46"/>
          <p:cNvSpPr txBox="1"/>
          <p:nvPr/>
        </p:nvSpPr>
        <p:spPr>
          <a:xfrm>
            <a:off x="1024128" y="4434840"/>
            <a:ext cx="2980944" cy="118872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5% من متوسط الشبكة، مش من E0 ← النائب رجع يشتغل.</a:t>
            </a:r>
            <a:endParaRPr lang="ar-EG"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حماية الـ CH</a:t>
            </a:r>
            <a:pPr algn="r" indent="0" marL="0">
              <a:buNone/>
            </a:pPr>
            <a:r>
              <a:rPr lang="ar-EG" altLang="en-US" sz="2100" dirty="0">
                <a:solidFill>
                  <a:srgbClr val="8A2522"/>
                </a:solidFill>
                <a:latin typeface="Arial" pitchFamily="34" charset="0"/>
                <a:ea typeface="Arial" pitchFamily="34" charset="-122"/>
                <a:cs typeface="Arial" pitchFamily="34" charset="-120"/>
              </a:rPr>
              <a:t>  –  قبل الموت وبعده</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44</a:t>
            </a:r>
            <a:endParaRPr lang="en-US" sz="1000" dirty="0"/>
          </a:p>
        </p:txBody>
      </p:sp>
      <p:sp>
        <p:nvSpPr>
          <p:cNvPr id="20" name="Shape 17"/>
          <p:cNvSpPr/>
          <p:nvPr/>
        </p:nvSpPr>
        <p:spPr>
          <a:xfrm>
            <a:off x="6263640" y="1463040"/>
            <a:ext cx="5166360" cy="3017520"/>
          </a:xfrm>
          <a:prstGeom prst="roundRect">
            <a:avLst>
              <a:gd name="adj" fmla="val 3636"/>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1" name="Shape 18"/>
          <p:cNvSpPr/>
          <p:nvPr/>
        </p:nvSpPr>
        <p:spPr>
          <a:xfrm>
            <a:off x="10771632" y="1645920"/>
            <a:ext cx="457200" cy="457200"/>
          </a:xfrm>
          <a:prstGeom prst="ellipse">
            <a:avLst/>
          </a:prstGeom>
          <a:solidFill>
            <a:srgbClr val="8A2522"/>
          </a:solidFill>
          <a:ln w="12700">
            <a:solidFill>
              <a:srgbClr val="8A2522"/>
            </a:solidFill>
            <a:prstDash val="solid"/>
          </a:ln>
        </p:spPr>
      </p:sp>
      <p:sp>
        <p:nvSpPr>
          <p:cNvPr id="22" name="Text 19"/>
          <p:cNvSpPr txBox="1"/>
          <p:nvPr/>
        </p:nvSpPr>
        <p:spPr>
          <a:xfrm>
            <a:off x="10771632" y="16459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23" name="Text 20"/>
          <p:cNvSpPr txBox="1"/>
          <p:nvPr/>
        </p:nvSpPr>
        <p:spPr>
          <a:xfrm>
            <a:off x="6446520" y="1600200"/>
            <a:ext cx="4206240"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الوقاية (جديد، I2)</a:t>
            </a:r>
            <a:endParaRPr lang="ar-EG" sz="1500" dirty="0"/>
          </a:p>
        </p:txBody>
      </p:sp>
      <p:sp>
        <p:nvSpPr>
          <p:cNvPr id="24" name="Text 21"/>
          <p:cNvSpPr txBox="1"/>
          <p:nvPr/>
        </p:nvSpPr>
        <p:spPr>
          <a:xfrm>
            <a:off x="6464808" y="2194560"/>
            <a:ext cx="4764024" cy="214884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قبل الإرسال الـ CH بيقارن طاقته بشغل الـ round:</a:t>
            </a:r>
            <a:endParaRPr lang="ar-EG" sz="1400" dirty="0"/>
          </a:p>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الأعضاء × (استقبال + تجميع) + إرسال.</a:t>
            </a:r>
            <a:endParaRPr lang="ar-EG" sz="1400" dirty="0"/>
          </a:p>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لو مش هيقدر يكمّل، يسلّم لأقوى عضو وهو لسه عايش — مفيش رسايل بتضيع.</a:t>
            </a:r>
            <a:endParaRPr lang="ar-EG" sz="1400" dirty="0"/>
          </a:p>
        </p:txBody>
      </p:sp>
      <p:sp>
        <p:nvSpPr>
          <p:cNvPr id="25" name="Shape 22"/>
          <p:cNvSpPr/>
          <p:nvPr/>
        </p:nvSpPr>
        <p:spPr>
          <a:xfrm>
            <a:off x="822960" y="1463040"/>
            <a:ext cx="5166360" cy="3017520"/>
          </a:xfrm>
          <a:prstGeom prst="roundRect">
            <a:avLst>
              <a:gd name="adj" fmla="val 3636"/>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6" name="Shape 23"/>
          <p:cNvSpPr/>
          <p:nvPr/>
        </p:nvSpPr>
        <p:spPr>
          <a:xfrm>
            <a:off x="5330952" y="1645920"/>
            <a:ext cx="457200" cy="457200"/>
          </a:xfrm>
          <a:prstGeom prst="ellipse">
            <a:avLst/>
          </a:prstGeom>
          <a:solidFill>
            <a:srgbClr val="8A2522"/>
          </a:solidFill>
          <a:ln w="12700">
            <a:solidFill>
              <a:srgbClr val="8A2522"/>
            </a:solidFill>
            <a:prstDash val="solid"/>
          </a:ln>
        </p:spPr>
      </p:sp>
      <p:sp>
        <p:nvSpPr>
          <p:cNvPr id="27" name="Text 24"/>
          <p:cNvSpPr txBox="1"/>
          <p:nvPr/>
        </p:nvSpPr>
        <p:spPr>
          <a:xfrm>
            <a:off x="5330952" y="16459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28" name="Text 25"/>
          <p:cNvSpPr txBox="1"/>
          <p:nvPr/>
        </p:nvSpPr>
        <p:spPr>
          <a:xfrm>
            <a:off x="1005840" y="1600200"/>
            <a:ext cx="4206240"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العلاج (v5، اتصلّح)</a:t>
            </a:r>
            <a:endParaRPr lang="ar-EG" sz="1500" dirty="0"/>
          </a:p>
        </p:txBody>
      </p:sp>
      <p:sp>
        <p:nvSpPr>
          <p:cNvPr id="29" name="Text 26"/>
          <p:cNvSpPr txBox="1"/>
          <p:nvPr/>
        </p:nvSpPr>
        <p:spPr>
          <a:xfrm>
            <a:off x="1024128" y="2194560"/>
            <a:ext cx="4764024" cy="214884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لو الـ CH مات فجأة برغم كده، النائب يترقّى والأعضاء يتنقلوا في نفس الـ round. الحد النسبي خلّى ده يشتغل في آخر الشبكة.</a:t>
            </a:r>
            <a:endParaRPr lang="ar-EG" sz="1400" dirty="0"/>
          </a:p>
        </p:txBody>
      </p:sp>
      <p:sp>
        <p:nvSpPr>
          <p:cNvPr id="30" name="Text 27"/>
          <p:cNvSpPr txBox="1"/>
          <p:nvPr/>
        </p:nvSpPr>
        <p:spPr>
          <a:xfrm>
            <a:off x="6263640" y="4754880"/>
            <a:ext cx="4846320" cy="731520"/>
          </a:xfrm>
          <a:prstGeom prst="rect">
            <a:avLst/>
          </a:prstGeom>
          <a:noFill/>
          <a:ln/>
        </p:spPr>
        <p:txBody>
          <a:bodyPr wrap="square" lIns="0" tIns="0" rIns="0" bIns="0" rtlCol="0" anchor="ctr"/>
          <a:lstStyle/>
          <a:p>
            <a:pPr algn="r" indent="0" marL="0">
              <a:buNone/>
            </a:pPr>
            <a:r>
              <a:rPr lang="en-US" sz="4000" b="1" dirty="0">
                <a:solidFill>
                  <a:srgbClr val="8A2522"/>
                </a:solidFill>
                <a:latin typeface="Arial" pitchFamily="34" charset="0"/>
                <a:ea typeface="Arial" pitchFamily="34" charset="-122"/>
                <a:cs typeface="Arial" pitchFamily="34" charset="-120"/>
              </a:rPr>
              <a:t>26</a:t>
            </a:r>
            <a:endParaRPr lang="en-US" sz="4000" dirty="0"/>
          </a:p>
        </p:txBody>
      </p:sp>
      <p:sp>
        <p:nvSpPr>
          <p:cNvPr id="31" name="Text 28"/>
          <p:cNvSpPr txBox="1"/>
          <p:nvPr/>
        </p:nvSpPr>
        <p:spPr>
          <a:xfrm>
            <a:off x="6263640" y="5486400"/>
            <a:ext cx="4846320" cy="548640"/>
          </a:xfrm>
          <a:prstGeom prst="rect">
            <a:avLst/>
          </a:prstGeom>
          <a:noFill/>
          <a:ln/>
        </p:spPr>
        <p:txBody>
          <a:bodyPr wrap="square" lIns="0" tIns="0" rIns="0" bIns="0" rtlCol="0" anchor="t"/>
          <a:lstStyle/>
          <a:p>
            <a:pPr rtl="1" algn="r" indent="0" marL="0">
              <a:buNone/>
            </a:pPr>
            <a:r>
              <a:rPr lang="ar-EG" altLang="en-US" sz="1350" dirty="0">
                <a:solidFill>
                  <a:srgbClr val="6B6B6B"/>
                </a:solidFill>
                <a:latin typeface="Arial" pitchFamily="34" charset="0"/>
                <a:ea typeface="Arial" pitchFamily="34" charset="-122"/>
                <a:cs typeface="Arial" pitchFamily="34" charset="-120"/>
              </a:rPr>
              <a:t>مرة تسليم استباقي (الـ BS في النص)</a:t>
            </a:r>
            <a:endParaRPr lang="ar-EG" sz="1350" dirty="0"/>
          </a:p>
        </p:txBody>
      </p:sp>
      <p:sp>
        <p:nvSpPr>
          <p:cNvPr id="32" name="Text 29"/>
          <p:cNvSpPr txBox="1"/>
          <p:nvPr/>
        </p:nvSpPr>
        <p:spPr>
          <a:xfrm>
            <a:off x="822960" y="4754880"/>
            <a:ext cx="4846320" cy="731520"/>
          </a:xfrm>
          <a:prstGeom prst="rect">
            <a:avLst/>
          </a:prstGeom>
          <a:noFill/>
          <a:ln/>
        </p:spPr>
        <p:txBody>
          <a:bodyPr wrap="square" lIns="0" tIns="0" rIns="0" bIns="0" rtlCol="0" anchor="ctr"/>
          <a:lstStyle/>
          <a:p>
            <a:pPr algn="r" indent="0" marL="0">
              <a:buNone/>
            </a:pPr>
            <a:r>
              <a:rPr lang="en-US" sz="4000" b="1" dirty="0">
                <a:solidFill>
                  <a:srgbClr val="8A2522"/>
                </a:solidFill>
                <a:latin typeface="Arial" pitchFamily="34" charset="0"/>
                <a:ea typeface="Arial" pitchFamily="34" charset="-122"/>
                <a:cs typeface="Arial" pitchFamily="34" charset="-120"/>
              </a:rPr>
              <a:t>18 / 11</a:t>
            </a:r>
            <a:endParaRPr lang="en-US" sz="4000" dirty="0"/>
          </a:p>
        </p:txBody>
      </p:sp>
      <p:sp>
        <p:nvSpPr>
          <p:cNvPr id="33" name="Text 30"/>
          <p:cNvSpPr txBox="1"/>
          <p:nvPr/>
        </p:nvSpPr>
        <p:spPr>
          <a:xfrm>
            <a:off x="822960" y="5486400"/>
            <a:ext cx="4846320" cy="548640"/>
          </a:xfrm>
          <a:prstGeom prst="rect">
            <a:avLst/>
          </a:prstGeom>
          <a:noFill/>
          <a:ln/>
        </p:spPr>
        <p:txBody>
          <a:bodyPr wrap="square" lIns="0" tIns="0" rIns="0" bIns="0" rtlCol="0" anchor="t"/>
          <a:lstStyle/>
          <a:p>
            <a:pPr rtl="1" algn="r" indent="0" marL="0">
              <a:buNone/>
            </a:pPr>
            <a:r>
              <a:rPr lang="ar-EG" altLang="en-US" sz="1350" dirty="0">
                <a:solidFill>
                  <a:srgbClr val="6B6B6B"/>
                </a:solidFill>
                <a:latin typeface="Arial" pitchFamily="34" charset="0"/>
                <a:ea typeface="Arial" pitchFamily="34" charset="-122"/>
                <a:cs typeface="Arial" pitchFamily="34" charset="-120"/>
              </a:rPr>
              <a:t>ترقية نائب نجحت / اترفضت</a:t>
            </a:r>
            <a:endParaRPr lang="ar-EG" sz="13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v8-Chain: التوجيه الذكي</a:t>
            </a:r>
            <a:pPr algn="r" indent="0" marL="0">
              <a:buNone/>
            </a:pPr>
            <a:r>
              <a:rPr lang="ar-EG" altLang="en-US" sz="2100" dirty="0">
                <a:solidFill>
                  <a:srgbClr val="8A2522"/>
                </a:solidFill>
                <a:latin typeface="Arial" pitchFamily="34" charset="0"/>
                <a:ea typeface="Arial" pitchFamily="34" charset="-122"/>
                <a:cs typeface="Arial" pitchFamily="34" charset="-120"/>
              </a:rPr>
              <a:t>  –  وصّل بس لما يوفّر</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45</a:t>
            </a:r>
            <a:endParaRPr lang="en-US" sz="1000" dirty="0"/>
          </a:p>
        </p:txBody>
      </p:sp>
      <p:sp>
        <p:nvSpPr>
          <p:cNvPr id="20" name="Shape 17"/>
          <p:cNvSpPr/>
          <p:nvPr/>
        </p:nvSpPr>
        <p:spPr>
          <a:xfrm>
            <a:off x="822960" y="1463040"/>
            <a:ext cx="10607040" cy="1188720"/>
          </a:xfrm>
          <a:prstGeom prst="roundRect">
            <a:avLst>
              <a:gd name="adj" fmla="val 9231"/>
            </a:avLst>
          </a:prstGeom>
          <a:solidFill>
            <a:srgbClr val="FFFFFF"/>
          </a:solidFill>
          <a:ln w="12700">
            <a:solidFill>
              <a:srgbClr val="D6D3C7"/>
            </a:solidFill>
            <a:prstDash val="solid"/>
          </a:ln>
        </p:spPr>
      </p:sp>
      <p:sp>
        <p:nvSpPr>
          <p:cNvPr id="21" name="Text 18"/>
          <p:cNvSpPr txBox="1"/>
          <p:nvPr/>
        </p:nvSpPr>
        <p:spPr>
          <a:xfrm>
            <a:off x="1005840" y="1463040"/>
            <a:ext cx="10241280" cy="1188720"/>
          </a:xfrm>
          <a:prstGeom prst="rect">
            <a:avLst/>
          </a:prstGeom>
          <a:noFill/>
          <a:ln/>
        </p:spPr>
        <p:txBody>
          <a:bodyPr wrap="square" lIns="0" tIns="0" rIns="0" bIns="0" rtlCol="0" anchor="ctr"/>
          <a:lstStyle/>
          <a:p>
            <a:pPr algn="ctr" indent="0" marL="0">
              <a:buNone/>
            </a:pPr>
            <a:r>
              <a:rPr lang="en-US" sz="2000" b="1" dirty="0">
                <a:solidFill>
                  <a:srgbClr val="8A2522"/>
                </a:solidFill>
                <a:latin typeface="Courier New" pitchFamily="34" charset="0"/>
                <a:ea typeface="Courier New" pitchFamily="34" charset="-122"/>
                <a:cs typeface="Courier New" pitchFamily="34" charset="-120"/>
              </a:rPr>
              <a:t>relay via CHj  if   Tx(CH → CHj) + Rx + Agg at CHj  &lt;  Tx(CH → BS)</a:t>
            </a:r>
            <a:endParaRPr lang="en-US" sz="2000" dirty="0"/>
          </a:p>
        </p:txBody>
      </p:sp>
      <p:sp>
        <p:nvSpPr>
          <p:cNvPr id="22" name="Shape 19"/>
          <p:cNvSpPr/>
          <p:nvPr/>
        </p:nvSpPr>
        <p:spPr>
          <a:xfrm>
            <a:off x="6263640" y="2926080"/>
            <a:ext cx="5166360" cy="2926080"/>
          </a:xfrm>
          <a:prstGeom prst="roundRect">
            <a:avLst>
              <a:gd name="adj" fmla="val 3750"/>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3" name="Shape 20"/>
          <p:cNvSpPr/>
          <p:nvPr/>
        </p:nvSpPr>
        <p:spPr>
          <a:xfrm>
            <a:off x="10771632" y="3108960"/>
            <a:ext cx="457200" cy="457200"/>
          </a:xfrm>
          <a:prstGeom prst="ellipse">
            <a:avLst/>
          </a:prstGeom>
          <a:solidFill>
            <a:srgbClr val="8A2522"/>
          </a:solidFill>
          <a:ln w="12700">
            <a:solidFill>
              <a:srgbClr val="8A2522"/>
            </a:solidFill>
            <a:prstDash val="solid"/>
          </a:ln>
        </p:spPr>
      </p:sp>
      <p:sp>
        <p:nvSpPr>
          <p:cNvPr id="24" name="Text 21"/>
          <p:cNvSpPr txBox="1"/>
          <p:nvPr/>
        </p:nvSpPr>
        <p:spPr>
          <a:xfrm>
            <a:off x="10771632" y="3108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ن</a:t>
            </a:r>
            <a:endParaRPr lang="en-US" sz="1400" dirty="0"/>
          </a:p>
        </p:txBody>
      </p:sp>
      <p:sp>
        <p:nvSpPr>
          <p:cNvPr id="25" name="Text 22"/>
          <p:cNvSpPr txBox="1"/>
          <p:nvPr/>
        </p:nvSpPr>
        <p:spPr>
          <a:xfrm>
            <a:off x="6446520" y="3063240"/>
            <a:ext cx="4206240"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الـ BS في النص</a:t>
            </a:r>
            <a:endParaRPr lang="ar-EG" sz="1500" dirty="0"/>
          </a:p>
        </p:txBody>
      </p:sp>
      <p:sp>
        <p:nvSpPr>
          <p:cNvPr id="26" name="Text 23"/>
          <p:cNvSpPr txBox="1"/>
          <p:nvPr/>
        </p:nvSpPr>
        <p:spPr>
          <a:xfrm>
            <a:off x="6464808" y="3657600"/>
            <a:ext cx="4764024" cy="2057400"/>
          </a:xfrm>
          <a:prstGeom prst="rect">
            <a:avLst/>
          </a:prstGeom>
          <a:noFill/>
          <a:ln/>
        </p:spPr>
        <p:txBody>
          <a:bodyPr wrap="square" lIns="0" tIns="0" rIns="0" bIns="0" rtlCol="0" anchor="t"/>
          <a:lstStyle/>
          <a:p>
            <a:pPr rtl="1" algn="r" indent="0" marL="0">
              <a:spcAft>
                <a:spcPts val="400"/>
              </a:spcAft>
              <a:buNone/>
            </a:pPr>
            <a:r>
              <a:rPr lang="ar-EG" altLang="en-US" sz="1500" dirty="0">
                <a:solidFill>
                  <a:srgbClr val="323232"/>
                </a:solidFill>
                <a:latin typeface="Arial" pitchFamily="34" charset="0"/>
                <a:ea typeface="Arial" pitchFamily="34" charset="-122"/>
                <a:cs typeface="Arial" pitchFamily="34" charset="-120"/>
              </a:rPr>
              <a:t>كل CH على بعد ≤ 50 م تقريبًا من الـ BS (منطقة d²). التوصيل عمره ما بيوفّر ← 0 مرات توصيل ← نفس v8 بالظبط.</a:t>
            </a:r>
            <a:endParaRPr lang="ar-EG" sz="1500" dirty="0"/>
          </a:p>
        </p:txBody>
      </p:sp>
      <p:sp>
        <p:nvSpPr>
          <p:cNvPr id="27" name="Shape 24"/>
          <p:cNvSpPr/>
          <p:nvPr/>
        </p:nvSpPr>
        <p:spPr>
          <a:xfrm>
            <a:off x="822960" y="2926080"/>
            <a:ext cx="5166360" cy="2926080"/>
          </a:xfrm>
          <a:prstGeom prst="roundRect">
            <a:avLst>
              <a:gd name="adj" fmla="val 3750"/>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8" name="Shape 25"/>
          <p:cNvSpPr/>
          <p:nvPr/>
        </p:nvSpPr>
        <p:spPr>
          <a:xfrm>
            <a:off x="5330952" y="3108960"/>
            <a:ext cx="457200" cy="457200"/>
          </a:xfrm>
          <a:prstGeom prst="ellipse">
            <a:avLst/>
          </a:prstGeom>
          <a:solidFill>
            <a:srgbClr val="8A2522"/>
          </a:solidFill>
          <a:ln w="12700">
            <a:solidFill>
              <a:srgbClr val="8A2522"/>
            </a:solidFill>
            <a:prstDash val="solid"/>
          </a:ln>
        </p:spPr>
      </p:sp>
      <p:sp>
        <p:nvSpPr>
          <p:cNvPr id="29" name="Text 26"/>
          <p:cNvSpPr txBox="1"/>
          <p:nvPr/>
        </p:nvSpPr>
        <p:spPr>
          <a:xfrm>
            <a:off x="5330952" y="3108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ب</a:t>
            </a:r>
            <a:endParaRPr lang="en-US" sz="1400" dirty="0"/>
          </a:p>
        </p:txBody>
      </p:sp>
      <p:sp>
        <p:nvSpPr>
          <p:cNvPr id="30" name="Text 27"/>
          <p:cNvSpPr txBox="1"/>
          <p:nvPr/>
        </p:nvSpPr>
        <p:spPr>
          <a:xfrm>
            <a:off x="1005840" y="3063240"/>
            <a:ext cx="4206240"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الـ BS بعيد (50, −100)</a:t>
            </a:r>
            <a:endParaRPr lang="ar-EG" sz="1500" dirty="0"/>
          </a:p>
        </p:txBody>
      </p:sp>
      <p:sp>
        <p:nvSpPr>
          <p:cNvPr id="31" name="Text 28"/>
          <p:cNvSpPr txBox="1"/>
          <p:nvPr/>
        </p:nvSpPr>
        <p:spPr>
          <a:xfrm>
            <a:off x="1024128" y="3657600"/>
            <a:ext cx="4764024" cy="2057400"/>
          </a:xfrm>
          <a:prstGeom prst="rect">
            <a:avLst/>
          </a:prstGeom>
          <a:noFill/>
          <a:ln/>
        </p:spPr>
        <p:txBody>
          <a:bodyPr wrap="square" lIns="0" tIns="0" rIns="0" bIns="0" rtlCol="0" anchor="t"/>
          <a:lstStyle/>
          <a:p>
            <a:pPr rtl="1" algn="r" indent="0" marL="0">
              <a:spcAft>
                <a:spcPts val="400"/>
              </a:spcAft>
              <a:buNone/>
            </a:pPr>
            <a:r>
              <a:rPr lang="ar-EG" altLang="en-US" sz="1500" dirty="0">
                <a:solidFill>
                  <a:srgbClr val="323232"/>
                </a:solidFill>
                <a:latin typeface="Arial" pitchFamily="34" charset="0"/>
                <a:ea typeface="Arial" pitchFamily="34" charset="-122"/>
                <a:cs typeface="Arial" pitchFamily="34" charset="-120"/>
              </a:rPr>
              <a:t>المسافة من الـ CH للـ BS 100–200 م (منطقة d⁴). القفزات القصيرة أرخص بكتير ← الـ CHs بتعمل سلسلة لوحدها (4,710 توصيلة). المسار بيتحسب كل round، فالـ CH الجديد بياخد مكان اللي قبله.</a:t>
            </a:r>
            <a:endParaRPr lang="ar-EG"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v8-Chain</a:t>
            </a:r>
            <a:pPr algn="r" indent="0" marL="0">
              <a:buNone/>
            </a:pPr>
            <a:r>
              <a:rPr lang="ar-EG" altLang="en-US" sz="2100" dirty="0">
                <a:solidFill>
                  <a:srgbClr val="8A2522"/>
                </a:solidFill>
                <a:latin typeface="Arial" pitchFamily="34" charset="0"/>
                <a:ea typeface="Arial" pitchFamily="34" charset="-122"/>
                <a:cs typeface="Arial" pitchFamily="34" charset="-120"/>
              </a:rPr>
              <a:t>  –  خطوات البروتوكول</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46</a:t>
            </a:r>
            <a:endParaRPr lang="en-US" sz="1000" dirty="0"/>
          </a:p>
        </p:txBody>
      </p:sp>
      <p:pic>
        <p:nvPicPr>
          <p:cNvPr id="20" name="Image 0" descr="img/v8_chain_flowchart_slide.png">    </p:cNvPr>
          <p:cNvPicPr>
            <a:picLocks noChangeAspect="1"/>
          </p:cNvPicPr>
          <p:nvPr/>
        </p:nvPicPr>
        <p:blipFill>
          <a:blip r:embed="rId1"/>
          <a:stretch>
            <a:fillRect/>
          </a:stretch>
        </p:blipFill>
        <p:spPr>
          <a:xfrm>
            <a:off x="3390219" y="1188720"/>
            <a:ext cx="5381082" cy="498348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v8-Chain</a:t>
            </a:r>
            <a:pPr algn="r" indent="0" marL="0">
              <a:buNone/>
            </a:pPr>
            <a:r>
              <a:rPr lang="ar-EG" altLang="en-US" sz="2100" dirty="0">
                <a:solidFill>
                  <a:srgbClr val="8A2522"/>
                </a:solidFill>
                <a:latin typeface="Arial" pitchFamily="34" charset="0"/>
                <a:ea typeface="Arial" pitchFamily="34" charset="-122"/>
                <a:cs typeface="Arial" pitchFamily="34" charset="-120"/>
              </a:rPr>
              <a:t>  –  شكل الشبكة في أول round</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47</a:t>
            </a:r>
            <a:endParaRPr lang="en-US" sz="1000" dirty="0"/>
          </a:p>
        </p:txBody>
      </p:sp>
      <p:pic>
        <p:nvPicPr>
          <p:cNvPr id="20" name="Image 0" descr="img/v8_chain_topology.png">    </p:cNvPr>
          <p:cNvPicPr>
            <a:picLocks noChangeAspect="1"/>
          </p:cNvPicPr>
          <p:nvPr/>
        </p:nvPicPr>
        <p:blipFill>
          <a:blip r:embed="rId1"/>
          <a:stretch>
            <a:fillRect/>
          </a:stretch>
        </p:blipFill>
        <p:spPr>
          <a:xfrm>
            <a:off x="1475902" y="1188720"/>
            <a:ext cx="9209717" cy="498348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8A2522"/>
          </a:solidFill>
          <a:ln w="12700">
            <a:solidFill>
              <a:srgbClr val="8A2522"/>
            </a:solidFill>
            <a:prstDash val="solid"/>
          </a:ln>
        </p:spPr>
      </p:sp>
      <p:sp>
        <p:nvSpPr>
          <p:cNvPr id="3" name="Shape 1"/>
          <p:cNvSpPr/>
          <p:nvPr/>
        </p:nvSpPr>
        <p:spPr>
          <a:xfrm flipV="1">
            <a:off x="2455164" y="336042"/>
            <a:ext cx="1110996" cy="555498"/>
          </a:xfrm>
          <a:prstGeom prst="line">
            <a:avLst/>
          </a:prstGeom>
          <a:noFill/>
          <a:ln w="11430">
            <a:solidFill>
              <a:srgbClr val="E7C9C6"/>
            </a:solidFill>
            <a:prstDash val="solid"/>
          </a:ln>
        </p:spPr>
      </p:sp>
      <p:sp>
        <p:nvSpPr>
          <p:cNvPr id="4" name="Shape 2"/>
          <p:cNvSpPr/>
          <p:nvPr/>
        </p:nvSpPr>
        <p:spPr>
          <a:xfrm>
            <a:off x="1344168" y="459486"/>
            <a:ext cx="1110996" cy="432054"/>
          </a:xfrm>
          <a:prstGeom prst="line">
            <a:avLst/>
          </a:prstGeom>
          <a:noFill/>
          <a:ln w="11430">
            <a:solidFill>
              <a:srgbClr val="E7C9C6"/>
            </a:solidFill>
            <a:prstDash val="solid"/>
          </a:ln>
        </p:spPr>
      </p:sp>
      <p:sp>
        <p:nvSpPr>
          <p:cNvPr id="5" name="Shape 3"/>
          <p:cNvSpPr/>
          <p:nvPr/>
        </p:nvSpPr>
        <p:spPr>
          <a:xfrm flipV="1">
            <a:off x="418338" y="459486"/>
            <a:ext cx="925830" cy="864108"/>
          </a:xfrm>
          <a:prstGeom prst="line">
            <a:avLst/>
          </a:prstGeom>
          <a:noFill/>
          <a:ln w="11430">
            <a:solidFill>
              <a:srgbClr val="E7C9C6"/>
            </a:solidFill>
            <a:prstDash val="solid"/>
          </a:ln>
        </p:spPr>
      </p:sp>
      <p:sp>
        <p:nvSpPr>
          <p:cNvPr id="6" name="Shape 4"/>
          <p:cNvSpPr/>
          <p:nvPr/>
        </p:nvSpPr>
        <p:spPr>
          <a:xfrm flipV="1">
            <a:off x="1899666" y="891540"/>
            <a:ext cx="555498" cy="925830"/>
          </a:xfrm>
          <a:prstGeom prst="line">
            <a:avLst/>
          </a:prstGeom>
          <a:noFill/>
          <a:ln w="11430">
            <a:solidFill>
              <a:srgbClr val="E7C9C6"/>
            </a:solidFill>
            <a:prstDash val="solid"/>
          </a:ln>
        </p:spPr>
      </p:sp>
      <p:sp>
        <p:nvSpPr>
          <p:cNvPr id="7" name="Shape 5"/>
          <p:cNvSpPr/>
          <p:nvPr/>
        </p:nvSpPr>
        <p:spPr>
          <a:xfrm>
            <a:off x="418338" y="1323594"/>
            <a:ext cx="1481328" cy="493776"/>
          </a:xfrm>
          <a:prstGeom prst="line">
            <a:avLst/>
          </a:prstGeom>
          <a:noFill/>
          <a:ln w="11430">
            <a:solidFill>
              <a:srgbClr val="E7C9C6"/>
            </a:solidFill>
            <a:prstDash val="solid"/>
          </a:ln>
        </p:spPr>
      </p:sp>
      <p:sp>
        <p:nvSpPr>
          <p:cNvPr id="8" name="Shape 6"/>
          <p:cNvSpPr/>
          <p:nvPr/>
        </p:nvSpPr>
        <p:spPr>
          <a:xfrm flipV="1">
            <a:off x="726948" y="1817370"/>
            <a:ext cx="1172718" cy="555498"/>
          </a:xfrm>
          <a:prstGeom prst="line">
            <a:avLst/>
          </a:prstGeom>
          <a:noFill/>
          <a:ln w="11430">
            <a:solidFill>
              <a:srgbClr val="E7C9C6"/>
            </a:solidFill>
            <a:prstDash val="solid"/>
          </a:ln>
        </p:spPr>
      </p:sp>
      <p:sp>
        <p:nvSpPr>
          <p:cNvPr id="9" name="Shape 7"/>
          <p:cNvSpPr/>
          <p:nvPr/>
        </p:nvSpPr>
        <p:spPr>
          <a:xfrm>
            <a:off x="418338" y="1323594"/>
            <a:ext cx="308610" cy="1049274"/>
          </a:xfrm>
          <a:prstGeom prst="line">
            <a:avLst/>
          </a:prstGeom>
          <a:noFill/>
          <a:ln w="11430">
            <a:solidFill>
              <a:srgbClr val="E7C9C6"/>
            </a:solidFill>
            <a:prstDash val="solid"/>
          </a:ln>
        </p:spPr>
      </p:sp>
      <p:sp>
        <p:nvSpPr>
          <p:cNvPr id="10" name="Shape 8"/>
          <p:cNvSpPr/>
          <p:nvPr/>
        </p:nvSpPr>
        <p:spPr>
          <a:xfrm>
            <a:off x="2455164" y="891540"/>
            <a:ext cx="308610" cy="678942"/>
          </a:xfrm>
          <a:prstGeom prst="line">
            <a:avLst/>
          </a:prstGeom>
          <a:noFill/>
          <a:ln w="11430">
            <a:solidFill>
              <a:srgbClr val="E7C9C6"/>
            </a:solidFill>
            <a:prstDash val="solid"/>
          </a:ln>
        </p:spPr>
      </p:sp>
      <p:sp>
        <p:nvSpPr>
          <p:cNvPr id="11" name="Shape 9"/>
          <p:cNvSpPr/>
          <p:nvPr/>
        </p:nvSpPr>
        <p:spPr>
          <a:xfrm flipV="1">
            <a:off x="1899666" y="1570482"/>
            <a:ext cx="864108" cy="246888"/>
          </a:xfrm>
          <a:prstGeom prst="line">
            <a:avLst/>
          </a:prstGeom>
          <a:noFill/>
          <a:ln w="11430">
            <a:solidFill>
              <a:srgbClr val="E7C9C6"/>
            </a:solidFill>
            <a:prstDash val="solid"/>
          </a:ln>
        </p:spPr>
      </p:sp>
      <p:sp>
        <p:nvSpPr>
          <p:cNvPr id="12" name="Shape 10"/>
          <p:cNvSpPr/>
          <p:nvPr/>
        </p:nvSpPr>
        <p:spPr>
          <a:xfrm flipV="1">
            <a:off x="233172" y="459486"/>
            <a:ext cx="1110996" cy="61722"/>
          </a:xfrm>
          <a:prstGeom prst="line">
            <a:avLst/>
          </a:prstGeom>
          <a:noFill/>
          <a:ln w="11430">
            <a:solidFill>
              <a:srgbClr val="E7C9C6"/>
            </a:solidFill>
            <a:prstDash val="solid"/>
          </a:ln>
        </p:spPr>
      </p:sp>
      <p:sp>
        <p:nvSpPr>
          <p:cNvPr id="13" name="Shape 11"/>
          <p:cNvSpPr/>
          <p:nvPr/>
        </p:nvSpPr>
        <p:spPr>
          <a:xfrm>
            <a:off x="233172" y="521208"/>
            <a:ext cx="185166" cy="802386"/>
          </a:xfrm>
          <a:prstGeom prst="line">
            <a:avLst/>
          </a:prstGeom>
          <a:noFill/>
          <a:ln w="11430">
            <a:solidFill>
              <a:srgbClr val="E7C9C6"/>
            </a:solidFill>
            <a:prstDash val="solid"/>
          </a:ln>
        </p:spPr>
      </p:sp>
      <p:sp>
        <p:nvSpPr>
          <p:cNvPr id="14" name="Shape 12"/>
          <p:cNvSpPr/>
          <p:nvPr/>
        </p:nvSpPr>
        <p:spPr>
          <a:xfrm>
            <a:off x="726948" y="2372868"/>
            <a:ext cx="493776" cy="678942"/>
          </a:xfrm>
          <a:prstGeom prst="line">
            <a:avLst/>
          </a:prstGeom>
          <a:noFill/>
          <a:ln w="11430">
            <a:solidFill>
              <a:srgbClr val="E7C9C6"/>
            </a:solidFill>
            <a:prstDash val="solid"/>
          </a:ln>
        </p:spPr>
      </p:sp>
      <p:sp>
        <p:nvSpPr>
          <p:cNvPr id="15" name="Shape 13"/>
          <p:cNvSpPr/>
          <p:nvPr/>
        </p:nvSpPr>
        <p:spPr>
          <a:xfrm flipV="1">
            <a:off x="171450" y="3051810"/>
            <a:ext cx="1049274" cy="432054"/>
          </a:xfrm>
          <a:prstGeom prst="line">
            <a:avLst/>
          </a:prstGeom>
          <a:noFill/>
          <a:ln w="11430">
            <a:solidFill>
              <a:srgbClr val="E7C9C6"/>
            </a:solidFill>
            <a:prstDash val="solid"/>
          </a:ln>
        </p:spPr>
      </p:sp>
      <p:sp>
        <p:nvSpPr>
          <p:cNvPr id="16" name="Shape 14"/>
          <p:cNvSpPr/>
          <p:nvPr/>
        </p:nvSpPr>
        <p:spPr>
          <a:xfrm flipV="1">
            <a:off x="171450" y="2372868"/>
            <a:ext cx="555498" cy="1110996"/>
          </a:xfrm>
          <a:prstGeom prst="line">
            <a:avLst/>
          </a:prstGeom>
          <a:noFill/>
          <a:ln w="11430">
            <a:solidFill>
              <a:srgbClr val="E7C9C6"/>
            </a:solidFill>
            <a:prstDash val="solid"/>
          </a:ln>
        </p:spPr>
      </p:sp>
      <p:sp>
        <p:nvSpPr>
          <p:cNvPr id="17" name="Shape 15"/>
          <p:cNvSpPr/>
          <p:nvPr/>
        </p:nvSpPr>
        <p:spPr>
          <a:xfrm flipV="1">
            <a:off x="1220724" y="1817370"/>
            <a:ext cx="678942" cy="1234440"/>
          </a:xfrm>
          <a:prstGeom prst="line">
            <a:avLst/>
          </a:prstGeom>
          <a:noFill/>
          <a:ln w="11430">
            <a:solidFill>
              <a:srgbClr val="E7C9C6"/>
            </a:solidFill>
            <a:prstDash val="solid"/>
          </a:ln>
        </p:spPr>
      </p:sp>
      <p:sp>
        <p:nvSpPr>
          <p:cNvPr id="18" name="Shape 16"/>
          <p:cNvSpPr/>
          <p:nvPr/>
        </p:nvSpPr>
        <p:spPr>
          <a:xfrm>
            <a:off x="3525012" y="294894"/>
            <a:ext cx="82296" cy="82296"/>
          </a:xfrm>
          <a:prstGeom prst="ellipse">
            <a:avLst/>
          </a:prstGeom>
          <a:solidFill>
            <a:srgbClr val="8A2522"/>
          </a:solidFill>
          <a:ln w="11430">
            <a:solidFill>
              <a:srgbClr val="E7C9C6"/>
            </a:solidFill>
            <a:prstDash val="solid"/>
          </a:ln>
        </p:spPr>
      </p:sp>
      <p:sp>
        <p:nvSpPr>
          <p:cNvPr id="19" name="Shape 17"/>
          <p:cNvSpPr/>
          <p:nvPr/>
        </p:nvSpPr>
        <p:spPr>
          <a:xfrm>
            <a:off x="2414016" y="850392"/>
            <a:ext cx="82296" cy="82296"/>
          </a:xfrm>
          <a:prstGeom prst="ellipse">
            <a:avLst/>
          </a:prstGeom>
          <a:solidFill>
            <a:srgbClr val="8A2522"/>
          </a:solidFill>
          <a:ln w="11430">
            <a:solidFill>
              <a:srgbClr val="E7C9C6"/>
            </a:solidFill>
            <a:prstDash val="solid"/>
          </a:ln>
        </p:spPr>
      </p:sp>
      <p:sp>
        <p:nvSpPr>
          <p:cNvPr id="20" name="Shape 18"/>
          <p:cNvSpPr/>
          <p:nvPr/>
        </p:nvSpPr>
        <p:spPr>
          <a:xfrm>
            <a:off x="1303020" y="418338"/>
            <a:ext cx="82296" cy="82296"/>
          </a:xfrm>
          <a:prstGeom prst="ellipse">
            <a:avLst/>
          </a:prstGeom>
          <a:solidFill>
            <a:srgbClr val="8A2522"/>
          </a:solidFill>
          <a:ln w="11430">
            <a:solidFill>
              <a:srgbClr val="E7C9C6"/>
            </a:solidFill>
            <a:prstDash val="solid"/>
          </a:ln>
        </p:spPr>
      </p:sp>
      <p:sp>
        <p:nvSpPr>
          <p:cNvPr id="21" name="Shape 19"/>
          <p:cNvSpPr/>
          <p:nvPr/>
        </p:nvSpPr>
        <p:spPr>
          <a:xfrm>
            <a:off x="377190" y="1282446"/>
            <a:ext cx="82296" cy="82296"/>
          </a:xfrm>
          <a:prstGeom prst="ellipse">
            <a:avLst/>
          </a:prstGeom>
          <a:solidFill>
            <a:srgbClr val="8A2522"/>
          </a:solidFill>
          <a:ln w="11430">
            <a:solidFill>
              <a:srgbClr val="E7C9C6"/>
            </a:solidFill>
            <a:prstDash val="solid"/>
          </a:ln>
        </p:spPr>
      </p:sp>
      <p:sp>
        <p:nvSpPr>
          <p:cNvPr id="22" name="Shape 20"/>
          <p:cNvSpPr/>
          <p:nvPr/>
        </p:nvSpPr>
        <p:spPr>
          <a:xfrm>
            <a:off x="1858518" y="1776222"/>
            <a:ext cx="82296" cy="82296"/>
          </a:xfrm>
          <a:prstGeom prst="ellipse">
            <a:avLst/>
          </a:prstGeom>
          <a:solidFill>
            <a:srgbClr val="8A2522"/>
          </a:solidFill>
          <a:ln w="11430">
            <a:solidFill>
              <a:srgbClr val="E7C9C6"/>
            </a:solidFill>
            <a:prstDash val="solid"/>
          </a:ln>
        </p:spPr>
      </p:sp>
      <p:sp>
        <p:nvSpPr>
          <p:cNvPr id="23" name="Shape 21"/>
          <p:cNvSpPr/>
          <p:nvPr/>
        </p:nvSpPr>
        <p:spPr>
          <a:xfrm>
            <a:off x="685800" y="2331720"/>
            <a:ext cx="82296" cy="82296"/>
          </a:xfrm>
          <a:prstGeom prst="ellipse">
            <a:avLst/>
          </a:prstGeom>
          <a:solidFill>
            <a:srgbClr val="8A2522"/>
          </a:solidFill>
          <a:ln w="11430">
            <a:solidFill>
              <a:srgbClr val="E7C9C6"/>
            </a:solidFill>
            <a:prstDash val="solid"/>
          </a:ln>
        </p:spPr>
      </p:sp>
      <p:sp>
        <p:nvSpPr>
          <p:cNvPr id="24" name="Shape 22"/>
          <p:cNvSpPr/>
          <p:nvPr/>
        </p:nvSpPr>
        <p:spPr>
          <a:xfrm>
            <a:off x="2722626" y="1529334"/>
            <a:ext cx="82296" cy="82296"/>
          </a:xfrm>
          <a:prstGeom prst="ellipse">
            <a:avLst/>
          </a:prstGeom>
          <a:solidFill>
            <a:srgbClr val="8A2522"/>
          </a:solidFill>
          <a:ln w="11430">
            <a:solidFill>
              <a:srgbClr val="E7C9C6"/>
            </a:solidFill>
            <a:prstDash val="solid"/>
          </a:ln>
        </p:spPr>
      </p:sp>
      <p:sp>
        <p:nvSpPr>
          <p:cNvPr id="25" name="Shape 23"/>
          <p:cNvSpPr/>
          <p:nvPr/>
        </p:nvSpPr>
        <p:spPr>
          <a:xfrm>
            <a:off x="192024" y="480060"/>
            <a:ext cx="82296" cy="82296"/>
          </a:xfrm>
          <a:prstGeom prst="ellipse">
            <a:avLst/>
          </a:prstGeom>
          <a:solidFill>
            <a:srgbClr val="8A2522"/>
          </a:solidFill>
          <a:ln w="11430">
            <a:solidFill>
              <a:srgbClr val="E7C9C6"/>
            </a:solidFill>
            <a:prstDash val="solid"/>
          </a:ln>
        </p:spPr>
      </p:sp>
      <p:sp>
        <p:nvSpPr>
          <p:cNvPr id="26" name="Shape 24"/>
          <p:cNvSpPr/>
          <p:nvPr/>
        </p:nvSpPr>
        <p:spPr>
          <a:xfrm>
            <a:off x="1179576" y="3010662"/>
            <a:ext cx="82296" cy="82296"/>
          </a:xfrm>
          <a:prstGeom prst="ellipse">
            <a:avLst/>
          </a:prstGeom>
          <a:solidFill>
            <a:srgbClr val="8A2522"/>
          </a:solidFill>
          <a:ln w="11430">
            <a:solidFill>
              <a:srgbClr val="E7C9C6"/>
            </a:solidFill>
            <a:prstDash val="solid"/>
          </a:ln>
        </p:spPr>
      </p:sp>
      <p:sp>
        <p:nvSpPr>
          <p:cNvPr id="27" name="Shape 25"/>
          <p:cNvSpPr/>
          <p:nvPr/>
        </p:nvSpPr>
        <p:spPr>
          <a:xfrm>
            <a:off x="130302" y="3442716"/>
            <a:ext cx="82296" cy="82296"/>
          </a:xfrm>
          <a:prstGeom prst="ellipse">
            <a:avLst/>
          </a:prstGeom>
          <a:solidFill>
            <a:srgbClr val="8A2522"/>
          </a:solidFill>
          <a:ln w="11430">
            <a:solidFill>
              <a:srgbClr val="E7C9C6"/>
            </a:solidFill>
            <a:prstDash val="solid"/>
          </a:ln>
        </p:spPr>
      </p:sp>
      <p:sp>
        <p:nvSpPr>
          <p:cNvPr id="28" name="Shape 26"/>
          <p:cNvSpPr/>
          <p:nvPr/>
        </p:nvSpPr>
        <p:spPr>
          <a:xfrm>
            <a:off x="11020349" y="6163056"/>
            <a:ext cx="592531" cy="296266"/>
          </a:xfrm>
          <a:prstGeom prst="line">
            <a:avLst/>
          </a:prstGeom>
          <a:noFill/>
          <a:ln w="11430">
            <a:solidFill>
              <a:srgbClr val="E7C9C6"/>
            </a:solidFill>
            <a:prstDash val="solid"/>
          </a:ln>
        </p:spPr>
      </p:sp>
      <p:sp>
        <p:nvSpPr>
          <p:cNvPr id="29" name="Shape 27"/>
          <p:cNvSpPr/>
          <p:nvPr/>
        </p:nvSpPr>
        <p:spPr>
          <a:xfrm flipV="1">
            <a:off x="10427818" y="6163056"/>
            <a:ext cx="592531" cy="230429"/>
          </a:xfrm>
          <a:prstGeom prst="line">
            <a:avLst/>
          </a:prstGeom>
          <a:noFill/>
          <a:ln w="11430">
            <a:solidFill>
              <a:srgbClr val="E7C9C6"/>
            </a:solidFill>
            <a:prstDash val="solid"/>
          </a:ln>
        </p:spPr>
      </p:sp>
      <p:sp>
        <p:nvSpPr>
          <p:cNvPr id="30" name="Shape 28"/>
          <p:cNvSpPr/>
          <p:nvPr/>
        </p:nvSpPr>
        <p:spPr>
          <a:xfrm>
            <a:off x="9934042" y="5932627"/>
            <a:ext cx="493776" cy="460858"/>
          </a:xfrm>
          <a:prstGeom prst="line">
            <a:avLst/>
          </a:prstGeom>
          <a:noFill/>
          <a:ln w="11430">
            <a:solidFill>
              <a:srgbClr val="E7C9C6"/>
            </a:solidFill>
            <a:prstDash val="solid"/>
          </a:ln>
        </p:spPr>
      </p:sp>
      <p:sp>
        <p:nvSpPr>
          <p:cNvPr id="31" name="Shape 29"/>
          <p:cNvSpPr/>
          <p:nvPr/>
        </p:nvSpPr>
        <p:spPr>
          <a:xfrm>
            <a:off x="10724083" y="5669280"/>
            <a:ext cx="296266" cy="493776"/>
          </a:xfrm>
          <a:prstGeom prst="line">
            <a:avLst/>
          </a:prstGeom>
          <a:noFill/>
          <a:ln w="11430">
            <a:solidFill>
              <a:srgbClr val="E7C9C6"/>
            </a:solidFill>
            <a:prstDash val="solid"/>
          </a:ln>
        </p:spPr>
      </p:sp>
      <p:sp>
        <p:nvSpPr>
          <p:cNvPr id="32" name="Shape 30"/>
          <p:cNvSpPr/>
          <p:nvPr/>
        </p:nvSpPr>
        <p:spPr>
          <a:xfrm flipV="1">
            <a:off x="9934042" y="5669280"/>
            <a:ext cx="790042" cy="263347"/>
          </a:xfrm>
          <a:prstGeom prst="line">
            <a:avLst/>
          </a:prstGeom>
          <a:noFill/>
          <a:ln w="11430">
            <a:solidFill>
              <a:srgbClr val="E7C9C6"/>
            </a:solidFill>
            <a:prstDash val="solid"/>
          </a:ln>
        </p:spPr>
      </p:sp>
      <p:sp>
        <p:nvSpPr>
          <p:cNvPr id="33" name="Shape 31"/>
          <p:cNvSpPr/>
          <p:nvPr/>
        </p:nvSpPr>
        <p:spPr>
          <a:xfrm>
            <a:off x="10098634" y="5373014"/>
            <a:ext cx="625450" cy="296266"/>
          </a:xfrm>
          <a:prstGeom prst="line">
            <a:avLst/>
          </a:prstGeom>
          <a:noFill/>
          <a:ln w="11430">
            <a:solidFill>
              <a:srgbClr val="E7C9C6"/>
            </a:solidFill>
            <a:prstDash val="solid"/>
          </a:ln>
        </p:spPr>
      </p:sp>
      <p:sp>
        <p:nvSpPr>
          <p:cNvPr id="34" name="Shape 32"/>
          <p:cNvSpPr/>
          <p:nvPr/>
        </p:nvSpPr>
        <p:spPr>
          <a:xfrm flipV="1">
            <a:off x="9934042" y="5373014"/>
            <a:ext cx="164592" cy="559613"/>
          </a:xfrm>
          <a:prstGeom prst="line">
            <a:avLst/>
          </a:prstGeom>
          <a:noFill/>
          <a:ln w="11430">
            <a:solidFill>
              <a:srgbClr val="E7C9C6"/>
            </a:solidFill>
            <a:prstDash val="solid"/>
          </a:ln>
        </p:spPr>
      </p:sp>
      <p:sp>
        <p:nvSpPr>
          <p:cNvPr id="35" name="Shape 33"/>
          <p:cNvSpPr/>
          <p:nvPr/>
        </p:nvSpPr>
        <p:spPr>
          <a:xfrm flipV="1">
            <a:off x="11020349" y="5800954"/>
            <a:ext cx="164592" cy="362102"/>
          </a:xfrm>
          <a:prstGeom prst="line">
            <a:avLst/>
          </a:prstGeom>
          <a:noFill/>
          <a:ln w="11430">
            <a:solidFill>
              <a:srgbClr val="E7C9C6"/>
            </a:solidFill>
            <a:prstDash val="solid"/>
          </a:ln>
        </p:spPr>
      </p:sp>
      <p:sp>
        <p:nvSpPr>
          <p:cNvPr id="36" name="Shape 34"/>
          <p:cNvSpPr/>
          <p:nvPr/>
        </p:nvSpPr>
        <p:spPr>
          <a:xfrm>
            <a:off x="10724083" y="5669280"/>
            <a:ext cx="460858" cy="131674"/>
          </a:xfrm>
          <a:prstGeom prst="line">
            <a:avLst/>
          </a:prstGeom>
          <a:noFill/>
          <a:ln w="11430">
            <a:solidFill>
              <a:srgbClr val="E7C9C6"/>
            </a:solidFill>
            <a:prstDash val="solid"/>
          </a:ln>
        </p:spPr>
      </p:sp>
      <p:sp>
        <p:nvSpPr>
          <p:cNvPr id="37" name="Shape 35"/>
          <p:cNvSpPr/>
          <p:nvPr/>
        </p:nvSpPr>
        <p:spPr>
          <a:xfrm>
            <a:off x="9835286" y="6360566"/>
            <a:ext cx="592531" cy="32918"/>
          </a:xfrm>
          <a:prstGeom prst="line">
            <a:avLst/>
          </a:prstGeom>
          <a:noFill/>
          <a:ln w="11430">
            <a:solidFill>
              <a:srgbClr val="E7C9C6"/>
            </a:solidFill>
            <a:prstDash val="solid"/>
          </a:ln>
        </p:spPr>
      </p:sp>
      <p:sp>
        <p:nvSpPr>
          <p:cNvPr id="38" name="Shape 36"/>
          <p:cNvSpPr/>
          <p:nvPr/>
        </p:nvSpPr>
        <p:spPr>
          <a:xfrm flipV="1">
            <a:off x="9835286" y="5932627"/>
            <a:ext cx="98755" cy="427939"/>
          </a:xfrm>
          <a:prstGeom prst="line">
            <a:avLst/>
          </a:prstGeom>
          <a:noFill/>
          <a:ln w="11430">
            <a:solidFill>
              <a:srgbClr val="E7C9C6"/>
            </a:solidFill>
            <a:prstDash val="solid"/>
          </a:ln>
        </p:spPr>
      </p:sp>
      <p:sp>
        <p:nvSpPr>
          <p:cNvPr id="39" name="Shape 37"/>
          <p:cNvSpPr/>
          <p:nvPr/>
        </p:nvSpPr>
        <p:spPr>
          <a:xfrm flipV="1">
            <a:off x="10098634" y="5010912"/>
            <a:ext cx="263347" cy="362102"/>
          </a:xfrm>
          <a:prstGeom prst="line">
            <a:avLst/>
          </a:prstGeom>
          <a:noFill/>
          <a:ln w="11430">
            <a:solidFill>
              <a:srgbClr val="E7C9C6"/>
            </a:solidFill>
            <a:prstDash val="solid"/>
          </a:ln>
        </p:spPr>
      </p:sp>
      <p:sp>
        <p:nvSpPr>
          <p:cNvPr id="40" name="Shape 38"/>
          <p:cNvSpPr/>
          <p:nvPr/>
        </p:nvSpPr>
        <p:spPr>
          <a:xfrm>
            <a:off x="9802368" y="4780483"/>
            <a:ext cx="559613" cy="230429"/>
          </a:xfrm>
          <a:prstGeom prst="line">
            <a:avLst/>
          </a:prstGeom>
          <a:noFill/>
          <a:ln w="11430">
            <a:solidFill>
              <a:srgbClr val="E7C9C6"/>
            </a:solidFill>
            <a:prstDash val="solid"/>
          </a:ln>
        </p:spPr>
      </p:sp>
      <p:sp>
        <p:nvSpPr>
          <p:cNvPr id="41" name="Shape 39"/>
          <p:cNvSpPr/>
          <p:nvPr/>
        </p:nvSpPr>
        <p:spPr>
          <a:xfrm>
            <a:off x="9802368" y="4780483"/>
            <a:ext cx="296266" cy="592531"/>
          </a:xfrm>
          <a:prstGeom prst="line">
            <a:avLst/>
          </a:prstGeom>
          <a:noFill/>
          <a:ln w="11430">
            <a:solidFill>
              <a:srgbClr val="E7C9C6"/>
            </a:solidFill>
            <a:prstDash val="solid"/>
          </a:ln>
        </p:spPr>
      </p:sp>
      <p:sp>
        <p:nvSpPr>
          <p:cNvPr id="42" name="Shape 40"/>
          <p:cNvSpPr/>
          <p:nvPr/>
        </p:nvSpPr>
        <p:spPr>
          <a:xfrm>
            <a:off x="10361981" y="5010912"/>
            <a:ext cx="362102" cy="658368"/>
          </a:xfrm>
          <a:prstGeom prst="line">
            <a:avLst/>
          </a:prstGeom>
          <a:noFill/>
          <a:ln w="11430">
            <a:solidFill>
              <a:srgbClr val="E7C9C6"/>
            </a:solidFill>
            <a:prstDash val="solid"/>
          </a:ln>
        </p:spPr>
      </p:sp>
      <p:sp>
        <p:nvSpPr>
          <p:cNvPr id="43" name="Shape 41"/>
          <p:cNvSpPr/>
          <p:nvPr/>
        </p:nvSpPr>
        <p:spPr>
          <a:xfrm>
            <a:off x="11571732" y="6418174"/>
            <a:ext cx="82296" cy="82296"/>
          </a:xfrm>
          <a:prstGeom prst="ellipse">
            <a:avLst/>
          </a:prstGeom>
          <a:solidFill>
            <a:srgbClr val="8A2522"/>
          </a:solidFill>
          <a:ln w="11430">
            <a:solidFill>
              <a:srgbClr val="E7C9C6"/>
            </a:solidFill>
            <a:prstDash val="solid"/>
          </a:ln>
        </p:spPr>
      </p:sp>
      <p:sp>
        <p:nvSpPr>
          <p:cNvPr id="44" name="Shape 42"/>
          <p:cNvSpPr/>
          <p:nvPr/>
        </p:nvSpPr>
        <p:spPr>
          <a:xfrm>
            <a:off x="10979201" y="6121908"/>
            <a:ext cx="82296" cy="82296"/>
          </a:xfrm>
          <a:prstGeom prst="ellipse">
            <a:avLst/>
          </a:prstGeom>
          <a:solidFill>
            <a:srgbClr val="8A2522"/>
          </a:solidFill>
          <a:ln w="11430">
            <a:solidFill>
              <a:srgbClr val="E7C9C6"/>
            </a:solidFill>
            <a:prstDash val="solid"/>
          </a:ln>
        </p:spPr>
      </p:sp>
      <p:sp>
        <p:nvSpPr>
          <p:cNvPr id="45" name="Shape 43"/>
          <p:cNvSpPr/>
          <p:nvPr/>
        </p:nvSpPr>
        <p:spPr>
          <a:xfrm>
            <a:off x="10386670" y="6352337"/>
            <a:ext cx="82296" cy="82296"/>
          </a:xfrm>
          <a:prstGeom prst="ellipse">
            <a:avLst/>
          </a:prstGeom>
          <a:solidFill>
            <a:srgbClr val="8A2522"/>
          </a:solidFill>
          <a:ln w="11430">
            <a:solidFill>
              <a:srgbClr val="E7C9C6"/>
            </a:solidFill>
            <a:prstDash val="solid"/>
          </a:ln>
        </p:spPr>
      </p:sp>
      <p:sp>
        <p:nvSpPr>
          <p:cNvPr id="46" name="Shape 44"/>
          <p:cNvSpPr/>
          <p:nvPr/>
        </p:nvSpPr>
        <p:spPr>
          <a:xfrm>
            <a:off x="9892894" y="5891479"/>
            <a:ext cx="82296" cy="82296"/>
          </a:xfrm>
          <a:prstGeom prst="ellipse">
            <a:avLst/>
          </a:prstGeom>
          <a:solidFill>
            <a:srgbClr val="8A2522"/>
          </a:solidFill>
          <a:ln w="11430">
            <a:solidFill>
              <a:srgbClr val="E7C9C6"/>
            </a:solidFill>
            <a:prstDash val="solid"/>
          </a:ln>
        </p:spPr>
      </p:sp>
      <p:sp>
        <p:nvSpPr>
          <p:cNvPr id="47" name="Shape 45"/>
          <p:cNvSpPr/>
          <p:nvPr/>
        </p:nvSpPr>
        <p:spPr>
          <a:xfrm>
            <a:off x="10682935" y="5628132"/>
            <a:ext cx="82296" cy="82296"/>
          </a:xfrm>
          <a:prstGeom prst="ellipse">
            <a:avLst/>
          </a:prstGeom>
          <a:solidFill>
            <a:srgbClr val="8A2522"/>
          </a:solidFill>
          <a:ln w="11430">
            <a:solidFill>
              <a:srgbClr val="E7C9C6"/>
            </a:solidFill>
            <a:prstDash val="solid"/>
          </a:ln>
        </p:spPr>
      </p:sp>
      <p:sp>
        <p:nvSpPr>
          <p:cNvPr id="48" name="Shape 46"/>
          <p:cNvSpPr/>
          <p:nvPr/>
        </p:nvSpPr>
        <p:spPr>
          <a:xfrm>
            <a:off x="10057486" y="5331866"/>
            <a:ext cx="82296" cy="82296"/>
          </a:xfrm>
          <a:prstGeom prst="ellipse">
            <a:avLst/>
          </a:prstGeom>
          <a:solidFill>
            <a:srgbClr val="8A2522"/>
          </a:solidFill>
          <a:ln w="11430">
            <a:solidFill>
              <a:srgbClr val="E7C9C6"/>
            </a:solidFill>
            <a:prstDash val="solid"/>
          </a:ln>
        </p:spPr>
      </p:sp>
      <p:sp>
        <p:nvSpPr>
          <p:cNvPr id="49" name="Shape 47"/>
          <p:cNvSpPr/>
          <p:nvPr/>
        </p:nvSpPr>
        <p:spPr>
          <a:xfrm>
            <a:off x="11143793" y="5759806"/>
            <a:ext cx="82296" cy="82296"/>
          </a:xfrm>
          <a:prstGeom prst="ellipse">
            <a:avLst/>
          </a:prstGeom>
          <a:solidFill>
            <a:srgbClr val="8A2522"/>
          </a:solidFill>
          <a:ln w="11430">
            <a:solidFill>
              <a:srgbClr val="E7C9C6"/>
            </a:solidFill>
            <a:prstDash val="solid"/>
          </a:ln>
        </p:spPr>
      </p:sp>
      <p:sp>
        <p:nvSpPr>
          <p:cNvPr id="50" name="Shape 48"/>
          <p:cNvSpPr/>
          <p:nvPr/>
        </p:nvSpPr>
        <p:spPr>
          <a:xfrm>
            <a:off x="9794138" y="6319418"/>
            <a:ext cx="82296" cy="82296"/>
          </a:xfrm>
          <a:prstGeom prst="ellipse">
            <a:avLst/>
          </a:prstGeom>
          <a:solidFill>
            <a:srgbClr val="8A2522"/>
          </a:solidFill>
          <a:ln w="11430">
            <a:solidFill>
              <a:srgbClr val="E7C9C6"/>
            </a:solidFill>
            <a:prstDash val="solid"/>
          </a:ln>
        </p:spPr>
      </p:sp>
      <p:sp>
        <p:nvSpPr>
          <p:cNvPr id="51" name="Shape 49"/>
          <p:cNvSpPr/>
          <p:nvPr/>
        </p:nvSpPr>
        <p:spPr>
          <a:xfrm>
            <a:off x="10320833" y="4969764"/>
            <a:ext cx="82296" cy="82296"/>
          </a:xfrm>
          <a:prstGeom prst="ellipse">
            <a:avLst/>
          </a:prstGeom>
          <a:solidFill>
            <a:srgbClr val="8A2522"/>
          </a:solidFill>
          <a:ln w="11430">
            <a:solidFill>
              <a:srgbClr val="E7C9C6"/>
            </a:solidFill>
            <a:prstDash val="solid"/>
          </a:ln>
        </p:spPr>
      </p:sp>
      <p:sp>
        <p:nvSpPr>
          <p:cNvPr id="52" name="Shape 50"/>
          <p:cNvSpPr/>
          <p:nvPr/>
        </p:nvSpPr>
        <p:spPr>
          <a:xfrm>
            <a:off x="9761220" y="4739335"/>
            <a:ext cx="82296" cy="82296"/>
          </a:xfrm>
          <a:prstGeom prst="ellipse">
            <a:avLst/>
          </a:prstGeom>
          <a:solidFill>
            <a:srgbClr val="8A2522"/>
          </a:solidFill>
          <a:ln w="11430">
            <a:solidFill>
              <a:srgbClr val="E7C9C6"/>
            </a:solidFill>
            <a:prstDash val="solid"/>
          </a:ln>
        </p:spPr>
      </p:sp>
      <p:sp>
        <p:nvSpPr>
          <p:cNvPr id="53" name="Text 51"/>
          <p:cNvSpPr txBox="1"/>
          <p:nvPr/>
        </p:nvSpPr>
        <p:spPr>
          <a:xfrm>
            <a:off x="7680960" y="1600200"/>
            <a:ext cx="3657600" cy="1280160"/>
          </a:xfrm>
          <a:prstGeom prst="rect">
            <a:avLst/>
          </a:prstGeom>
          <a:noFill/>
          <a:ln/>
        </p:spPr>
        <p:txBody>
          <a:bodyPr wrap="square" lIns="0" tIns="0" rIns="0" bIns="0" rtlCol="0" anchor="ctr"/>
          <a:lstStyle/>
          <a:p>
            <a:pPr algn="r" indent="0" marL="0">
              <a:buNone/>
            </a:pPr>
            <a:r>
              <a:rPr lang="en-US" sz="8800" b="1" dirty="0">
                <a:solidFill>
                  <a:srgbClr val="E7C9C6"/>
                </a:solidFill>
                <a:latin typeface="Arial" pitchFamily="34" charset="0"/>
                <a:ea typeface="Arial" pitchFamily="34" charset="-122"/>
                <a:cs typeface="Arial" pitchFamily="34" charset="-120"/>
              </a:rPr>
              <a:t>07</a:t>
            </a:r>
            <a:endParaRPr lang="en-US" sz="8800" dirty="0"/>
          </a:p>
        </p:txBody>
      </p:sp>
      <p:sp>
        <p:nvSpPr>
          <p:cNvPr id="54" name="Text 52"/>
          <p:cNvSpPr txBox="1"/>
          <p:nvPr/>
        </p:nvSpPr>
        <p:spPr>
          <a:xfrm>
            <a:off x="1371600" y="2926080"/>
            <a:ext cx="9966960" cy="914400"/>
          </a:xfrm>
          <a:prstGeom prst="rect">
            <a:avLst/>
          </a:prstGeom>
          <a:noFill/>
          <a:ln/>
        </p:spPr>
        <p:txBody>
          <a:bodyPr wrap="square" lIns="0" tIns="0" rIns="0" bIns="0" rtlCol="0" anchor="ctr"/>
          <a:lstStyle/>
          <a:p>
            <a:pPr rtl="1" algn="r" indent="0" marL="0">
              <a:buNone/>
            </a:pPr>
            <a:r>
              <a:rPr lang="ar-EG" altLang="en-US" sz="4000" b="1" dirty="0">
                <a:solidFill>
                  <a:srgbClr val="FFFFFF"/>
                </a:solidFill>
                <a:latin typeface="Arial" pitchFamily="34" charset="0"/>
                <a:ea typeface="Arial" pitchFamily="34" charset="-122"/>
                <a:cs typeface="Arial" pitchFamily="34" charset="-120"/>
              </a:rPr>
              <a:t>النتايج</a:t>
            </a:r>
            <a:endParaRPr lang="ar-EG" sz="4000" dirty="0"/>
          </a:p>
        </p:txBody>
      </p:sp>
      <p:sp>
        <p:nvSpPr>
          <p:cNvPr id="55" name="Text 53"/>
          <p:cNvSpPr txBox="1"/>
          <p:nvPr/>
        </p:nvSpPr>
        <p:spPr>
          <a:xfrm>
            <a:off x="1371600" y="3886200"/>
            <a:ext cx="9966960" cy="822960"/>
          </a:xfrm>
          <a:prstGeom prst="rect">
            <a:avLst/>
          </a:prstGeom>
          <a:noFill/>
          <a:ln/>
        </p:spPr>
        <p:txBody>
          <a:bodyPr wrap="square" lIns="0" tIns="0" rIns="0" bIns="0" rtlCol="0" anchor="t"/>
          <a:lstStyle/>
          <a:p>
            <a:pPr rtl="1" algn="r" indent="0" marL="0">
              <a:buNone/>
            </a:pPr>
            <a:r>
              <a:rPr lang="ar-EG" altLang="en-US" sz="1800" dirty="0">
                <a:solidFill>
                  <a:srgbClr val="F3E3E1"/>
                </a:solidFill>
                <a:latin typeface="Arial" pitchFamily="34" charset="0"/>
                <a:ea typeface="Arial" pitchFamily="34" charset="-122"/>
                <a:cs typeface="Arial" pitchFamily="34" charset="-120"/>
              </a:rPr>
              <a:t>الـ BS في النص مقابل بعيد · Ablation · الثبات · المقارنة</a:t>
            </a:r>
            <a:endParaRPr lang="ar-EG" sz="1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النتايج</a:t>
            </a:r>
            <a:pPr algn="r" indent="0" marL="0">
              <a:buNone/>
            </a:pPr>
            <a:r>
              <a:rPr lang="ar-EG" altLang="en-US" sz="2100" dirty="0">
                <a:solidFill>
                  <a:srgbClr val="8A2522"/>
                </a:solidFill>
                <a:latin typeface="Arial" pitchFamily="34" charset="0"/>
                <a:ea typeface="Arial" pitchFamily="34" charset="-122"/>
                <a:cs typeface="Arial" pitchFamily="34" charset="-120"/>
              </a:rPr>
              <a:t>  –  الـ BS في نص الأرض</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49</a:t>
            </a:r>
            <a:endParaRPr lang="en-US" sz="10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760720" y="1463040"/>
          <a:ext cx="5669280" cy="914400"/>
        </p:xfrm>
        <a:graphic>
          <a:graphicData uri="http://schemas.openxmlformats.org/drawingml/2006/table">
            <a:tbl>
              <a:tblPr/>
              <a:tblGrid>
                <a:gridCol w="960120"/>
                <a:gridCol w="960120"/>
                <a:gridCol w="960120"/>
                <a:gridCol w="960120"/>
                <a:gridCol w="1828800"/>
              </a:tblGrid>
              <a:tr h="384048">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PDR</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LND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HND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FND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البروتوكول</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97.72%</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2703</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2081</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1730</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v3</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97.31%</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3203*</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2091</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1730</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v5b</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98.43%</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2066</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1976</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1551</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v7 (نص)</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98.49%</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2086</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1991</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1491</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v7.1 Multihop</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r h="384048">
                <a:tc>
                  <a:txBody>
                    <a:bodyPr/>
                    <a:lstStyle/>
                    <a:p>
                      <a:pPr rtl="1" algn="ctr" indent="0" marL="0">
                        <a:buNone/>
                      </a:pPr>
                      <a:r>
                        <a:rPr lang="en-US" sz="1400" b="1" dirty="0">
                          <a:solidFill>
                            <a:srgbClr val="323232"/>
                          </a:solidFill>
                          <a:latin typeface="Arial" pitchFamily="34" charset="0"/>
                          <a:ea typeface="Arial" pitchFamily="34" charset="-122"/>
                          <a:cs typeface="Arial" pitchFamily="34" charset="-120"/>
                        </a:rPr>
                        <a:t>99.27%</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ctr" indent="0" marL="0">
                        <a:buNone/>
                      </a:pPr>
                      <a:r>
                        <a:rPr lang="en-US" sz="1400" b="1" dirty="0">
                          <a:solidFill>
                            <a:srgbClr val="323232"/>
                          </a:solidFill>
                          <a:latin typeface="Arial" pitchFamily="34" charset="0"/>
                          <a:ea typeface="Arial" pitchFamily="34" charset="-122"/>
                          <a:cs typeface="Arial" pitchFamily="34" charset="-120"/>
                        </a:rPr>
                        <a:t>2756</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ctr" indent="0" marL="0">
                        <a:buNone/>
                      </a:pPr>
                      <a:r>
                        <a:rPr lang="en-US" sz="1400" b="1" dirty="0">
                          <a:solidFill>
                            <a:srgbClr val="323232"/>
                          </a:solidFill>
                          <a:latin typeface="Arial" pitchFamily="34" charset="0"/>
                          <a:ea typeface="Arial" pitchFamily="34" charset="-122"/>
                          <a:cs typeface="Arial" pitchFamily="34" charset="-120"/>
                        </a:rPr>
                        <a:t>2711</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ctr" indent="0" marL="0">
                        <a:buNone/>
                      </a:pPr>
                      <a:r>
                        <a:rPr lang="en-US" sz="1400" b="1" dirty="0">
                          <a:solidFill>
                            <a:srgbClr val="323232"/>
                          </a:solidFill>
                          <a:latin typeface="Arial" pitchFamily="34" charset="0"/>
                          <a:ea typeface="Arial" pitchFamily="34" charset="-122"/>
                          <a:cs typeface="Arial" pitchFamily="34" charset="-120"/>
                        </a:rPr>
                        <a:t>2621</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v8-Chain</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r>
            </a:tbl>
          </a:graphicData>
        </a:graphic>
      </p:graphicFrame>
      <p:sp>
        <p:nvSpPr>
          <p:cNvPr id="21" name="Text 17"/>
          <p:cNvSpPr txBox="1"/>
          <p:nvPr/>
        </p:nvSpPr>
        <p:spPr>
          <a:xfrm>
            <a:off x="5760720" y="4224528"/>
            <a:ext cx="5669280" cy="274320"/>
          </a:xfrm>
          <a:prstGeom prst="rect">
            <a:avLst/>
          </a:prstGeom>
          <a:noFill/>
          <a:ln/>
        </p:spPr>
        <p:txBody>
          <a:bodyPr wrap="square" lIns="0" tIns="0" rIns="0" bIns="0" rtlCol="0" anchor="ctr"/>
          <a:lstStyle/>
          <a:p>
            <a:pPr rtl="1" algn="r" indent="0" marL="0">
              <a:buNone/>
            </a:pPr>
            <a:r>
              <a:rPr lang="ar-EG" altLang="en-US" sz="1100" i="1" dirty="0">
                <a:solidFill>
                  <a:srgbClr val="6B6B6B"/>
                </a:solidFill>
                <a:latin typeface="Arial" pitchFamily="34" charset="0"/>
                <a:ea typeface="Arial" pitchFamily="34" charset="-122"/>
                <a:cs typeface="Arial" pitchFamily="34" charset="-120"/>
              </a:rPr>
              <a:t>* وهمي: النودز كانت عايشة وساكتة</a:t>
            </a:r>
            <a:endParaRPr lang="ar-EG" sz="1100" dirty="0"/>
          </a:p>
        </p:txBody>
      </p:sp>
      <p:sp>
        <p:nvSpPr>
          <p:cNvPr id="22" name="Text 18"/>
          <p:cNvSpPr txBox="1"/>
          <p:nvPr/>
        </p:nvSpPr>
        <p:spPr>
          <a:xfrm>
            <a:off x="822960" y="1463040"/>
            <a:ext cx="4480560" cy="731520"/>
          </a:xfrm>
          <a:prstGeom prst="rect">
            <a:avLst/>
          </a:prstGeom>
          <a:noFill/>
          <a:ln/>
        </p:spPr>
        <p:txBody>
          <a:bodyPr wrap="square" lIns="0" tIns="0" rIns="0" bIns="0" rtlCol="0" anchor="ctr"/>
          <a:lstStyle/>
          <a:p>
            <a:pPr algn="r" indent="0" marL="0">
              <a:buNone/>
            </a:pPr>
            <a:r>
              <a:rPr lang="en-US" sz="4400" b="1" dirty="0">
                <a:solidFill>
                  <a:srgbClr val="8A2522"/>
                </a:solidFill>
                <a:latin typeface="Arial" pitchFamily="34" charset="0"/>
                <a:ea typeface="Arial" pitchFamily="34" charset="-122"/>
                <a:cs typeface="Arial" pitchFamily="34" charset="-120"/>
              </a:rPr>
              <a:t>+69%</a:t>
            </a:r>
            <a:endParaRPr lang="en-US" sz="4400" dirty="0"/>
          </a:p>
        </p:txBody>
      </p:sp>
      <p:sp>
        <p:nvSpPr>
          <p:cNvPr id="23" name="Text 19"/>
          <p:cNvSpPr txBox="1"/>
          <p:nvPr/>
        </p:nvSpPr>
        <p:spPr>
          <a:xfrm>
            <a:off x="822960" y="2194560"/>
            <a:ext cx="4480560" cy="548640"/>
          </a:xfrm>
          <a:prstGeom prst="rect">
            <a:avLst/>
          </a:prstGeom>
          <a:noFill/>
          <a:ln/>
        </p:spPr>
        <p:txBody>
          <a:bodyPr wrap="square" lIns="0" tIns="0" rIns="0" bIns="0" rtlCol="0" anchor="t"/>
          <a:lstStyle/>
          <a:p>
            <a:pPr rtl="1" algn="r" indent="0" marL="0">
              <a:buNone/>
            </a:pPr>
            <a:r>
              <a:rPr lang="ar-EG" altLang="en-US" sz="1350" dirty="0">
                <a:solidFill>
                  <a:srgbClr val="6B6B6B"/>
                </a:solidFill>
                <a:latin typeface="Arial" pitchFamily="34" charset="0"/>
                <a:ea typeface="Arial" pitchFamily="34" charset="-122"/>
                <a:cs typeface="Arial" pitchFamily="34" charset="-120"/>
              </a:rPr>
              <a:t>أول نود بيموت متأخر عن v7 (1551 ← 2621)</a:t>
            </a:r>
            <a:endParaRPr lang="ar-EG" sz="1350" dirty="0"/>
          </a:p>
        </p:txBody>
      </p:sp>
      <p:sp>
        <p:nvSpPr>
          <p:cNvPr id="24" name="Text 20"/>
          <p:cNvSpPr txBox="1"/>
          <p:nvPr/>
        </p:nvSpPr>
        <p:spPr>
          <a:xfrm>
            <a:off x="822960" y="3017520"/>
            <a:ext cx="4480560" cy="731520"/>
          </a:xfrm>
          <a:prstGeom prst="rect">
            <a:avLst/>
          </a:prstGeom>
          <a:noFill/>
          <a:ln/>
        </p:spPr>
        <p:txBody>
          <a:bodyPr wrap="square" lIns="0" tIns="0" rIns="0" bIns="0" rtlCol="0" anchor="ctr"/>
          <a:lstStyle/>
          <a:p>
            <a:pPr algn="r" indent="0" marL="0">
              <a:buNone/>
            </a:pPr>
            <a:r>
              <a:rPr lang="en-US" sz="4400" b="1" dirty="0">
                <a:solidFill>
                  <a:srgbClr val="8A2522"/>
                </a:solidFill>
                <a:latin typeface="Arial" pitchFamily="34" charset="0"/>
                <a:ea typeface="Arial" pitchFamily="34" charset="-122"/>
                <a:cs typeface="Arial" pitchFamily="34" charset="-120"/>
              </a:rPr>
              <a:t>99.27%</a:t>
            </a:r>
            <a:endParaRPr lang="en-US" sz="4400" dirty="0"/>
          </a:p>
        </p:txBody>
      </p:sp>
      <p:sp>
        <p:nvSpPr>
          <p:cNvPr id="25" name="Text 21"/>
          <p:cNvSpPr txBox="1"/>
          <p:nvPr/>
        </p:nvSpPr>
        <p:spPr>
          <a:xfrm>
            <a:off x="822960" y="3749040"/>
            <a:ext cx="4480560" cy="548640"/>
          </a:xfrm>
          <a:prstGeom prst="rect">
            <a:avLst/>
          </a:prstGeom>
          <a:noFill/>
          <a:ln/>
        </p:spPr>
        <p:txBody>
          <a:bodyPr wrap="square" lIns="0" tIns="0" rIns="0" bIns="0" rtlCol="0" anchor="t"/>
          <a:lstStyle/>
          <a:p>
            <a:pPr rtl="1" algn="r" indent="0" marL="0">
              <a:buNone/>
            </a:pPr>
            <a:r>
              <a:rPr lang="ar-EG" altLang="en-US" sz="1350" dirty="0">
                <a:solidFill>
                  <a:srgbClr val="6B6B6B"/>
                </a:solidFill>
                <a:latin typeface="Arial" pitchFamily="34" charset="0"/>
                <a:ea typeface="Arial" pitchFamily="34" charset="-122"/>
                <a:cs typeface="Arial" pitchFamily="34" charset="-120"/>
              </a:rPr>
              <a:t>PDR — الأعلى بين البروتوكولات اللي عمرها طويل</a:t>
            </a:r>
            <a:endParaRPr lang="ar-EG" sz="1350" dirty="0"/>
          </a:p>
        </p:txBody>
      </p:sp>
      <p:sp>
        <p:nvSpPr>
          <p:cNvPr id="26" name="Text 22"/>
          <p:cNvSpPr txBox="1"/>
          <p:nvPr/>
        </p:nvSpPr>
        <p:spPr>
          <a:xfrm>
            <a:off x="5760720" y="4617720"/>
            <a:ext cx="5669280" cy="731520"/>
          </a:xfrm>
          <a:prstGeom prst="rect">
            <a:avLst/>
          </a:prstGeom>
          <a:noFill/>
          <a:ln/>
        </p:spPr>
        <p:txBody>
          <a:bodyPr wrap="square" lIns="0" tIns="0" rIns="0" bIns="0" rtlCol="0" anchor="ctr"/>
          <a:lstStyle/>
          <a:p>
            <a:pPr algn="r" indent="0" marL="0">
              <a:buNone/>
            </a:pPr>
            <a:r>
              <a:rPr lang="en-US" sz="4000" b="1" dirty="0">
                <a:solidFill>
                  <a:srgbClr val="8A2522"/>
                </a:solidFill>
                <a:latin typeface="Arial" pitchFamily="34" charset="0"/>
                <a:ea typeface="Arial" pitchFamily="34" charset="-122"/>
                <a:cs typeface="Arial" pitchFamily="34" charset="-120"/>
              </a:rPr>
              <a:t>+33%</a:t>
            </a:r>
            <a:endParaRPr lang="en-US" sz="4000" dirty="0"/>
          </a:p>
        </p:txBody>
      </p:sp>
      <p:sp>
        <p:nvSpPr>
          <p:cNvPr id="27" name="Text 23"/>
          <p:cNvSpPr txBox="1"/>
          <p:nvPr/>
        </p:nvSpPr>
        <p:spPr>
          <a:xfrm>
            <a:off x="5760720" y="5349240"/>
            <a:ext cx="5669280" cy="548640"/>
          </a:xfrm>
          <a:prstGeom prst="rect">
            <a:avLst/>
          </a:prstGeom>
          <a:noFill/>
          <a:ln/>
        </p:spPr>
        <p:txBody>
          <a:bodyPr wrap="square" lIns="0" tIns="0" rIns="0" bIns="0" rtlCol="0" anchor="t"/>
          <a:lstStyle/>
          <a:p>
            <a:pPr rtl="1" algn="r" indent="0" marL="0">
              <a:buNone/>
            </a:pPr>
            <a:r>
              <a:rPr lang="ar-EG" altLang="en-US" sz="1350" dirty="0">
                <a:solidFill>
                  <a:srgbClr val="6B6B6B"/>
                </a:solidFill>
                <a:latin typeface="Arial" pitchFamily="34" charset="0"/>
                <a:ea typeface="Arial" pitchFamily="34" charset="-122"/>
                <a:cs typeface="Arial" pitchFamily="34" charset="-120"/>
              </a:rPr>
              <a:t>رسايل وصلت أكتر من v5b بنفس الـ 50 جول (201,505 ← 268,610)</a:t>
            </a:r>
            <a:endParaRPr lang="ar-EG" sz="13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النتايج</a:t>
            </a:r>
            <a:pPr algn="r" indent="0" marL="0">
              <a:buNone/>
            </a:pPr>
            <a:r>
              <a:rPr lang="ar-EG" altLang="en-US" sz="2100" dirty="0">
                <a:solidFill>
                  <a:srgbClr val="8A2522"/>
                </a:solidFill>
                <a:latin typeface="Arial" pitchFamily="34" charset="0"/>
                <a:ea typeface="Arial" pitchFamily="34" charset="-122"/>
                <a:cs typeface="Arial" pitchFamily="34" charset="-120"/>
              </a:rPr>
              <a:t>  –  الـ BS بعيد (50, −100)</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50</a:t>
            </a:r>
            <a:endParaRPr lang="en-US" sz="10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760720" y="1463040"/>
          <a:ext cx="5669280" cy="914400"/>
        </p:xfrm>
        <a:graphic>
          <a:graphicData uri="http://schemas.openxmlformats.org/drawingml/2006/table">
            <a:tbl>
              <a:tblPr/>
              <a:tblGrid>
                <a:gridCol w="960120"/>
                <a:gridCol w="960120"/>
                <a:gridCol w="960120"/>
                <a:gridCol w="960120"/>
                <a:gridCol w="1828800"/>
              </a:tblGrid>
              <a:tr h="384048">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PDR</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LND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HND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FND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البروتوكول</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97.08%</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2031</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1910</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1266</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v6 (سلسلة)</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98.14%</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1976</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1891</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1266</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v7 (سلسلة + إصلاح)</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r h="384048">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98.66%</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1716</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1646</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1471</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v8 (مباشر)</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384048">
                <a:tc>
                  <a:txBody>
                    <a:bodyPr/>
                    <a:lstStyle/>
                    <a:p>
                      <a:pPr rtl="1" algn="ctr" indent="0" marL="0">
                        <a:buNone/>
                      </a:pPr>
                      <a:r>
                        <a:rPr lang="en-US" sz="1400" b="1" dirty="0">
                          <a:solidFill>
                            <a:srgbClr val="323232"/>
                          </a:solidFill>
                          <a:latin typeface="Arial" pitchFamily="34" charset="0"/>
                          <a:ea typeface="Arial" pitchFamily="34" charset="-122"/>
                          <a:cs typeface="Arial" pitchFamily="34" charset="-120"/>
                        </a:rPr>
                        <a:t>99.07%</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ctr" indent="0" marL="0">
                        <a:buNone/>
                      </a:pPr>
                      <a:r>
                        <a:rPr lang="en-US" sz="1400" b="1" dirty="0">
                          <a:solidFill>
                            <a:srgbClr val="323232"/>
                          </a:solidFill>
                          <a:latin typeface="Arial" pitchFamily="34" charset="0"/>
                          <a:ea typeface="Arial" pitchFamily="34" charset="-122"/>
                          <a:cs typeface="Arial" pitchFamily="34" charset="-120"/>
                        </a:rPr>
                        <a:t>1956</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ctr" indent="0" marL="0">
                        <a:buNone/>
                      </a:pPr>
                      <a:r>
                        <a:rPr lang="en-US" sz="1400" b="1" dirty="0">
                          <a:solidFill>
                            <a:srgbClr val="323232"/>
                          </a:solidFill>
                          <a:latin typeface="Arial" pitchFamily="34" charset="0"/>
                          <a:ea typeface="Arial" pitchFamily="34" charset="-122"/>
                          <a:cs typeface="Arial" pitchFamily="34" charset="-120"/>
                        </a:rPr>
                        <a:t>1886</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ctr" indent="0" marL="0">
                        <a:buNone/>
                      </a:pPr>
                      <a:r>
                        <a:rPr lang="en-US" sz="1400" b="1" dirty="0">
                          <a:solidFill>
                            <a:srgbClr val="323232"/>
                          </a:solidFill>
                          <a:latin typeface="Arial" pitchFamily="34" charset="0"/>
                          <a:ea typeface="Arial" pitchFamily="34" charset="-122"/>
                          <a:cs typeface="Arial" pitchFamily="34" charset="-120"/>
                        </a:rPr>
                        <a:t>1716</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v8-Chain</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r>
            </a:tbl>
          </a:graphicData>
        </a:graphic>
      </p:graphicFrame>
      <p:sp>
        <p:nvSpPr>
          <p:cNvPr id="21" name="Text 17"/>
          <p:cNvSpPr txBox="1"/>
          <p:nvPr/>
        </p:nvSpPr>
        <p:spPr>
          <a:xfrm>
            <a:off x="822960" y="1463040"/>
            <a:ext cx="4480560" cy="731520"/>
          </a:xfrm>
          <a:prstGeom prst="rect">
            <a:avLst/>
          </a:prstGeom>
          <a:noFill/>
          <a:ln/>
        </p:spPr>
        <p:txBody>
          <a:bodyPr wrap="square" lIns="0" tIns="0" rIns="0" bIns="0" rtlCol="0" anchor="ctr"/>
          <a:lstStyle/>
          <a:p>
            <a:pPr algn="r" indent="0" marL="0">
              <a:buNone/>
            </a:pPr>
            <a:r>
              <a:rPr lang="en-US" sz="4400" b="1" dirty="0">
                <a:solidFill>
                  <a:srgbClr val="8A2522"/>
                </a:solidFill>
                <a:latin typeface="Arial" pitchFamily="34" charset="0"/>
                <a:ea typeface="Arial" pitchFamily="34" charset="-122"/>
                <a:cs typeface="Arial" pitchFamily="34" charset="-120"/>
              </a:rPr>
              <a:t>+36%</a:t>
            </a:r>
            <a:endParaRPr lang="en-US" sz="4400" dirty="0"/>
          </a:p>
        </p:txBody>
      </p:sp>
      <p:sp>
        <p:nvSpPr>
          <p:cNvPr id="22" name="Text 18"/>
          <p:cNvSpPr txBox="1"/>
          <p:nvPr/>
        </p:nvSpPr>
        <p:spPr>
          <a:xfrm>
            <a:off x="822960" y="2194560"/>
            <a:ext cx="4480560" cy="548640"/>
          </a:xfrm>
          <a:prstGeom prst="rect">
            <a:avLst/>
          </a:prstGeom>
          <a:noFill/>
          <a:ln/>
        </p:spPr>
        <p:txBody>
          <a:bodyPr wrap="square" lIns="0" tIns="0" rIns="0" bIns="0" rtlCol="0" anchor="t"/>
          <a:lstStyle/>
          <a:p>
            <a:pPr rtl="1" algn="r" indent="0" marL="0">
              <a:buNone/>
            </a:pPr>
            <a:r>
              <a:rPr lang="ar-EG" altLang="en-US" sz="1350" dirty="0">
                <a:solidFill>
                  <a:srgbClr val="6B6B6B"/>
                </a:solidFill>
                <a:latin typeface="Arial" pitchFamily="34" charset="0"/>
                <a:ea typeface="Arial" pitchFamily="34" charset="-122"/>
                <a:cs typeface="Arial" pitchFamily="34" charset="-120"/>
              </a:rPr>
              <a:t>الـ FND مقارنة بـ v7 (1266 ← 1716)</a:t>
            </a:r>
            <a:endParaRPr lang="ar-EG" sz="1350" dirty="0"/>
          </a:p>
        </p:txBody>
      </p:sp>
      <p:sp>
        <p:nvSpPr>
          <p:cNvPr id="23" name="Text 19"/>
          <p:cNvSpPr txBox="1"/>
          <p:nvPr/>
        </p:nvSpPr>
        <p:spPr>
          <a:xfrm>
            <a:off x="822960" y="3017520"/>
            <a:ext cx="4480560" cy="731520"/>
          </a:xfrm>
          <a:prstGeom prst="rect">
            <a:avLst/>
          </a:prstGeom>
          <a:noFill/>
          <a:ln/>
        </p:spPr>
        <p:txBody>
          <a:bodyPr wrap="square" lIns="0" tIns="0" rIns="0" bIns="0" rtlCol="0" anchor="ctr"/>
          <a:lstStyle/>
          <a:p>
            <a:pPr algn="r" indent="0" marL="0">
              <a:buNone/>
            </a:pPr>
            <a:r>
              <a:rPr lang="en-US" sz="4400" b="1" dirty="0">
                <a:solidFill>
                  <a:srgbClr val="8A2522"/>
                </a:solidFill>
                <a:latin typeface="Arial" pitchFamily="34" charset="0"/>
                <a:ea typeface="Arial" pitchFamily="34" charset="-122"/>
                <a:cs typeface="Arial" pitchFamily="34" charset="-120"/>
              </a:rPr>
              <a:t>+0.93 pp</a:t>
            </a:r>
            <a:endParaRPr lang="en-US" sz="4400" dirty="0"/>
          </a:p>
        </p:txBody>
      </p:sp>
      <p:sp>
        <p:nvSpPr>
          <p:cNvPr id="24" name="Text 20"/>
          <p:cNvSpPr txBox="1"/>
          <p:nvPr/>
        </p:nvSpPr>
        <p:spPr>
          <a:xfrm>
            <a:off x="822960" y="3749040"/>
            <a:ext cx="4480560" cy="548640"/>
          </a:xfrm>
          <a:prstGeom prst="rect">
            <a:avLst/>
          </a:prstGeom>
          <a:noFill/>
          <a:ln/>
        </p:spPr>
        <p:txBody>
          <a:bodyPr wrap="square" lIns="0" tIns="0" rIns="0" bIns="0" rtlCol="0" anchor="t"/>
          <a:lstStyle/>
          <a:p>
            <a:pPr rtl="1" algn="r" indent="0" marL="0">
              <a:buNone/>
            </a:pPr>
            <a:r>
              <a:rPr lang="ar-EG" altLang="en-US" sz="1350" dirty="0">
                <a:solidFill>
                  <a:srgbClr val="6B6B6B"/>
                </a:solidFill>
                <a:latin typeface="Arial" pitchFamily="34" charset="0"/>
                <a:ea typeface="Arial" pitchFamily="34" charset="-122"/>
                <a:cs typeface="Arial" pitchFamily="34" charset="-120"/>
              </a:rPr>
              <a:t>الـ PDR مقارنة بـ v7 (98.14% ← 99.07%)</a:t>
            </a:r>
            <a:endParaRPr lang="ar-EG" sz="1350" dirty="0"/>
          </a:p>
        </p:txBody>
      </p:sp>
      <p:sp>
        <p:nvSpPr>
          <p:cNvPr id="25" name="Shape 21"/>
          <p:cNvSpPr/>
          <p:nvPr/>
        </p:nvSpPr>
        <p:spPr>
          <a:xfrm>
            <a:off x="5760720" y="3931920"/>
            <a:ext cx="5669280" cy="1920240"/>
          </a:xfrm>
          <a:prstGeom prst="roundRect">
            <a:avLst>
              <a:gd name="adj" fmla="val 5714"/>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6" name="Text 22"/>
          <p:cNvSpPr txBox="1"/>
          <p:nvPr/>
        </p:nvSpPr>
        <p:spPr>
          <a:xfrm>
            <a:off x="5943600" y="4069080"/>
            <a:ext cx="526694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قراءة أمينة</a:t>
            </a:r>
            <a:endParaRPr lang="ar-EG" sz="1500" dirty="0"/>
          </a:p>
        </p:txBody>
      </p:sp>
      <p:sp>
        <p:nvSpPr>
          <p:cNvPr id="27" name="Text 23"/>
          <p:cNvSpPr txBox="1"/>
          <p:nvPr/>
        </p:nvSpPr>
        <p:spPr>
          <a:xfrm>
            <a:off x="5961888" y="4663440"/>
            <a:ext cx="5266944" cy="105156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الـ HND والـ LND في حدود 1% من v7 (1886 / 1956 مقابل 1891 / 1976) — زيه، مش أحسن. v8-Chain بيكسب في موت أول نود وفي الاعتمادية.</a:t>
            </a:r>
            <a:endParaRPr lang="ar-EG"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الشبكة مع الوقت</a:t>
            </a:r>
            <a:pPr algn="r" indent="0" marL="0">
              <a:buNone/>
            </a:pPr>
            <a:r>
              <a:rPr lang="ar-EG" altLang="en-US" sz="2100" dirty="0">
                <a:solidFill>
                  <a:srgbClr val="8A2522"/>
                </a:solidFill>
                <a:latin typeface="Arial" pitchFamily="34" charset="0"/>
                <a:ea typeface="Arial" pitchFamily="34" charset="-122"/>
                <a:cs typeface="Arial" pitchFamily="34" charset="-120"/>
              </a:rPr>
              <a:t>  –  الـ BS في النص</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51</a:t>
            </a:r>
            <a:endParaRPr lang="en-US" sz="1000" dirty="0"/>
          </a:p>
        </p:txBody>
      </p:sp>
      <p:pic>
        <p:nvPicPr>
          <p:cNvPr id="20" name="Image 0" descr="img/snap_center.png">    </p:cNvPr>
          <p:cNvPicPr>
            <a:picLocks noChangeAspect="1"/>
          </p:cNvPicPr>
          <p:nvPr/>
        </p:nvPicPr>
        <p:blipFill>
          <a:blip r:embed="rId1"/>
          <a:stretch>
            <a:fillRect/>
          </a:stretch>
        </p:blipFill>
        <p:spPr>
          <a:xfrm>
            <a:off x="640080" y="1741879"/>
            <a:ext cx="10881360" cy="3099922"/>
          </a:xfrm>
          <a:prstGeom prst="rect">
            <a:avLst/>
          </a:prstGeom>
        </p:spPr>
      </p:pic>
      <p:sp>
        <p:nvSpPr>
          <p:cNvPr id="21" name="Shape 17"/>
          <p:cNvSpPr/>
          <p:nvPr/>
        </p:nvSpPr>
        <p:spPr>
          <a:xfrm>
            <a:off x="822960" y="5257800"/>
            <a:ext cx="10607040" cy="685800"/>
          </a:xfrm>
          <a:prstGeom prst="roundRect">
            <a:avLst>
              <a:gd name="adj" fmla="val 16000"/>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2" name="Text 18"/>
          <p:cNvSpPr txBox="1"/>
          <p:nvPr/>
        </p:nvSpPr>
        <p:spPr>
          <a:xfrm>
            <a:off x="1005840" y="5394960"/>
            <a:ext cx="10204704" cy="548640"/>
          </a:xfrm>
          <a:prstGeom prst="rect">
            <a:avLst/>
          </a:prstGeom>
          <a:noFill/>
          <a:ln/>
        </p:spPr>
        <p:txBody>
          <a:bodyPr wrap="square" lIns="0" tIns="0" rIns="0" bIns="0" rtlCol="0" anchor="ctr"/>
          <a:lstStyle/>
          <a:p>
            <a:pPr rtl="1" algn="r" indent="0" marL="0">
              <a:buNone/>
            </a:pPr>
            <a:r>
              <a:rPr lang="ar-EG" altLang="en-US" sz="1400" b="1" dirty="0">
                <a:solidFill>
                  <a:srgbClr val="323232"/>
                </a:solidFill>
                <a:latin typeface="Arial" pitchFamily="34" charset="0"/>
                <a:ea typeface="Arial" pitchFamily="34" charset="-122"/>
                <a:cs typeface="Arial" pitchFamily="34" charset="-120"/>
              </a:rPr>
              <a:t>البطاريات بتخلص بالتساوي: الـ 100 نود عايشين لحد round 2621، وآخر نود مات بعدها بـ 135 round بس.</a:t>
            </a:r>
            <a:endParaRPr lang="ar-EG"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الشبكة مع الوقت</a:t>
            </a:r>
            <a:pPr algn="r" indent="0" marL="0">
              <a:buNone/>
            </a:pPr>
            <a:r>
              <a:rPr lang="ar-EG" altLang="en-US" sz="2100" dirty="0">
                <a:solidFill>
                  <a:srgbClr val="8A2522"/>
                </a:solidFill>
                <a:latin typeface="Arial" pitchFamily="34" charset="0"/>
                <a:ea typeface="Arial" pitchFamily="34" charset="-122"/>
                <a:cs typeface="Arial" pitchFamily="34" charset="-120"/>
              </a:rPr>
              <a:t>  –  الـ BS بعيد</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52</a:t>
            </a:r>
            <a:endParaRPr lang="en-US" sz="1000" dirty="0"/>
          </a:p>
        </p:txBody>
      </p:sp>
      <p:pic>
        <p:nvPicPr>
          <p:cNvPr id="20" name="Image 0" descr="img/snap_far.png">    </p:cNvPr>
          <p:cNvPicPr>
            <a:picLocks noChangeAspect="1"/>
          </p:cNvPicPr>
          <p:nvPr/>
        </p:nvPicPr>
        <p:blipFill>
          <a:blip r:embed="rId1"/>
          <a:stretch>
            <a:fillRect/>
          </a:stretch>
        </p:blipFill>
        <p:spPr>
          <a:xfrm>
            <a:off x="640080" y="1664793"/>
            <a:ext cx="10881360" cy="3985614"/>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النص مقابل البعيد</a:t>
            </a:r>
            <a:pPr algn="r" indent="0" marL="0">
              <a:buNone/>
            </a:pPr>
            <a:r>
              <a:rPr lang="ar-EG" altLang="en-US" sz="2100" dirty="0">
                <a:solidFill>
                  <a:srgbClr val="8A2522"/>
                </a:solidFill>
                <a:latin typeface="Arial" pitchFamily="34" charset="0"/>
                <a:ea typeface="Arial" pitchFamily="34" charset="-122"/>
                <a:cs typeface="Arial" pitchFamily="34" charset="-120"/>
              </a:rPr>
              <a:t>  –  نفس الكود، والـ BS بس اللي بيتحرك</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53</a:t>
            </a:r>
            <a:endParaRPr lang="en-US" sz="1000" dirty="0"/>
          </a:p>
        </p:txBody>
      </p:sp>
      <p:graphicFrame>
        <p:nvGraphicFramePr>
          <p:cNvPr id="20" name="Chart 0" descr=""/>
          <p:cNvGraphicFramePr/>
          <p:nvPr/>
        </p:nvGraphicFramePr>
        <p:xfrm>
          <a:off x="640080" y="1234440"/>
          <a:ext cx="5394960" cy="4846320"/>
        </p:xfrm>
        <a:graphic xmlns:a="http://schemas.openxmlformats.org/drawingml/2006/main">
          <a:graphicData uri="http://schemas.openxmlformats.org/drawingml/2006/chart">
            <c:chart xmlns:c="http://schemas.openxmlformats.org/drawingml/2006/chart" r:id="rId1"/>
          </a:graphicData>
        </a:graphic>
      </p:graphicFrame>
      <p:graphicFrame>
        <p:nvGraphicFramePr>
          <p:cNvPr id="21" name="Chart 1" descr=""/>
          <p:cNvGraphicFramePr/>
          <p:nvPr/>
        </p:nvGraphicFramePr>
        <p:xfrm>
          <a:off x="6126480" y="1234440"/>
          <a:ext cx="5394960" cy="484632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الـ Ablation</a:t>
            </a:r>
            <a:pPr algn="r" indent="0" marL="0">
              <a:buNone/>
            </a:pPr>
            <a:r>
              <a:rPr lang="ar-EG" altLang="en-US" sz="2100" dirty="0">
                <a:solidFill>
                  <a:srgbClr val="8A2522"/>
                </a:solidFill>
                <a:latin typeface="Arial" pitchFamily="34" charset="0"/>
                <a:ea typeface="Arial" pitchFamily="34" charset="-122"/>
                <a:cs typeface="Arial" pitchFamily="34" charset="-120"/>
              </a:rPr>
              <a:t>  –  أنهي آلية أهم؟</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54</a:t>
            </a:r>
            <a:endParaRPr lang="en-US" sz="1000" dirty="0"/>
          </a:p>
        </p:txBody>
      </p:sp>
      <p:graphicFrame>
        <p:nvGraphicFramePr>
          <p:cNvPr id="20" name="Chart 0" descr=""/>
          <p:cNvGraphicFramePr/>
          <p:nvPr/>
        </p:nvGraphicFramePr>
        <p:xfrm>
          <a:off x="5394960" y="1234440"/>
          <a:ext cx="6035040" cy="4846320"/>
        </p:xfrm>
        <a:graphic xmlns:a="http://schemas.openxmlformats.org/drawingml/2006/main">
          <a:graphicData uri="http://schemas.openxmlformats.org/drawingml/2006/chart">
            <c:chart xmlns:c="http://schemas.openxmlformats.org/drawingml/2006/chart" r:id="rId1"/>
          </a:graphicData>
        </a:graphic>
      </p:graphicFrame>
      <p:sp>
        <p:nvSpPr>
          <p:cNvPr id="21" name="Shape 17"/>
          <p:cNvSpPr/>
          <p:nvPr/>
        </p:nvSpPr>
        <p:spPr>
          <a:xfrm>
            <a:off x="822960" y="1463040"/>
            <a:ext cx="4297680" cy="1371600"/>
          </a:xfrm>
          <a:prstGeom prst="roundRect">
            <a:avLst>
              <a:gd name="adj" fmla="val 8000"/>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2" name="Text 18"/>
          <p:cNvSpPr txBox="1"/>
          <p:nvPr/>
        </p:nvSpPr>
        <p:spPr>
          <a:xfrm>
            <a:off x="1005840" y="1600200"/>
            <a:ext cx="389534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I4 الإرسال المباشر</a:t>
            </a:r>
            <a:endParaRPr lang="ar-EG" sz="1500" dirty="0"/>
          </a:p>
        </p:txBody>
      </p:sp>
      <p:sp>
        <p:nvSpPr>
          <p:cNvPr id="23" name="Text 19"/>
          <p:cNvSpPr txBox="1"/>
          <p:nvPr/>
        </p:nvSpPr>
        <p:spPr>
          <a:xfrm>
            <a:off x="1024128" y="2194560"/>
            <a:ext cx="3895344" cy="50292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الأثر الأكبر: الـ FND من 2621 لـ 1821 من غيرها.</a:t>
            </a:r>
            <a:endParaRPr lang="ar-EG" sz="1400" dirty="0"/>
          </a:p>
        </p:txBody>
      </p:sp>
      <p:sp>
        <p:nvSpPr>
          <p:cNvPr id="24" name="Shape 20"/>
          <p:cNvSpPr/>
          <p:nvPr/>
        </p:nvSpPr>
        <p:spPr>
          <a:xfrm>
            <a:off x="822960" y="2971800"/>
            <a:ext cx="4297680" cy="1371600"/>
          </a:xfrm>
          <a:prstGeom prst="roundRect">
            <a:avLst>
              <a:gd name="adj" fmla="val 8000"/>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5" name="Text 21"/>
          <p:cNvSpPr txBox="1"/>
          <p:nvPr/>
        </p:nvSpPr>
        <p:spPr>
          <a:xfrm>
            <a:off x="1005840" y="3108960"/>
            <a:ext cx="389534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I5 ترشيح الأقوياء</a:t>
            </a:r>
            <a:endParaRPr lang="ar-EG" sz="1500" dirty="0"/>
          </a:p>
        </p:txBody>
      </p:sp>
      <p:sp>
        <p:nvSpPr>
          <p:cNvPr id="26" name="Text 22"/>
          <p:cNvSpPr txBox="1"/>
          <p:nvPr/>
        </p:nvSpPr>
        <p:spPr>
          <a:xfrm>
            <a:off x="1024128" y="3703320"/>
            <a:ext cx="3895344" cy="50292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التانية: الـ FND بقى 2171 من غيرها.</a:t>
            </a:r>
            <a:endParaRPr lang="ar-EG" sz="1400" dirty="0"/>
          </a:p>
        </p:txBody>
      </p:sp>
      <p:sp>
        <p:nvSpPr>
          <p:cNvPr id="27" name="Shape 23"/>
          <p:cNvSpPr/>
          <p:nvPr/>
        </p:nvSpPr>
        <p:spPr>
          <a:xfrm>
            <a:off x="822960" y="4480560"/>
            <a:ext cx="4297680" cy="1371600"/>
          </a:xfrm>
          <a:prstGeom prst="roundRect">
            <a:avLst>
              <a:gd name="adj" fmla="val 8000"/>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8" name="Text 24"/>
          <p:cNvSpPr txBox="1"/>
          <p:nvPr/>
        </p:nvSpPr>
        <p:spPr>
          <a:xfrm>
            <a:off x="1005840" y="4617720"/>
            <a:ext cx="389534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I2 / I1 / I3</a:t>
            </a:r>
            <a:endParaRPr lang="ar-EG" sz="1500" dirty="0"/>
          </a:p>
        </p:txBody>
      </p:sp>
      <p:sp>
        <p:nvSpPr>
          <p:cNvPr id="29" name="Text 25"/>
          <p:cNvSpPr txBox="1"/>
          <p:nvPr/>
        </p:nvSpPr>
        <p:spPr>
          <a:xfrm>
            <a:off x="1024128" y="5212080"/>
            <a:ext cx="3895344" cy="50292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I2 بتزوّد الـ PDR (+0.24 نقطة)؛ I1 وI3 شبكة أمان.</a:t>
            </a:r>
            <a:endParaRPr lang="ar-EG" sz="1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الثبات</a:t>
            </a:r>
            <a:pPr algn="r" indent="0" marL="0">
              <a:buNone/>
            </a:pPr>
            <a:r>
              <a:rPr lang="ar-EG" altLang="en-US" sz="2100" dirty="0">
                <a:solidFill>
                  <a:srgbClr val="8A2522"/>
                </a:solidFill>
                <a:latin typeface="Arial" pitchFamily="34" charset="0"/>
                <a:ea typeface="Arial" pitchFamily="34" charset="-122"/>
                <a:cs typeface="Arial" pitchFamily="34" charset="-120"/>
              </a:rPr>
              <a:t>  –  8 أشكال شبكات عشوائية</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55</a:t>
            </a:r>
            <a:endParaRPr lang="en-US" sz="10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480560" y="1463040"/>
          <a:ext cx="6949440" cy="914400"/>
        </p:xfrm>
        <a:graphic>
          <a:graphicData uri="http://schemas.openxmlformats.org/drawingml/2006/table">
            <a:tbl>
              <a:tblPr/>
              <a:tblGrid>
                <a:gridCol w="1188720"/>
                <a:gridCol w="1097280"/>
                <a:gridCol w="1097280"/>
                <a:gridCol w="1097280"/>
                <a:gridCol w="1005840"/>
                <a:gridCol w="1463040"/>
              </a:tblGrid>
              <a:tr h="594360">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متوسط PDR</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متوسط LND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متوسط HND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متوسط FND</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الـ BS</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400" b="1" dirty="0">
                          <a:solidFill>
                            <a:srgbClr val="FFFFFF"/>
                          </a:solidFill>
                          <a:latin typeface="Arial" pitchFamily="34" charset="0"/>
                          <a:ea typeface="Arial" pitchFamily="34" charset="-122"/>
                          <a:cs typeface="Arial" pitchFamily="34" charset="-120"/>
                        </a:rPr>
                        <a:t>البروتوكول</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r>
              <a:tr h="594360">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97.56%</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2374</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2119</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1688</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في النص</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v5b</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594360">
                <a:tc>
                  <a:txBody>
                    <a:bodyPr/>
                    <a:lstStyle/>
                    <a:p>
                      <a:pPr rtl="1" algn="ctr" indent="0" marL="0">
                        <a:buNone/>
                      </a:pPr>
                      <a:r>
                        <a:rPr lang="en-US" sz="1400" b="1" dirty="0">
                          <a:solidFill>
                            <a:srgbClr val="323232"/>
                          </a:solidFill>
                          <a:latin typeface="Arial" pitchFamily="34" charset="0"/>
                          <a:ea typeface="Arial" pitchFamily="34" charset="-122"/>
                          <a:cs typeface="Arial" pitchFamily="34" charset="-120"/>
                        </a:rPr>
                        <a:t>99.25%</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ctr" indent="0" marL="0">
                        <a:buNone/>
                      </a:pPr>
                      <a:r>
                        <a:rPr lang="en-US" sz="1400" b="1" dirty="0">
                          <a:solidFill>
                            <a:srgbClr val="323232"/>
                          </a:solidFill>
                          <a:latin typeface="Arial" pitchFamily="34" charset="0"/>
                          <a:ea typeface="Arial" pitchFamily="34" charset="-122"/>
                          <a:cs typeface="Arial" pitchFamily="34" charset="-120"/>
                        </a:rPr>
                        <a:t>2765</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ctr" indent="0" marL="0">
                        <a:buNone/>
                      </a:pPr>
                      <a:r>
                        <a:rPr lang="en-US" sz="1400" b="1" dirty="0">
                          <a:solidFill>
                            <a:srgbClr val="323232"/>
                          </a:solidFill>
                          <a:latin typeface="Arial" pitchFamily="34" charset="0"/>
                          <a:ea typeface="Arial" pitchFamily="34" charset="-122"/>
                          <a:cs typeface="Arial" pitchFamily="34" charset="-120"/>
                        </a:rPr>
                        <a:t>2720</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ctr" indent="0" marL="0">
                        <a:buNone/>
                      </a:pPr>
                      <a:r>
                        <a:rPr lang="en-US" sz="1400" b="1" dirty="0">
                          <a:solidFill>
                            <a:srgbClr val="323232"/>
                          </a:solidFill>
                          <a:latin typeface="Arial" pitchFamily="34" charset="0"/>
                          <a:ea typeface="Arial" pitchFamily="34" charset="-122"/>
                          <a:cs typeface="Arial" pitchFamily="34" charset="-120"/>
                        </a:rPr>
                        <a:t>2618</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ctr" indent="0" marL="0">
                        <a:buNone/>
                      </a:pPr>
                      <a:r>
                        <a:rPr lang="en-US" sz="1400" b="1" dirty="0">
                          <a:solidFill>
                            <a:srgbClr val="323232"/>
                          </a:solidFill>
                          <a:latin typeface="Arial" pitchFamily="34" charset="0"/>
                          <a:ea typeface="Arial" pitchFamily="34" charset="-122"/>
                          <a:cs typeface="Arial" pitchFamily="34" charset="-120"/>
                        </a:rPr>
                        <a:t>في النص</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v8-Chain</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r>
              <a:tr h="594360">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97.72%</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2001</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1674</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1152</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ctr" indent="0" marL="0">
                        <a:buNone/>
                      </a:pPr>
                      <a:r>
                        <a:rPr lang="en-US" sz="1400" dirty="0">
                          <a:solidFill>
                            <a:srgbClr val="323232"/>
                          </a:solidFill>
                          <a:latin typeface="Arial" pitchFamily="34" charset="0"/>
                          <a:ea typeface="Arial" pitchFamily="34" charset="-122"/>
                          <a:cs typeface="Arial" pitchFamily="34" charset="-120"/>
                        </a:rPr>
                        <a:t>بعيد</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v5b</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594360">
                <a:tc>
                  <a:txBody>
                    <a:bodyPr/>
                    <a:lstStyle/>
                    <a:p>
                      <a:pPr rtl="1" algn="ctr" indent="0" marL="0">
                        <a:buNone/>
                      </a:pPr>
                      <a:r>
                        <a:rPr lang="en-US" sz="1400" b="1" dirty="0">
                          <a:solidFill>
                            <a:srgbClr val="323232"/>
                          </a:solidFill>
                          <a:latin typeface="Arial" pitchFamily="34" charset="0"/>
                          <a:ea typeface="Arial" pitchFamily="34" charset="-122"/>
                          <a:cs typeface="Arial" pitchFamily="34" charset="-120"/>
                        </a:rPr>
                        <a:t>99.05%</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ctr" indent="0" marL="0">
                        <a:buNone/>
                      </a:pPr>
                      <a:r>
                        <a:rPr lang="en-US" sz="1400" b="1" dirty="0">
                          <a:solidFill>
                            <a:srgbClr val="323232"/>
                          </a:solidFill>
                          <a:latin typeface="Arial" pitchFamily="34" charset="0"/>
                          <a:ea typeface="Arial" pitchFamily="34" charset="-122"/>
                          <a:cs typeface="Arial" pitchFamily="34" charset="-120"/>
                        </a:rPr>
                        <a:t>1995</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ctr" indent="0" marL="0">
                        <a:buNone/>
                      </a:pPr>
                      <a:r>
                        <a:rPr lang="en-US" sz="1400" b="1" dirty="0">
                          <a:solidFill>
                            <a:srgbClr val="323232"/>
                          </a:solidFill>
                          <a:latin typeface="Arial" pitchFamily="34" charset="0"/>
                          <a:ea typeface="Arial" pitchFamily="34" charset="-122"/>
                          <a:cs typeface="Arial" pitchFamily="34" charset="-120"/>
                        </a:rPr>
                        <a:t>1932</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ctr" indent="0" marL="0">
                        <a:buNone/>
                      </a:pPr>
                      <a:r>
                        <a:rPr lang="en-US" sz="1400" b="1" dirty="0">
                          <a:solidFill>
                            <a:srgbClr val="323232"/>
                          </a:solidFill>
                          <a:latin typeface="Arial" pitchFamily="34" charset="0"/>
                          <a:ea typeface="Arial" pitchFamily="34" charset="-122"/>
                          <a:cs typeface="Arial" pitchFamily="34" charset="-120"/>
                        </a:rPr>
                        <a:t>1743</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ctr" indent="0" marL="0">
                        <a:buNone/>
                      </a:pPr>
                      <a:r>
                        <a:rPr lang="en-US" sz="1400" b="1" dirty="0">
                          <a:solidFill>
                            <a:srgbClr val="323232"/>
                          </a:solidFill>
                          <a:latin typeface="Arial" pitchFamily="34" charset="0"/>
                          <a:ea typeface="Arial" pitchFamily="34" charset="-122"/>
                          <a:cs typeface="Arial" pitchFamily="34" charset="-120"/>
                        </a:rPr>
                        <a:t>بعيد</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r" indent="0" marL="0">
                        <a:buNone/>
                      </a:pPr>
                      <a:r>
                        <a:rPr lang="en-US" sz="1400" b="1" dirty="0">
                          <a:solidFill>
                            <a:srgbClr val="323232"/>
                          </a:solidFill>
                          <a:latin typeface="Arial" pitchFamily="34" charset="0"/>
                          <a:ea typeface="Arial" pitchFamily="34" charset="-122"/>
                          <a:cs typeface="Arial" pitchFamily="34" charset="-120"/>
                        </a:rPr>
                        <a:t>v8-Chain</a:t>
                      </a:r>
                      <a:endParaRPr lang="en-US" sz="14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r>
            </a:tbl>
          </a:graphicData>
        </a:graphic>
      </p:graphicFrame>
      <p:sp>
        <p:nvSpPr>
          <p:cNvPr id="21" name="Shape 17"/>
          <p:cNvSpPr/>
          <p:nvPr/>
        </p:nvSpPr>
        <p:spPr>
          <a:xfrm>
            <a:off x="822960" y="1463040"/>
            <a:ext cx="3383280" cy="4389120"/>
          </a:xfrm>
          <a:prstGeom prst="roundRect">
            <a:avLst>
              <a:gd name="adj" fmla="val 3243"/>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2" name="Text 18"/>
          <p:cNvSpPr txBox="1"/>
          <p:nvPr/>
        </p:nvSpPr>
        <p:spPr>
          <a:xfrm>
            <a:off x="1005840" y="1600200"/>
            <a:ext cx="298094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ثابت</a:t>
            </a:r>
            <a:endParaRPr lang="ar-EG" sz="1500" dirty="0"/>
          </a:p>
        </p:txBody>
      </p:sp>
      <p:sp>
        <p:nvSpPr>
          <p:cNvPr id="23" name="Text 19"/>
          <p:cNvSpPr txBox="1"/>
          <p:nvPr/>
        </p:nvSpPr>
        <p:spPr>
          <a:xfrm>
            <a:off x="1024128" y="2194560"/>
            <a:ext cx="2980944" cy="3520440"/>
          </a:xfrm>
          <a:prstGeom prst="rect">
            <a:avLst/>
          </a:prstGeom>
          <a:noFill/>
          <a:ln/>
        </p:spPr>
        <p:txBody>
          <a:bodyPr wrap="square" lIns="0" tIns="0" rIns="0" bIns="0" rtlCol="0" anchor="t"/>
          <a:lstStyle/>
          <a:p>
            <a:pPr rtl="1" algn="r" indent="0" marL="0">
              <a:spcAft>
                <a:spcPts val="400"/>
              </a:spcAft>
              <a:buNone/>
            </a:pPr>
            <a:r>
              <a:rPr lang="ar-EG" altLang="en-US" sz="1500" dirty="0">
                <a:solidFill>
                  <a:srgbClr val="323232"/>
                </a:solidFill>
                <a:latin typeface="Arial" pitchFamily="34" charset="0"/>
                <a:ea typeface="Arial" pitchFamily="34" charset="-122"/>
                <a:cs typeface="Arial" pitchFamily="34" charset="-120"/>
              </a:rPr>
              <a:t>الترتيب واحد في كل الأشكال.</a:t>
            </a:r>
            <a:endParaRPr lang="ar-EG" sz="1500" dirty="0"/>
          </a:p>
          <a:p>
            <a:pPr rtl="1" algn="r" indent="0" marL="0">
              <a:spcAft>
                <a:spcPts val="400"/>
              </a:spcAft>
              <a:buNone/>
            </a:pPr>
            <a:endParaRPr lang="ar-EG" sz="1500" dirty="0"/>
          </a:p>
          <a:p>
            <a:pPr rtl="1" algn="r" indent="0" marL="0">
              <a:spcAft>
                <a:spcPts val="400"/>
              </a:spcAft>
              <a:buNone/>
            </a:pPr>
            <a:r>
              <a:rPr lang="ar-EG" altLang="en-US" sz="1500" dirty="0">
                <a:solidFill>
                  <a:srgbClr val="323232"/>
                </a:solidFill>
                <a:latin typeface="Arial" pitchFamily="34" charset="0"/>
                <a:ea typeface="Arial" pitchFamily="34" charset="-122"/>
                <a:cs typeface="Arial" pitchFamily="34" charset="-120"/>
              </a:rPr>
              <a:t>لما الـ BS بعيد، v8-Chain ساوى أو عدّى LND بتاع v7 (1976) في 6 من 8.</a:t>
            </a:r>
            <a:endParaRPr lang="ar-EG" sz="15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المقارنة الكلية</a:t>
            </a:r>
            <a:pPr algn="r" indent="0" marL="0">
              <a:buNone/>
            </a:pPr>
            <a:r>
              <a:rPr lang="ar-EG" altLang="en-US" sz="2100" dirty="0">
                <a:solidFill>
                  <a:srgbClr val="8A2522"/>
                </a:solidFill>
                <a:latin typeface="Arial" pitchFamily="34" charset="0"/>
                <a:ea typeface="Arial" pitchFamily="34" charset="-122"/>
                <a:cs typeface="Arial" pitchFamily="34" charset="-120"/>
              </a:rPr>
              <a:t>  –  أحسن نسخة من كل عيلة (الـ BS في النص)</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56</a:t>
            </a:r>
            <a:endParaRPr lang="en-US" sz="1000" dirty="0"/>
          </a:p>
        </p:txBody>
      </p:sp>
      <p:graphicFrame>
        <p:nvGraphicFramePr>
          <p:cNvPr id="20" name="Chart 0" descr=""/>
          <p:cNvGraphicFramePr/>
          <p:nvPr/>
        </p:nvGraphicFramePr>
        <p:xfrm>
          <a:off x="4023360" y="1234440"/>
          <a:ext cx="7406640" cy="4846320"/>
        </p:xfrm>
        <a:graphic xmlns:a="http://schemas.openxmlformats.org/drawingml/2006/main">
          <a:graphicData uri="http://schemas.openxmlformats.org/drawingml/2006/chart">
            <c:chart xmlns:c="http://schemas.openxmlformats.org/drawingml/2006/chart" r:id="rId1"/>
          </a:graphicData>
        </a:graphic>
      </p:graphicFrame>
      <p:sp>
        <p:nvSpPr>
          <p:cNvPr id="21" name="Shape 17"/>
          <p:cNvSpPr/>
          <p:nvPr/>
        </p:nvSpPr>
        <p:spPr>
          <a:xfrm>
            <a:off x="822960" y="1463040"/>
            <a:ext cx="3017520" cy="4389120"/>
          </a:xfrm>
          <a:prstGeom prst="roundRect">
            <a:avLst>
              <a:gd name="adj" fmla="val 3636"/>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2" name="Text 18"/>
          <p:cNvSpPr txBox="1"/>
          <p:nvPr/>
        </p:nvSpPr>
        <p:spPr>
          <a:xfrm>
            <a:off x="1005840" y="1600200"/>
            <a:ext cx="261518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القراءة</a:t>
            </a:r>
            <a:endParaRPr lang="ar-EG" sz="1500" dirty="0"/>
          </a:p>
        </p:txBody>
      </p:sp>
      <p:sp>
        <p:nvSpPr>
          <p:cNvPr id="23" name="Text 19"/>
          <p:cNvSpPr txBox="1"/>
          <p:nvPr/>
        </p:nvSpPr>
        <p:spPr>
          <a:xfrm>
            <a:off x="1024128" y="2194560"/>
            <a:ext cx="2615184" cy="352044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v8-Chain: أطول وقت قبل موت أول نود في الكل.</a:t>
            </a:r>
            <a:endParaRPr lang="ar-EG" sz="1400" dirty="0"/>
          </a:p>
          <a:p>
            <a:pPr rtl="1" algn="r" indent="0" marL="0">
              <a:spcAft>
                <a:spcPts val="400"/>
              </a:spcAft>
              <a:buNone/>
            </a:pPr>
            <a:endParaRPr lang="ar-EG" sz="1400" dirty="0"/>
          </a:p>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PEGASIS: LND أطول، بس أول نود بيموت قبلنا بـ ~1300 round.</a:t>
            </a:r>
            <a:endParaRPr lang="ar-EG" sz="1400" dirty="0"/>
          </a:p>
          <a:p>
            <a:pPr rtl="1" algn="r" indent="0" marL="0">
              <a:spcAft>
                <a:spcPts val="400"/>
              </a:spcAft>
              <a:buNone/>
            </a:pPr>
            <a:endParaRPr lang="ar-EG" sz="1400" dirty="0"/>
          </a:p>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 = النسخة المحسّنة.</a:t>
            </a:r>
            <a:endParaRPr lang="ar-EG" sz="1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المقارنة الكلية</a:t>
            </a:r>
            <a:pPr algn="r" indent="0" marL="0">
              <a:buNone/>
            </a:pPr>
            <a:r>
              <a:rPr lang="ar-EG" altLang="en-US" sz="2100" dirty="0">
                <a:solidFill>
                  <a:srgbClr val="8A2522"/>
                </a:solidFill>
                <a:latin typeface="Arial" pitchFamily="34" charset="0"/>
                <a:ea typeface="Arial" pitchFamily="34" charset="-122"/>
                <a:cs typeface="Arial" pitchFamily="34" charset="-120"/>
              </a:rPr>
              <a:t>  –  الاعتمادية (PDR)</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57</a:t>
            </a:r>
            <a:endParaRPr lang="en-US" sz="1000" dirty="0"/>
          </a:p>
        </p:txBody>
      </p:sp>
      <p:graphicFrame>
        <p:nvGraphicFramePr>
          <p:cNvPr id="20" name="Chart 0" descr=""/>
          <p:cNvGraphicFramePr/>
          <p:nvPr/>
        </p:nvGraphicFramePr>
        <p:xfrm>
          <a:off x="4023360" y="1234440"/>
          <a:ext cx="7406640" cy="4846320"/>
        </p:xfrm>
        <a:graphic xmlns:a="http://schemas.openxmlformats.org/drawingml/2006/main">
          <a:graphicData uri="http://schemas.openxmlformats.org/drawingml/2006/chart">
            <c:chart xmlns:c="http://schemas.openxmlformats.org/drawingml/2006/chart" r:id="rId1"/>
          </a:graphicData>
        </a:graphic>
      </p:graphicFrame>
      <p:sp>
        <p:nvSpPr>
          <p:cNvPr id="21" name="Shape 17"/>
          <p:cNvSpPr/>
          <p:nvPr/>
        </p:nvSpPr>
        <p:spPr>
          <a:xfrm>
            <a:off x="822960" y="1463040"/>
            <a:ext cx="3017520" cy="4389120"/>
          </a:xfrm>
          <a:prstGeom prst="roundRect">
            <a:avLst>
              <a:gd name="adj" fmla="val 3636"/>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2" name="Text 18"/>
          <p:cNvSpPr txBox="1"/>
          <p:nvPr/>
        </p:nvSpPr>
        <p:spPr>
          <a:xfrm>
            <a:off x="1005840" y="1600200"/>
            <a:ext cx="261518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القراءة</a:t>
            </a:r>
            <a:endParaRPr lang="ar-EG" sz="1500" dirty="0"/>
          </a:p>
        </p:txBody>
      </p:sp>
      <p:sp>
        <p:nvSpPr>
          <p:cNvPr id="23" name="Text 19"/>
          <p:cNvSpPr txBox="1"/>
          <p:nvPr/>
        </p:nvSpPr>
        <p:spPr>
          <a:xfrm>
            <a:off x="1024128" y="2194560"/>
            <a:ext cx="2615184" cy="3520440"/>
          </a:xfrm>
          <a:prstGeom prst="rect">
            <a:avLst/>
          </a:prstGeom>
          <a:noFill/>
          <a:ln/>
        </p:spPr>
        <p:txBody>
          <a:bodyPr wrap="square" lIns="0" tIns="0" rIns="0" bIns="0" rtlCol="0" anchor="t"/>
          <a:lstStyle/>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HEED وSH-LEACH+ بيوصّلوا أكتر شوية — بس أول نود فيهم بيموت قبلنا بـ 1,200–2,300 round.</a:t>
            </a:r>
            <a:endParaRPr lang="ar-EG" sz="1400" dirty="0"/>
          </a:p>
          <a:p>
            <a:pPr rtl="1" algn="r" indent="0" marL="0">
              <a:spcAft>
                <a:spcPts val="400"/>
              </a:spcAft>
              <a:buNone/>
            </a:pPr>
            <a:endParaRPr lang="ar-EG" sz="1400" dirty="0"/>
          </a:p>
          <a:p>
            <a:pPr rtl="1" algn="r" indent="0" marL="0">
              <a:spcAft>
                <a:spcPts val="400"/>
              </a:spcAft>
              <a:buNone/>
            </a:pPr>
            <a:r>
              <a:rPr lang="ar-EG" altLang="en-US" sz="1400" dirty="0">
                <a:solidFill>
                  <a:srgbClr val="323232"/>
                </a:solidFill>
                <a:latin typeface="Arial" pitchFamily="34" charset="0"/>
                <a:ea typeface="Arial" pitchFamily="34" charset="-122"/>
                <a:cs typeface="Arial" pitchFamily="34" charset="-120"/>
              </a:rPr>
              <a:t>بين البروتوكولات اللي عمرها طويل، v8-Chain الأعلى في الـ PDR.</a:t>
            </a:r>
            <a:endParaRPr lang="ar-EG" sz="1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أهم الاستنتاجات</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58</a:t>
            </a:r>
            <a:endParaRPr lang="en-US" sz="1000" dirty="0"/>
          </a:p>
        </p:txBody>
      </p:sp>
      <p:sp>
        <p:nvSpPr>
          <p:cNvPr id="20" name="Shape 17"/>
          <p:cNvSpPr/>
          <p:nvPr/>
        </p:nvSpPr>
        <p:spPr>
          <a:xfrm>
            <a:off x="10863072" y="1481328"/>
            <a:ext cx="566928" cy="566928"/>
          </a:xfrm>
          <a:prstGeom prst="ellipse">
            <a:avLst/>
          </a:prstGeom>
          <a:solidFill>
            <a:srgbClr val="8A2522"/>
          </a:solidFill>
          <a:ln w="12700">
            <a:solidFill>
              <a:srgbClr val="8A2522"/>
            </a:solidFill>
            <a:prstDash val="solid"/>
          </a:ln>
        </p:spPr>
      </p:sp>
      <p:sp>
        <p:nvSpPr>
          <p:cNvPr id="21" name="Text 18"/>
          <p:cNvSpPr txBox="1"/>
          <p:nvPr/>
        </p:nvSpPr>
        <p:spPr>
          <a:xfrm>
            <a:off x="10863072" y="14813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22" name="Text 19"/>
          <p:cNvSpPr txBox="1"/>
          <p:nvPr/>
        </p:nvSpPr>
        <p:spPr>
          <a:xfrm>
            <a:off x="822960" y="1371600"/>
            <a:ext cx="9875520" cy="804672"/>
          </a:xfrm>
          <a:prstGeom prst="rect">
            <a:avLst/>
          </a:prstGeom>
          <a:noFill/>
          <a:ln/>
        </p:spPr>
        <p:txBody>
          <a:bodyPr wrap="square" lIns="0" tIns="0" rIns="0" bIns="0" rtlCol="0" anchor="ctr"/>
          <a:lstStyle/>
          <a:p>
            <a:pPr algn="r" indent="0" marL="0">
              <a:buNone/>
            </a:pPr>
            <a:r>
              <a:rPr lang="ar-EG" altLang="en-US" sz="1500" b="1" dirty="0">
                <a:solidFill>
                  <a:srgbClr val="8A2522"/>
                </a:solidFill>
                <a:latin typeface="Arial" pitchFamily="34" charset="0"/>
                <a:ea typeface="Arial" pitchFamily="34" charset="-122"/>
                <a:cs typeface="Arial" pitchFamily="34" charset="-120"/>
              </a:rPr>
              <a:t>التصميم أهم من ضبط الأرقام  </a:t>
            </a:r>
            <a:pPr algn="r" indent="0" marL="0">
              <a:buNone/>
            </a:pPr>
            <a:r>
              <a:rPr lang="ar-EG" altLang="en-US" sz="1500" dirty="0">
                <a:solidFill>
                  <a:srgbClr val="323232"/>
                </a:solidFill>
                <a:latin typeface="Arial" pitchFamily="34" charset="0"/>
                <a:ea typeface="Arial" pitchFamily="34" charset="-122"/>
                <a:cs typeface="Arial" pitchFamily="34" charset="-120"/>
              </a:rPr>
              <a:t>v3 (معادلة واحدة + إعادة استخدام) وv8 (حماية الـ CH وتخفيف حمله) جابوا أكبر مكسبين؛ تغيير المدة لوحده ماجابش.</a:t>
            </a:r>
            <a:endParaRPr lang="ar-EG" sz="1500" dirty="0"/>
          </a:p>
        </p:txBody>
      </p:sp>
      <p:sp>
        <p:nvSpPr>
          <p:cNvPr id="23" name="Shape 20"/>
          <p:cNvSpPr/>
          <p:nvPr/>
        </p:nvSpPr>
        <p:spPr>
          <a:xfrm>
            <a:off x="10863072" y="2423160"/>
            <a:ext cx="566928" cy="566928"/>
          </a:xfrm>
          <a:prstGeom prst="ellipse">
            <a:avLst/>
          </a:prstGeom>
          <a:solidFill>
            <a:srgbClr val="8A2522"/>
          </a:solidFill>
          <a:ln w="12700">
            <a:solidFill>
              <a:srgbClr val="8A2522"/>
            </a:solidFill>
            <a:prstDash val="solid"/>
          </a:ln>
        </p:spPr>
      </p:sp>
      <p:sp>
        <p:nvSpPr>
          <p:cNvPr id="24" name="Text 21"/>
          <p:cNvSpPr txBox="1"/>
          <p:nvPr/>
        </p:nvSpPr>
        <p:spPr>
          <a:xfrm>
            <a:off x="10863072" y="242316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25" name="Text 22"/>
          <p:cNvSpPr txBox="1"/>
          <p:nvPr/>
        </p:nvSpPr>
        <p:spPr>
          <a:xfrm>
            <a:off x="822960" y="2313432"/>
            <a:ext cx="9875520" cy="804672"/>
          </a:xfrm>
          <a:prstGeom prst="rect">
            <a:avLst/>
          </a:prstGeom>
          <a:noFill/>
          <a:ln/>
        </p:spPr>
        <p:txBody>
          <a:bodyPr wrap="square" lIns="0" tIns="0" rIns="0" bIns="0" rtlCol="0" anchor="ctr"/>
          <a:lstStyle/>
          <a:p>
            <a:pPr algn="r" indent="0" marL="0">
              <a:buNone/>
            </a:pPr>
            <a:r>
              <a:rPr lang="ar-EG" altLang="en-US" sz="1500" b="1" dirty="0">
                <a:solidFill>
                  <a:srgbClr val="8A2522"/>
                </a:solidFill>
                <a:latin typeface="Arial" pitchFamily="34" charset="0"/>
                <a:ea typeface="Arial" pitchFamily="34" charset="-122"/>
                <a:cs typeface="Arial" pitchFamily="34" charset="-120"/>
              </a:rPr>
              <a:t>امنع، وبعدين صلّح  </a:t>
            </a:r>
            <a:pPr algn="r" indent="0" marL="0">
              <a:buNone/>
            </a:pPr>
            <a:r>
              <a:rPr lang="ar-EG" altLang="en-US" sz="1500" dirty="0">
                <a:solidFill>
                  <a:srgbClr val="323232"/>
                </a:solidFill>
                <a:latin typeface="Arial" pitchFamily="34" charset="0"/>
                <a:ea typeface="Arial" pitchFamily="34" charset="-122"/>
                <a:cs typeface="Arial" pitchFamily="34" charset="-120"/>
              </a:rPr>
              <a:t>التسليم قبل موت الـ CH (I2) + النائب بعد موته بيخلّوا المجموعات شغّالة والرسايل ماشية.</a:t>
            </a:r>
            <a:endParaRPr lang="ar-EG" sz="1500" dirty="0"/>
          </a:p>
        </p:txBody>
      </p:sp>
      <p:sp>
        <p:nvSpPr>
          <p:cNvPr id="26" name="Shape 23"/>
          <p:cNvSpPr/>
          <p:nvPr/>
        </p:nvSpPr>
        <p:spPr>
          <a:xfrm>
            <a:off x="10863072" y="3364992"/>
            <a:ext cx="566928" cy="566928"/>
          </a:xfrm>
          <a:prstGeom prst="ellipse">
            <a:avLst/>
          </a:prstGeom>
          <a:solidFill>
            <a:srgbClr val="8A2522"/>
          </a:solidFill>
          <a:ln w="12700">
            <a:solidFill>
              <a:srgbClr val="8A2522"/>
            </a:solidFill>
            <a:prstDash val="solid"/>
          </a:ln>
        </p:spPr>
      </p:sp>
      <p:sp>
        <p:nvSpPr>
          <p:cNvPr id="27" name="Text 24"/>
          <p:cNvSpPr txBox="1"/>
          <p:nvPr/>
        </p:nvSpPr>
        <p:spPr>
          <a:xfrm>
            <a:off x="10863072" y="3364992"/>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8" name="Text 25"/>
          <p:cNvSpPr txBox="1"/>
          <p:nvPr/>
        </p:nvSpPr>
        <p:spPr>
          <a:xfrm>
            <a:off x="822960" y="3255264"/>
            <a:ext cx="9875520" cy="804672"/>
          </a:xfrm>
          <a:prstGeom prst="rect">
            <a:avLst/>
          </a:prstGeom>
          <a:noFill/>
          <a:ln/>
        </p:spPr>
        <p:txBody>
          <a:bodyPr wrap="square" lIns="0" tIns="0" rIns="0" bIns="0" rtlCol="0" anchor="ctr"/>
          <a:lstStyle/>
          <a:p>
            <a:pPr algn="r" indent="0" marL="0">
              <a:buNone/>
            </a:pPr>
            <a:r>
              <a:rPr lang="ar-EG" altLang="en-US" sz="1500" b="1" dirty="0">
                <a:solidFill>
                  <a:srgbClr val="8A2522"/>
                </a:solidFill>
                <a:latin typeface="Arial" pitchFamily="34" charset="0"/>
                <a:ea typeface="Arial" pitchFamily="34" charset="-122"/>
                <a:cs typeface="Arial" pitchFamily="34" charset="-120"/>
              </a:rPr>
              <a:t>مش كل رسالة محتاجة CH  </a:t>
            </a:r>
            <a:pPr algn="r" indent="0" marL="0">
              <a:buNone/>
            </a:pPr>
            <a:r>
              <a:rPr lang="ar-EG" altLang="en-US" sz="1500" dirty="0">
                <a:solidFill>
                  <a:srgbClr val="323232"/>
                </a:solidFill>
                <a:latin typeface="Arial" pitchFamily="34" charset="0"/>
                <a:ea typeface="Arial" pitchFamily="34" charset="-122"/>
                <a:cs typeface="Arial" pitchFamily="34" charset="-120"/>
              </a:rPr>
              <a:t>الإرسال المباشر للـ BS للنودز القريبة هو أكبر سبب لزيادة العمر.</a:t>
            </a:r>
            <a:endParaRPr lang="ar-EG" sz="1500" dirty="0"/>
          </a:p>
        </p:txBody>
      </p:sp>
      <p:sp>
        <p:nvSpPr>
          <p:cNvPr id="29" name="Shape 26"/>
          <p:cNvSpPr/>
          <p:nvPr/>
        </p:nvSpPr>
        <p:spPr>
          <a:xfrm>
            <a:off x="10863072" y="4306824"/>
            <a:ext cx="566928" cy="566928"/>
          </a:xfrm>
          <a:prstGeom prst="ellipse">
            <a:avLst/>
          </a:prstGeom>
          <a:solidFill>
            <a:srgbClr val="8A2522"/>
          </a:solidFill>
          <a:ln w="12700">
            <a:solidFill>
              <a:srgbClr val="8A2522"/>
            </a:solidFill>
            <a:prstDash val="solid"/>
          </a:ln>
        </p:spPr>
      </p:sp>
      <p:sp>
        <p:nvSpPr>
          <p:cNvPr id="30" name="Text 27"/>
          <p:cNvSpPr txBox="1"/>
          <p:nvPr/>
        </p:nvSpPr>
        <p:spPr>
          <a:xfrm>
            <a:off x="10863072" y="4306824"/>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31" name="Text 28"/>
          <p:cNvSpPr txBox="1"/>
          <p:nvPr/>
        </p:nvSpPr>
        <p:spPr>
          <a:xfrm>
            <a:off x="822960" y="4197096"/>
            <a:ext cx="9875520" cy="804672"/>
          </a:xfrm>
          <a:prstGeom prst="rect">
            <a:avLst/>
          </a:prstGeom>
          <a:noFill/>
          <a:ln/>
        </p:spPr>
        <p:txBody>
          <a:bodyPr wrap="square" lIns="0" tIns="0" rIns="0" bIns="0" rtlCol="0" anchor="ctr"/>
          <a:lstStyle/>
          <a:p>
            <a:pPr algn="r" indent="0" marL="0">
              <a:buNone/>
            </a:pPr>
            <a:r>
              <a:rPr lang="ar-EG" altLang="en-US" sz="1500" b="1" dirty="0">
                <a:solidFill>
                  <a:srgbClr val="8A2522"/>
                </a:solidFill>
                <a:latin typeface="Arial" pitchFamily="34" charset="0"/>
                <a:ea typeface="Arial" pitchFamily="34" charset="-122"/>
                <a:cs typeface="Arial" pitchFamily="34" charset="-120"/>
              </a:rPr>
              <a:t>التوصيل قرار حسب الطاقة  </a:t>
            </a:r>
            <a:pPr algn="r" indent="0" marL="0">
              <a:buNone/>
            </a:pPr>
            <a:r>
              <a:rPr lang="ar-EG" altLang="en-US" sz="1500" dirty="0">
                <a:solidFill>
                  <a:srgbClr val="323232"/>
                </a:solidFill>
                <a:latin typeface="Arial" pitchFamily="34" charset="0"/>
                <a:ea typeface="Arial" pitchFamily="34" charset="-122"/>
                <a:cs typeface="Arial" pitchFamily="34" charset="-120"/>
              </a:rPr>
              <a:t>قرار كل CH حسب التكلفة أحسن من سلسلة ثابتة: 0 توصيلات في النص، وسلسلة لما الـ BS يبعد.</a:t>
            </a:r>
            <a:endParaRPr lang="ar-EG" sz="1500" dirty="0"/>
          </a:p>
        </p:txBody>
      </p:sp>
      <p:sp>
        <p:nvSpPr>
          <p:cNvPr id="32" name="Shape 29"/>
          <p:cNvSpPr/>
          <p:nvPr/>
        </p:nvSpPr>
        <p:spPr>
          <a:xfrm>
            <a:off x="10863072" y="5248656"/>
            <a:ext cx="566928" cy="566928"/>
          </a:xfrm>
          <a:prstGeom prst="ellipse">
            <a:avLst/>
          </a:prstGeom>
          <a:solidFill>
            <a:srgbClr val="8A2522"/>
          </a:solidFill>
          <a:ln w="12700">
            <a:solidFill>
              <a:srgbClr val="8A2522"/>
            </a:solidFill>
            <a:prstDash val="solid"/>
          </a:ln>
        </p:spPr>
      </p:sp>
      <p:sp>
        <p:nvSpPr>
          <p:cNvPr id="33" name="Text 30"/>
          <p:cNvSpPr txBox="1"/>
          <p:nvPr/>
        </p:nvSpPr>
        <p:spPr>
          <a:xfrm>
            <a:off x="10863072" y="5248656"/>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34" name="Text 31"/>
          <p:cNvSpPr txBox="1"/>
          <p:nvPr/>
        </p:nvSpPr>
        <p:spPr>
          <a:xfrm>
            <a:off x="822960" y="5138928"/>
            <a:ext cx="9875520" cy="804672"/>
          </a:xfrm>
          <a:prstGeom prst="rect">
            <a:avLst/>
          </a:prstGeom>
          <a:noFill/>
          <a:ln/>
        </p:spPr>
        <p:txBody>
          <a:bodyPr wrap="square" lIns="0" tIns="0" rIns="0" bIns="0" rtlCol="0" anchor="ctr"/>
          <a:lstStyle/>
          <a:p>
            <a:pPr algn="r" indent="0" marL="0">
              <a:buNone/>
            </a:pPr>
            <a:r>
              <a:rPr lang="ar-EG" altLang="en-US" sz="1500" b="1" dirty="0">
                <a:solidFill>
                  <a:srgbClr val="8A2522"/>
                </a:solidFill>
                <a:latin typeface="Arial" pitchFamily="34" charset="0"/>
                <a:ea typeface="Arial" pitchFamily="34" charset="-122"/>
                <a:cs typeface="Arial" pitchFamily="34" charset="-120"/>
              </a:rPr>
              <a:t>اقري الـ LND مع التوصيل  </a:t>
            </a:r>
            <a:pPr algn="r" indent="0" marL="0">
              <a:buNone/>
            </a:pPr>
            <a:r>
              <a:rPr lang="ar-EG" altLang="en-US" sz="1500" dirty="0">
                <a:solidFill>
                  <a:srgbClr val="323232"/>
                </a:solidFill>
                <a:latin typeface="Arial" pitchFamily="34" charset="0"/>
                <a:ea typeface="Arial" pitchFamily="34" charset="-122"/>
                <a:cs typeface="Arial" pitchFamily="34" charset="-120"/>
              </a:rPr>
              <a:t>الـ LND الطويل ممكن يخبّي نودز ساكتة (v5b)؛ الـ FND والـ PDR والرسايل اللي وصلت بيكشفوه.</a:t>
            </a:r>
            <a:endParaRPr lang="ar-EG" sz="15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التوصيات</a:t>
            </a:r>
            <a:pPr algn="r" indent="0" marL="0">
              <a:buNone/>
            </a:pPr>
            <a:r>
              <a:rPr lang="ar-EG" altLang="en-US" sz="2100" dirty="0">
                <a:solidFill>
                  <a:srgbClr val="8A2522"/>
                </a:solidFill>
                <a:latin typeface="Arial" pitchFamily="34" charset="0"/>
                <a:ea typeface="Arial" pitchFamily="34" charset="-122"/>
                <a:cs typeface="Arial" pitchFamily="34" charset="-120"/>
              </a:rPr>
              <a:t>  –  نستخدم إيه وإمتى؟</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59</a:t>
            </a:r>
            <a:endParaRPr lang="en-US" sz="10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822960" y="1463040"/>
          <a:ext cx="10607040" cy="914400"/>
        </p:xfrm>
        <a:graphic>
          <a:graphicData uri="http://schemas.openxmlformats.org/drawingml/2006/table">
            <a:tbl>
              <a:tblPr/>
              <a:tblGrid>
                <a:gridCol w="4572000"/>
                <a:gridCol w="3017520"/>
                <a:gridCol w="3017520"/>
              </a:tblGrid>
              <a:tr h="731520">
                <a:tc>
                  <a:txBody>
                    <a:bodyPr/>
                    <a:lstStyle/>
                    <a:p>
                      <a:pPr rtl="1" algn="ctr" indent="0" marL="0">
                        <a:buNone/>
                      </a:pPr>
                      <a:r>
                        <a:rPr lang="en-US" sz="1600" b="1" dirty="0">
                          <a:solidFill>
                            <a:srgbClr val="FFFFFF"/>
                          </a:solidFill>
                          <a:latin typeface="Arial" pitchFamily="34" charset="0"/>
                          <a:ea typeface="Arial" pitchFamily="34" charset="-122"/>
                          <a:cs typeface="Arial" pitchFamily="34" charset="-120"/>
                        </a:rPr>
                        <a:t>ليه</a:t>
                      </a:r>
                      <a:endParaRPr lang="en-US" sz="16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600" b="1" dirty="0">
                          <a:solidFill>
                            <a:srgbClr val="FFFFFF"/>
                          </a:solidFill>
                          <a:latin typeface="Arial" pitchFamily="34" charset="0"/>
                          <a:ea typeface="Arial" pitchFamily="34" charset="-122"/>
                          <a:cs typeface="Arial" pitchFamily="34" charset="-120"/>
                        </a:rPr>
                        <a:t>الأحسن</a:t>
                      </a:r>
                      <a:endParaRPr lang="en-US" sz="16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c>
                  <a:txBody>
                    <a:bodyPr/>
                    <a:lstStyle/>
                    <a:p>
                      <a:pPr rtl="1" algn="ctr" indent="0" marL="0">
                        <a:buNone/>
                      </a:pPr>
                      <a:r>
                        <a:rPr lang="en-US" sz="1600" b="1" dirty="0">
                          <a:solidFill>
                            <a:srgbClr val="FFFFFF"/>
                          </a:solidFill>
                          <a:latin typeface="Arial" pitchFamily="34" charset="0"/>
                          <a:ea typeface="Arial" pitchFamily="34" charset="-122"/>
                          <a:cs typeface="Arial" pitchFamily="34" charset="-120"/>
                        </a:rPr>
                        <a:t>الموقف</a:t>
                      </a:r>
                      <a:endParaRPr lang="en-US" sz="16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8A2522"/>
                    </a:solidFill>
                  </a:tcPr>
                </a:tc>
              </a:tr>
              <a:tr h="731520">
                <a:tc>
                  <a:txBody>
                    <a:bodyPr/>
                    <a:lstStyle/>
                    <a:p>
                      <a:pPr rtl="1" algn="r" indent="0" marL="0">
                        <a:buNone/>
                      </a:pPr>
                      <a:r>
                        <a:rPr lang="en-US" sz="1600" b="1" dirty="0">
                          <a:solidFill>
                            <a:srgbClr val="323232"/>
                          </a:solidFill>
                          <a:latin typeface="Arial" pitchFamily="34" charset="0"/>
                          <a:ea typeface="Arial" pitchFamily="34" charset="-122"/>
                          <a:cs typeface="Arial" pitchFamily="34" charset="-120"/>
                        </a:rPr>
                        <a:t>أطول FND، وPDR 99.27%، وبيشتغل زي v8</a:t>
                      </a:r>
                      <a:endParaRPr lang="en-US" sz="16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r" indent="0" marL="0">
                        <a:buNone/>
                      </a:pPr>
                      <a:r>
                        <a:rPr lang="en-US" sz="1600" b="1" dirty="0">
                          <a:solidFill>
                            <a:srgbClr val="323232"/>
                          </a:solidFill>
                          <a:latin typeface="Arial" pitchFamily="34" charset="0"/>
                          <a:ea typeface="Arial" pitchFamily="34" charset="-122"/>
                          <a:cs typeface="Arial" pitchFamily="34" charset="-120"/>
                        </a:rPr>
                        <a:t>v8-Chain</a:t>
                      </a:r>
                      <a:endParaRPr lang="en-US" sz="16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r" indent="0" marL="0">
                        <a:buNone/>
                      </a:pPr>
                      <a:r>
                        <a:rPr lang="en-US" sz="1600" b="1" dirty="0">
                          <a:solidFill>
                            <a:srgbClr val="323232"/>
                          </a:solidFill>
                          <a:latin typeface="Arial" pitchFamily="34" charset="0"/>
                          <a:ea typeface="Arial" pitchFamily="34" charset="-122"/>
                          <a:cs typeface="Arial" pitchFamily="34" charset="-120"/>
                        </a:rPr>
                        <a:t>الـ BS جوه الأرض أو قريب</a:t>
                      </a:r>
                      <a:endParaRPr lang="en-US" sz="16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r>
              <a:tr h="731520">
                <a:tc>
                  <a:txBody>
                    <a:bodyPr/>
                    <a:lstStyle/>
                    <a:p>
                      <a:pPr rtl="1" algn="r" indent="0" marL="0">
                        <a:buNone/>
                      </a:pPr>
                      <a:r>
                        <a:rPr lang="en-US" sz="1600" b="1" dirty="0">
                          <a:solidFill>
                            <a:srgbClr val="323232"/>
                          </a:solidFill>
                          <a:latin typeface="Arial" pitchFamily="34" charset="0"/>
                          <a:ea typeface="Arial" pitchFamily="34" charset="-122"/>
                          <a:cs typeface="Arial" pitchFamily="34" charset="-120"/>
                        </a:rPr>
                        <a:t>أحسن FND وPDR والـ BS بعيد، والسلسلة بتتعمل لوحدها</a:t>
                      </a:r>
                      <a:endParaRPr lang="en-US" sz="16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r" indent="0" marL="0">
                        <a:buNone/>
                      </a:pPr>
                      <a:r>
                        <a:rPr lang="en-US" sz="1600" b="1" dirty="0">
                          <a:solidFill>
                            <a:srgbClr val="323232"/>
                          </a:solidFill>
                          <a:latin typeface="Arial" pitchFamily="34" charset="0"/>
                          <a:ea typeface="Arial" pitchFamily="34" charset="-122"/>
                          <a:cs typeface="Arial" pitchFamily="34" charset="-120"/>
                        </a:rPr>
                        <a:t>v8-Chain</a:t>
                      </a:r>
                      <a:endParaRPr lang="en-US" sz="16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c>
                  <a:txBody>
                    <a:bodyPr/>
                    <a:lstStyle/>
                    <a:p>
                      <a:pPr rtl="1" algn="r" indent="0" marL="0">
                        <a:buNone/>
                      </a:pPr>
                      <a:r>
                        <a:rPr lang="en-US" sz="1600" b="1" dirty="0">
                          <a:solidFill>
                            <a:srgbClr val="323232"/>
                          </a:solidFill>
                          <a:latin typeface="Arial" pitchFamily="34" charset="0"/>
                          <a:ea typeface="Arial" pitchFamily="34" charset="-122"/>
                          <a:cs typeface="Arial" pitchFamily="34" charset="-120"/>
                        </a:rPr>
                        <a:t>الـ BS بعيد عن الأرض</a:t>
                      </a:r>
                      <a:endParaRPr lang="en-US" sz="16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6E3E1"/>
                    </a:solidFill>
                  </a:tcPr>
                </a:tc>
              </a:tr>
              <a:tr h="731520">
                <a:tc>
                  <a:txBody>
                    <a:bodyPr/>
                    <a:lstStyle/>
                    <a:p>
                      <a:pPr rtl="1" algn="r" indent="0" marL="0">
                        <a:buNone/>
                      </a:pPr>
                      <a:r>
                        <a:rPr lang="en-US" sz="1600" dirty="0">
                          <a:solidFill>
                            <a:srgbClr val="323232"/>
                          </a:solidFill>
                          <a:latin typeface="Arial" pitchFamily="34" charset="0"/>
                          <a:ea typeface="Arial" pitchFamily="34" charset="-122"/>
                          <a:cs typeface="Arial" pitchFamily="34" charset="-120"/>
                        </a:rPr>
                        <a:t>PDR حوالي 98.3–98.5% من غير آليات زيادة</a:t>
                      </a:r>
                      <a:endParaRPr lang="en-US" sz="16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600" dirty="0">
                          <a:solidFill>
                            <a:srgbClr val="323232"/>
                          </a:solidFill>
                          <a:latin typeface="Arial" pitchFamily="34" charset="0"/>
                          <a:ea typeface="Arial" pitchFamily="34" charset="-122"/>
                          <a:cs typeface="Arial" pitchFamily="34" charset="-120"/>
                        </a:rPr>
                        <a:t>v7.1 أو v5-exp (مدة 5)</a:t>
                      </a:r>
                      <a:endParaRPr lang="en-US" sz="16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c>
                  <a:txBody>
                    <a:bodyPr/>
                    <a:lstStyle/>
                    <a:p>
                      <a:pPr rtl="1" algn="r" indent="0" marL="0">
                        <a:buNone/>
                      </a:pPr>
                      <a:r>
                        <a:rPr lang="en-US" sz="1600" b="1" dirty="0">
                          <a:solidFill>
                            <a:srgbClr val="323232"/>
                          </a:solidFill>
                          <a:latin typeface="Arial" pitchFamily="34" charset="0"/>
                          <a:ea typeface="Arial" pitchFamily="34" charset="-122"/>
                          <a:cs typeface="Arial" pitchFamily="34" charset="-120"/>
                        </a:rPr>
                        <a:t>أبسط حل كويس</a:t>
                      </a:r>
                      <a:endParaRPr lang="en-US" sz="16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7F5EF"/>
                    </a:solidFill>
                  </a:tcPr>
                </a:tc>
              </a:tr>
              <a:tr h="731520">
                <a:tc>
                  <a:txBody>
                    <a:bodyPr/>
                    <a:lstStyle/>
                    <a:p>
                      <a:pPr rtl="1" algn="r" indent="0" marL="0">
                        <a:buNone/>
                      </a:pPr>
                      <a:r>
                        <a:rPr lang="en-US" sz="1600" dirty="0">
                          <a:solidFill>
                            <a:srgbClr val="323232"/>
                          </a:solidFill>
                          <a:latin typeface="Arial" pitchFamily="34" charset="0"/>
                          <a:ea typeface="Arial" pitchFamily="34" charset="-122"/>
                          <a:cs typeface="Arial" pitchFamily="34" charset="-120"/>
                        </a:rPr>
                        <a:t>الـ LND لوحده ممكن يضحك علينا</a:t>
                      </a:r>
                      <a:endParaRPr lang="en-US" sz="16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600" dirty="0">
                          <a:solidFill>
                            <a:srgbClr val="323232"/>
                          </a:solidFill>
                          <a:latin typeface="Arial" pitchFamily="34" charset="0"/>
                          <a:ea typeface="Arial" pitchFamily="34" charset="-122"/>
                          <a:cs typeface="Arial" pitchFamily="34" charset="-120"/>
                        </a:rPr>
                        <a:t>FND + PDR + الرسايل اللي وصلت</a:t>
                      </a:r>
                      <a:endParaRPr lang="en-US" sz="16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c>
                  <a:txBody>
                    <a:bodyPr/>
                    <a:lstStyle/>
                    <a:p>
                      <a:pPr rtl="1" algn="r" indent="0" marL="0">
                        <a:buNone/>
                      </a:pPr>
                      <a:r>
                        <a:rPr lang="en-US" sz="1600" b="1" dirty="0">
                          <a:solidFill>
                            <a:srgbClr val="323232"/>
                          </a:solidFill>
                          <a:latin typeface="Arial" pitchFamily="34" charset="0"/>
                          <a:ea typeface="Arial" pitchFamily="34" charset="-122"/>
                          <a:cs typeface="Arial" pitchFamily="34" charset="-120"/>
                        </a:rPr>
                        <a:t>الحكم على "العمر"</a:t>
                      </a:r>
                      <a:endParaRPr lang="en-US" sz="1600" dirty="0">
                        <a:latin typeface="Arial" charset="0"/>
                        <a:ea typeface="Arial" charset="0"/>
                        <a:cs typeface="Arial" charset="0"/>
                      </a:endParaRPr>
                    </a:p>
                  </a:txBody>
                  <a:tcPr marL="76200" marR="76200" marT="38100" marB="38100" anchor="ctr">
                    <a:lnL w="9525" cap="flat" cmpd="sng" algn="ctr">
                      <a:solidFill>
                        <a:srgbClr val="D6D3C7"/>
                      </a:solidFill>
                      <a:prstDash val="solid"/>
                      <a:round/>
                      <a:headEnd type="none" w="med" len="med"/>
                      <a:tailEnd type="none" w="med" len="med"/>
                    </a:lnL>
                    <a:lnR w="9525" cap="flat" cmpd="sng" algn="ctr">
                      <a:solidFill>
                        <a:srgbClr val="D6D3C7"/>
                      </a:solidFill>
                      <a:prstDash val="solid"/>
                      <a:round/>
                      <a:headEnd type="none" w="med" len="med"/>
                      <a:tailEnd type="none" w="med" len="med"/>
                    </a:lnR>
                    <a:lnT w="9525" cap="flat" cmpd="sng" algn="ctr">
                      <a:solidFill>
                        <a:srgbClr val="D6D3C7"/>
                      </a:solidFill>
                      <a:prstDash val="solid"/>
                      <a:round/>
                      <a:headEnd type="none" w="med" len="med"/>
                      <a:tailEnd type="none" w="med" len="med"/>
                    </a:lnT>
                    <a:lnB w="9525" cap="flat" cmpd="sng" algn="ctr">
                      <a:solidFill>
                        <a:srgbClr val="D6D3C7"/>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حدود الدراسة والشغل الجاي</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60</a:t>
            </a:r>
            <a:endParaRPr lang="en-US" sz="1000" dirty="0"/>
          </a:p>
        </p:txBody>
      </p:sp>
      <p:sp>
        <p:nvSpPr>
          <p:cNvPr id="20" name="Shape 17"/>
          <p:cNvSpPr/>
          <p:nvPr/>
        </p:nvSpPr>
        <p:spPr>
          <a:xfrm>
            <a:off x="6263640" y="1463040"/>
            <a:ext cx="5166360" cy="4389120"/>
          </a:xfrm>
          <a:prstGeom prst="roundRect">
            <a:avLst>
              <a:gd name="adj" fmla="val 2500"/>
            </a:avLst>
          </a:prstGeom>
          <a:solidFill>
            <a:srgbClr val="FFFFFF"/>
          </a:solidFill>
          <a:ln w="12700">
            <a:solidFill>
              <a:srgbClr val="D6D3C7"/>
            </a:solidFill>
            <a:prstDash val="solid"/>
          </a:ln>
          <a:effectLst>
            <a:outerShdw sx="100000" sy="100000" kx="0" ky="0" algn="bl" rotWithShape="0" blurRad="76200" dist="25400" dir="5400000">
              <a:srgbClr val="000000">
                <a:alpha val="10000"/>
              </a:srgbClr>
            </a:outerShdw>
          </a:effectLst>
        </p:spPr>
      </p:sp>
      <p:sp>
        <p:nvSpPr>
          <p:cNvPr id="21" name="Text 18"/>
          <p:cNvSpPr txBox="1"/>
          <p:nvPr/>
        </p:nvSpPr>
        <p:spPr>
          <a:xfrm>
            <a:off x="6446520" y="1600200"/>
            <a:ext cx="476402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حدود الدراسة</a:t>
            </a:r>
            <a:endParaRPr lang="ar-EG" sz="1500" dirty="0"/>
          </a:p>
        </p:txBody>
      </p:sp>
      <p:sp>
        <p:nvSpPr>
          <p:cNvPr id="22" name="Text 19"/>
          <p:cNvSpPr txBox="1"/>
          <p:nvPr/>
        </p:nvSpPr>
        <p:spPr>
          <a:xfrm>
            <a:off x="6464808" y="2194560"/>
            <a:ext cx="4764024" cy="3520440"/>
          </a:xfrm>
          <a:prstGeom prst="rect">
            <a:avLst/>
          </a:prstGeom>
          <a:noFill/>
          <a:ln/>
        </p:spPr>
        <p:txBody>
          <a:bodyPr wrap="square" lIns="0" tIns="0" rIns="0" bIns="0" rtlCol="0" anchor="t"/>
          <a:lstStyle/>
          <a:p>
            <a:pPr rtl="1" algn="r" indent="0" marL="0">
              <a:spcAft>
                <a:spcPts val="400"/>
              </a:spcAft>
              <a:buNone/>
            </a:pPr>
            <a:r>
              <a:rPr lang="ar-EG" altLang="en-US" sz="1500" dirty="0">
                <a:solidFill>
                  <a:srgbClr val="323232"/>
                </a:solidFill>
                <a:latin typeface="Arial" pitchFamily="34" charset="0"/>
                <a:ea typeface="Arial" pitchFamily="34" charset="-122"/>
                <a:cs typeface="Arial" pitchFamily="34" charset="-120"/>
              </a:rPr>
              <a:t>• محاكاة بس (ns-3، 100 نود، راديو حسابي)</a:t>
            </a:r>
            <a:endParaRPr lang="ar-EG" sz="1500" dirty="0"/>
          </a:p>
          <a:p>
            <a:pPr rtl="1" algn="r" indent="0" marL="0">
              <a:spcAft>
                <a:spcPts val="400"/>
              </a:spcAft>
              <a:buNone/>
            </a:pPr>
            <a:r>
              <a:rPr lang="ar-EG" altLang="en-US" sz="1500" dirty="0">
                <a:solidFill>
                  <a:srgbClr val="323232"/>
                </a:solidFill>
                <a:latin typeface="Arial" pitchFamily="34" charset="0"/>
                <a:ea typeface="Arial" pitchFamily="34" charset="-122"/>
                <a:cs typeface="Arial" pitchFamily="34" charset="-120"/>
              </a:rPr>
              <a:t>• مكانين للـ BS، ومساحة واحدة، و8 أشكال شبكات</a:t>
            </a:r>
            <a:endParaRPr lang="ar-EG" sz="1500" dirty="0"/>
          </a:p>
          <a:p>
            <a:pPr rtl="1" algn="r" indent="0" marL="0">
              <a:spcAft>
                <a:spcPts val="400"/>
              </a:spcAft>
              <a:buNone/>
            </a:pPr>
            <a:r>
              <a:rPr lang="ar-EG" altLang="en-US" sz="1500" dirty="0">
                <a:solidFill>
                  <a:srgbClr val="323232"/>
                </a:solidFill>
                <a:latin typeface="Arial" pitchFamily="34" charset="0"/>
                <a:ea typeface="Arial" pitchFamily="34" charset="-122"/>
                <a:cs typeface="Arial" pitchFamily="34" charset="-120"/>
              </a:rPr>
              <a:t>• مكسب الإرسال المباشر محتاج الـ BS يكون قريب</a:t>
            </a:r>
            <a:endParaRPr lang="ar-EG" sz="1500" dirty="0"/>
          </a:p>
          <a:p>
            <a:pPr rtl="1" algn="r" indent="0" marL="0">
              <a:spcAft>
                <a:spcPts val="400"/>
              </a:spcAft>
              <a:buNone/>
            </a:pPr>
            <a:r>
              <a:rPr lang="ar-EG" altLang="en-US" sz="1500" dirty="0">
                <a:solidFill>
                  <a:srgbClr val="323232"/>
                </a:solidFill>
                <a:latin typeface="Arial" pitchFamily="34" charset="0"/>
                <a:ea typeface="Arial" pitchFamily="34" charset="-122"/>
                <a:cs typeface="Arial" pitchFamily="34" charset="-120"/>
              </a:rPr>
              <a:t>• موت CH واحد بسبب الطاقة؛ من غير موت كذا واحد مع بعض أو هجوم</a:t>
            </a:r>
            <a:endParaRPr lang="ar-EG" sz="1500" dirty="0"/>
          </a:p>
        </p:txBody>
      </p:sp>
      <p:sp>
        <p:nvSpPr>
          <p:cNvPr id="23" name="Shape 20"/>
          <p:cNvSpPr/>
          <p:nvPr/>
        </p:nvSpPr>
        <p:spPr>
          <a:xfrm>
            <a:off x="822960" y="1463040"/>
            <a:ext cx="5166360" cy="4389120"/>
          </a:xfrm>
          <a:prstGeom prst="roundRect">
            <a:avLst>
              <a:gd name="adj" fmla="val 2500"/>
            </a:avLst>
          </a:prstGeom>
          <a:solidFill>
            <a:srgbClr val="F6E3E1"/>
          </a:solidFill>
          <a:ln w="12700">
            <a:solidFill>
              <a:srgbClr val="C9A09E"/>
            </a:solidFill>
            <a:prstDash val="solid"/>
          </a:ln>
          <a:effectLst>
            <a:outerShdw sx="100000" sy="100000" kx="0" ky="0" algn="bl" rotWithShape="0" blurRad="76200" dist="25400" dir="5400000">
              <a:srgbClr val="000000">
                <a:alpha val="10000"/>
              </a:srgbClr>
            </a:outerShdw>
          </a:effectLst>
        </p:spPr>
      </p:sp>
      <p:sp>
        <p:nvSpPr>
          <p:cNvPr id="24" name="Text 21"/>
          <p:cNvSpPr txBox="1"/>
          <p:nvPr/>
        </p:nvSpPr>
        <p:spPr>
          <a:xfrm>
            <a:off x="1005840" y="1600200"/>
            <a:ext cx="4764024" cy="548640"/>
          </a:xfrm>
          <a:prstGeom prst="rect">
            <a:avLst/>
          </a:prstGeom>
          <a:noFill/>
          <a:ln/>
        </p:spPr>
        <p:txBody>
          <a:bodyPr wrap="square" lIns="0" tIns="0" rIns="0" bIns="0" rtlCol="0" anchor="ctr"/>
          <a:lstStyle/>
          <a:p>
            <a:pPr rtl="1" algn="r" indent="0" marL="0">
              <a:buNone/>
            </a:pPr>
            <a:r>
              <a:rPr lang="ar-EG" altLang="en-US" sz="1500" b="1" dirty="0">
                <a:solidFill>
                  <a:srgbClr val="8A2522"/>
                </a:solidFill>
                <a:latin typeface="Arial" pitchFamily="34" charset="0"/>
                <a:ea typeface="Arial" pitchFamily="34" charset="-122"/>
                <a:cs typeface="Arial" pitchFamily="34" charset="-120"/>
              </a:rPr>
              <a:t>الشغل الجاي</a:t>
            </a:r>
            <a:endParaRPr lang="ar-EG" sz="1500" dirty="0"/>
          </a:p>
        </p:txBody>
      </p:sp>
      <p:sp>
        <p:nvSpPr>
          <p:cNvPr id="25" name="Text 22"/>
          <p:cNvSpPr txBox="1"/>
          <p:nvPr/>
        </p:nvSpPr>
        <p:spPr>
          <a:xfrm>
            <a:off x="1024128" y="2194560"/>
            <a:ext cx="4764024" cy="3520440"/>
          </a:xfrm>
          <a:prstGeom prst="rect">
            <a:avLst/>
          </a:prstGeom>
          <a:noFill/>
          <a:ln/>
        </p:spPr>
        <p:txBody>
          <a:bodyPr wrap="square" lIns="0" tIns="0" rIns="0" bIns="0" rtlCol="0" anchor="t"/>
          <a:lstStyle/>
          <a:p>
            <a:pPr rtl="1" algn="r" indent="0" marL="0">
              <a:spcAft>
                <a:spcPts val="400"/>
              </a:spcAft>
              <a:buNone/>
            </a:pPr>
            <a:r>
              <a:rPr lang="ar-EG" altLang="en-US" sz="1500" dirty="0">
                <a:solidFill>
                  <a:srgbClr val="323232"/>
                </a:solidFill>
                <a:latin typeface="Arial" pitchFamily="34" charset="0"/>
                <a:ea typeface="Arial" pitchFamily="34" charset="-122"/>
                <a:cs typeface="Arial" pitchFamily="34" charset="-120"/>
              </a:rPr>
              <a:t>• نجرب على أجهزة حقيقية</a:t>
            </a:r>
            <a:endParaRPr lang="ar-EG" sz="1500" dirty="0"/>
          </a:p>
          <a:p>
            <a:pPr rtl="1" algn="r" indent="0" marL="0">
              <a:spcAft>
                <a:spcPts val="400"/>
              </a:spcAft>
              <a:buNone/>
            </a:pPr>
            <a:r>
              <a:rPr lang="ar-EG" altLang="en-US" sz="1500" dirty="0">
                <a:solidFill>
                  <a:srgbClr val="323232"/>
                </a:solidFill>
                <a:latin typeface="Arial" pitchFamily="34" charset="0"/>
                <a:ea typeface="Arial" pitchFamily="34" charset="-122"/>
                <a:cs typeface="Arial" pitchFamily="34" charset="-120"/>
              </a:rPr>
              <a:t>• نجرب أماكن BS ومساحات وأعداد نودز أكتر</a:t>
            </a:r>
            <a:endParaRPr lang="ar-EG" sz="1500" dirty="0"/>
          </a:p>
          <a:p>
            <a:pPr rtl="1" algn="r" indent="0" marL="0">
              <a:spcAft>
                <a:spcPts val="400"/>
              </a:spcAft>
              <a:buNone/>
            </a:pPr>
            <a:r>
              <a:rPr lang="ar-EG" altLang="en-US" sz="1500" dirty="0">
                <a:solidFill>
                  <a:srgbClr val="323232"/>
                </a:solidFill>
                <a:latin typeface="Arial" pitchFamily="34" charset="0"/>
                <a:ea typeface="Arial" pitchFamily="34" charset="-122"/>
                <a:cs typeface="Arial" pitchFamily="34" charset="-120"/>
              </a:rPr>
              <a:t>• نقارن التوصيل الذكي بأحسن مسار ممكن رياضيًا</a:t>
            </a:r>
            <a:endParaRPr lang="ar-EG" sz="1500" dirty="0"/>
          </a:p>
          <a:p>
            <a:pPr rtl="1" algn="r" indent="0" marL="0">
              <a:spcAft>
                <a:spcPts val="400"/>
              </a:spcAft>
              <a:buNone/>
            </a:pPr>
            <a:r>
              <a:rPr lang="ar-EG" altLang="en-US" sz="1500" dirty="0">
                <a:solidFill>
                  <a:srgbClr val="323232"/>
                </a:solidFill>
                <a:latin typeface="Arial" pitchFamily="34" charset="0"/>
                <a:ea typeface="Arial" pitchFamily="34" charset="-122"/>
                <a:cs typeface="Arial" pitchFamily="34" charset="-120"/>
              </a:rPr>
              <a:t>• نجربه مع طبقة التشفير الهجين تحت هجوم</a:t>
            </a:r>
            <a:endParaRPr lang="ar-EG" sz="15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الخلاصة</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61</a:t>
            </a:r>
            <a:endParaRPr lang="en-US" sz="1000" dirty="0"/>
          </a:p>
        </p:txBody>
      </p:sp>
      <p:sp>
        <p:nvSpPr>
          <p:cNvPr id="20" name="Text 17"/>
          <p:cNvSpPr txBox="1"/>
          <p:nvPr/>
        </p:nvSpPr>
        <p:spPr>
          <a:xfrm>
            <a:off x="5394960" y="1463040"/>
            <a:ext cx="6035040" cy="4389120"/>
          </a:xfrm>
          <a:prstGeom prst="rect">
            <a:avLst/>
          </a:prstGeom>
          <a:noFill/>
          <a:ln/>
        </p:spPr>
        <p:txBody>
          <a:bodyPr wrap="square" lIns="635" tIns="635" rIns="635" bIns="635" rtlCol="0" anchor="t"/>
          <a:lstStyle/>
          <a:p>
            <a:pPr algn="r" marL="203200" indent="-203200">
              <a:spcAft>
                <a:spcPts val="600"/>
              </a:spcAft>
              <a:buSzPct val="100000"/>
              <a:buChar char="•"/>
            </a:pPr>
            <a:r>
              <a:rPr lang="ar-EG" altLang="en-US" sz="1600" dirty="0">
                <a:solidFill>
                  <a:srgbClr val="323232"/>
                </a:solidFill>
                <a:latin typeface="Arial" pitchFamily="34" charset="0"/>
                <a:ea typeface="Arial" pitchFamily="34" charset="-122"/>
                <a:cs typeface="Arial" pitchFamily="34" charset="-120"/>
              </a:rPr>
              <a:t>5 بروتوكولات موجودة اتبنت بشكل عادل في بيئة واحدة، واتصلّح 2 منهم.</a:t>
            </a:r>
            <a:endParaRPr lang="ar-EG" sz="1600" dirty="0"/>
          </a:p>
          <a:p>
            <a:pPr algn="r" marL="203200" indent="-203200">
              <a:spcAft>
                <a:spcPts val="600"/>
              </a:spcAft>
              <a:buSzPct val="100000"/>
              <a:buChar char="•"/>
            </a:pPr>
            <a:r>
              <a:rPr lang="ar-EG" altLang="en-US" sz="1600" dirty="0">
                <a:solidFill>
                  <a:srgbClr val="323232"/>
                </a:solidFill>
                <a:latin typeface="Arial" pitchFamily="34" charset="0"/>
                <a:ea typeface="Arial" pitchFamily="34" charset="-122"/>
                <a:cs typeface="Arial" pitchFamily="34" charset="-120"/>
              </a:rPr>
              <a:t>بروتوكول جديد اتطوّر آلية آلية، من v1 لحد v8-Chain.</a:t>
            </a:r>
            <a:endParaRPr lang="ar-EG" sz="1600" dirty="0"/>
          </a:p>
          <a:p>
            <a:pPr algn="r" marL="203200" indent="-203200">
              <a:spcAft>
                <a:spcPts val="600"/>
              </a:spcAft>
              <a:buSzPct val="100000"/>
              <a:buChar char="•"/>
            </a:pPr>
            <a:r>
              <a:rPr lang="ar-EG" altLang="en-US" sz="1600" dirty="0">
                <a:solidFill>
                  <a:srgbClr val="323232"/>
                </a:solidFill>
                <a:latin typeface="Arial" pitchFamily="34" charset="0"/>
                <a:ea typeface="Arial" pitchFamily="34" charset="-122"/>
                <a:cs typeface="Arial" pitchFamily="34" charset="-120"/>
              </a:rPr>
              <a:t>v8-Chain بيحمي الـ CH قبل الموت وبعده، وبيخلّي النودز القريبة من الـ BS تبعت مباشرة، ومابيخليش حد يبقى CH غير القوي، وبيوصّل بين الـ CHs بس لما يوفّر طاقة.</a:t>
            </a:r>
            <a:endParaRPr lang="ar-EG" sz="1600" dirty="0"/>
          </a:p>
        </p:txBody>
      </p:sp>
      <p:sp>
        <p:nvSpPr>
          <p:cNvPr id="21" name="Shape 18"/>
          <p:cNvSpPr/>
          <p:nvPr/>
        </p:nvSpPr>
        <p:spPr>
          <a:xfrm>
            <a:off x="822960" y="1463040"/>
            <a:ext cx="4206240" cy="4389120"/>
          </a:xfrm>
          <a:prstGeom prst="roundRect">
            <a:avLst>
              <a:gd name="adj" fmla="val 2609"/>
            </a:avLst>
          </a:prstGeom>
          <a:solidFill>
            <a:srgbClr val="8A2522"/>
          </a:solidFill>
          <a:ln w="12700">
            <a:solidFill>
              <a:srgbClr val="8A2522"/>
            </a:solidFill>
            <a:prstDash val="solid"/>
          </a:ln>
        </p:spPr>
      </p:sp>
      <p:sp>
        <p:nvSpPr>
          <p:cNvPr id="22" name="Text 19"/>
          <p:cNvSpPr txBox="1"/>
          <p:nvPr/>
        </p:nvSpPr>
        <p:spPr>
          <a:xfrm>
            <a:off x="1097280" y="1645920"/>
            <a:ext cx="3657600" cy="4023360"/>
          </a:xfrm>
          <a:prstGeom prst="rect">
            <a:avLst/>
          </a:prstGeom>
          <a:noFill/>
          <a:ln/>
        </p:spPr>
        <p:txBody>
          <a:bodyPr wrap="square" lIns="0" tIns="0" rIns="0" bIns="0" rtlCol="0" anchor="ctr"/>
          <a:lstStyle/>
          <a:p>
            <a:pPr algn="r" indent="0" marL="0">
              <a:spcAft>
                <a:spcPts val="400"/>
              </a:spcAft>
              <a:buNone/>
            </a:pPr>
            <a:r>
              <a:rPr lang="ar-EG" altLang="en-US" sz="2400" b="1" dirty="0">
                <a:solidFill>
                  <a:srgbClr val="FFFFFF"/>
                </a:solidFill>
                <a:latin typeface="Arial" pitchFamily="34" charset="0"/>
                <a:ea typeface="Arial" pitchFamily="34" charset="-122"/>
                <a:cs typeface="Arial" pitchFamily="34" charset="-120"/>
              </a:rPr>
              <a:t>v8-Chain</a:t>
            </a:r>
            <a:endParaRPr lang="ar-EG" sz="2400" dirty="0"/>
          </a:p>
          <a:p>
            <a:pPr algn="r" indent="0" marL="0">
              <a:spcAft>
                <a:spcPts val="400"/>
              </a:spcAft>
              <a:buNone/>
            </a:pPr>
            <a:r>
              <a:rPr lang="ar-EG" altLang="en-US" sz="1400" b="1" dirty="0">
                <a:solidFill>
                  <a:srgbClr val="F3E3E1"/>
                </a:solidFill>
                <a:latin typeface="Arial" pitchFamily="34" charset="0"/>
                <a:ea typeface="Arial" pitchFamily="34" charset="-122"/>
                <a:cs typeface="Arial" pitchFamily="34" charset="-120"/>
              </a:rPr>
              <a:t>الـ BS في النص</a:t>
            </a:r>
            <a:endParaRPr lang="ar-EG" sz="2400" dirty="0"/>
          </a:p>
          <a:p>
            <a:pPr algn="r" indent="0" marL="0">
              <a:spcAft>
                <a:spcPts val="400"/>
              </a:spcAft>
              <a:buNone/>
            </a:pPr>
            <a:r>
              <a:rPr lang="ar-EG" altLang="en-US" sz="1700" dirty="0">
                <a:solidFill>
                  <a:srgbClr val="FFFFFF"/>
                </a:solidFill>
                <a:latin typeface="Arial" pitchFamily="34" charset="0"/>
                <a:ea typeface="Arial" pitchFamily="34" charset="-122"/>
                <a:cs typeface="Arial" pitchFamily="34" charset="-120"/>
              </a:rPr>
              <a:t>FND 2621 · PDR 99.27%</a:t>
            </a:r>
            <a:endParaRPr lang="ar-EG" sz="2400" dirty="0"/>
          </a:p>
          <a:p>
            <a:pPr algn="r" indent="0" marL="0">
              <a:spcAft>
                <a:spcPts val="400"/>
              </a:spcAft>
              <a:buNone/>
            </a:pPr>
            <a:r>
              <a:rPr lang="ar-EG" altLang="en-US" sz="800" dirty="0">
                <a:solidFill>
                  <a:srgbClr val="FFFFFF"/>
                </a:solidFill>
                <a:latin typeface="Arial" pitchFamily="34" charset="0"/>
                <a:ea typeface="Arial" pitchFamily="34" charset="-122"/>
                <a:cs typeface="Arial" pitchFamily="34" charset="-120"/>
              </a:rPr>
              <a:t> </a:t>
            </a:r>
            <a:endParaRPr lang="ar-EG" sz="2400" dirty="0"/>
          </a:p>
          <a:p>
            <a:pPr algn="r" indent="0" marL="0">
              <a:spcAft>
                <a:spcPts val="400"/>
              </a:spcAft>
              <a:buNone/>
            </a:pPr>
            <a:r>
              <a:rPr lang="ar-EG" altLang="en-US" sz="1400" b="1" dirty="0">
                <a:solidFill>
                  <a:srgbClr val="F3E3E1"/>
                </a:solidFill>
                <a:latin typeface="Arial" pitchFamily="34" charset="0"/>
                <a:ea typeface="Arial" pitchFamily="34" charset="-122"/>
                <a:cs typeface="Arial" pitchFamily="34" charset="-120"/>
              </a:rPr>
              <a:t>الـ BS بعيد</a:t>
            </a:r>
            <a:endParaRPr lang="ar-EG" sz="2400" dirty="0"/>
          </a:p>
          <a:p>
            <a:pPr algn="r" indent="0" marL="0">
              <a:spcAft>
                <a:spcPts val="400"/>
              </a:spcAft>
              <a:buNone/>
            </a:pPr>
            <a:r>
              <a:rPr lang="ar-EG" altLang="en-US" sz="1700" dirty="0">
                <a:solidFill>
                  <a:srgbClr val="FFFFFF"/>
                </a:solidFill>
                <a:latin typeface="Arial" pitchFamily="34" charset="0"/>
                <a:ea typeface="Arial" pitchFamily="34" charset="-122"/>
                <a:cs typeface="Arial" pitchFamily="34" charset="-120"/>
              </a:rPr>
              <a:t>FND 1716 · PDR 99.07%</a:t>
            </a:r>
            <a:endParaRPr lang="ar-EG" sz="2400" dirty="0"/>
          </a:p>
          <a:p>
            <a:pPr algn="r" indent="0" marL="0">
              <a:spcAft>
                <a:spcPts val="400"/>
              </a:spcAft>
              <a:buNone/>
            </a:pPr>
            <a:r>
              <a:rPr lang="ar-EG" altLang="en-US" sz="800" dirty="0">
                <a:solidFill>
                  <a:srgbClr val="FFFFFF"/>
                </a:solidFill>
                <a:latin typeface="Arial" pitchFamily="34" charset="0"/>
                <a:ea typeface="Arial" pitchFamily="34" charset="-122"/>
                <a:cs typeface="Arial" pitchFamily="34" charset="-120"/>
              </a:rPr>
              <a:t> </a:t>
            </a:r>
            <a:endParaRPr lang="ar-EG" sz="2400" dirty="0"/>
          </a:p>
          <a:p>
            <a:pPr algn="r" indent="0" marL="0">
              <a:spcAft>
                <a:spcPts val="400"/>
              </a:spcAft>
              <a:buNone/>
            </a:pPr>
            <a:r>
              <a:rPr lang="ar-EG" altLang="en-US" sz="1400" i="1" dirty="0">
                <a:solidFill>
                  <a:srgbClr val="FFFFFF"/>
                </a:solidFill>
                <a:latin typeface="Arial" pitchFamily="34" charset="0"/>
                <a:ea typeface="Arial" pitchFamily="34" charset="-122"/>
                <a:cs typeface="Arial" pitchFamily="34" charset="-120"/>
              </a:rPr>
              <a:t>إعداد واحد للحالتين.</a:t>
            </a:r>
            <a:endParaRPr lang="ar-EG" sz="2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المراجع</a:t>
            </a:r>
            <a:pPr algn="r" indent="0" marL="0">
              <a:buNone/>
            </a:pPr>
            <a:r>
              <a:rPr lang="ar-EG" altLang="en-US" sz="2100" dirty="0">
                <a:solidFill>
                  <a:srgbClr val="8A2522"/>
                </a:solidFill>
                <a:latin typeface="Arial" pitchFamily="34" charset="0"/>
                <a:ea typeface="Arial" pitchFamily="34" charset="-122"/>
                <a:cs typeface="Arial" pitchFamily="34" charset="-120"/>
              </a:rPr>
              <a:t>  –  (1/2)</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62</a:t>
            </a:r>
            <a:endParaRPr lang="en-US" sz="1000" dirty="0"/>
          </a:p>
        </p:txBody>
      </p:sp>
      <p:sp>
        <p:nvSpPr>
          <p:cNvPr id="20" name="Text 17"/>
          <p:cNvSpPr txBox="1"/>
          <p:nvPr/>
        </p:nvSpPr>
        <p:spPr>
          <a:xfrm>
            <a:off x="822960" y="1371600"/>
            <a:ext cx="10607040" cy="4663440"/>
          </a:xfrm>
          <a:prstGeom prst="rect">
            <a:avLst/>
          </a:prstGeom>
          <a:noFill/>
          <a:ln/>
        </p:spPr>
        <p:txBody>
          <a:bodyPr wrap="square" lIns="0" tIns="0" rIns="0" bIns="0" rtlCol="0" anchor="t"/>
          <a:lstStyle/>
          <a:p>
            <a:pPr algn="l" indent="0" marL="0">
              <a:spcAft>
                <a:spcPts val="900"/>
              </a:spcAft>
              <a:buNone/>
            </a:pPr>
            <a:r>
              <a:rPr lang="en-US" sz="1250" dirty="0">
                <a:solidFill>
                  <a:srgbClr val="323232"/>
                </a:solidFill>
                <a:latin typeface="Arial" pitchFamily="34" charset="0"/>
                <a:ea typeface="Arial" pitchFamily="34" charset="-122"/>
                <a:cs typeface="Arial" pitchFamily="34" charset="-120"/>
              </a:rPr>
              <a:t>[1]  W. R. Heinzelman, A. Chandrakasan and H. Balakrishnan, “Energy-Efficient Communication Protocol for Wireless Microsensor Networks,” Proc. HICSS, 2000.</a:t>
            </a:r>
            <a:endParaRPr lang="en-US" sz="1250" dirty="0"/>
          </a:p>
          <a:p>
            <a:pPr algn="l" indent="0" marL="0">
              <a:spcAft>
                <a:spcPts val="900"/>
              </a:spcAft>
              <a:buNone/>
            </a:pPr>
            <a:r>
              <a:rPr lang="en-US" sz="1250" dirty="0">
                <a:solidFill>
                  <a:srgbClr val="323232"/>
                </a:solidFill>
                <a:latin typeface="Arial" pitchFamily="34" charset="0"/>
                <a:ea typeface="Arial" pitchFamily="34" charset="-122"/>
                <a:cs typeface="Arial" pitchFamily="34" charset="-120"/>
              </a:rPr>
              <a:t>[2]  O. Younis and S. Fahmy, “HEED: A Hybrid, Energy-Efficient, Distributed Clustering Approach for Ad Hoc Sensor Networks,” IEEE Trans. Mobile Computing, 2004.</a:t>
            </a:r>
            <a:endParaRPr lang="en-US" sz="1250" dirty="0"/>
          </a:p>
          <a:p>
            <a:pPr algn="l" indent="0" marL="0">
              <a:spcAft>
                <a:spcPts val="900"/>
              </a:spcAft>
              <a:buNone/>
            </a:pPr>
            <a:r>
              <a:rPr lang="en-US" sz="1250" dirty="0">
                <a:solidFill>
                  <a:srgbClr val="323232"/>
                </a:solidFill>
                <a:latin typeface="Arial" pitchFamily="34" charset="0"/>
                <a:ea typeface="Arial" pitchFamily="34" charset="-122"/>
                <a:cs typeface="Arial" pitchFamily="34" charset="-120"/>
              </a:rPr>
              <a:t>[3]  S. Lindsey and C. S. Raghavendra, “PEGASIS: Power-Efficient Gathering in Sensor Information Systems,” Proc. IEEE Aerospace Conference, 2002.</a:t>
            </a:r>
            <a:endParaRPr lang="en-US" sz="1250" dirty="0"/>
          </a:p>
          <a:p>
            <a:pPr algn="l" indent="0" marL="0">
              <a:spcAft>
                <a:spcPts val="900"/>
              </a:spcAft>
              <a:buNone/>
            </a:pPr>
            <a:r>
              <a:rPr lang="en-US" sz="1250" dirty="0">
                <a:solidFill>
                  <a:srgbClr val="323232"/>
                </a:solidFill>
                <a:latin typeface="Arial" pitchFamily="34" charset="0"/>
                <a:ea typeface="Arial" pitchFamily="34" charset="-122"/>
                <a:cs typeface="Arial" pitchFamily="34" charset="-120"/>
              </a:rPr>
              <a:t>[4]  Shrestha, Kim, Jung and Lee, “The Improved Energy Efficient LEACH Protocol Technology of WSNs,” IJIBC, 2015.</a:t>
            </a:r>
            <a:endParaRPr lang="en-US" sz="1250" dirty="0"/>
          </a:p>
          <a:p>
            <a:pPr algn="l" indent="0" marL="0">
              <a:spcAft>
                <a:spcPts val="900"/>
              </a:spcAft>
              <a:buNone/>
            </a:pPr>
            <a:r>
              <a:rPr lang="en-US" sz="1250" dirty="0">
                <a:solidFill>
                  <a:srgbClr val="323232"/>
                </a:solidFill>
                <a:latin typeface="Arial" pitchFamily="34" charset="0"/>
                <a:ea typeface="Arial" pitchFamily="34" charset="-122"/>
                <a:cs typeface="Arial" pitchFamily="34" charset="-120"/>
              </a:rPr>
              <a:t>[5]  A. Razaque, M. Mudigulam, K. Gavini, F. Amsaad, M. Abdulgader and P. Krishna, “H-LEACH: Hybrid-Low Energy Adaptive Clustering Hierarchy for Wireless Sensor Networks,” Proc. IEEE LISAT, 2016.</a:t>
            </a:r>
            <a:endParaRPr lang="en-US" sz="1250" dirty="0"/>
          </a:p>
          <a:p>
            <a:pPr algn="l" indent="0" marL="0">
              <a:spcAft>
                <a:spcPts val="900"/>
              </a:spcAft>
              <a:buNone/>
            </a:pPr>
            <a:r>
              <a:rPr lang="en-US" sz="1250" dirty="0">
                <a:solidFill>
                  <a:srgbClr val="323232"/>
                </a:solidFill>
                <a:latin typeface="Arial" pitchFamily="34" charset="0"/>
                <a:ea typeface="Arial" pitchFamily="34" charset="-122"/>
                <a:cs typeface="Arial" pitchFamily="34" charset="-120"/>
              </a:rPr>
              <a:t>[6]  Kaur, Kour and Singh, “EECH-HEED: An Adaptive Hybrid Clustering Protocol for Energy Efficient Soil Monitoring,” Scientific Reports, 2025.</a:t>
            </a:r>
            <a:endParaRPr lang="en-US" sz="1250" dirty="0"/>
          </a:p>
          <a:p>
            <a:pPr algn="l" indent="0" marL="0">
              <a:spcAft>
                <a:spcPts val="900"/>
              </a:spcAft>
              <a:buNone/>
            </a:pPr>
            <a:r>
              <a:rPr lang="en-US" sz="1250" dirty="0">
                <a:solidFill>
                  <a:srgbClr val="323232"/>
                </a:solidFill>
                <a:latin typeface="Arial" pitchFamily="34" charset="0"/>
                <a:ea typeface="Arial" pitchFamily="34" charset="-122"/>
                <a:cs typeface="Arial" pitchFamily="34" charset="-120"/>
              </a:rPr>
              <a:t>[7]  Subedi, Acharya, Lee and Lee, “Two-Level Clustering Algorithm for Cluster Head Selection in Randomly Deployed WSNs,” Telecom (MDPI), 2024.</a:t>
            </a:r>
            <a:endParaRPr lang="en-US" sz="1250" dirty="0"/>
          </a:p>
          <a:p>
            <a:pPr algn="l" indent="0" marL="0">
              <a:spcAft>
                <a:spcPts val="900"/>
              </a:spcAft>
              <a:buNone/>
            </a:pPr>
            <a:r>
              <a:rPr lang="en-US" sz="1250" dirty="0">
                <a:solidFill>
                  <a:srgbClr val="323232"/>
                </a:solidFill>
                <a:latin typeface="Arial" pitchFamily="34" charset="0"/>
                <a:ea typeface="Arial" pitchFamily="34" charset="-122"/>
                <a:cs typeface="Arial" pitchFamily="34" charset="-120"/>
              </a:rPr>
              <a:t>[8]  Juwaied and Jackowska-Strumillo, “DL-HEED: A Deep Learning Approach to Energy-Efficient Clustering in Heterogeneous WSNs,” Applied Sciences (MDPI), 2025.</a:t>
            </a:r>
            <a:endParaRPr lang="en-US" sz="12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1993392" y="265176"/>
            <a:ext cx="822960" cy="411480"/>
          </a:xfrm>
          <a:prstGeom prst="line">
            <a:avLst/>
          </a:prstGeom>
          <a:noFill/>
          <a:ln w="11430">
            <a:solidFill>
              <a:srgbClr val="8A2522"/>
            </a:solidFill>
            <a:prstDash val="solid"/>
          </a:ln>
        </p:spPr>
      </p:sp>
      <p:sp>
        <p:nvSpPr>
          <p:cNvPr id="4" name="Shape 2"/>
          <p:cNvSpPr/>
          <p:nvPr/>
        </p:nvSpPr>
        <p:spPr>
          <a:xfrm>
            <a:off x="1170432" y="356616"/>
            <a:ext cx="822960" cy="320040"/>
          </a:xfrm>
          <a:prstGeom prst="line">
            <a:avLst/>
          </a:prstGeom>
          <a:noFill/>
          <a:ln w="11430">
            <a:solidFill>
              <a:srgbClr val="8A2522"/>
            </a:solidFill>
            <a:prstDash val="solid"/>
          </a:ln>
        </p:spPr>
      </p:sp>
      <p:sp>
        <p:nvSpPr>
          <p:cNvPr id="5" name="Shape 3"/>
          <p:cNvSpPr/>
          <p:nvPr/>
        </p:nvSpPr>
        <p:spPr>
          <a:xfrm flipV="1">
            <a:off x="484632" y="356616"/>
            <a:ext cx="685800" cy="640080"/>
          </a:xfrm>
          <a:prstGeom prst="line">
            <a:avLst/>
          </a:prstGeom>
          <a:noFill/>
          <a:ln w="11430">
            <a:solidFill>
              <a:srgbClr val="8A2522"/>
            </a:solidFill>
            <a:prstDash val="solid"/>
          </a:ln>
        </p:spPr>
      </p:sp>
      <p:sp>
        <p:nvSpPr>
          <p:cNvPr id="6" name="Shape 4"/>
          <p:cNvSpPr/>
          <p:nvPr/>
        </p:nvSpPr>
        <p:spPr>
          <a:xfrm>
            <a:off x="1993392" y="676656"/>
            <a:ext cx="228600" cy="502920"/>
          </a:xfrm>
          <a:prstGeom prst="line">
            <a:avLst/>
          </a:prstGeom>
          <a:noFill/>
          <a:ln w="11430">
            <a:solidFill>
              <a:srgbClr val="8A2522"/>
            </a:solidFill>
            <a:prstDash val="solid"/>
          </a:ln>
        </p:spPr>
      </p:sp>
      <p:sp>
        <p:nvSpPr>
          <p:cNvPr id="7" name="Shape 5"/>
          <p:cNvSpPr/>
          <p:nvPr/>
        </p:nvSpPr>
        <p:spPr>
          <a:xfrm flipV="1">
            <a:off x="347472" y="356616"/>
            <a:ext cx="822960" cy="45720"/>
          </a:xfrm>
          <a:prstGeom prst="line">
            <a:avLst/>
          </a:prstGeom>
          <a:noFill/>
          <a:ln w="11430">
            <a:solidFill>
              <a:srgbClr val="8A2522"/>
            </a:solidFill>
            <a:prstDash val="solid"/>
          </a:ln>
        </p:spPr>
      </p:sp>
      <p:sp>
        <p:nvSpPr>
          <p:cNvPr id="8" name="Shape 6"/>
          <p:cNvSpPr/>
          <p:nvPr/>
        </p:nvSpPr>
        <p:spPr>
          <a:xfrm>
            <a:off x="347472" y="402336"/>
            <a:ext cx="137160" cy="594360"/>
          </a:xfrm>
          <a:prstGeom prst="line">
            <a:avLst/>
          </a:prstGeom>
          <a:noFill/>
          <a:ln w="11430">
            <a:solidFill>
              <a:srgbClr val="8A2522"/>
            </a:solidFill>
            <a:prstDash val="solid"/>
          </a:ln>
        </p:spPr>
      </p:sp>
      <p:sp>
        <p:nvSpPr>
          <p:cNvPr id="9" name="Shape 7"/>
          <p:cNvSpPr/>
          <p:nvPr/>
        </p:nvSpPr>
        <p:spPr>
          <a:xfrm>
            <a:off x="484632" y="996696"/>
            <a:ext cx="1737360" cy="182880"/>
          </a:xfrm>
          <a:prstGeom prst="line">
            <a:avLst/>
          </a:prstGeom>
          <a:noFill/>
          <a:ln w="11430">
            <a:solidFill>
              <a:srgbClr val="8A2522"/>
            </a:solidFill>
            <a:prstDash val="solid"/>
          </a:ln>
        </p:spPr>
      </p:sp>
      <p:sp>
        <p:nvSpPr>
          <p:cNvPr id="10" name="Shape 8"/>
          <p:cNvSpPr/>
          <p:nvPr/>
        </p:nvSpPr>
        <p:spPr>
          <a:xfrm>
            <a:off x="2775204" y="224028"/>
            <a:ext cx="82296" cy="82296"/>
          </a:xfrm>
          <a:prstGeom prst="ellipse">
            <a:avLst/>
          </a:prstGeom>
          <a:solidFill>
            <a:srgbClr val="EDEDE5"/>
          </a:solidFill>
          <a:ln w="11430">
            <a:solidFill>
              <a:srgbClr val="8A2522"/>
            </a:solidFill>
            <a:prstDash val="solid"/>
          </a:ln>
        </p:spPr>
      </p:sp>
      <p:sp>
        <p:nvSpPr>
          <p:cNvPr id="11" name="Shape 9"/>
          <p:cNvSpPr/>
          <p:nvPr/>
        </p:nvSpPr>
        <p:spPr>
          <a:xfrm>
            <a:off x="1952244" y="635508"/>
            <a:ext cx="82296" cy="82296"/>
          </a:xfrm>
          <a:prstGeom prst="ellipse">
            <a:avLst/>
          </a:prstGeom>
          <a:solidFill>
            <a:srgbClr val="EDEDE5"/>
          </a:solidFill>
          <a:ln w="11430">
            <a:solidFill>
              <a:srgbClr val="8A2522"/>
            </a:solidFill>
            <a:prstDash val="solid"/>
          </a:ln>
        </p:spPr>
      </p:sp>
      <p:sp>
        <p:nvSpPr>
          <p:cNvPr id="12" name="Shape 10"/>
          <p:cNvSpPr/>
          <p:nvPr/>
        </p:nvSpPr>
        <p:spPr>
          <a:xfrm>
            <a:off x="1129284" y="315468"/>
            <a:ext cx="82296" cy="82296"/>
          </a:xfrm>
          <a:prstGeom prst="ellipse">
            <a:avLst/>
          </a:prstGeom>
          <a:solidFill>
            <a:srgbClr val="EDEDE5"/>
          </a:solidFill>
          <a:ln w="11430">
            <a:solidFill>
              <a:srgbClr val="8A2522"/>
            </a:solidFill>
            <a:prstDash val="solid"/>
          </a:ln>
        </p:spPr>
      </p:sp>
      <p:sp>
        <p:nvSpPr>
          <p:cNvPr id="13" name="Shape 11"/>
          <p:cNvSpPr/>
          <p:nvPr/>
        </p:nvSpPr>
        <p:spPr>
          <a:xfrm>
            <a:off x="443484" y="955548"/>
            <a:ext cx="82296" cy="82296"/>
          </a:xfrm>
          <a:prstGeom prst="ellipse">
            <a:avLst/>
          </a:prstGeom>
          <a:solidFill>
            <a:srgbClr val="EDEDE5"/>
          </a:solidFill>
          <a:ln w="11430">
            <a:solidFill>
              <a:srgbClr val="8A2522"/>
            </a:solidFill>
            <a:prstDash val="solid"/>
          </a:ln>
        </p:spPr>
      </p:sp>
      <p:sp>
        <p:nvSpPr>
          <p:cNvPr id="14" name="Shape 12"/>
          <p:cNvSpPr/>
          <p:nvPr/>
        </p:nvSpPr>
        <p:spPr>
          <a:xfrm>
            <a:off x="2180844" y="1138428"/>
            <a:ext cx="82296" cy="82296"/>
          </a:xfrm>
          <a:prstGeom prst="ellipse">
            <a:avLst/>
          </a:prstGeom>
          <a:solidFill>
            <a:srgbClr val="EDEDE5"/>
          </a:solidFill>
          <a:ln w="11430">
            <a:solidFill>
              <a:srgbClr val="8A2522"/>
            </a:solidFill>
            <a:prstDash val="solid"/>
          </a:ln>
        </p:spPr>
      </p:sp>
      <p:sp>
        <p:nvSpPr>
          <p:cNvPr id="15" name="Shape 13"/>
          <p:cNvSpPr/>
          <p:nvPr/>
        </p:nvSpPr>
        <p:spPr>
          <a:xfrm>
            <a:off x="306324" y="361188"/>
            <a:ext cx="82296" cy="82296"/>
          </a:xfrm>
          <a:prstGeom prst="ellipse">
            <a:avLst/>
          </a:prstGeom>
          <a:solidFill>
            <a:srgbClr val="EDEDE5"/>
          </a:solidFill>
          <a:ln w="11430">
            <a:solidFill>
              <a:srgbClr val="8A2522"/>
            </a:solidFill>
            <a:prstDash val="solid"/>
          </a:ln>
        </p:spPr>
      </p:sp>
      <p:sp>
        <p:nvSpPr>
          <p:cNvPr id="16" name="Text 14"/>
          <p:cNvSpPr txBox="1"/>
          <p:nvPr/>
        </p:nvSpPr>
        <p:spPr>
          <a:xfrm>
            <a:off x="3017520" y="411480"/>
            <a:ext cx="8503920" cy="731520"/>
          </a:xfrm>
          <a:prstGeom prst="rect">
            <a:avLst/>
          </a:prstGeom>
          <a:noFill/>
          <a:ln/>
        </p:spPr>
        <p:txBody>
          <a:bodyPr wrap="square" lIns="0" tIns="0" rIns="0" bIns="0" rtlCol="0" anchor="ctr"/>
          <a:lstStyle/>
          <a:p>
            <a:pPr algn="r" indent="0" marL="0">
              <a:buNone/>
            </a:pPr>
            <a:r>
              <a:rPr lang="ar-EG" altLang="en-US" sz="2800" b="1" dirty="0">
                <a:solidFill>
                  <a:srgbClr val="8A2522"/>
                </a:solidFill>
                <a:latin typeface="Arial" pitchFamily="34" charset="0"/>
                <a:ea typeface="Arial" pitchFamily="34" charset="-122"/>
                <a:cs typeface="Arial" pitchFamily="34" charset="-120"/>
              </a:rPr>
              <a:t>المراجع</a:t>
            </a:r>
            <a:pPr algn="r" indent="0" marL="0">
              <a:buNone/>
            </a:pPr>
            <a:r>
              <a:rPr lang="ar-EG" altLang="en-US" sz="2100" dirty="0">
                <a:solidFill>
                  <a:srgbClr val="8A2522"/>
                </a:solidFill>
                <a:latin typeface="Arial" pitchFamily="34" charset="0"/>
                <a:ea typeface="Arial" pitchFamily="34" charset="-122"/>
                <a:cs typeface="Arial" pitchFamily="34" charset="-120"/>
              </a:rPr>
              <a:t>  –  (2/2)</a:t>
            </a:r>
            <a:endParaRPr lang="ar-EG" sz="2800" dirty="0"/>
          </a:p>
        </p:txBody>
      </p:sp>
      <p:sp>
        <p:nvSpPr>
          <p:cNvPr id="17" name="Text 15"/>
          <p:cNvSpPr txBox="1"/>
          <p:nvPr/>
        </p:nvSpPr>
        <p:spPr>
          <a:xfrm>
            <a:off x="5120640" y="6245352"/>
            <a:ext cx="6400800" cy="256032"/>
          </a:xfrm>
          <a:prstGeom prst="rect">
            <a:avLst/>
          </a:prstGeom>
          <a:noFill/>
          <a:ln/>
        </p:spPr>
        <p:txBody>
          <a:bodyPr wrap="square" lIns="0" tIns="0" rIns="0" bIns="0" rtlCol="0" anchor="ctr"/>
          <a:lstStyle/>
          <a:p>
            <a:pPr rtl="1" algn="r" indent="0" marL="0">
              <a:buNone/>
            </a:pPr>
            <a:r>
              <a:rPr lang="ar-EG" altLang="en-US" sz="900" dirty="0">
                <a:solidFill>
                  <a:srgbClr val="9A978C"/>
                </a:solidFill>
                <a:latin typeface="Arial" pitchFamily="34" charset="0"/>
                <a:ea typeface="Arial" pitchFamily="34" charset="-122"/>
                <a:cs typeface="Arial" pitchFamily="34" charset="-120"/>
              </a:rPr>
              <a:t>Clustering موفّر للطاقة في شبكات الحساسات  ·  رحمة خالد عشبة</a:t>
            </a:r>
            <a:endParaRPr lang="ar-EG" sz="900" dirty="0"/>
          </a:p>
        </p:txBody>
      </p:sp>
      <p:sp>
        <p:nvSpPr>
          <p:cNvPr id="18" name="Text 16"/>
          <p:cNvSpPr txBox="1"/>
          <p:nvPr/>
        </p:nvSpPr>
        <p:spPr>
          <a:xfrm>
            <a:off x="640080" y="6245352"/>
            <a:ext cx="640080" cy="256032"/>
          </a:xfrm>
          <a:prstGeom prst="rect">
            <a:avLst/>
          </a:prstGeom>
          <a:noFill/>
          <a:ln/>
        </p:spPr>
        <p:txBody>
          <a:bodyPr wrap="square" lIns="0" tIns="0" rIns="0" bIns="0" rtlCol="0" anchor="ctr"/>
          <a:lstStyle/>
          <a:p>
            <a:pPr algn="l" indent="0" marL="0">
              <a:buNone/>
            </a:pPr>
            <a:r>
              <a:rPr lang="en-US" sz="1000" b="1" dirty="0">
                <a:solidFill>
                  <a:srgbClr val="8A2522"/>
                </a:solidFill>
                <a:latin typeface="Arial" pitchFamily="34" charset="0"/>
                <a:ea typeface="Arial" pitchFamily="34" charset="-122"/>
                <a:cs typeface="Arial" pitchFamily="34" charset="-120"/>
              </a:rPr>
              <a:t>63</a:t>
            </a:r>
            <a:endParaRPr lang="en-US" sz="1000" dirty="0"/>
          </a:p>
        </p:txBody>
      </p:sp>
      <p:sp>
        <p:nvSpPr>
          <p:cNvPr id="20" name="Text 17"/>
          <p:cNvSpPr txBox="1"/>
          <p:nvPr/>
        </p:nvSpPr>
        <p:spPr>
          <a:xfrm>
            <a:off x="822960" y="1371600"/>
            <a:ext cx="10607040" cy="4663440"/>
          </a:xfrm>
          <a:prstGeom prst="rect">
            <a:avLst/>
          </a:prstGeom>
          <a:noFill/>
          <a:ln/>
        </p:spPr>
        <p:txBody>
          <a:bodyPr wrap="square" lIns="0" tIns="0" rIns="0" bIns="0" rtlCol="0" anchor="t"/>
          <a:lstStyle/>
          <a:p>
            <a:pPr algn="l" indent="0" marL="0">
              <a:spcAft>
                <a:spcPts val="900"/>
              </a:spcAft>
              <a:buNone/>
            </a:pPr>
            <a:r>
              <a:rPr lang="en-US" sz="1250" dirty="0">
                <a:solidFill>
                  <a:srgbClr val="323232"/>
                </a:solidFill>
                <a:latin typeface="Arial" pitchFamily="34" charset="0"/>
                <a:ea typeface="Arial" pitchFamily="34" charset="-122"/>
                <a:cs typeface="Arial" pitchFamily="34" charset="-120"/>
              </a:rPr>
              <a:t>[9]  El-Sayed, Abd-Elgaber and Refaay, “An Intelligent RL Enhanced Improved LEACH Protocol for Prolonging WSN Lifetime,” Scientific Reports, 2026.</a:t>
            </a:r>
            <a:endParaRPr lang="en-US" sz="1250" dirty="0"/>
          </a:p>
          <a:p>
            <a:pPr algn="l" indent="0" marL="0">
              <a:spcAft>
                <a:spcPts val="900"/>
              </a:spcAft>
              <a:buNone/>
            </a:pPr>
            <a:r>
              <a:rPr lang="en-US" sz="1250" dirty="0">
                <a:solidFill>
                  <a:srgbClr val="323232"/>
                </a:solidFill>
                <a:latin typeface="Arial" pitchFamily="34" charset="0"/>
                <a:ea typeface="Arial" pitchFamily="34" charset="-122"/>
                <a:cs typeface="Arial" pitchFamily="34" charset="-120"/>
              </a:rPr>
              <a:t>[10]  J. Jassbi and S. Moridi, “Fault Tolerance and Energy Efficient Clustering Algorithm in Wireless Sensor Networks: FTEC,” Wireless Personal Communications, 2019. doi:10.1007/s11277-019-06281-6</a:t>
            </a:r>
            <a:endParaRPr lang="en-US" sz="1250" dirty="0"/>
          </a:p>
          <a:p>
            <a:pPr algn="l" indent="0" marL="0">
              <a:spcAft>
                <a:spcPts val="900"/>
              </a:spcAft>
              <a:buNone/>
            </a:pPr>
            <a:r>
              <a:rPr lang="en-US" sz="1250" dirty="0">
                <a:solidFill>
                  <a:srgbClr val="323232"/>
                </a:solidFill>
                <a:latin typeface="Arial" pitchFamily="34" charset="0"/>
                <a:ea typeface="Arial" pitchFamily="34" charset="-122"/>
                <a:cs typeface="Arial" pitchFamily="34" charset="-120"/>
              </a:rPr>
              <a:t>[11]  R. Pachlor, D. Shrimankar, K. K. Nagwanshi and M. Paliwal, “Cluster-Head Rotation Approaches in Sensor Networks: A Review,” arXiv:2206.08892, 2022.</a:t>
            </a:r>
            <a:endParaRPr lang="en-US" sz="1250" dirty="0"/>
          </a:p>
          <a:p>
            <a:pPr algn="l" indent="0" marL="0">
              <a:spcAft>
                <a:spcPts val="900"/>
              </a:spcAft>
              <a:buNone/>
            </a:pPr>
            <a:r>
              <a:rPr lang="en-US" sz="1250" dirty="0">
                <a:solidFill>
                  <a:srgbClr val="323232"/>
                </a:solidFill>
                <a:latin typeface="Arial" pitchFamily="34" charset="0"/>
                <a:ea typeface="Arial" pitchFamily="34" charset="-122"/>
                <a:cs typeface="Arial" pitchFamily="34" charset="-120"/>
              </a:rPr>
              <a:t>[12]  C. Li, M. Ye, G. Chen and J. Wu, “An Energy-Efficient Unequal Clustering Mechanism for Wireless Sensor Networks,” Proc. IEEE MASS, 2005.</a:t>
            </a:r>
            <a:endParaRPr lang="en-US" sz="1250" dirty="0"/>
          </a:p>
          <a:p>
            <a:pPr algn="l" indent="0" marL="0">
              <a:spcAft>
                <a:spcPts val="900"/>
              </a:spcAft>
              <a:buNone/>
            </a:pPr>
            <a:r>
              <a:rPr lang="en-US" sz="1250" dirty="0">
                <a:solidFill>
                  <a:srgbClr val="323232"/>
                </a:solidFill>
                <a:latin typeface="Arial" pitchFamily="34" charset="0"/>
                <a:ea typeface="Arial" pitchFamily="34" charset="-122"/>
                <a:cs typeface="Arial" pitchFamily="34" charset="-120"/>
              </a:rPr>
              <a:t>[13]  V. Chauhan and S. Soni, “Energy Aware Unequal Clustering Algorithm with Multi-hop Routing via Low Degree Relay Nodes for Wireless Sensor Networks,” J. Ambient Intelligence and Humanized Computing, vol. 12, pp. 2469–2482, 2021. doi:10.1007/s12652-020-02385-1</a:t>
            </a:r>
            <a:endParaRPr lang="en-US" sz="1250" dirty="0"/>
          </a:p>
          <a:p>
            <a:pPr algn="l" indent="0" marL="0">
              <a:spcAft>
                <a:spcPts val="900"/>
              </a:spcAft>
              <a:buNone/>
            </a:pPr>
            <a:r>
              <a:rPr lang="en-US" sz="1250" dirty="0">
                <a:solidFill>
                  <a:srgbClr val="323232"/>
                </a:solidFill>
                <a:latin typeface="Arial" pitchFamily="34" charset="0"/>
                <a:ea typeface="Arial" pitchFamily="34" charset="-122"/>
                <a:cs typeface="Arial" pitchFamily="34" charset="-120"/>
              </a:rPr>
              <a:t>[14]  W. B. Heinzelman, A. P. Chandrakasan and H. Balakrishnan, “An Application-Specific Protocol Architecture for Wireless Microsensor Networks,” IEEE Trans. Wireless Communications, 2002.</a:t>
            </a:r>
            <a:endParaRPr lang="en-US" sz="1250" dirty="0"/>
          </a:p>
          <a:p>
            <a:pPr algn="l" indent="0" marL="0">
              <a:spcAft>
                <a:spcPts val="900"/>
              </a:spcAft>
              <a:buNone/>
            </a:pPr>
            <a:r>
              <a:rPr lang="en-US" sz="1250" dirty="0">
                <a:solidFill>
                  <a:srgbClr val="323232"/>
                </a:solidFill>
                <a:latin typeface="Arial" pitchFamily="34" charset="0"/>
                <a:ea typeface="Arial" pitchFamily="34" charset="-122"/>
                <a:cs typeface="Arial" pitchFamily="34" charset="-120"/>
              </a:rPr>
              <a:t>[15]  ns-3 Network Simulator, release 3.41, https://www.nsnam.org</a:t>
            </a:r>
            <a:endParaRPr lang="en-US" sz="12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323232"/>
        </a:solidFill>
      </p:bgPr>
    </p:bg>
    <p:spTree>
      <p:nvGrpSpPr>
        <p:cNvPr id="1" name=""/>
        <p:cNvGrpSpPr/>
        <p:nvPr/>
      </p:nvGrpSpPr>
      <p:grpSpPr>
        <a:xfrm>
          <a:off x="0" y="0"/>
          <a:ext cx="0" cy="0"/>
          <a:chOff x="0" y="0"/>
          <a:chExt cx="0" cy="0"/>
        </a:xfrm>
      </p:grpSpPr>
      <p:sp>
        <p:nvSpPr>
          <p:cNvPr id="2" name="Shape 0"/>
          <p:cNvSpPr/>
          <p:nvPr/>
        </p:nvSpPr>
        <p:spPr>
          <a:xfrm>
            <a:off x="201168" y="201168"/>
            <a:ext cx="11786616" cy="6455664"/>
          </a:xfrm>
          <a:prstGeom prst="roundRect">
            <a:avLst>
              <a:gd name="adj" fmla="val 3966"/>
            </a:avLst>
          </a:prstGeom>
          <a:solidFill>
            <a:srgbClr val="EDEDE5"/>
          </a:solidFill>
          <a:ln w="12700">
            <a:solidFill>
              <a:srgbClr val="EDEDE5"/>
            </a:solidFill>
            <a:prstDash val="solid"/>
          </a:ln>
        </p:spPr>
      </p:sp>
      <p:sp>
        <p:nvSpPr>
          <p:cNvPr id="3" name="Shape 1"/>
          <p:cNvSpPr/>
          <p:nvPr/>
        </p:nvSpPr>
        <p:spPr>
          <a:xfrm flipV="1">
            <a:off x="2061972" y="249174"/>
            <a:ext cx="864108" cy="432054"/>
          </a:xfrm>
          <a:prstGeom prst="line">
            <a:avLst/>
          </a:prstGeom>
          <a:noFill/>
          <a:ln w="11430">
            <a:solidFill>
              <a:srgbClr val="8A2522"/>
            </a:solidFill>
            <a:prstDash val="solid"/>
          </a:ln>
        </p:spPr>
      </p:sp>
      <p:sp>
        <p:nvSpPr>
          <p:cNvPr id="4" name="Shape 2"/>
          <p:cNvSpPr/>
          <p:nvPr/>
        </p:nvSpPr>
        <p:spPr>
          <a:xfrm>
            <a:off x="1197864" y="345186"/>
            <a:ext cx="864108" cy="336042"/>
          </a:xfrm>
          <a:prstGeom prst="line">
            <a:avLst/>
          </a:prstGeom>
          <a:noFill/>
          <a:ln w="11430">
            <a:solidFill>
              <a:srgbClr val="8A2522"/>
            </a:solidFill>
            <a:prstDash val="solid"/>
          </a:ln>
        </p:spPr>
      </p:sp>
      <p:sp>
        <p:nvSpPr>
          <p:cNvPr id="5" name="Shape 3"/>
          <p:cNvSpPr/>
          <p:nvPr/>
        </p:nvSpPr>
        <p:spPr>
          <a:xfrm flipV="1">
            <a:off x="477774" y="345186"/>
            <a:ext cx="720090" cy="672084"/>
          </a:xfrm>
          <a:prstGeom prst="line">
            <a:avLst/>
          </a:prstGeom>
          <a:noFill/>
          <a:ln w="11430">
            <a:solidFill>
              <a:srgbClr val="8A2522"/>
            </a:solidFill>
            <a:prstDash val="solid"/>
          </a:ln>
        </p:spPr>
      </p:sp>
      <p:sp>
        <p:nvSpPr>
          <p:cNvPr id="6" name="Shape 4"/>
          <p:cNvSpPr/>
          <p:nvPr/>
        </p:nvSpPr>
        <p:spPr>
          <a:xfrm flipV="1">
            <a:off x="1629918" y="681228"/>
            <a:ext cx="432054" cy="720090"/>
          </a:xfrm>
          <a:prstGeom prst="line">
            <a:avLst/>
          </a:prstGeom>
          <a:noFill/>
          <a:ln w="11430">
            <a:solidFill>
              <a:srgbClr val="8A2522"/>
            </a:solidFill>
            <a:prstDash val="solid"/>
          </a:ln>
        </p:spPr>
      </p:sp>
      <p:sp>
        <p:nvSpPr>
          <p:cNvPr id="7" name="Shape 5"/>
          <p:cNvSpPr/>
          <p:nvPr/>
        </p:nvSpPr>
        <p:spPr>
          <a:xfrm>
            <a:off x="477774" y="1017270"/>
            <a:ext cx="1152144" cy="384048"/>
          </a:xfrm>
          <a:prstGeom prst="line">
            <a:avLst/>
          </a:prstGeom>
          <a:noFill/>
          <a:ln w="11430">
            <a:solidFill>
              <a:srgbClr val="8A2522"/>
            </a:solidFill>
            <a:prstDash val="solid"/>
          </a:ln>
        </p:spPr>
      </p:sp>
      <p:sp>
        <p:nvSpPr>
          <p:cNvPr id="8" name="Shape 6"/>
          <p:cNvSpPr/>
          <p:nvPr/>
        </p:nvSpPr>
        <p:spPr>
          <a:xfrm flipV="1">
            <a:off x="717804" y="1401318"/>
            <a:ext cx="912114" cy="432054"/>
          </a:xfrm>
          <a:prstGeom prst="line">
            <a:avLst/>
          </a:prstGeom>
          <a:noFill/>
          <a:ln w="11430">
            <a:solidFill>
              <a:srgbClr val="8A2522"/>
            </a:solidFill>
            <a:prstDash val="solid"/>
          </a:ln>
        </p:spPr>
      </p:sp>
      <p:sp>
        <p:nvSpPr>
          <p:cNvPr id="9" name="Shape 7"/>
          <p:cNvSpPr/>
          <p:nvPr/>
        </p:nvSpPr>
        <p:spPr>
          <a:xfrm>
            <a:off x="477774" y="1017270"/>
            <a:ext cx="240030" cy="816102"/>
          </a:xfrm>
          <a:prstGeom prst="line">
            <a:avLst/>
          </a:prstGeom>
          <a:noFill/>
          <a:ln w="11430">
            <a:solidFill>
              <a:srgbClr val="8A2522"/>
            </a:solidFill>
            <a:prstDash val="solid"/>
          </a:ln>
        </p:spPr>
      </p:sp>
      <p:sp>
        <p:nvSpPr>
          <p:cNvPr id="10" name="Shape 8"/>
          <p:cNvSpPr/>
          <p:nvPr/>
        </p:nvSpPr>
        <p:spPr>
          <a:xfrm>
            <a:off x="2061972" y="681228"/>
            <a:ext cx="240030" cy="528066"/>
          </a:xfrm>
          <a:prstGeom prst="line">
            <a:avLst/>
          </a:prstGeom>
          <a:noFill/>
          <a:ln w="11430">
            <a:solidFill>
              <a:srgbClr val="8A2522"/>
            </a:solidFill>
            <a:prstDash val="solid"/>
          </a:ln>
        </p:spPr>
      </p:sp>
      <p:sp>
        <p:nvSpPr>
          <p:cNvPr id="11" name="Shape 9"/>
          <p:cNvSpPr/>
          <p:nvPr/>
        </p:nvSpPr>
        <p:spPr>
          <a:xfrm flipV="1">
            <a:off x="1629918" y="1209294"/>
            <a:ext cx="672084" cy="192024"/>
          </a:xfrm>
          <a:prstGeom prst="line">
            <a:avLst/>
          </a:prstGeom>
          <a:noFill/>
          <a:ln w="11430">
            <a:solidFill>
              <a:srgbClr val="8A2522"/>
            </a:solidFill>
            <a:prstDash val="solid"/>
          </a:ln>
        </p:spPr>
      </p:sp>
      <p:sp>
        <p:nvSpPr>
          <p:cNvPr id="12" name="Shape 10"/>
          <p:cNvSpPr/>
          <p:nvPr/>
        </p:nvSpPr>
        <p:spPr>
          <a:xfrm flipV="1">
            <a:off x="333756" y="345186"/>
            <a:ext cx="864108" cy="48006"/>
          </a:xfrm>
          <a:prstGeom prst="line">
            <a:avLst/>
          </a:prstGeom>
          <a:noFill/>
          <a:ln w="11430">
            <a:solidFill>
              <a:srgbClr val="8A2522"/>
            </a:solidFill>
            <a:prstDash val="solid"/>
          </a:ln>
        </p:spPr>
      </p:sp>
      <p:sp>
        <p:nvSpPr>
          <p:cNvPr id="13" name="Shape 11"/>
          <p:cNvSpPr/>
          <p:nvPr/>
        </p:nvSpPr>
        <p:spPr>
          <a:xfrm>
            <a:off x="333756" y="393192"/>
            <a:ext cx="144018" cy="624078"/>
          </a:xfrm>
          <a:prstGeom prst="line">
            <a:avLst/>
          </a:prstGeom>
          <a:noFill/>
          <a:ln w="11430">
            <a:solidFill>
              <a:srgbClr val="8A2522"/>
            </a:solidFill>
            <a:prstDash val="solid"/>
          </a:ln>
        </p:spPr>
      </p:sp>
      <p:sp>
        <p:nvSpPr>
          <p:cNvPr id="14" name="Shape 12"/>
          <p:cNvSpPr/>
          <p:nvPr/>
        </p:nvSpPr>
        <p:spPr>
          <a:xfrm>
            <a:off x="717804" y="1833372"/>
            <a:ext cx="384048" cy="528066"/>
          </a:xfrm>
          <a:prstGeom prst="line">
            <a:avLst/>
          </a:prstGeom>
          <a:noFill/>
          <a:ln w="11430">
            <a:solidFill>
              <a:srgbClr val="8A2522"/>
            </a:solidFill>
            <a:prstDash val="solid"/>
          </a:ln>
        </p:spPr>
      </p:sp>
      <p:sp>
        <p:nvSpPr>
          <p:cNvPr id="15" name="Shape 13"/>
          <p:cNvSpPr/>
          <p:nvPr/>
        </p:nvSpPr>
        <p:spPr>
          <a:xfrm flipV="1">
            <a:off x="285750" y="2361438"/>
            <a:ext cx="816102" cy="336042"/>
          </a:xfrm>
          <a:prstGeom prst="line">
            <a:avLst/>
          </a:prstGeom>
          <a:noFill/>
          <a:ln w="11430">
            <a:solidFill>
              <a:srgbClr val="8A2522"/>
            </a:solidFill>
            <a:prstDash val="solid"/>
          </a:ln>
        </p:spPr>
      </p:sp>
      <p:sp>
        <p:nvSpPr>
          <p:cNvPr id="16" name="Shape 14"/>
          <p:cNvSpPr/>
          <p:nvPr/>
        </p:nvSpPr>
        <p:spPr>
          <a:xfrm flipV="1">
            <a:off x="285750" y="1833372"/>
            <a:ext cx="432054" cy="864108"/>
          </a:xfrm>
          <a:prstGeom prst="line">
            <a:avLst/>
          </a:prstGeom>
          <a:noFill/>
          <a:ln w="11430">
            <a:solidFill>
              <a:srgbClr val="8A2522"/>
            </a:solidFill>
            <a:prstDash val="solid"/>
          </a:ln>
        </p:spPr>
      </p:sp>
      <p:sp>
        <p:nvSpPr>
          <p:cNvPr id="17" name="Shape 15"/>
          <p:cNvSpPr/>
          <p:nvPr/>
        </p:nvSpPr>
        <p:spPr>
          <a:xfrm flipV="1">
            <a:off x="1101852" y="1401318"/>
            <a:ext cx="528066" cy="960120"/>
          </a:xfrm>
          <a:prstGeom prst="line">
            <a:avLst/>
          </a:prstGeom>
          <a:noFill/>
          <a:ln w="11430">
            <a:solidFill>
              <a:srgbClr val="8A2522"/>
            </a:solidFill>
            <a:prstDash val="solid"/>
          </a:ln>
        </p:spPr>
      </p:sp>
      <p:sp>
        <p:nvSpPr>
          <p:cNvPr id="18" name="Shape 16"/>
          <p:cNvSpPr/>
          <p:nvPr/>
        </p:nvSpPr>
        <p:spPr>
          <a:xfrm>
            <a:off x="2884932" y="208026"/>
            <a:ext cx="82296" cy="82296"/>
          </a:xfrm>
          <a:prstGeom prst="ellipse">
            <a:avLst/>
          </a:prstGeom>
          <a:solidFill>
            <a:srgbClr val="EDEDE5"/>
          </a:solidFill>
          <a:ln w="11430">
            <a:solidFill>
              <a:srgbClr val="8A2522"/>
            </a:solidFill>
            <a:prstDash val="solid"/>
          </a:ln>
        </p:spPr>
      </p:sp>
      <p:sp>
        <p:nvSpPr>
          <p:cNvPr id="19" name="Shape 17"/>
          <p:cNvSpPr/>
          <p:nvPr/>
        </p:nvSpPr>
        <p:spPr>
          <a:xfrm>
            <a:off x="2020824" y="640080"/>
            <a:ext cx="82296" cy="82296"/>
          </a:xfrm>
          <a:prstGeom prst="ellipse">
            <a:avLst/>
          </a:prstGeom>
          <a:solidFill>
            <a:srgbClr val="EDEDE5"/>
          </a:solidFill>
          <a:ln w="11430">
            <a:solidFill>
              <a:srgbClr val="8A2522"/>
            </a:solidFill>
            <a:prstDash val="solid"/>
          </a:ln>
        </p:spPr>
      </p:sp>
      <p:sp>
        <p:nvSpPr>
          <p:cNvPr id="20" name="Shape 18"/>
          <p:cNvSpPr/>
          <p:nvPr/>
        </p:nvSpPr>
        <p:spPr>
          <a:xfrm>
            <a:off x="1156716" y="304038"/>
            <a:ext cx="82296" cy="82296"/>
          </a:xfrm>
          <a:prstGeom prst="ellipse">
            <a:avLst/>
          </a:prstGeom>
          <a:solidFill>
            <a:srgbClr val="EDEDE5"/>
          </a:solidFill>
          <a:ln w="11430">
            <a:solidFill>
              <a:srgbClr val="8A2522"/>
            </a:solidFill>
            <a:prstDash val="solid"/>
          </a:ln>
        </p:spPr>
      </p:sp>
      <p:sp>
        <p:nvSpPr>
          <p:cNvPr id="21" name="Shape 19"/>
          <p:cNvSpPr/>
          <p:nvPr/>
        </p:nvSpPr>
        <p:spPr>
          <a:xfrm>
            <a:off x="436626" y="976122"/>
            <a:ext cx="82296" cy="82296"/>
          </a:xfrm>
          <a:prstGeom prst="ellipse">
            <a:avLst/>
          </a:prstGeom>
          <a:solidFill>
            <a:srgbClr val="EDEDE5"/>
          </a:solidFill>
          <a:ln w="11430">
            <a:solidFill>
              <a:srgbClr val="8A2522"/>
            </a:solidFill>
            <a:prstDash val="solid"/>
          </a:ln>
        </p:spPr>
      </p:sp>
      <p:sp>
        <p:nvSpPr>
          <p:cNvPr id="22" name="Shape 20"/>
          <p:cNvSpPr/>
          <p:nvPr/>
        </p:nvSpPr>
        <p:spPr>
          <a:xfrm>
            <a:off x="1588770" y="1360170"/>
            <a:ext cx="82296" cy="82296"/>
          </a:xfrm>
          <a:prstGeom prst="ellipse">
            <a:avLst/>
          </a:prstGeom>
          <a:solidFill>
            <a:srgbClr val="EDEDE5"/>
          </a:solidFill>
          <a:ln w="11430">
            <a:solidFill>
              <a:srgbClr val="8A2522"/>
            </a:solidFill>
            <a:prstDash val="solid"/>
          </a:ln>
        </p:spPr>
      </p:sp>
      <p:sp>
        <p:nvSpPr>
          <p:cNvPr id="23" name="Shape 21"/>
          <p:cNvSpPr/>
          <p:nvPr/>
        </p:nvSpPr>
        <p:spPr>
          <a:xfrm>
            <a:off x="676656" y="1792224"/>
            <a:ext cx="82296" cy="82296"/>
          </a:xfrm>
          <a:prstGeom prst="ellipse">
            <a:avLst/>
          </a:prstGeom>
          <a:solidFill>
            <a:srgbClr val="EDEDE5"/>
          </a:solidFill>
          <a:ln w="11430">
            <a:solidFill>
              <a:srgbClr val="8A2522"/>
            </a:solidFill>
            <a:prstDash val="solid"/>
          </a:ln>
        </p:spPr>
      </p:sp>
      <p:sp>
        <p:nvSpPr>
          <p:cNvPr id="24" name="Shape 22"/>
          <p:cNvSpPr/>
          <p:nvPr/>
        </p:nvSpPr>
        <p:spPr>
          <a:xfrm>
            <a:off x="2260854" y="1168146"/>
            <a:ext cx="82296" cy="82296"/>
          </a:xfrm>
          <a:prstGeom prst="ellipse">
            <a:avLst/>
          </a:prstGeom>
          <a:solidFill>
            <a:srgbClr val="EDEDE5"/>
          </a:solidFill>
          <a:ln w="11430">
            <a:solidFill>
              <a:srgbClr val="8A2522"/>
            </a:solidFill>
            <a:prstDash val="solid"/>
          </a:ln>
        </p:spPr>
      </p:sp>
      <p:sp>
        <p:nvSpPr>
          <p:cNvPr id="25" name="Shape 23"/>
          <p:cNvSpPr/>
          <p:nvPr/>
        </p:nvSpPr>
        <p:spPr>
          <a:xfrm>
            <a:off x="292608" y="352044"/>
            <a:ext cx="82296" cy="82296"/>
          </a:xfrm>
          <a:prstGeom prst="ellipse">
            <a:avLst/>
          </a:prstGeom>
          <a:solidFill>
            <a:srgbClr val="EDEDE5"/>
          </a:solidFill>
          <a:ln w="11430">
            <a:solidFill>
              <a:srgbClr val="8A2522"/>
            </a:solidFill>
            <a:prstDash val="solid"/>
          </a:ln>
        </p:spPr>
      </p:sp>
      <p:sp>
        <p:nvSpPr>
          <p:cNvPr id="26" name="Shape 24"/>
          <p:cNvSpPr/>
          <p:nvPr/>
        </p:nvSpPr>
        <p:spPr>
          <a:xfrm>
            <a:off x="1060704" y="2320290"/>
            <a:ext cx="82296" cy="82296"/>
          </a:xfrm>
          <a:prstGeom prst="ellipse">
            <a:avLst/>
          </a:prstGeom>
          <a:solidFill>
            <a:srgbClr val="EDEDE5"/>
          </a:solidFill>
          <a:ln w="11430">
            <a:solidFill>
              <a:srgbClr val="8A2522"/>
            </a:solidFill>
            <a:prstDash val="solid"/>
          </a:ln>
        </p:spPr>
      </p:sp>
      <p:sp>
        <p:nvSpPr>
          <p:cNvPr id="27" name="Shape 25"/>
          <p:cNvSpPr/>
          <p:nvPr/>
        </p:nvSpPr>
        <p:spPr>
          <a:xfrm>
            <a:off x="244602" y="2656332"/>
            <a:ext cx="82296" cy="82296"/>
          </a:xfrm>
          <a:prstGeom prst="ellipse">
            <a:avLst/>
          </a:prstGeom>
          <a:solidFill>
            <a:srgbClr val="EDEDE5"/>
          </a:solidFill>
          <a:ln w="11430">
            <a:solidFill>
              <a:srgbClr val="8A2522"/>
            </a:solidFill>
            <a:prstDash val="solid"/>
          </a:ln>
        </p:spPr>
      </p:sp>
      <p:sp>
        <p:nvSpPr>
          <p:cNvPr id="28" name="Shape 26"/>
          <p:cNvSpPr/>
          <p:nvPr/>
        </p:nvSpPr>
        <p:spPr>
          <a:xfrm>
            <a:off x="11393424" y="6382512"/>
            <a:ext cx="493776" cy="246888"/>
          </a:xfrm>
          <a:prstGeom prst="line">
            <a:avLst/>
          </a:prstGeom>
          <a:noFill/>
          <a:ln w="11430">
            <a:solidFill>
              <a:srgbClr val="8A2522"/>
            </a:solidFill>
            <a:prstDash val="solid"/>
          </a:ln>
        </p:spPr>
      </p:sp>
      <p:sp>
        <p:nvSpPr>
          <p:cNvPr id="29" name="Shape 27"/>
          <p:cNvSpPr/>
          <p:nvPr/>
        </p:nvSpPr>
        <p:spPr>
          <a:xfrm flipV="1">
            <a:off x="10899648" y="6382512"/>
            <a:ext cx="493776" cy="192024"/>
          </a:xfrm>
          <a:prstGeom prst="line">
            <a:avLst/>
          </a:prstGeom>
          <a:noFill/>
          <a:ln w="11430">
            <a:solidFill>
              <a:srgbClr val="8A2522"/>
            </a:solidFill>
            <a:prstDash val="solid"/>
          </a:ln>
        </p:spPr>
      </p:sp>
      <p:sp>
        <p:nvSpPr>
          <p:cNvPr id="30" name="Shape 28"/>
          <p:cNvSpPr/>
          <p:nvPr/>
        </p:nvSpPr>
        <p:spPr>
          <a:xfrm>
            <a:off x="10488168" y="6190488"/>
            <a:ext cx="411480" cy="384048"/>
          </a:xfrm>
          <a:prstGeom prst="line">
            <a:avLst/>
          </a:prstGeom>
          <a:noFill/>
          <a:ln w="11430">
            <a:solidFill>
              <a:srgbClr val="8A2522"/>
            </a:solidFill>
            <a:prstDash val="solid"/>
          </a:ln>
        </p:spPr>
      </p:sp>
      <p:sp>
        <p:nvSpPr>
          <p:cNvPr id="31" name="Shape 29"/>
          <p:cNvSpPr/>
          <p:nvPr/>
        </p:nvSpPr>
        <p:spPr>
          <a:xfrm>
            <a:off x="11146536" y="5971032"/>
            <a:ext cx="246888" cy="411480"/>
          </a:xfrm>
          <a:prstGeom prst="line">
            <a:avLst/>
          </a:prstGeom>
          <a:noFill/>
          <a:ln w="11430">
            <a:solidFill>
              <a:srgbClr val="8A2522"/>
            </a:solidFill>
            <a:prstDash val="solid"/>
          </a:ln>
        </p:spPr>
      </p:sp>
      <p:sp>
        <p:nvSpPr>
          <p:cNvPr id="32" name="Shape 30"/>
          <p:cNvSpPr/>
          <p:nvPr/>
        </p:nvSpPr>
        <p:spPr>
          <a:xfrm flipV="1">
            <a:off x="10488168" y="5971032"/>
            <a:ext cx="658368" cy="219456"/>
          </a:xfrm>
          <a:prstGeom prst="line">
            <a:avLst/>
          </a:prstGeom>
          <a:noFill/>
          <a:ln w="11430">
            <a:solidFill>
              <a:srgbClr val="8A2522"/>
            </a:solidFill>
            <a:prstDash val="solid"/>
          </a:ln>
        </p:spPr>
      </p:sp>
      <p:sp>
        <p:nvSpPr>
          <p:cNvPr id="33" name="Shape 31"/>
          <p:cNvSpPr/>
          <p:nvPr/>
        </p:nvSpPr>
        <p:spPr>
          <a:xfrm>
            <a:off x="10625328" y="5724144"/>
            <a:ext cx="521208" cy="246888"/>
          </a:xfrm>
          <a:prstGeom prst="line">
            <a:avLst/>
          </a:prstGeom>
          <a:noFill/>
          <a:ln w="11430">
            <a:solidFill>
              <a:srgbClr val="8A2522"/>
            </a:solidFill>
            <a:prstDash val="solid"/>
          </a:ln>
        </p:spPr>
      </p:sp>
      <p:sp>
        <p:nvSpPr>
          <p:cNvPr id="34" name="Shape 32"/>
          <p:cNvSpPr/>
          <p:nvPr/>
        </p:nvSpPr>
        <p:spPr>
          <a:xfrm flipV="1">
            <a:off x="10488168" y="5724144"/>
            <a:ext cx="137160" cy="466344"/>
          </a:xfrm>
          <a:prstGeom prst="line">
            <a:avLst/>
          </a:prstGeom>
          <a:noFill/>
          <a:ln w="11430">
            <a:solidFill>
              <a:srgbClr val="8A2522"/>
            </a:solidFill>
            <a:prstDash val="solid"/>
          </a:ln>
        </p:spPr>
      </p:sp>
      <p:sp>
        <p:nvSpPr>
          <p:cNvPr id="35" name="Shape 33"/>
          <p:cNvSpPr/>
          <p:nvPr/>
        </p:nvSpPr>
        <p:spPr>
          <a:xfrm flipV="1">
            <a:off x="11393424" y="6080760"/>
            <a:ext cx="137160" cy="301752"/>
          </a:xfrm>
          <a:prstGeom prst="line">
            <a:avLst/>
          </a:prstGeom>
          <a:noFill/>
          <a:ln w="11430">
            <a:solidFill>
              <a:srgbClr val="8A2522"/>
            </a:solidFill>
            <a:prstDash val="solid"/>
          </a:ln>
        </p:spPr>
      </p:sp>
      <p:sp>
        <p:nvSpPr>
          <p:cNvPr id="36" name="Shape 34"/>
          <p:cNvSpPr/>
          <p:nvPr/>
        </p:nvSpPr>
        <p:spPr>
          <a:xfrm>
            <a:off x="11146536" y="5971032"/>
            <a:ext cx="384048" cy="109728"/>
          </a:xfrm>
          <a:prstGeom prst="line">
            <a:avLst/>
          </a:prstGeom>
          <a:noFill/>
          <a:ln w="11430">
            <a:solidFill>
              <a:srgbClr val="8A2522"/>
            </a:solidFill>
            <a:prstDash val="solid"/>
          </a:ln>
        </p:spPr>
      </p:sp>
      <p:sp>
        <p:nvSpPr>
          <p:cNvPr id="37" name="Shape 35"/>
          <p:cNvSpPr/>
          <p:nvPr/>
        </p:nvSpPr>
        <p:spPr>
          <a:xfrm>
            <a:off x="10405872" y="6547104"/>
            <a:ext cx="493776" cy="27432"/>
          </a:xfrm>
          <a:prstGeom prst="line">
            <a:avLst/>
          </a:prstGeom>
          <a:noFill/>
          <a:ln w="11430">
            <a:solidFill>
              <a:srgbClr val="8A2522"/>
            </a:solidFill>
            <a:prstDash val="solid"/>
          </a:ln>
        </p:spPr>
      </p:sp>
      <p:sp>
        <p:nvSpPr>
          <p:cNvPr id="38" name="Shape 36"/>
          <p:cNvSpPr/>
          <p:nvPr/>
        </p:nvSpPr>
        <p:spPr>
          <a:xfrm flipV="1">
            <a:off x="10405872" y="6190488"/>
            <a:ext cx="82296" cy="356616"/>
          </a:xfrm>
          <a:prstGeom prst="line">
            <a:avLst/>
          </a:prstGeom>
          <a:noFill/>
          <a:ln w="11430">
            <a:solidFill>
              <a:srgbClr val="8A2522"/>
            </a:solidFill>
            <a:prstDash val="solid"/>
          </a:ln>
        </p:spPr>
      </p:sp>
      <p:sp>
        <p:nvSpPr>
          <p:cNvPr id="39" name="Shape 37"/>
          <p:cNvSpPr/>
          <p:nvPr/>
        </p:nvSpPr>
        <p:spPr>
          <a:xfrm flipV="1">
            <a:off x="10625328" y="5422392"/>
            <a:ext cx="219456" cy="301752"/>
          </a:xfrm>
          <a:prstGeom prst="line">
            <a:avLst/>
          </a:prstGeom>
          <a:noFill/>
          <a:ln w="11430">
            <a:solidFill>
              <a:srgbClr val="8A2522"/>
            </a:solidFill>
            <a:prstDash val="solid"/>
          </a:ln>
        </p:spPr>
      </p:sp>
      <p:sp>
        <p:nvSpPr>
          <p:cNvPr id="40" name="Shape 38"/>
          <p:cNvSpPr/>
          <p:nvPr/>
        </p:nvSpPr>
        <p:spPr>
          <a:xfrm>
            <a:off x="10378440" y="5230368"/>
            <a:ext cx="466344" cy="192024"/>
          </a:xfrm>
          <a:prstGeom prst="line">
            <a:avLst/>
          </a:prstGeom>
          <a:noFill/>
          <a:ln w="11430">
            <a:solidFill>
              <a:srgbClr val="8A2522"/>
            </a:solidFill>
            <a:prstDash val="solid"/>
          </a:ln>
        </p:spPr>
      </p:sp>
      <p:sp>
        <p:nvSpPr>
          <p:cNvPr id="41" name="Shape 39"/>
          <p:cNvSpPr/>
          <p:nvPr/>
        </p:nvSpPr>
        <p:spPr>
          <a:xfrm>
            <a:off x="10378440" y="5230368"/>
            <a:ext cx="246888" cy="493776"/>
          </a:xfrm>
          <a:prstGeom prst="line">
            <a:avLst/>
          </a:prstGeom>
          <a:noFill/>
          <a:ln w="11430">
            <a:solidFill>
              <a:srgbClr val="8A2522"/>
            </a:solidFill>
            <a:prstDash val="solid"/>
          </a:ln>
        </p:spPr>
      </p:sp>
      <p:sp>
        <p:nvSpPr>
          <p:cNvPr id="42" name="Shape 40"/>
          <p:cNvSpPr/>
          <p:nvPr/>
        </p:nvSpPr>
        <p:spPr>
          <a:xfrm>
            <a:off x="10844784" y="5422392"/>
            <a:ext cx="301752" cy="548640"/>
          </a:xfrm>
          <a:prstGeom prst="line">
            <a:avLst/>
          </a:prstGeom>
          <a:noFill/>
          <a:ln w="11430">
            <a:solidFill>
              <a:srgbClr val="8A2522"/>
            </a:solidFill>
            <a:prstDash val="solid"/>
          </a:ln>
        </p:spPr>
      </p:sp>
      <p:sp>
        <p:nvSpPr>
          <p:cNvPr id="43" name="Shape 41"/>
          <p:cNvSpPr/>
          <p:nvPr/>
        </p:nvSpPr>
        <p:spPr>
          <a:xfrm>
            <a:off x="11846052" y="6588252"/>
            <a:ext cx="82296" cy="82296"/>
          </a:xfrm>
          <a:prstGeom prst="ellipse">
            <a:avLst/>
          </a:prstGeom>
          <a:solidFill>
            <a:srgbClr val="EDEDE5"/>
          </a:solidFill>
          <a:ln w="11430">
            <a:solidFill>
              <a:srgbClr val="8A2522"/>
            </a:solidFill>
            <a:prstDash val="solid"/>
          </a:ln>
        </p:spPr>
      </p:sp>
      <p:sp>
        <p:nvSpPr>
          <p:cNvPr id="44" name="Shape 42"/>
          <p:cNvSpPr/>
          <p:nvPr/>
        </p:nvSpPr>
        <p:spPr>
          <a:xfrm>
            <a:off x="11352276" y="6341364"/>
            <a:ext cx="82296" cy="82296"/>
          </a:xfrm>
          <a:prstGeom prst="ellipse">
            <a:avLst/>
          </a:prstGeom>
          <a:solidFill>
            <a:srgbClr val="EDEDE5"/>
          </a:solidFill>
          <a:ln w="11430">
            <a:solidFill>
              <a:srgbClr val="8A2522"/>
            </a:solidFill>
            <a:prstDash val="solid"/>
          </a:ln>
        </p:spPr>
      </p:sp>
      <p:sp>
        <p:nvSpPr>
          <p:cNvPr id="45" name="Shape 43"/>
          <p:cNvSpPr/>
          <p:nvPr/>
        </p:nvSpPr>
        <p:spPr>
          <a:xfrm>
            <a:off x="10858500" y="6533388"/>
            <a:ext cx="82296" cy="82296"/>
          </a:xfrm>
          <a:prstGeom prst="ellipse">
            <a:avLst/>
          </a:prstGeom>
          <a:solidFill>
            <a:srgbClr val="EDEDE5"/>
          </a:solidFill>
          <a:ln w="11430">
            <a:solidFill>
              <a:srgbClr val="8A2522"/>
            </a:solidFill>
            <a:prstDash val="solid"/>
          </a:ln>
        </p:spPr>
      </p:sp>
      <p:sp>
        <p:nvSpPr>
          <p:cNvPr id="46" name="Shape 44"/>
          <p:cNvSpPr/>
          <p:nvPr/>
        </p:nvSpPr>
        <p:spPr>
          <a:xfrm>
            <a:off x="10447020" y="6149340"/>
            <a:ext cx="82296" cy="82296"/>
          </a:xfrm>
          <a:prstGeom prst="ellipse">
            <a:avLst/>
          </a:prstGeom>
          <a:solidFill>
            <a:srgbClr val="EDEDE5"/>
          </a:solidFill>
          <a:ln w="11430">
            <a:solidFill>
              <a:srgbClr val="8A2522"/>
            </a:solidFill>
            <a:prstDash val="solid"/>
          </a:ln>
        </p:spPr>
      </p:sp>
      <p:sp>
        <p:nvSpPr>
          <p:cNvPr id="47" name="Shape 45"/>
          <p:cNvSpPr/>
          <p:nvPr/>
        </p:nvSpPr>
        <p:spPr>
          <a:xfrm>
            <a:off x="11105388" y="5929884"/>
            <a:ext cx="82296" cy="82296"/>
          </a:xfrm>
          <a:prstGeom prst="ellipse">
            <a:avLst/>
          </a:prstGeom>
          <a:solidFill>
            <a:srgbClr val="EDEDE5"/>
          </a:solidFill>
          <a:ln w="11430">
            <a:solidFill>
              <a:srgbClr val="8A2522"/>
            </a:solidFill>
            <a:prstDash val="solid"/>
          </a:ln>
        </p:spPr>
      </p:sp>
      <p:sp>
        <p:nvSpPr>
          <p:cNvPr id="48" name="Shape 46"/>
          <p:cNvSpPr/>
          <p:nvPr/>
        </p:nvSpPr>
        <p:spPr>
          <a:xfrm>
            <a:off x="10584180" y="5682996"/>
            <a:ext cx="82296" cy="82296"/>
          </a:xfrm>
          <a:prstGeom prst="ellipse">
            <a:avLst/>
          </a:prstGeom>
          <a:solidFill>
            <a:srgbClr val="EDEDE5"/>
          </a:solidFill>
          <a:ln w="11430">
            <a:solidFill>
              <a:srgbClr val="8A2522"/>
            </a:solidFill>
            <a:prstDash val="solid"/>
          </a:ln>
        </p:spPr>
      </p:sp>
      <p:sp>
        <p:nvSpPr>
          <p:cNvPr id="49" name="Shape 47"/>
          <p:cNvSpPr/>
          <p:nvPr/>
        </p:nvSpPr>
        <p:spPr>
          <a:xfrm>
            <a:off x="11489436" y="6039612"/>
            <a:ext cx="82296" cy="82296"/>
          </a:xfrm>
          <a:prstGeom prst="ellipse">
            <a:avLst/>
          </a:prstGeom>
          <a:solidFill>
            <a:srgbClr val="EDEDE5"/>
          </a:solidFill>
          <a:ln w="11430">
            <a:solidFill>
              <a:srgbClr val="8A2522"/>
            </a:solidFill>
            <a:prstDash val="solid"/>
          </a:ln>
        </p:spPr>
      </p:sp>
      <p:sp>
        <p:nvSpPr>
          <p:cNvPr id="50" name="Shape 48"/>
          <p:cNvSpPr/>
          <p:nvPr/>
        </p:nvSpPr>
        <p:spPr>
          <a:xfrm>
            <a:off x="10364724" y="6505956"/>
            <a:ext cx="82296" cy="82296"/>
          </a:xfrm>
          <a:prstGeom prst="ellipse">
            <a:avLst/>
          </a:prstGeom>
          <a:solidFill>
            <a:srgbClr val="EDEDE5"/>
          </a:solidFill>
          <a:ln w="11430">
            <a:solidFill>
              <a:srgbClr val="8A2522"/>
            </a:solidFill>
            <a:prstDash val="solid"/>
          </a:ln>
        </p:spPr>
      </p:sp>
      <p:sp>
        <p:nvSpPr>
          <p:cNvPr id="51" name="Shape 49"/>
          <p:cNvSpPr/>
          <p:nvPr/>
        </p:nvSpPr>
        <p:spPr>
          <a:xfrm>
            <a:off x="10803636" y="5381244"/>
            <a:ext cx="82296" cy="82296"/>
          </a:xfrm>
          <a:prstGeom prst="ellipse">
            <a:avLst/>
          </a:prstGeom>
          <a:solidFill>
            <a:srgbClr val="EDEDE5"/>
          </a:solidFill>
          <a:ln w="11430">
            <a:solidFill>
              <a:srgbClr val="8A2522"/>
            </a:solidFill>
            <a:prstDash val="solid"/>
          </a:ln>
        </p:spPr>
      </p:sp>
      <p:sp>
        <p:nvSpPr>
          <p:cNvPr id="52" name="Shape 50"/>
          <p:cNvSpPr/>
          <p:nvPr/>
        </p:nvSpPr>
        <p:spPr>
          <a:xfrm>
            <a:off x="10337292" y="5189220"/>
            <a:ext cx="82296" cy="82296"/>
          </a:xfrm>
          <a:prstGeom prst="ellipse">
            <a:avLst/>
          </a:prstGeom>
          <a:solidFill>
            <a:srgbClr val="EDEDE5"/>
          </a:solidFill>
          <a:ln w="11430">
            <a:solidFill>
              <a:srgbClr val="8A2522"/>
            </a:solidFill>
            <a:prstDash val="solid"/>
          </a:ln>
        </p:spPr>
      </p:sp>
      <p:sp>
        <p:nvSpPr>
          <p:cNvPr id="53" name="Text 51"/>
          <p:cNvSpPr txBox="1"/>
          <p:nvPr/>
        </p:nvSpPr>
        <p:spPr>
          <a:xfrm>
            <a:off x="822960" y="2103120"/>
            <a:ext cx="10515600" cy="1280160"/>
          </a:xfrm>
          <a:prstGeom prst="rect">
            <a:avLst/>
          </a:prstGeom>
          <a:noFill/>
          <a:ln/>
        </p:spPr>
        <p:txBody>
          <a:bodyPr wrap="square" lIns="0" tIns="0" rIns="0" bIns="0" rtlCol="0" anchor="ctr"/>
          <a:lstStyle/>
          <a:p>
            <a:pPr rtl="1" algn="ctr" indent="0" marL="0">
              <a:buNone/>
            </a:pPr>
            <a:r>
              <a:rPr lang="ar-EG" altLang="en-US" sz="5400" b="1" dirty="0">
                <a:solidFill>
                  <a:srgbClr val="8A2522"/>
                </a:solidFill>
                <a:latin typeface="Arial" pitchFamily="34" charset="0"/>
                <a:ea typeface="Arial" pitchFamily="34" charset="-122"/>
                <a:cs typeface="Arial" pitchFamily="34" charset="-120"/>
              </a:rPr>
              <a:t>شكرًا</a:t>
            </a:r>
            <a:endParaRPr lang="ar-EG" sz="5400" dirty="0"/>
          </a:p>
        </p:txBody>
      </p:sp>
      <p:sp>
        <p:nvSpPr>
          <p:cNvPr id="54" name="Text 52"/>
          <p:cNvSpPr txBox="1"/>
          <p:nvPr/>
        </p:nvSpPr>
        <p:spPr>
          <a:xfrm>
            <a:off x="822960" y="3383280"/>
            <a:ext cx="10515600" cy="731520"/>
          </a:xfrm>
          <a:prstGeom prst="rect">
            <a:avLst/>
          </a:prstGeom>
          <a:noFill/>
          <a:ln/>
        </p:spPr>
        <p:txBody>
          <a:bodyPr wrap="square" lIns="0" tIns="0" rIns="0" bIns="0" rtlCol="0" anchor="ctr"/>
          <a:lstStyle/>
          <a:p>
            <a:pPr rtl="1" algn="ctr" indent="0" marL="0">
              <a:buNone/>
            </a:pPr>
            <a:r>
              <a:rPr lang="ar-EG" altLang="en-US" sz="2400" dirty="0">
                <a:solidFill>
                  <a:srgbClr val="323232"/>
                </a:solidFill>
                <a:latin typeface="Arial" pitchFamily="34" charset="0"/>
                <a:ea typeface="Arial" pitchFamily="34" charset="-122"/>
                <a:cs typeface="Arial" pitchFamily="34" charset="-120"/>
              </a:rPr>
              <a:t>أسئلة ومناقشة</a:t>
            </a:r>
            <a:endParaRPr lang="ar-EG" sz="2400" dirty="0"/>
          </a:p>
        </p:txBody>
      </p:sp>
      <p:sp>
        <p:nvSpPr>
          <p:cNvPr id="55" name="Text 53"/>
          <p:cNvSpPr txBox="1"/>
          <p:nvPr/>
        </p:nvSpPr>
        <p:spPr>
          <a:xfrm>
            <a:off x="822960" y="4389120"/>
            <a:ext cx="10515600" cy="457200"/>
          </a:xfrm>
          <a:prstGeom prst="rect">
            <a:avLst/>
          </a:prstGeom>
          <a:noFill/>
          <a:ln/>
        </p:spPr>
        <p:txBody>
          <a:bodyPr wrap="square" lIns="0" tIns="0" rIns="0" bIns="0" rtlCol="0" anchor="ctr"/>
          <a:lstStyle/>
          <a:p>
            <a:pPr rtl="1" algn="ctr" indent="0" marL="0">
              <a:buNone/>
            </a:pPr>
            <a:r>
              <a:rPr lang="ar-EG" altLang="en-US" sz="1600" b="1" dirty="0">
                <a:solidFill>
                  <a:srgbClr val="8A2522"/>
                </a:solidFill>
                <a:latin typeface="Arial" pitchFamily="34" charset="0"/>
                <a:ea typeface="Arial" pitchFamily="34" charset="-122"/>
                <a:cs typeface="Arial" pitchFamily="34" charset="-120"/>
              </a:rPr>
              <a:t>م. رحمة خالد عشبة</a:t>
            </a:r>
            <a:endParaRPr lang="ar-EG"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Clustering موفّر للطاقة وآمن في شبكات الحساسات — عرض المناقشة (عربي)</dc:title>
  <dc:subject>PptxGenJS Presentation</dc:subject>
  <dc:creator>Rahma Khaled Oshba</dc:creator>
  <cp:lastModifiedBy>Rahma Khaled Oshba</cp:lastModifiedBy>
  <cp:revision>1</cp:revision>
  <dcterms:created xsi:type="dcterms:W3CDTF">2026-09-23T22:38:30Z</dcterms:created>
  <dcterms:modified xsi:type="dcterms:W3CDTF">2026-09-23T22:38:30Z</dcterms:modified>
</cp:coreProperties>
</file>