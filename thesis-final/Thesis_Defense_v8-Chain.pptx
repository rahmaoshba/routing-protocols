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charts/chart1.xml" ContentType="application/vnd.openxmlformats-officedocument.drawingml.chart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charts/chart2.xml" ContentType="application/vnd.openxmlformats-officedocument.drawingml.chart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charts/chart3.xml" ContentType="application/vnd.openxmlformats-officedocument.drawingml.chart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charts/chart4.xml" ContentType="application/vnd.openxmlformats-officedocument.drawingml.chart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charts/chart7.xml" ContentType="application/vnd.openxmlformats-officedocument.drawingml.chart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charts/chart8.xml" ContentType="application/vnd.openxmlformats-officedocument.drawingml.chart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charts/chart9.xml" ContentType="application/vnd.openxmlformats-officedocument.drawingml.chart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charts/chart10.xml" ContentType="application/vnd.openxmlformats-officedocument.drawingml.chart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charts/chart11.xml" ContentType="application/vnd.openxmlformats-officedocument.drawingml.chart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charts/chart12.xml" ContentType="application/vnd.openxmlformats-officedocument.drawingml.chart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charts/chart13.xml" ContentType="application/vnd.openxmlformats-officedocument.drawingml.chart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charts/chart14.xml" ContentType="application/vnd.openxmlformats-officedocument.drawingml.chart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charts/chart17.xml" ContentType="application/vnd.openxmlformats-officedocument.drawingml.chart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charts/chart18.xml" ContentType="application/vnd.openxmlformats-officedocument.drawingml.chart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charts/chart19.xml" ContentType="application/vnd.openxmlformats-officedocument.drawingml.chart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charts/chart20.xml" ContentType="application/vnd.openxmlformats-officedocument.drawingml.chart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charts/chart21.xml" ContentType="application/vnd.openxmlformats-officedocument.drawingml.chart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</p:sldIdLst>
  <p:notesMasterIdLst>
    <p:notesMasterId r:id="rId9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notesMaster" Target="notesMasters/notesMaster1.xml"/><Relationship Id="rId99" Type="http://schemas.openxmlformats.org/officeDocument/2006/relationships/presProps" Target="presProps.xml"/><Relationship Id="rId100" Type="http://schemas.openxmlformats.org/officeDocument/2006/relationships/viewProps" Target="viewProps.xml"/><Relationship Id="rId101" Type="http://schemas.openxmlformats.org/officeDocument/2006/relationships/theme" Target="theme/theme1.xml"/><Relationship Id="rId10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Published</c:v>
                </c:pt>
              </c:strCache>
            </c:strRef>
          </c:tx>
          <c:spPr>
            <a:solidFill>
              <a:srgbClr val="9A9A9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LEACH FND</c:v>
                  </c:pt>
                  <c:pt idx="1">
                    <c:v>LEACH LND</c:v>
                  </c:pt>
                  <c:pt idx="2">
                    <c:v>PEGASIS FND</c:v>
                  </c:pt>
                  <c:pt idx="3">
                    <c:v>PEGASIS HND</c:v>
                  </c:pt>
                  <c:pt idx="4">
                    <c:v>PEGASIS LND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932</c:v>
                </c:pt>
                <c:pt idx="1">
                  <c:v>1312</c:v>
                </c:pt>
                <c:pt idx="2">
                  <c:v>1578</c:v>
                </c:pt>
                <c:pt idx="3">
                  <c:v>2082</c:v>
                </c:pt>
                <c:pt idx="4">
                  <c:v>2192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Our ORIGINAL code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LEACH FND</c:v>
                  </c:pt>
                  <c:pt idx="1">
                    <c:v>LEACH LND</c:v>
                  </c:pt>
                  <c:pt idx="2">
                    <c:v>PEGASIS FND</c:v>
                  </c:pt>
                  <c:pt idx="3">
                    <c:v>PEGASIS HND</c:v>
                  </c:pt>
                  <c:pt idx="4">
                    <c:v>PEGASIS LND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1035</c:v>
                </c:pt>
                <c:pt idx="1">
                  <c:v>1327</c:v>
                </c:pt>
                <c:pt idx="2">
                  <c:v>1616</c:v>
                </c:pt>
                <c:pt idx="3">
                  <c:v>2017</c:v>
                </c:pt>
                <c:pt idx="4">
                  <c:v>2186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5F5E5A"/>
                    </a:solidFill>
                    <a:latin typeface="Arial"/>
                  </a:defRPr>
                </a:pPr>
                <a:r>
                  <a:rPr b="0" i="0" u="none" strike="noStrike">
                    <a:solidFill>
                      <a:srgbClr val="5F5E5A"/>
                    </a:solidFill>
                    <a:latin typeface="Arial"/>
                  </a:rPr>
                  <a:t>Rounds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F1F1D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F1F1D"/>
                </a:solidFill>
                <a:latin typeface="Arial"/>
              </a:rPr>
              <a:t>Packet delivery ratio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PDR (%)</c:v>
                </c:pt>
              </c:strCache>
            </c:strRef>
          </c:tx>
          <c:spPr>
            <a:solidFill>
              <a:srgbClr val="1BAF7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LEACH</c:v>
                  </c:pt>
                  <c:pt idx="1">
                    <c:v>HEED</c:v>
                  </c:pt>
                  <c:pt idx="2">
                    <c:v>HEED+fair</c:v>
                  </c:pt>
                  <c:pt idx="3">
                    <c:v>PEGASIS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99.4</c:v>
                </c:pt>
                <c:pt idx="1">
                  <c:v>99.68</c:v>
                </c:pt>
                <c:pt idx="2">
                  <c:v>99.74</c:v>
                </c:pt>
                <c:pt idx="3">
                  <c:v>99.42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98.5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FND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LEACH</c:v>
                  </c:pt>
                  <c:pt idx="1">
                    <c:v>HEED</c:v>
                  </c:pt>
                  <c:pt idx="2">
                    <c:v>HEED + fairness</c:v>
                  </c:pt>
                  <c:pt idx="3">
                    <c:v>PEGASIS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1383</c:v>
                </c:pt>
                <c:pt idx="1">
                  <c:v>634</c:v>
                </c:pt>
                <c:pt idx="2">
                  <c:v>743</c:v>
                </c:pt>
                <c:pt idx="3">
                  <c:v>1324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HND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LEACH</c:v>
                  </c:pt>
                  <c:pt idx="1">
                    <c:v>HEED</c:v>
                  </c:pt>
                  <c:pt idx="2">
                    <c:v>HEED + fairness</c:v>
                  </c:pt>
                  <c:pt idx="3">
                    <c:v>PEGASIS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1586</c:v>
                </c:pt>
                <c:pt idx="1">
                  <c:v>1216</c:v>
                </c:pt>
                <c:pt idx="2">
                  <c:v>1154</c:v>
                </c:pt>
                <c:pt idx="3">
                  <c:v>2352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LND</c:v>
                </c:pt>
              </c:strCache>
            </c:strRef>
          </c:tx>
          <c:spPr>
            <a:solidFill>
              <a:srgbClr val="1BAF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LEACH</c:v>
                  </c:pt>
                  <c:pt idx="1">
                    <c:v>HEED</c:v>
                  </c:pt>
                  <c:pt idx="2">
                    <c:v>HEED + fairness</c:v>
                  </c:pt>
                  <c:pt idx="3">
                    <c:v>PEGASIS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1842</c:v>
                </c:pt>
                <c:pt idx="1">
                  <c:v>1883</c:v>
                </c:pt>
                <c:pt idx="2">
                  <c:v>1960</c:v>
                </c:pt>
                <c:pt idx="3">
                  <c:v>3504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5F5E5A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5F5E5A"/>
                    </a:solidFill>
                    <a:latin typeface="Arial"/>
                  </a:rPr>
                  <a:t>Rounds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BS at the centre</c:v>
                </c:pt>
              </c:strCache>
            </c:strRef>
          </c:tx>
          <c:spPr>
            <a:solidFill>
              <a:srgbClr val="C9C8C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LEACH</c:v>
                  </c:pt>
                  <c:pt idx="1">
                    <c:v>HEED</c:v>
                  </c:pt>
                  <c:pt idx="2">
                    <c:v>PEGASIS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1383</c:v>
                </c:pt>
                <c:pt idx="1">
                  <c:v>634</c:v>
                </c:pt>
                <c:pt idx="2">
                  <c:v>1324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BS far away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LEACH</c:v>
                  </c:pt>
                  <c:pt idx="1">
                    <c:v>HEED</c:v>
                  </c:pt>
                  <c:pt idx="2">
                    <c:v>PEGASIS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988</c:v>
                </c:pt>
                <c:pt idx="1">
                  <c:v>330</c:v>
                </c:pt>
                <c:pt idx="2">
                  <c:v>1374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2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FND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SH-LEACH</c:v>
                  </c:pt>
                  <c:pt idx="1">
                    <c:v>H-LEACH</c:v>
                  </c:pt>
                  <c:pt idx="2">
                    <c:v>EECH-HEED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484</c:v>
                </c:pt>
                <c:pt idx="1">
                  <c:v>1078</c:v>
                </c:pt>
                <c:pt idx="2">
                  <c:v>1121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HND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SH-LEACH</c:v>
                  </c:pt>
                  <c:pt idx="1">
                    <c:v>H-LEACH</c:v>
                  </c:pt>
                  <c:pt idx="2">
                    <c:v>EECH-HEED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583</c:v>
                </c:pt>
                <c:pt idx="1">
                  <c:v>1157</c:v>
                </c:pt>
                <c:pt idx="2">
                  <c:v>1954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LND</c:v>
                </c:pt>
              </c:strCache>
            </c:strRef>
          </c:tx>
          <c:spPr>
            <a:solidFill>
              <a:srgbClr val="1BAF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SH-LEACH</c:v>
                  </c:pt>
                  <c:pt idx="1">
                    <c:v>H-LEACH</c:v>
                  </c:pt>
                  <c:pt idx="2">
                    <c:v>EECH-HEED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689</c:v>
                </c:pt>
                <c:pt idx="1">
                  <c:v>1207</c:v>
                </c:pt>
                <c:pt idx="2">
                  <c:v>3783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5F5E5A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5F5E5A"/>
                    </a:solidFill>
                    <a:latin typeface="Arial"/>
                  </a:rPr>
                  <a:t>Rounds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F1F1D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F1F1D"/>
                </a:solidFill>
                <a:latin typeface="Arial"/>
              </a:rPr>
              <a:t>EECH-HEED: paper vs code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Paper</c:v>
                </c:pt>
              </c:strCache>
            </c:strRef>
          </c:tx>
          <c:spPr>
            <a:solidFill>
              <a:srgbClr val="9A9A9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FND</c:v>
                  </c:pt>
                  <c:pt idx="1">
                    <c:v>HND</c:v>
                  </c:pt>
                  <c:pt idx="2">
                    <c:v>LND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1250</c:v>
                </c:pt>
                <c:pt idx="1">
                  <c:v>1650</c:v>
                </c:pt>
                <c:pt idx="2">
                  <c:v>2200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Our code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FND</c:v>
                  </c:pt>
                  <c:pt idx="1">
                    <c:v>HND</c:v>
                  </c:pt>
                  <c:pt idx="2">
                    <c:v>LND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1121</c:v>
                </c:pt>
                <c:pt idx="1">
                  <c:v>1954</c:v>
                </c:pt>
                <c:pt idx="2">
                  <c:v>3783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F1F1D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F1F1D"/>
                </a:solidFill>
                <a:latin typeface="Arial"/>
              </a:rPr>
              <a:t>Packet delivery ratio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PDR (%)</c:v>
                </c:pt>
              </c:strCache>
            </c:strRef>
          </c:tx>
          <c:spPr>
            <a:solidFill>
              <a:srgbClr val="1BAF7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SH-LEACH</c:v>
                  </c:pt>
                  <c:pt idx="1">
                    <c:v>H-LEACH</c:v>
                  </c:pt>
                  <c:pt idx="2">
                    <c:v>EECH-HEED</c:v>
                  </c:pt>
                  <c:pt idx="3">
                    <c:v>LEACH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98.58</c:v>
                </c:pt>
                <c:pt idx="1">
                  <c:v>99.3</c:v>
                </c:pt>
                <c:pt idx="2">
                  <c:v>99.74</c:v>
                </c:pt>
                <c:pt idx="3">
                  <c:v>99.4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98.5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FND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SH-LEACH</c:v>
                  </c:pt>
                  <c:pt idx="1">
                    <c:v>H-LEACH</c:v>
                  </c:pt>
                  <c:pt idx="2">
                    <c:v>EECH-HEED</c:v>
                  </c:pt>
                  <c:pt idx="3">
                    <c:v>LEACH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647</c:v>
                </c:pt>
                <c:pt idx="1">
                  <c:v>1384</c:v>
                </c:pt>
                <c:pt idx="2">
                  <c:v>1311</c:v>
                </c:pt>
                <c:pt idx="3">
                  <c:v>1383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HND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SH-LEACH</c:v>
                  </c:pt>
                  <c:pt idx="1">
                    <c:v>H-LEACH</c:v>
                  </c:pt>
                  <c:pt idx="2">
                    <c:v>EECH-HEED</c:v>
                  </c:pt>
                  <c:pt idx="3">
                    <c:v>LEACH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702</c:v>
                </c:pt>
                <c:pt idx="1">
                  <c:v>1419</c:v>
                </c:pt>
                <c:pt idx="2">
                  <c:v>1382</c:v>
                </c:pt>
                <c:pt idx="3">
                  <c:v>1586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LND</c:v>
                </c:pt>
              </c:strCache>
            </c:strRef>
          </c:tx>
          <c:spPr>
            <a:solidFill>
              <a:srgbClr val="1BAF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SH-LEACH</c:v>
                  </c:pt>
                  <c:pt idx="1">
                    <c:v>H-LEACH</c:v>
                  </c:pt>
                  <c:pt idx="2">
                    <c:v>EECH-HEED</c:v>
                  </c:pt>
                  <c:pt idx="3">
                    <c:v>LEACH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721</c:v>
                </c:pt>
                <c:pt idx="1">
                  <c:v>1434</c:v>
                </c:pt>
                <c:pt idx="2">
                  <c:v>1545</c:v>
                </c:pt>
                <c:pt idx="3">
                  <c:v>1842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5F5E5A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5F5E5A"/>
                    </a:solidFill>
                    <a:latin typeface="Arial"/>
                  </a:rPr>
                  <a:t>Rounds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F1F1D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F1F1D"/>
                </a:solidFill>
                <a:latin typeface="Arial"/>
              </a:rPr>
              <a:t>Packet delivery ratio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PDR (%)</c:v>
                </c:pt>
              </c:strCache>
            </c:strRef>
          </c:tx>
          <c:spPr>
            <a:solidFill>
              <a:srgbClr val="1BAF7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SH-LEACH+</c:v>
                  </c:pt>
                  <c:pt idx="1">
                    <c:v>H-LEACH+</c:v>
                  </c:pt>
                  <c:pt idx="2">
                    <c:v>EECH-HEED+</c:v>
                  </c:pt>
                  <c:pt idx="3">
                    <c:v>LEACH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99.21</c:v>
                </c:pt>
                <c:pt idx="1">
                  <c:v>99.36</c:v>
                </c:pt>
                <c:pt idx="2">
                  <c:v>99.51</c:v>
                </c:pt>
                <c:pt idx="3">
                  <c:v>99.4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98.5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BS at the centre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SH-LEACH+</c:v>
                  </c:pt>
                  <c:pt idx="1">
                    <c:v>H-LEACH+</c:v>
                  </c:pt>
                  <c:pt idx="2">
                    <c:v>EECH-HEED+</c:v>
                  </c:pt>
                  <c:pt idx="3">
                    <c:v>LEACH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1480</c:v>
                </c:pt>
                <c:pt idx="1">
                  <c:v>1473</c:v>
                </c:pt>
                <c:pt idx="2">
                  <c:v>1368</c:v>
                </c:pt>
                <c:pt idx="3">
                  <c:v>1383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BS far away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SH-LEACH+</c:v>
                  </c:pt>
                  <c:pt idx="1">
                    <c:v>H-LEACH+</c:v>
                  </c:pt>
                  <c:pt idx="2">
                    <c:v>EECH-HEED+</c:v>
                  </c:pt>
                  <c:pt idx="3">
                    <c:v>LEACH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1388</c:v>
                </c:pt>
                <c:pt idx="1">
                  <c:v>1219</c:v>
                </c:pt>
                <c:pt idx="2">
                  <c:v>1412</c:v>
                </c:pt>
                <c:pt idx="3">
                  <c:v>988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2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FND</c:v>
                </c:pt>
              </c:strCache>
            </c:strRef>
          </c:tx>
          <c:spPr>
            <a:solidFill>
              <a:srgbClr val="9A9A9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A9A9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9A9A9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B6834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2A78D6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v1</c:v>
                  </c:pt>
                  <c:pt idx="1">
                    <c:v>v2</c:v>
                  </c:pt>
                  <c:pt idx="2">
                    <c:v>HEED</c:v>
                  </c:pt>
                  <c:pt idx="3">
                    <c:v>LEACH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322</c:v>
                </c:pt>
                <c:pt idx="1">
                  <c:v>338</c:v>
                </c:pt>
                <c:pt idx="2">
                  <c:v>634</c:v>
                </c:pt>
                <c:pt idx="3">
                  <c:v>1383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b="0" i="0" u="none" strike="noStrike">
                    <a:solidFill>
                      <a:srgbClr val="000000"/>
                    </a:solidFill>
                    <a:latin typeface="Arial"/>
                  </a:rPr>
                  <a:t>FND (rounds)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FND</c:v>
                </c:pt>
              </c:strCache>
            </c:strRef>
          </c:tx>
          <c:spPr>
            <a:solidFill>
              <a:srgbClr val="9A9A9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A9A9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BAF7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9A9A96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v2</c:v>
                  </c:pt>
                  <c:pt idx="1">
                    <c:v>v3 (reuse 5)</c:v>
                  </c:pt>
                  <c:pt idx="2">
                    <c:v>v4 (reuse 15)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338</c:v>
                </c:pt>
                <c:pt idx="1">
                  <c:v>1645</c:v>
                </c:pt>
                <c:pt idx="2">
                  <c:v>1438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b="0" i="0" u="none" strike="noStrike">
                    <a:solidFill>
                      <a:srgbClr val="000000"/>
                    </a:solidFill>
                    <a:latin typeface="Arial"/>
                  </a:rPr>
                  <a:t>FND (rounds)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FND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A78D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9A9A9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9A9A9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9A9A96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9A9A96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v5b</c:v>
                  </c:pt>
                  <c:pt idx="1">
                    <c:v>v6 chain</c:v>
                  </c:pt>
                  <c:pt idx="2">
                    <c:v>v7 chain + backup</c:v>
                  </c:pt>
                  <c:pt idx="3">
                    <c:v>v7.1 multihop tree</c:v>
                  </c:pt>
                  <c:pt idx="4">
                    <c:v>v7.2 (int 10)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1645</c:v>
                </c:pt>
                <c:pt idx="1">
                  <c:v>1415</c:v>
                </c:pt>
                <c:pt idx="2">
                  <c:v>1415</c:v>
                </c:pt>
                <c:pt idx="3">
                  <c:v>1471</c:v>
                </c:pt>
                <c:pt idx="4">
                  <c:v>1421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00"/>
          <c:min val="0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b="0" i="0" u="none" strike="noStrike">
                    <a:solidFill>
                      <a:srgbClr val="000000"/>
                    </a:solidFill>
                    <a:latin typeface="Arial"/>
                  </a:rPr>
                  <a:t>FND (rounds)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FND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v8 (full)</c:v>
                  </c:pt>
                  <c:pt idx="1">
                    <c:v>− I1 epoch fix</c:v>
                  </c:pt>
                  <c:pt idx="2">
                    <c:v>− I2 handover</c:v>
                  </c:pt>
                  <c:pt idx="3">
                    <c:v>− I3 re-join</c:v>
                  </c:pt>
                  <c:pt idx="4">
                    <c:v>− I5 energy gate</c:v>
                  </c:pt>
                  <c:pt idx="5">
                    <c:v>− I4 direct-to-BS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2501</c:v>
                </c:pt>
                <c:pt idx="1">
                  <c:v>2501</c:v>
                </c:pt>
                <c:pt idx="2">
                  <c:v>2496</c:v>
                </c:pt>
                <c:pt idx="3">
                  <c:v>2501</c:v>
                </c:pt>
                <c:pt idx="4">
                  <c:v>2106</c:v>
                </c:pt>
                <c:pt idx="5">
                  <c:v>1766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00"/>
          <c:min val="0"/>
        </c:scaling>
        <c:delete val="0"/>
        <c:axPos val="b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FND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Direct (v8)</c:v>
                  </c:pt>
                  <c:pt idx="1">
                    <c:v>Ordered chain</c:v>
                  </c:pt>
                  <c:pt idx="2">
                    <c:v>Energy-aware relay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2501</c:v>
                </c:pt>
                <c:pt idx="1">
                  <c:v>2436</c:v>
                </c:pt>
                <c:pt idx="2">
                  <c:v>2501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00"/>
          <c:min val="0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FND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Direct (v8)</c:v>
                  </c:pt>
                  <c:pt idx="1">
                    <c:v>Ordered chain</c:v>
                  </c:pt>
                  <c:pt idx="2">
                    <c:v>Energy-aware relay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1441</c:v>
                </c:pt>
                <c:pt idx="1">
                  <c:v>1636</c:v>
                </c:pt>
                <c:pt idx="2">
                  <c:v>1671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00"/>
          <c:min val="0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FND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v1</c:v>
                  </c:pt>
                  <c:pt idx="1">
                    <c:v>v2</c:v>
                  </c:pt>
                  <c:pt idx="2">
                    <c:v>v3</c:v>
                  </c:pt>
                  <c:pt idx="3">
                    <c:v>v4</c:v>
                  </c:pt>
                  <c:pt idx="4">
                    <c:v>v5</c:v>
                  </c:pt>
                  <c:pt idx="5">
                    <c:v>v5-exp</c:v>
                  </c:pt>
                  <c:pt idx="6">
                    <c:v>v5b</c:v>
                  </c:pt>
                  <c:pt idx="7">
                    <c:v>v6</c:v>
                  </c:pt>
                  <c:pt idx="8">
                    <c:v>v7</c:v>
                  </c:pt>
                  <c:pt idx="9">
                    <c:v>v7.1</c:v>
                  </c:pt>
                  <c:pt idx="10">
                    <c:v>v8</c:v>
                  </c:pt>
                  <c:pt idx="11">
                    <c:v>v8-Chain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322</c:v>
                </c:pt>
                <c:pt idx="1">
                  <c:v>338</c:v>
                </c:pt>
                <c:pt idx="2">
                  <c:v>1645</c:v>
                </c:pt>
                <c:pt idx="3">
                  <c:v>1438</c:v>
                </c:pt>
                <c:pt idx="4">
                  <c:v>1438</c:v>
                </c:pt>
                <c:pt idx="5">
                  <c:v>1645</c:v>
                </c:pt>
                <c:pt idx="6">
                  <c:v>1645</c:v>
                </c:pt>
                <c:pt idx="7">
                  <c:v>1415</c:v>
                </c:pt>
                <c:pt idx="8">
                  <c:v>1415</c:v>
                </c:pt>
                <c:pt idx="9">
                  <c:v>1471</c:v>
                </c:pt>
                <c:pt idx="10">
                  <c:v>2501</c:v>
                </c:pt>
                <c:pt idx="11">
                  <c:v>2501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HND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v1</c:v>
                  </c:pt>
                  <c:pt idx="1">
                    <c:v>v2</c:v>
                  </c:pt>
                  <c:pt idx="2">
                    <c:v>v3</c:v>
                  </c:pt>
                  <c:pt idx="3">
                    <c:v>v4</c:v>
                  </c:pt>
                  <c:pt idx="4">
                    <c:v>v5</c:v>
                  </c:pt>
                  <c:pt idx="5">
                    <c:v>v5-exp</c:v>
                  </c:pt>
                  <c:pt idx="6">
                    <c:v>v5b</c:v>
                  </c:pt>
                  <c:pt idx="7">
                    <c:v>v6</c:v>
                  </c:pt>
                  <c:pt idx="8">
                    <c:v>v7</c:v>
                  </c:pt>
                  <c:pt idx="9">
                    <c:v>v7.1</c:v>
                  </c:pt>
                  <c:pt idx="10">
                    <c:v>v8</c:v>
                  </c:pt>
                  <c:pt idx="11">
                    <c:v>v8-Chain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530</c:v>
                </c:pt>
                <c:pt idx="1">
                  <c:v>528</c:v>
                </c:pt>
                <c:pt idx="2">
                  <c:v>2011</c:v>
                </c:pt>
                <c:pt idx="3">
                  <c:v>2206</c:v>
                </c:pt>
                <c:pt idx="4">
                  <c:v>2131</c:v>
                </c:pt>
                <c:pt idx="5">
                  <c:v>2006</c:v>
                </c:pt>
                <c:pt idx="6">
                  <c:v>2011</c:v>
                </c:pt>
                <c:pt idx="7">
                  <c:v>1916</c:v>
                </c:pt>
                <c:pt idx="8">
                  <c:v>1911</c:v>
                </c:pt>
                <c:pt idx="9">
                  <c:v>1916</c:v>
                </c:pt>
                <c:pt idx="10">
                  <c:v>2589</c:v>
                </c:pt>
                <c:pt idx="11">
                  <c:v>2589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LND</c:v>
                </c:pt>
              </c:strCache>
            </c:strRef>
          </c:tx>
          <c:spPr>
            <a:solidFill>
              <a:srgbClr val="1BAF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v1</c:v>
                  </c:pt>
                  <c:pt idx="1">
                    <c:v>v2</c:v>
                  </c:pt>
                  <c:pt idx="2">
                    <c:v>v3</c:v>
                  </c:pt>
                  <c:pt idx="3">
                    <c:v>v4</c:v>
                  </c:pt>
                  <c:pt idx="4">
                    <c:v>v5</c:v>
                  </c:pt>
                  <c:pt idx="5">
                    <c:v>v5-exp</c:v>
                  </c:pt>
                  <c:pt idx="6">
                    <c:v>v5b</c:v>
                  </c:pt>
                  <c:pt idx="7">
                    <c:v>v6</c:v>
                  </c:pt>
                  <c:pt idx="8">
                    <c:v>v7</c:v>
                  </c:pt>
                  <c:pt idx="9">
                    <c:v>v7.1</c:v>
                  </c:pt>
                  <c:pt idx="10">
                    <c:v>v8</c:v>
                  </c:pt>
                  <c:pt idx="11">
                    <c:v>v8-Chain</c:v>
                  </c:pt>
                </c:lvl>
              </c:multiLvlStrCache>
            </c:multiLvl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1217</c:v>
                </c:pt>
                <c:pt idx="1">
                  <c:v>1276</c:v>
                </c:pt>
                <c:pt idx="2">
                  <c:v>2205</c:v>
                </c:pt>
                <c:pt idx="3">
                  <c:v>2476</c:v>
                </c:pt>
                <c:pt idx="4">
                  <c:v>2401</c:v>
                </c:pt>
                <c:pt idx="5">
                  <c:v>2101</c:v>
                </c:pt>
                <c:pt idx="6">
                  <c:v>2106</c:v>
                </c:pt>
                <c:pt idx="7">
                  <c:v>2016</c:v>
                </c:pt>
                <c:pt idx="8">
                  <c:v>2001</c:v>
                </c:pt>
                <c:pt idx="9">
                  <c:v>2006</c:v>
                </c:pt>
                <c:pt idx="10">
                  <c:v>2636</c:v>
                </c:pt>
                <c:pt idx="11">
                  <c:v>2631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5F5E5A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5F5E5A"/>
                    </a:solidFill>
                    <a:latin typeface="Arial"/>
                  </a:rPr>
                  <a:t>Rounds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FND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v1</c:v>
                  </c:pt>
                  <c:pt idx="1">
                    <c:v>v2</c:v>
                  </c:pt>
                  <c:pt idx="2">
                    <c:v>v3</c:v>
                  </c:pt>
                  <c:pt idx="3">
                    <c:v>v4</c:v>
                  </c:pt>
                  <c:pt idx="4">
                    <c:v>v5</c:v>
                  </c:pt>
                  <c:pt idx="5">
                    <c:v>v5-exp</c:v>
                  </c:pt>
                  <c:pt idx="6">
                    <c:v>v5b</c:v>
                  </c:pt>
                  <c:pt idx="7">
                    <c:v>v6</c:v>
                  </c:pt>
                  <c:pt idx="8">
                    <c:v>v7</c:v>
                  </c:pt>
                  <c:pt idx="9">
                    <c:v>v7.1</c:v>
                  </c:pt>
                  <c:pt idx="10">
                    <c:v>v8</c:v>
                  </c:pt>
                  <c:pt idx="11">
                    <c:v>v8-Chain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322</c:v>
                </c:pt>
                <c:pt idx="1">
                  <c:v>338</c:v>
                </c:pt>
                <c:pt idx="2">
                  <c:v>1645</c:v>
                </c:pt>
                <c:pt idx="3">
                  <c:v>1438</c:v>
                </c:pt>
                <c:pt idx="4">
                  <c:v>1438</c:v>
                </c:pt>
                <c:pt idx="5">
                  <c:v>1645</c:v>
                </c:pt>
                <c:pt idx="6">
                  <c:v>1645</c:v>
                </c:pt>
                <c:pt idx="7">
                  <c:v>1415</c:v>
                </c:pt>
                <c:pt idx="8">
                  <c:v>1415</c:v>
                </c:pt>
                <c:pt idx="9">
                  <c:v>1471</c:v>
                </c:pt>
                <c:pt idx="10">
                  <c:v>2501</c:v>
                </c:pt>
                <c:pt idx="11">
                  <c:v>2501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5F5E5A"/>
                    </a:solidFill>
                    <a:latin typeface="Arial"/>
                  </a:defRPr>
                </a:pPr>
                <a:r>
                  <a:rPr b="0" i="0" u="none" strike="noStrike">
                    <a:solidFill>
                      <a:srgbClr val="5F5E5A"/>
                    </a:solidFill>
                    <a:latin typeface="Arial"/>
                  </a:rPr>
                  <a:t>FND (rounds)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PDR (%)</c:v>
                </c:pt>
              </c:strCache>
            </c:strRef>
          </c:tx>
          <c:spPr>
            <a:solidFill>
              <a:srgbClr val="1BAF7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v1</c:v>
                  </c:pt>
                  <c:pt idx="1">
                    <c:v>v2</c:v>
                  </c:pt>
                  <c:pt idx="2">
                    <c:v>v3</c:v>
                  </c:pt>
                  <c:pt idx="3">
                    <c:v>v4</c:v>
                  </c:pt>
                  <c:pt idx="4">
                    <c:v>v5</c:v>
                  </c:pt>
                  <c:pt idx="5">
                    <c:v>v5-exp</c:v>
                  </c:pt>
                  <c:pt idx="6">
                    <c:v>v5b</c:v>
                  </c:pt>
                  <c:pt idx="7">
                    <c:v>v6</c:v>
                  </c:pt>
                  <c:pt idx="8">
                    <c:v>v7</c:v>
                  </c:pt>
                  <c:pt idx="9">
                    <c:v>v7.1</c:v>
                  </c:pt>
                  <c:pt idx="10">
                    <c:v>v8</c:v>
                  </c:pt>
                  <c:pt idx="11">
                    <c:v>v8-Chain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99.75</c:v>
                </c:pt>
                <c:pt idx="1">
                  <c:v>99.64</c:v>
                </c:pt>
                <c:pt idx="2">
                  <c:v>98.21</c:v>
                </c:pt>
                <c:pt idx="3">
                  <c:v>95.91</c:v>
                </c:pt>
                <c:pt idx="4">
                  <c:v>98.44</c:v>
                </c:pt>
                <c:pt idx="5">
                  <c:v>98.82</c:v>
                </c:pt>
                <c:pt idx="6">
                  <c:v>98.56</c:v>
                </c:pt>
                <c:pt idx="7">
                  <c:v>98.75</c:v>
                </c:pt>
                <c:pt idx="8">
                  <c:v>99.1</c:v>
                </c:pt>
                <c:pt idx="9">
                  <c:v>99.07</c:v>
                </c:pt>
                <c:pt idx="10">
                  <c:v>99.65</c:v>
                </c:pt>
                <c:pt idx="11">
                  <c:v>99.64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95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5F5E5A"/>
                    </a:solidFill>
                    <a:latin typeface="Arial"/>
                  </a:defRPr>
                </a:pPr>
                <a:r>
                  <a:rPr b="0" i="0" u="none" strike="noStrike">
                    <a:solidFill>
                      <a:srgbClr val="5F5E5A"/>
                    </a:solidFill>
                    <a:latin typeface="Arial"/>
                  </a:rPr>
                  <a:t>PDR (%)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FND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LEACH</c:v>
                  </c:pt>
                  <c:pt idx="1">
                    <c:v>HEED</c:v>
                  </c:pt>
                  <c:pt idx="2">
                    <c:v>PEGASIS</c:v>
                  </c:pt>
                  <c:pt idx="3">
                    <c:v>SH-LEACH+</c:v>
                  </c:pt>
                  <c:pt idx="4">
                    <c:v>H-LEACH+</c:v>
                  </c:pt>
                  <c:pt idx="5">
                    <c:v>EECH-HEED+</c:v>
                  </c:pt>
                  <c:pt idx="6">
                    <c:v>v8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1383</c:v>
                </c:pt>
                <c:pt idx="1">
                  <c:v>634</c:v>
                </c:pt>
                <c:pt idx="2">
                  <c:v>1324</c:v>
                </c:pt>
                <c:pt idx="3">
                  <c:v>1480</c:v>
                </c:pt>
                <c:pt idx="4">
                  <c:v>1473</c:v>
                </c:pt>
                <c:pt idx="5">
                  <c:v>1368</c:v>
                </c:pt>
                <c:pt idx="6">
                  <c:v>2501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HND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LEACH</c:v>
                  </c:pt>
                  <c:pt idx="1">
                    <c:v>HEED</c:v>
                  </c:pt>
                  <c:pt idx="2">
                    <c:v>PEGASIS</c:v>
                  </c:pt>
                  <c:pt idx="3">
                    <c:v>SH-LEACH+</c:v>
                  </c:pt>
                  <c:pt idx="4">
                    <c:v>H-LEACH+</c:v>
                  </c:pt>
                  <c:pt idx="5">
                    <c:v>EECH-HEED+</c:v>
                  </c:pt>
                  <c:pt idx="6">
                    <c:v>v8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1586</c:v>
                </c:pt>
                <c:pt idx="1">
                  <c:v>1216</c:v>
                </c:pt>
                <c:pt idx="2">
                  <c:v>2352</c:v>
                </c:pt>
                <c:pt idx="3">
                  <c:v>1542</c:v>
                </c:pt>
                <c:pt idx="4">
                  <c:v>1509</c:v>
                </c:pt>
                <c:pt idx="5">
                  <c:v>1385</c:v>
                </c:pt>
                <c:pt idx="6">
                  <c:v>2589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LND</c:v>
                </c:pt>
              </c:strCache>
            </c:strRef>
          </c:tx>
          <c:spPr>
            <a:solidFill>
              <a:srgbClr val="1BAF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LEACH</c:v>
                  </c:pt>
                  <c:pt idx="1">
                    <c:v>HEED</c:v>
                  </c:pt>
                  <c:pt idx="2">
                    <c:v>PEGASIS</c:v>
                  </c:pt>
                  <c:pt idx="3">
                    <c:v>SH-LEACH+</c:v>
                  </c:pt>
                  <c:pt idx="4">
                    <c:v>H-LEACH+</c:v>
                  </c:pt>
                  <c:pt idx="5">
                    <c:v>EECH-HEED+</c:v>
                  </c:pt>
                  <c:pt idx="6">
                    <c:v>v8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1842</c:v>
                </c:pt>
                <c:pt idx="1">
                  <c:v>1883</c:v>
                </c:pt>
                <c:pt idx="2">
                  <c:v>3504</c:v>
                </c:pt>
                <c:pt idx="3">
                  <c:v>1558</c:v>
                </c:pt>
                <c:pt idx="4">
                  <c:v>1525</c:v>
                </c:pt>
                <c:pt idx="5">
                  <c:v>1767</c:v>
                </c:pt>
                <c:pt idx="6">
                  <c:v>2636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5F5E5A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5F5E5A"/>
                    </a:solidFill>
                    <a:latin typeface="Arial"/>
                  </a:rPr>
                  <a:t>Rounds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PDR (%)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F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LEACH</c:v>
                  </c:pt>
                  <c:pt idx="1">
                    <c:v>HEED</c:v>
                  </c:pt>
                  <c:pt idx="2">
                    <c:v>PEGASIS</c:v>
                  </c:pt>
                  <c:pt idx="3">
                    <c:v>SH-LEACH+</c:v>
                  </c:pt>
                  <c:pt idx="4">
                    <c:v>H-LEACH+</c:v>
                  </c:pt>
                  <c:pt idx="5">
                    <c:v>EECH-HEED+</c:v>
                  </c:pt>
                  <c:pt idx="6">
                    <c:v>v8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99.4</c:v>
                </c:pt>
                <c:pt idx="1">
                  <c:v>99.68</c:v>
                </c:pt>
                <c:pt idx="2">
                  <c:v>99.42</c:v>
                </c:pt>
                <c:pt idx="3">
                  <c:v>99.21</c:v>
                </c:pt>
                <c:pt idx="4">
                  <c:v>99.36</c:v>
                </c:pt>
                <c:pt idx="5">
                  <c:v>99.51</c:v>
                </c:pt>
                <c:pt idx="6">
                  <c:v>99.65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1F1F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98.5"/>
        </c:scaling>
        <c:delete val="0"/>
        <c:axPos val="l"/>
        <c:majorGridlines>
          <c:spPr>
            <a:ln w="9525" cap="flat">
              <a:solidFill>
                <a:srgbClr val="E6E5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5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WSN is a set of small battery-powered sensors that measure something and send it by radio to a base station.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why rotation and CH protection matter. FND measures exactly this.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image" Target="../media/image-3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38-2.png"/><Relationship Id="rId3" Type="http://schemas.openxmlformats.org/officeDocument/2006/relationships/image" Target="../media/image-3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3" Type="http://schemas.openxmlformats.org/officeDocument/2006/relationships/image" Target="../media/image-3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chart" Target="/ppt/charts/chart6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image" Target="../media/image-45-2.png"/><Relationship Id="rId3" Type="http://schemas.openxmlformats.org/officeDocument/2006/relationships/image" Target="../media/image-4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image" Target="../media/image-47-2.png"/><Relationship Id="rId3" Type="http://schemas.openxmlformats.org/officeDocument/2006/relationships/image" Target="../media/image-47-3.png"/><Relationship Id="rId4" Type="http://schemas.openxmlformats.org/officeDocument/2006/relationships/image" Target="../media/image-47-4.png"/><Relationship Id="rId5" Type="http://schemas.openxmlformats.org/officeDocument/2006/relationships/image" Target="../media/image-47-5.png"/><Relationship Id="rId6" Type="http://schemas.openxmlformats.org/officeDocument/2006/relationships/image" Target="../media/image-47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image" Target="../media/image-5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image" Target="../media/image-5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image" Target="../media/image-6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2.xml"/><Relationship Id="rId1" Type="http://schemas.openxmlformats.org/officeDocument/2006/relationships/image" Target="../media/image-65-1.png"/><Relationship Id="rId3" Type="http://schemas.openxmlformats.org/officeDocument/2006/relationships/image" Target="../media/image-65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3.xml"/><Relationship Id="rId2" Type="http://schemas.openxmlformats.org/officeDocument/2006/relationships/image" Target="../media/image-6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8-1.png"/><Relationship Id="rId2" Type="http://schemas.openxmlformats.org/officeDocument/2006/relationships/image" Target="../media/image-68-2.png"/><Relationship Id="rId3" Type="http://schemas.openxmlformats.org/officeDocument/2006/relationships/image" Target="../media/image-68-3.png"/><Relationship Id="rId4" Type="http://schemas.openxmlformats.org/officeDocument/2006/relationships/image" Target="../media/image-68-4.png"/><Relationship Id="rId5" Type="http://schemas.openxmlformats.org/officeDocument/2006/relationships/image" Target="../media/image-6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4.xml"/><Relationship Id="rId2" Type="http://schemas.openxmlformats.org/officeDocument/2006/relationships/image" Target="../media/image-69-1.png"/><Relationship Id="rId3" Type="http://schemas.openxmlformats.org/officeDocument/2006/relationships/image" Target="../media/image-69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5.xml"/><Relationship Id="rId3" Type="http://schemas.openxmlformats.org/officeDocument/2006/relationships/chart" Target="/ppt/charts/chart16.xml"/><Relationship Id="rId1" Type="http://schemas.openxmlformats.org/officeDocument/2006/relationships/image" Target="../media/image-70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5-1.png"/><Relationship Id="rId2" Type="http://schemas.openxmlformats.org/officeDocument/2006/relationships/image" Target="../media/image-7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7-1.png"/><Relationship Id="rId2" Type="http://schemas.openxmlformats.org/officeDocument/2006/relationships/image" Target="../media/image-7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1.xml"/><Relationship Id="rId2" Type="http://schemas.openxmlformats.org/officeDocument/2006/relationships/image" Target="../media/image-78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1-1.png"/><Relationship Id="rId2" Type="http://schemas.openxmlformats.org/officeDocument/2006/relationships/image" Target="../media/image-8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2-1.png"/><Relationship Id="rId2" Type="http://schemas.openxmlformats.org/officeDocument/2006/relationships/image" Target="../media/image-82-2.png"/><Relationship Id="rId3" Type="http://schemas.openxmlformats.org/officeDocument/2006/relationships/image" Target="../media/image-82-3.png"/><Relationship Id="rId4" Type="http://schemas.openxmlformats.org/officeDocument/2006/relationships/image" Target="../media/image-82-4.png"/><Relationship Id="rId5" Type="http://schemas.openxmlformats.org/officeDocument/2006/relationships/image" Target="../media/image-82-5.png"/><Relationship Id="rId6" Type="http://schemas.openxmlformats.org/officeDocument/2006/relationships/image" Target="../media/image-8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5-1.png"/><Relationship Id="rId2" Type="http://schemas.openxmlformats.org/officeDocument/2006/relationships/image" Target="../media/image-85-2.png"/><Relationship Id="rId3" Type="http://schemas.openxmlformats.org/officeDocument/2006/relationships/image" Target="../media/image-85-3.png"/><Relationship Id="rId4" Type="http://schemas.openxmlformats.org/officeDocument/2006/relationships/image" Target="../media/image-85-4.png"/><Relationship Id="rId5" Type="http://schemas.openxmlformats.org/officeDocument/2006/relationships/image" Target="../media/image-8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0-1.png"/><Relationship Id="rId2" Type="http://schemas.openxmlformats.org/officeDocument/2006/relationships/image" Target="../media/image-90-2.png"/><Relationship Id="rId3" Type="http://schemas.openxmlformats.org/officeDocument/2006/relationships/image" Target="../media/image-90-3.png"/><Relationship Id="rId4" Type="http://schemas.openxmlformats.org/officeDocument/2006/relationships/image" Target="../media/image-9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2-1.png"/><Relationship Id="rId2" Type="http://schemas.openxmlformats.org/officeDocument/2006/relationships/image" Target="../media/image-92-2.png"/><Relationship Id="rId3" Type="http://schemas.openxmlformats.org/officeDocument/2006/relationships/image" Target="../media/image-92-3.png"/><Relationship Id="rId4" Type="http://schemas.openxmlformats.org/officeDocument/2006/relationships/image" Target="../media/image-92-4.png"/><Relationship Id="rId5" Type="http://schemas.openxmlformats.org/officeDocument/2006/relationships/image" Target="../media/image-92-5.png"/><Relationship Id="rId6" Type="http://schemas.openxmlformats.org/officeDocument/2006/relationships/image" Target="../media/image-9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731520"/>
            <a:ext cx="822960" cy="822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7260" y="937260"/>
            <a:ext cx="411480" cy="4114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1737360"/>
            <a:ext cx="10515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Energy-Efficient Secure Clustering in Wireless Sensor Networks Using Hybrid Cryptography</a:t>
            </a:r>
            <a:endParaRPr lang="en-US" sz="38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38862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LEACH, HEED and PEGASIS to a new clustering protocol: v8  (+ v8-Chain for a far base station)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498348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Eng. Rahma Khaled Oshba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Supervised by Dr. Hesham ElZouka · Dr. Amani Saad · Dr. Khaled Saada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Master's thesis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Agenda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26060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64592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" y="1787652"/>
            <a:ext cx="283464" cy="28346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64592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33172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WSNs and clustering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2377440" y="310896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9D8D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3355848" y="1417320"/>
            <a:ext cx="26060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584448" y="1645920"/>
            <a:ext cx="566928" cy="56692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6180" y="1787652"/>
            <a:ext cx="283464" cy="28346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315968" y="164592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&amp; first experiments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3584448" y="233172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model, ns-3, demo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5184648" y="310896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9D8D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000" dirty="0"/>
          </a:p>
        </p:txBody>
      </p:sp>
      <p:sp>
        <p:nvSpPr>
          <p:cNvPr id="16" name="Shape 12"/>
          <p:cNvSpPr/>
          <p:nvPr/>
        </p:nvSpPr>
        <p:spPr>
          <a:xfrm>
            <a:off x="6163056" y="1417320"/>
            <a:ext cx="26060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391656" y="1645920"/>
            <a:ext cx="566928" cy="56692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3388" y="1787652"/>
            <a:ext cx="283464" cy="283464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7123176" y="164592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 protocols</a:t>
            </a:r>
            <a:endParaRPr lang="en-US" sz="1500" dirty="0"/>
          </a:p>
        </p:txBody>
      </p:sp>
      <p:sp>
        <p:nvSpPr>
          <p:cNvPr id="20" name="Text 15"/>
          <p:cNvSpPr txBox="1"/>
          <p:nvPr/>
        </p:nvSpPr>
        <p:spPr>
          <a:xfrm>
            <a:off x="6391656" y="233172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LEACH · HEED · PEGASIS</a:t>
            </a:r>
            <a:endParaRPr lang="en-US" sz="1400" dirty="0"/>
          </a:p>
        </p:txBody>
      </p:sp>
      <p:sp>
        <p:nvSpPr>
          <p:cNvPr id="21" name="Text 16"/>
          <p:cNvSpPr txBox="1"/>
          <p:nvPr/>
        </p:nvSpPr>
        <p:spPr>
          <a:xfrm>
            <a:off x="7991856" y="310896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9D8D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000" dirty="0"/>
          </a:p>
        </p:txBody>
      </p:sp>
      <p:sp>
        <p:nvSpPr>
          <p:cNvPr id="22" name="Shape 17"/>
          <p:cNvSpPr/>
          <p:nvPr/>
        </p:nvSpPr>
        <p:spPr>
          <a:xfrm>
            <a:off x="8970264" y="1417320"/>
            <a:ext cx="26060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9198864" y="1645920"/>
            <a:ext cx="566928" cy="566928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40596" y="1787652"/>
            <a:ext cx="283464" cy="283464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9930384" y="164592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protocols</a:t>
            </a:r>
            <a:endParaRPr lang="en-US" sz="1500" dirty="0"/>
          </a:p>
        </p:txBody>
      </p:sp>
      <p:sp>
        <p:nvSpPr>
          <p:cNvPr id="26" name="Text 20"/>
          <p:cNvSpPr txBox="1"/>
          <p:nvPr/>
        </p:nvSpPr>
        <p:spPr>
          <a:xfrm>
            <a:off x="9198864" y="233172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SH-LEACH · H-LEACH · EECH-HEED</a:t>
            </a:r>
            <a:endParaRPr lang="en-US" sz="1400" dirty="0"/>
          </a:p>
        </p:txBody>
      </p:sp>
      <p:sp>
        <p:nvSpPr>
          <p:cNvPr id="27" name="Text 21"/>
          <p:cNvSpPr txBox="1"/>
          <p:nvPr/>
        </p:nvSpPr>
        <p:spPr>
          <a:xfrm>
            <a:off x="10799064" y="310896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9D8D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000" dirty="0"/>
          </a:p>
        </p:txBody>
      </p:sp>
      <p:sp>
        <p:nvSpPr>
          <p:cNvPr id="28" name="Shape 22"/>
          <p:cNvSpPr/>
          <p:nvPr/>
        </p:nvSpPr>
        <p:spPr>
          <a:xfrm>
            <a:off x="548640" y="3886200"/>
            <a:ext cx="26060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Shape 23"/>
          <p:cNvSpPr/>
          <p:nvPr/>
        </p:nvSpPr>
        <p:spPr>
          <a:xfrm>
            <a:off x="777240" y="411480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8972" y="4256532"/>
            <a:ext cx="283464" cy="283464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1508760" y="411480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Recent work</a:t>
            </a:r>
            <a:endParaRPr lang="en-US" sz="1500" dirty="0"/>
          </a:p>
        </p:txBody>
      </p:sp>
      <p:sp>
        <p:nvSpPr>
          <p:cNvPr id="32" name="Text 25"/>
          <p:cNvSpPr txBox="1"/>
          <p:nvPr/>
        </p:nvSpPr>
        <p:spPr>
          <a:xfrm>
            <a:off x="777240" y="480060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literature review</a:t>
            </a:r>
            <a:endParaRPr lang="en-US" sz="1400" dirty="0"/>
          </a:p>
        </p:txBody>
      </p:sp>
      <p:sp>
        <p:nvSpPr>
          <p:cNvPr id="33" name="Text 26"/>
          <p:cNvSpPr txBox="1"/>
          <p:nvPr/>
        </p:nvSpPr>
        <p:spPr>
          <a:xfrm>
            <a:off x="2377440" y="557784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9D8D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2000" dirty="0"/>
          </a:p>
        </p:txBody>
      </p:sp>
      <p:sp>
        <p:nvSpPr>
          <p:cNvPr id="34" name="Shape 27"/>
          <p:cNvSpPr/>
          <p:nvPr/>
        </p:nvSpPr>
        <p:spPr>
          <a:xfrm>
            <a:off x="3355848" y="3886200"/>
            <a:ext cx="26060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5" name="Shape 28"/>
          <p:cNvSpPr/>
          <p:nvPr/>
        </p:nvSpPr>
        <p:spPr>
          <a:xfrm>
            <a:off x="3584448" y="4114800"/>
            <a:ext cx="566928" cy="56692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3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26180" y="4256532"/>
            <a:ext cx="283464" cy="283464"/>
          </a:xfrm>
          <a:prstGeom prst="rect">
            <a:avLst/>
          </a:prstGeom>
        </p:spPr>
      </p:pic>
      <p:sp>
        <p:nvSpPr>
          <p:cNvPr id="37" name="Text 29"/>
          <p:cNvSpPr txBox="1"/>
          <p:nvPr/>
        </p:nvSpPr>
        <p:spPr>
          <a:xfrm>
            <a:off x="4315968" y="411480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protocol</a:t>
            </a:r>
            <a:endParaRPr lang="en-US" sz="1500" dirty="0"/>
          </a:p>
        </p:txBody>
      </p:sp>
      <p:sp>
        <p:nvSpPr>
          <p:cNvPr id="38" name="Text 30"/>
          <p:cNvSpPr txBox="1"/>
          <p:nvPr/>
        </p:nvSpPr>
        <p:spPr>
          <a:xfrm>
            <a:off x="3584448" y="480060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 → v8-Chain</a:t>
            </a:r>
            <a:endParaRPr lang="en-US" sz="1400" dirty="0"/>
          </a:p>
        </p:txBody>
      </p:sp>
      <p:sp>
        <p:nvSpPr>
          <p:cNvPr id="39" name="Text 31"/>
          <p:cNvSpPr txBox="1"/>
          <p:nvPr/>
        </p:nvSpPr>
        <p:spPr>
          <a:xfrm>
            <a:off x="5184648" y="557784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9D8D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2000" dirty="0"/>
          </a:p>
        </p:txBody>
      </p:sp>
      <p:sp>
        <p:nvSpPr>
          <p:cNvPr id="40" name="Shape 32"/>
          <p:cNvSpPr/>
          <p:nvPr/>
        </p:nvSpPr>
        <p:spPr>
          <a:xfrm>
            <a:off x="6163056" y="3886200"/>
            <a:ext cx="26060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1" name="Shape 33"/>
          <p:cNvSpPr/>
          <p:nvPr/>
        </p:nvSpPr>
        <p:spPr>
          <a:xfrm>
            <a:off x="6391656" y="4114800"/>
            <a:ext cx="566928" cy="56692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pic>
        <p:nvPicPr>
          <p:cNvPr id="4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33388" y="4256532"/>
            <a:ext cx="283464" cy="283464"/>
          </a:xfrm>
          <a:prstGeom prst="rect">
            <a:avLst/>
          </a:prstGeom>
        </p:spPr>
      </p:pic>
      <p:sp>
        <p:nvSpPr>
          <p:cNvPr id="43" name="Text 34"/>
          <p:cNvSpPr txBox="1"/>
          <p:nvPr/>
        </p:nvSpPr>
        <p:spPr>
          <a:xfrm>
            <a:off x="7123176" y="411480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 security</a:t>
            </a:r>
            <a:endParaRPr lang="en-US" sz="1500" dirty="0"/>
          </a:p>
        </p:txBody>
      </p:sp>
      <p:sp>
        <p:nvSpPr>
          <p:cNvPr id="44" name="Text 35"/>
          <p:cNvSpPr txBox="1"/>
          <p:nvPr/>
        </p:nvSpPr>
        <p:spPr>
          <a:xfrm>
            <a:off x="6391656" y="480060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AES · RSA · ECC — the proposal scheme</a:t>
            </a:r>
            <a:endParaRPr lang="en-US" sz="1400" dirty="0"/>
          </a:p>
        </p:txBody>
      </p:sp>
      <p:sp>
        <p:nvSpPr>
          <p:cNvPr id="45" name="Text 36"/>
          <p:cNvSpPr txBox="1"/>
          <p:nvPr/>
        </p:nvSpPr>
        <p:spPr>
          <a:xfrm>
            <a:off x="7991856" y="557784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9D8D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</a:t>
            </a:r>
            <a:endParaRPr lang="en-US" sz="2000" dirty="0"/>
          </a:p>
        </p:txBody>
      </p:sp>
      <p:sp>
        <p:nvSpPr>
          <p:cNvPr id="46" name="Shape 37"/>
          <p:cNvSpPr/>
          <p:nvPr/>
        </p:nvSpPr>
        <p:spPr>
          <a:xfrm>
            <a:off x="8970264" y="3886200"/>
            <a:ext cx="26060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7" name="Shape 38"/>
          <p:cNvSpPr/>
          <p:nvPr/>
        </p:nvSpPr>
        <p:spPr>
          <a:xfrm>
            <a:off x="9198864" y="4114800"/>
            <a:ext cx="566928" cy="566928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48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40596" y="4256532"/>
            <a:ext cx="283464" cy="283464"/>
          </a:xfrm>
          <a:prstGeom prst="rect">
            <a:avLst/>
          </a:prstGeom>
        </p:spPr>
      </p:pic>
      <p:sp>
        <p:nvSpPr>
          <p:cNvPr id="49" name="Text 39"/>
          <p:cNvSpPr txBox="1"/>
          <p:nvPr/>
        </p:nvSpPr>
        <p:spPr>
          <a:xfrm>
            <a:off x="9930384" y="411480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500" dirty="0"/>
          </a:p>
        </p:txBody>
      </p:sp>
      <p:sp>
        <p:nvSpPr>
          <p:cNvPr id="50" name="Text 40"/>
          <p:cNvSpPr txBox="1"/>
          <p:nvPr/>
        </p:nvSpPr>
        <p:spPr>
          <a:xfrm>
            <a:off x="9198864" y="480060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 · summary</a:t>
            </a:r>
            <a:endParaRPr lang="en-US" sz="1400" dirty="0"/>
          </a:p>
        </p:txBody>
      </p:sp>
      <p:sp>
        <p:nvSpPr>
          <p:cNvPr id="51" name="Text 41"/>
          <p:cNvSpPr txBox="1"/>
          <p:nvPr/>
        </p:nvSpPr>
        <p:spPr>
          <a:xfrm>
            <a:off x="10799064" y="557784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9D8D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08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01168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10896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Background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9319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wireless sensor network is — and why energy is its main problem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a Wireless Sensor Network (WSN)?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small battery-powered sensors that measure and report by radio</a:t>
            </a:r>
            <a:endParaRPr lang="en-US" sz="1600" dirty="0"/>
          </a:p>
        </p:txBody>
      </p:sp>
      <p:pic>
        <p:nvPicPr>
          <p:cNvPr id="5" name="Image 0" descr="/home/user/Routing-Protocols/thesis-final/build/fig/b1_ws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94037"/>
            <a:ext cx="7315200" cy="3138407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955280" y="1554480"/>
            <a:ext cx="37490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Sensors are spread over a field (soil, forest, building, body …).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sensor measures (temperature, humidity, motion …) and sends its reading by radio.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readings reach a sink / base station (BS), then the user over the Internet.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640080" y="4983480"/>
            <a:ext cx="594360" cy="5943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670" y="5132070"/>
            <a:ext cx="297180" cy="29718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98448" y="4983480"/>
            <a:ext cx="1188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Agriculture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2514600" y="4983480"/>
            <a:ext cx="594360" cy="5943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63190" y="5132070"/>
            <a:ext cx="297180" cy="29718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3172968" y="4983480"/>
            <a:ext cx="1188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</a:t>
            </a:r>
            <a:endParaRPr lang="en-US" sz="1300" dirty="0"/>
          </a:p>
        </p:txBody>
      </p:sp>
      <p:sp>
        <p:nvSpPr>
          <p:cNvPr id="13" name="Shape 8"/>
          <p:cNvSpPr/>
          <p:nvPr/>
        </p:nvSpPr>
        <p:spPr>
          <a:xfrm>
            <a:off x="4389120" y="4983480"/>
            <a:ext cx="594360" cy="594360"/>
          </a:xfrm>
          <a:prstGeom prst="ellipse">
            <a:avLst/>
          </a:prstGeom>
          <a:solidFill>
            <a:srgbClr val="E34948"/>
          </a:solidFill>
          <a:ln w="12700">
            <a:solidFill>
              <a:srgbClr val="E34948"/>
            </a:solidFill>
            <a:prstDash val="solid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37710" y="5132070"/>
            <a:ext cx="297180" cy="29718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5047488" y="4983480"/>
            <a:ext cx="1188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</a:t>
            </a:r>
            <a:endParaRPr lang="en-US" sz="1300" dirty="0"/>
          </a:p>
        </p:txBody>
      </p:sp>
      <p:sp>
        <p:nvSpPr>
          <p:cNvPr id="16" name="Shape 10"/>
          <p:cNvSpPr/>
          <p:nvPr/>
        </p:nvSpPr>
        <p:spPr>
          <a:xfrm>
            <a:off x="6263640" y="4983480"/>
            <a:ext cx="594360" cy="594360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12230" y="5132070"/>
            <a:ext cx="297180" cy="29718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6922008" y="4983480"/>
            <a:ext cx="1188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</a:t>
            </a:r>
            <a:endParaRPr lang="en-US" sz="1300" dirty="0"/>
          </a:p>
        </p:txBody>
      </p:sp>
      <p:sp>
        <p:nvSpPr>
          <p:cNvPr id="19" name="Shape 12"/>
          <p:cNvSpPr/>
          <p:nvPr/>
        </p:nvSpPr>
        <p:spPr>
          <a:xfrm>
            <a:off x="8138160" y="4983480"/>
            <a:ext cx="594360" cy="59436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2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86750" y="5132070"/>
            <a:ext cx="297180" cy="297180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8796528" y="4983480"/>
            <a:ext cx="1188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city</a:t>
            </a:r>
            <a:endParaRPr lang="en-US" sz="1300" dirty="0"/>
          </a:p>
        </p:txBody>
      </p:sp>
      <p:sp>
        <p:nvSpPr>
          <p:cNvPr id="22" name="Shape 14"/>
          <p:cNvSpPr/>
          <p:nvPr/>
        </p:nvSpPr>
        <p:spPr>
          <a:xfrm>
            <a:off x="10012680" y="4983480"/>
            <a:ext cx="594360" cy="594360"/>
          </a:xfrm>
          <a:prstGeom prst="ellipse">
            <a:avLst/>
          </a:prstGeom>
          <a:solidFill>
            <a:srgbClr val="9A9A96"/>
          </a:solidFill>
          <a:ln w="12700">
            <a:solidFill>
              <a:srgbClr val="9A9A96"/>
            </a:solidFill>
            <a:prstDash val="solid"/>
          </a:ln>
        </p:spPr>
      </p:sp>
      <p:pic>
        <p:nvPicPr>
          <p:cNvPr id="2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61270" y="5132070"/>
            <a:ext cx="297180" cy="297180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0671048" y="4983480"/>
            <a:ext cx="1188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1300" dirty="0"/>
          </a:p>
        </p:txBody>
      </p:sp>
      <p:sp>
        <p:nvSpPr>
          <p:cNvPr id="25" name="Text 16"/>
          <p:cNvSpPr txBox="1"/>
          <p:nvPr/>
        </p:nvSpPr>
        <p:spPr>
          <a:xfrm>
            <a:off x="640080" y="46177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Applications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Inside a sensor node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Small, cheap and limited — the battery decides how long it lives</a:t>
            </a:r>
            <a:endParaRPr lang="en-US" sz="1600" dirty="0"/>
          </a:p>
        </p:txBody>
      </p:sp>
      <p:pic>
        <p:nvPicPr>
          <p:cNvPr id="5" name="Image 0" descr="/home/user/Routing-Protocols/thesis-final/build/fig/b2_no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3616"/>
            <a:ext cx="6949440" cy="247628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4160520"/>
            <a:ext cx="3520440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77240" y="4389120"/>
            <a:ext cx="566928" cy="566928"/>
          </a:xfrm>
          <a:prstGeom prst="ellipse">
            <a:avLst/>
          </a:prstGeom>
          <a:solidFill>
            <a:srgbClr val="E34948"/>
          </a:solidFill>
          <a:ln w="12700">
            <a:solidFill>
              <a:srgbClr val="E34948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8972" y="4530852"/>
            <a:ext cx="283464" cy="28346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508760" y="438912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Limited battery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777240" y="5074920"/>
            <a:ext cx="3063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Usually cannot be replaced or recharged in the field.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4297680" y="4160520"/>
            <a:ext cx="3520440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526280" y="438912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8012" y="4530852"/>
            <a:ext cx="283464" cy="283464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5257800" y="438912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 radio range</a:t>
            </a:r>
            <a:endParaRPr lang="en-US" sz="1500" dirty="0"/>
          </a:p>
        </p:txBody>
      </p:sp>
      <p:sp>
        <p:nvSpPr>
          <p:cNvPr id="15" name="Text 10"/>
          <p:cNvSpPr txBox="1"/>
          <p:nvPr/>
        </p:nvSpPr>
        <p:spPr>
          <a:xfrm>
            <a:off x="4526280" y="5074920"/>
            <a:ext cx="3063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Tens of metres; far nodes cannot reach the BS cheaply.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8046720" y="4160520"/>
            <a:ext cx="3520440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8275320" y="4389120"/>
            <a:ext cx="566928" cy="56692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7052" y="4530852"/>
            <a:ext cx="283464" cy="283464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9006840" y="438912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CPU and memory</a:t>
            </a:r>
            <a:endParaRPr lang="en-US" sz="1500" dirty="0"/>
          </a:p>
        </p:txBody>
      </p:sp>
      <p:sp>
        <p:nvSpPr>
          <p:cNvPr id="20" name="Text 14"/>
          <p:cNvSpPr txBox="1"/>
          <p:nvPr/>
        </p:nvSpPr>
        <p:spPr>
          <a:xfrm>
            <a:off x="8275320" y="5074920"/>
            <a:ext cx="3063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Heavy algorithms (and heavy cryptography) are costly.</a:t>
            </a:r>
            <a:endParaRPr lang="en-US" sz="1300" dirty="0"/>
          </a:p>
        </p:txBody>
      </p:sp>
      <p:sp>
        <p:nvSpPr>
          <p:cNvPr id="21" name="Shape 15"/>
          <p:cNvSpPr/>
          <p:nvPr/>
        </p:nvSpPr>
        <p:spPr>
          <a:xfrm>
            <a:off x="548640" y="598932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777240" y="598932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Radio communication uses most of the energy — even listening costs energy.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main problem: energy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lifetime = how long the sensors keep working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463040"/>
            <a:ext cx="60350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Sending one bit costs more the farther it goes: cost grows with d² and, beyond ≈ 88 m, with d⁴.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every sensor sends directly to a far BS, the far sensors die very early.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sensors die, parts of the field are no longer monitored.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949440" y="1463040"/>
            <a:ext cx="466344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086600" y="146304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FND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8138160" y="1463040"/>
            <a:ext cx="3383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Node Dies — round of the first death (stability period). Main metric.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949440" y="2606040"/>
            <a:ext cx="466344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086600" y="260604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HND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8138160" y="2606040"/>
            <a:ext cx="3383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Half Nodes Die — average lifetime.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949440" y="3749040"/>
            <a:ext cx="466344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086600" y="374904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LND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8138160" y="3749040"/>
            <a:ext cx="3383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 Node Dies — total lifetime.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949440" y="4892040"/>
            <a:ext cx="466344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086600" y="489204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PDR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8138160" y="4892040"/>
            <a:ext cx="3383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Packet Delivery Ratio — delivered ÷ generated readings.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48640" y="3749040"/>
            <a:ext cx="603504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777240" y="397764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" y="4119372"/>
            <a:ext cx="283464" cy="283464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1508760" y="3977640"/>
            <a:ext cx="4892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studied in this thesis: clustering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777240" y="4663440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the sensors so that most transmissions are short.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clustering?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Members send a short hop to a cluster head (CH); the CH sends one packet to the BS</a:t>
            </a:r>
            <a:endParaRPr lang="en-US" sz="1600" dirty="0"/>
          </a:p>
        </p:txBody>
      </p:sp>
      <p:pic>
        <p:nvPicPr>
          <p:cNvPr id="5" name="Image 0" descr="/home/user/Routing-Protocols/thesis-final/build/fig/b3_cluster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1614" y="1371600"/>
            <a:ext cx="9818292" cy="43891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585216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585216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 head (CH) = the leader of a group.  Member = a normal sensor.  Fusion = the CH merges all readings into one packet.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clustering round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→ steady state → the CH role rotates in the next round</a:t>
            </a:r>
            <a:endParaRPr lang="en-US" sz="1600" dirty="0"/>
          </a:p>
        </p:txBody>
      </p:sp>
      <p:pic>
        <p:nvPicPr>
          <p:cNvPr id="5" name="Image 0" descr="/home/user/Routing-Protocols/thesis-final/build/fig/b4_roun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3890" y="1371600"/>
            <a:ext cx="10593740" cy="24688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402336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777240" y="425196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493776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CHs, CHs advertise, members join the nearest CH, CH sends a TDMA schedule.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297680" y="402336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4526280" y="425196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Steady state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4526280" y="493776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member sends in its own time slot (TDMA) — no collisions.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8046720" y="4023360"/>
            <a:ext cx="3520440" cy="17830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8275320" y="425196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Fusion + BS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493776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 fuses members + its own reading and sends one packet to the BS.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548640" y="594360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77240" y="594360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= one full cycle.  Epoch = the rounds needed so that every node serves as CH once.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open problems of clustering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every protocol in this thesis tries to solve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35204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77240" y="160020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" y="1741932"/>
            <a:ext cx="283464" cy="28346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508760" y="160020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becomes CH?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2286000"/>
            <a:ext cx="3063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weak or badly placed CH dies early.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4297680" y="1371600"/>
            <a:ext cx="35204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526280" y="160020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8012" y="1741932"/>
            <a:ext cx="283464" cy="28346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257800" y="160020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 rotation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4526280" y="2286000"/>
            <a:ext cx="3063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 works harder, so the role must rotate.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8046720" y="1371600"/>
            <a:ext cx="35204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275320" y="1600200"/>
            <a:ext cx="566928" cy="56692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7052" y="1741932"/>
            <a:ext cx="283464" cy="283464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9006840" y="160020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overhead</a:t>
            </a:r>
            <a:endParaRPr lang="en-US" sz="1600" dirty="0"/>
          </a:p>
        </p:txBody>
      </p:sp>
      <p:sp>
        <p:nvSpPr>
          <p:cNvPr id="19" name="Text 14"/>
          <p:cNvSpPr txBox="1"/>
          <p:nvPr/>
        </p:nvSpPr>
        <p:spPr>
          <a:xfrm>
            <a:off x="8275320" y="2286000"/>
            <a:ext cx="3063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Electing CHs every round costs messages and energy.</a:t>
            </a:r>
            <a:endParaRPr lang="en-US" sz="1400" dirty="0"/>
          </a:p>
        </p:txBody>
      </p:sp>
      <p:sp>
        <p:nvSpPr>
          <p:cNvPr id="20" name="Shape 15"/>
          <p:cNvSpPr/>
          <p:nvPr/>
        </p:nvSpPr>
        <p:spPr>
          <a:xfrm>
            <a:off x="548640" y="3794760"/>
            <a:ext cx="35204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777240" y="4023360"/>
            <a:ext cx="566928" cy="56692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8972" y="4165092"/>
            <a:ext cx="283464" cy="283464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508760" y="402336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failure</a:t>
            </a:r>
            <a:endParaRPr lang="en-US" sz="1600" dirty="0"/>
          </a:p>
        </p:txBody>
      </p:sp>
      <p:sp>
        <p:nvSpPr>
          <p:cNvPr id="24" name="Text 18"/>
          <p:cNvSpPr txBox="1"/>
          <p:nvPr/>
        </p:nvSpPr>
        <p:spPr>
          <a:xfrm>
            <a:off x="777240" y="4709160"/>
            <a:ext cx="3063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CH dies, its members lose their data.</a:t>
            </a:r>
            <a:endParaRPr lang="en-US" sz="1400" dirty="0"/>
          </a:p>
        </p:txBody>
      </p:sp>
      <p:sp>
        <p:nvSpPr>
          <p:cNvPr id="25" name="Shape 19"/>
          <p:cNvSpPr/>
          <p:nvPr/>
        </p:nvSpPr>
        <p:spPr>
          <a:xfrm>
            <a:off x="4297680" y="3794760"/>
            <a:ext cx="35204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4526280" y="4023360"/>
            <a:ext cx="566928" cy="56692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8012" y="4165092"/>
            <a:ext cx="283464" cy="283464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5257800" y="402336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 base station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4526280" y="4709160"/>
            <a:ext cx="3063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→ BS links become very expensive (d⁴).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8046720" y="3794760"/>
            <a:ext cx="35204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8275320" y="4023360"/>
            <a:ext cx="566928" cy="566928"/>
          </a:xfrm>
          <a:prstGeom prst="ellipse">
            <a:avLst/>
          </a:prstGeom>
          <a:solidFill>
            <a:srgbClr val="E34948"/>
          </a:solidFill>
          <a:ln w="12700">
            <a:solidFill>
              <a:srgbClr val="E34948"/>
            </a:solidFill>
            <a:prstDash val="solid"/>
          </a:ln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17052" y="4165092"/>
            <a:ext cx="283464" cy="283464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9006840" y="402336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1600" dirty="0"/>
          </a:p>
        </p:txBody>
      </p:sp>
      <p:sp>
        <p:nvSpPr>
          <p:cNvPr id="34" name="Text 26"/>
          <p:cNvSpPr txBox="1"/>
          <p:nvPr/>
        </p:nvSpPr>
        <p:spPr>
          <a:xfrm>
            <a:off x="8275320" y="4709160"/>
            <a:ext cx="3063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Radio messages can be read or forged — protection costs energy.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01168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10896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Energy model &amp; first experiments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9319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energy is calculated, the tools, and the first ns-3 runs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energy is calculated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First-order radio model (Heinzelman et al.) — used by every paper we compare with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417320"/>
            <a:ext cx="4937760" cy="2148840"/>
          </a:xfrm>
          <a:prstGeom prst="roundRect">
            <a:avLst>
              <a:gd name="adj" fmla="val 3404"/>
            </a:avLst>
          </a:prstGeom>
          <a:solidFill>
            <a:srgbClr val="F7F7F4"/>
          </a:solidFill>
          <a:ln w="12700">
            <a:solidFill>
              <a:srgbClr val="D9D8D2"/>
            </a:solidFill>
            <a:prstDash val="solid"/>
          </a:ln>
        </p:spPr>
      </p:sp>
      <p:pic>
        <p:nvPicPr>
          <p:cNvPr id="6" name="Image 0" descr="/home/user/Routing-Protocols/thesis-final/build/fig/eq_energ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133" y="1508760"/>
            <a:ext cx="4152774" cy="1965960"/>
          </a:xfrm>
          <a:prstGeom prst="rect">
            <a:avLst/>
          </a:prstGeom>
        </p:spPr>
      </p:pic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703320"/>
          <a:ext cx="49377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2103120"/>
                <a:gridCol w="182880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Symbol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bits in the packet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2000 data / 200 control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E_elec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radio electronics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 nJ/bit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ε_fs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amplifier, short range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pJ/bit/m²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ε_mp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amplifier, long range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0.0013 pJ/bit/m⁴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E_DA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fusion at the CH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nJ/bit/signal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8" name="Image 1" descr="/home/user/Routing-Protocols/thesis-final/build/fig/e1_energy_distanc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2046611"/>
            <a:ext cx="5943600" cy="3130537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548640" y="594360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777240" y="594360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 links: the electronics dominate — receiving is not free.  Long links (&gt; d0): the cost explodes.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Worked example — why the CH is the one that dies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nodes, 0.5 J each (50 J in total), one 2000-bit reading per node per round</a:t>
            </a:r>
            <a:endParaRPr lang="en-US" sz="16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676656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2743200"/>
                <a:gridCol w="146304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Role in one round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pays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Energy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Member (15 m from its CH)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send one packet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0.10 mJ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 with 20 members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receive 20 + fuse 21 + send to BS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2.6 mJ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Receiving one control message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 bits × 50 nJ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µJ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7772400" y="141732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349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26×</a:t>
            </a:r>
            <a:endParaRPr lang="en-US" sz="4400" dirty="0"/>
          </a:p>
        </p:txBody>
      </p:sp>
      <p:sp>
        <p:nvSpPr>
          <p:cNvPr id="7" name="Text 4"/>
          <p:cNvSpPr txBox="1"/>
          <p:nvPr/>
        </p:nvSpPr>
        <p:spPr>
          <a:xfrm>
            <a:off x="7772400" y="224028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 spends about 26 times more than a member in the same round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772400" y="320040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5000</a:t>
            </a:r>
            <a:endParaRPr lang="en-US" sz="4400" dirty="0"/>
          </a:p>
        </p:txBody>
      </p:sp>
      <p:sp>
        <p:nvSpPr>
          <p:cNvPr id="9" name="Text 6"/>
          <p:cNvSpPr txBox="1"/>
          <p:nvPr/>
        </p:nvSpPr>
        <p:spPr>
          <a:xfrm>
            <a:off x="7772400" y="402336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rounds a node could live as a member only (0.5 J ÷ 0.1 mJ)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48640" y="4754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77240" y="4754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protocol competes on one question: how to rotate the CH role fairly and make it cheaper.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Tools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Ubuntu (VMware) · ns-3.41 (C++) · NetAnim · Wireshark · Python</a:t>
            </a:r>
            <a:endParaRPr lang="en-US" sz="1600" dirty="0"/>
          </a:p>
        </p:txBody>
      </p:sp>
      <p:pic>
        <p:nvPicPr>
          <p:cNvPr id="5" name="Image 0" descr="/home/user/Routing-Protocols/figures/ns3_screens/vm_setting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081689"/>
            <a:ext cx="5486400" cy="2877503"/>
          </a:xfrm>
          <a:prstGeom prst="rect">
            <a:avLst/>
          </a:prstGeom>
        </p:spPr>
      </p:pic>
      <p:pic>
        <p:nvPicPr>
          <p:cNvPr id="6" name="Image 1" descr="/home/user/Routing-Protocols/figures/ns3_screens/vm_ubuntu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2106802"/>
            <a:ext cx="5394960" cy="2827275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ns-3.41 built from source inside an Ubuntu virtual machine; results processed in Python.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Running ns-3 for the first time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experiment is a C++ file in scratch/ and runs with ./ns3 run · NetAnim is started from its own folder</a:t>
            </a:r>
            <a:endParaRPr lang="en-US" sz="1600" dirty="0"/>
          </a:p>
        </p:txBody>
      </p:sp>
      <p:pic>
        <p:nvPicPr>
          <p:cNvPr id="5" name="Image 0" descr="/home/user/Routing-Protocols/figures/ns3_screens/run_templa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97410" y="1417320"/>
            <a:ext cx="7766699" cy="2377440"/>
          </a:xfrm>
          <a:prstGeom prst="rect">
            <a:avLst/>
          </a:prstGeom>
        </p:spPr>
      </p:pic>
      <p:pic>
        <p:nvPicPr>
          <p:cNvPr id="6" name="Image 1" descr="/home/user/Routing-Protocols/figures/ns3_screens/netanim_cm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160" y="3977640"/>
            <a:ext cx="10617200" cy="9144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48640" y="557784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77240" y="557784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1: check that ns-3.41 builds and runs (scratch-simulator).  Step 2: open NetAnim to watch the XML trace.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Experiment 1 — WSN-Day3: 3 sensors → 1 sink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IEEE 802.15.4 (lr-wpan) MAC · every data frame asks for an ACK · 5 packets per sensor</a:t>
            </a:r>
            <a:endParaRPr lang="en-US" sz="1600" dirty="0"/>
          </a:p>
        </p:txBody>
      </p:sp>
      <p:pic>
        <p:nvPicPr>
          <p:cNvPr id="5" name="Image 0" descr="/home/user/Routing-Protocols/figures/ns3_screens/day3_termin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944004"/>
            <a:ext cx="5486400" cy="3198593"/>
          </a:xfrm>
          <a:prstGeom prst="rect">
            <a:avLst/>
          </a:prstGeom>
        </p:spPr>
      </p:pic>
      <p:pic>
        <p:nvPicPr>
          <p:cNvPr id="6" name="Image 1" descr="/home/user/Routing-Protocols/figures/ns3_screens/day3_summar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9170" y="1371600"/>
            <a:ext cx="5292460" cy="43434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line: a sensor sends → the sink receives (LQI 255) → the MAC confirms SUCCESS (ACK received).  Result: 15 / 15, PDR 100 %.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Experiment 2 — energy model + long run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wsn_first_packet · 3 sensors + sink · 100 J each · one 50-byte packet every 10 s · 1000 s</a:t>
            </a:r>
            <a:endParaRPr lang="en-US" sz="1600" dirty="0"/>
          </a:p>
        </p:txBody>
      </p:sp>
      <p:pic>
        <p:nvPicPr>
          <p:cNvPr id="5" name="Image 0" descr="/home/user/Routing-Protocols/figures/ns3_screens/first_packet_ru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95543"/>
            <a:ext cx="5486400" cy="4295513"/>
          </a:xfrm>
          <a:prstGeom prst="rect">
            <a:avLst/>
          </a:prstGeom>
        </p:spPr>
      </p:pic>
      <p:pic>
        <p:nvPicPr>
          <p:cNvPr id="6" name="Image 1" descr="/home/user/Routing-Protocols/figures/ns3_screens/first_packet_energ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4167" y="1371600"/>
            <a:ext cx="3842465" cy="43434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 / 300 packets delivered, but every node used ≈ 62.6 J — the radio spends energy even when it only listens.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Experiment 2 in NetAnim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Left: packets moving to the sink · right: remaining energy of every node over time (Stats → Counter Tables)</a:t>
            </a:r>
            <a:endParaRPr lang="en-US" sz="1600" dirty="0"/>
          </a:p>
        </p:txBody>
      </p:sp>
      <p:pic>
        <p:nvPicPr>
          <p:cNvPr id="5" name="Image 0" descr="/home/user/Routing-Protocols/figures/ns3_screens/first_netani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7524"/>
            <a:ext cx="6035040" cy="3691552"/>
          </a:xfrm>
          <a:prstGeom prst="rect">
            <a:avLst/>
          </a:prstGeom>
        </p:spPr>
      </p:pic>
      <p:pic>
        <p:nvPicPr>
          <p:cNvPr id="6" name="Image 1" descr="/home/user/Routing-Protocols/figures/ns3_screens/netanim_stat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717214"/>
            <a:ext cx="4846320" cy="3652173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energy of each node drops step by step (100 → 99.37 → 98.75 J …) — the same numbers the code prints.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the packets in Wireshark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of the sink (wsn-day3-3-0.pcap): data frame (31 bytes) → ACK (5 bytes), for every packet</a:t>
            </a:r>
            <a:endParaRPr lang="en-US" sz="1600" dirty="0"/>
          </a:p>
        </p:txBody>
      </p:sp>
      <p:pic>
        <p:nvPicPr>
          <p:cNvPr id="5" name="Image 0" descr="/home/user/Routing-Protocols/figures/ns3_screens/wireshark_day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1104" y="1325880"/>
            <a:ext cx="5244353" cy="29718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92240" y="1371600"/>
            <a:ext cx="51206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0x0001 → destination 0x0004 (the sink)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ACK comes ≈ 0.2 ms later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“LwMesh” is only a Wireshark guess: Analyze → Enabled Protocols → untick LWM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FCS is valid (checksums enabled in the code)</a:t>
            </a:r>
            <a:endParaRPr lang="en-US" sz="1500" dirty="0"/>
          </a:p>
        </p:txBody>
      </p:sp>
      <p:pic>
        <p:nvPicPr>
          <p:cNvPr id="7" name="Image 1" descr="/home/user/Routing-Protocols/thesis-final/build/fig/k2_frame_decod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4914" y="4343400"/>
            <a:ext cx="5451693" cy="146304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 1 byte by byte: 9 header bytes + 20 payload bytes + 2 FCS bytes = 31 bytes.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 — clustering with real packets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sensors · 3 clusters · 1 sink · CH rotates every round · TDMA · fusion</a:t>
            </a:r>
            <a:endParaRPr lang="en-US" sz="1600" dirty="0"/>
          </a:p>
        </p:txBody>
      </p:sp>
      <p:pic>
        <p:nvPicPr>
          <p:cNvPr id="5" name="Image 0" descr="/home/user/Routing-Protocols/thesis-final/build/fig/demo_layou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65960" y="1371600"/>
            <a:ext cx="8229600" cy="35661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502920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72</a:t>
            </a:r>
            <a:endParaRPr lang="en-US" sz="4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85216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readings generated in 6 rounds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3383280" y="502920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4400" dirty="0"/>
          </a:p>
        </p:txBody>
      </p:sp>
      <p:sp>
        <p:nvSpPr>
          <p:cNvPr id="9" name="Text 6"/>
          <p:cNvSpPr txBox="1"/>
          <p:nvPr/>
        </p:nvSpPr>
        <p:spPr>
          <a:xfrm>
            <a:off x="3383280" y="585216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reached the sink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6217920" y="502920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4400" dirty="0"/>
          </a:p>
        </p:txBody>
      </p:sp>
      <p:sp>
        <p:nvSpPr>
          <p:cNvPr id="11" name="Text 8"/>
          <p:cNvSpPr txBox="1"/>
          <p:nvPr/>
        </p:nvSpPr>
        <p:spPr>
          <a:xfrm>
            <a:off x="6217920" y="585216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packets to the sink after fusion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9052560" y="502920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75%</a:t>
            </a:r>
            <a:endParaRPr lang="en-US" sz="4400" dirty="0"/>
          </a:p>
        </p:txBody>
      </p:sp>
      <p:sp>
        <p:nvSpPr>
          <p:cNvPr id="13" name="Text 10"/>
          <p:cNvSpPr txBox="1"/>
          <p:nvPr/>
        </p:nvSpPr>
        <p:spPr>
          <a:xfrm>
            <a:off x="9052560" y="585216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long transmissions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 — terminal output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packet is printed: member → CH (TDMA slot), CH fuses 4 readings, CH → sink</a:t>
            </a:r>
            <a:endParaRPr lang="en-US" sz="1600" dirty="0"/>
          </a:p>
        </p:txBody>
      </p:sp>
      <p:pic>
        <p:nvPicPr>
          <p:cNvPr id="5" name="Image 0" descr="/home/user/Routing-Protocols/figures/ns3_screens/demo_termin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6844" y="1371600"/>
            <a:ext cx="5069991" cy="4343400"/>
          </a:xfrm>
          <a:prstGeom prst="rect">
            <a:avLst/>
          </a:prstGeom>
        </p:spPr>
      </p:pic>
      <p:pic>
        <p:nvPicPr>
          <p:cNvPr id="6" name="Image 1" descr="/home/user/Routing-Protocols/figures/ns3_screens/demo_result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673098"/>
            <a:ext cx="5486400" cy="3740405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 readings, PDR 100 %, but only 18 packets reach the sink (instead of 72) — that is the saving of clustering.</a:t>
            </a:r>
            <a:endParaRPr lang="en-US" sz="1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 in NetAnim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of round 6 — red = CH (CH1, CH4, CH9) · colours = clusters · gold = sink with 72 readings</a:t>
            </a:r>
            <a:endParaRPr lang="en-US" sz="1600" dirty="0"/>
          </a:p>
        </p:txBody>
      </p:sp>
      <p:pic>
        <p:nvPicPr>
          <p:cNvPr id="5" name="Image 0" descr="/home/user/Routing-Protocols/figures/ns3_screens/demo_netani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58669" y="1371600"/>
            <a:ext cx="8244182" cy="44348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594360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594360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node shows its remaining energy (16.3 J of 20 J); the CH role moved to a new node every round.</a:t>
            </a:r>
            <a:endParaRPr lang="en-US" sz="1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 packets in Wireshark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of CH / sink traffic (demo-clustered-wsn-12-0.pcap): 51-byte data frames, each answered by a 5-byte ACK</a:t>
            </a:r>
            <a:endParaRPr lang="en-US" sz="1600" dirty="0"/>
          </a:p>
        </p:txBody>
      </p:sp>
      <p:pic>
        <p:nvPicPr>
          <p:cNvPr id="5" name="Image 0" descr="/home/user/Routing-Protocols/figures/ns3_screens/wireshark_dem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62259"/>
            <a:ext cx="6583680" cy="3807802"/>
          </a:xfrm>
          <a:prstGeom prst="rect">
            <a:avLst/>
          </a:prstGeom>
        </p:spPr>
      </p:pic>
      <p:pic>
        <p:nvPicPr>
          <p:cNvPr id="6" name="Image 1" descr="/home/user/Routing-Protocols/thesis-final/build/fig/k1_packet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2653673"/>
            <a:ext cx="4297680" cy="1824975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48640" y="594360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77240" y="594360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member frame: 9-byte header + 40-byte reading + 2-byte FCS = 51 bytes; the ACK proves it arrived.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01168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10896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Classic protocols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9319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LEACH · HEED · PEGASIS — paper → our ORIGINAL code → our EDITED code</a:t>
            </a:r>
            <a:endParaRPr lang="en-US" sz="1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three classic papers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520440" cy="489204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60020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" y="1741932"/>
            <a:ext cx="283464" cy="28346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60020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LEACH (2000) [1]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286000"/>
            <a:ext cx="306324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CH rotation with an epoch: a node that served waits until everybody has served (set G).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Weakness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Energy-blind; CHs may be badly placed.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297680" y="1371600"/>
            <a:ext cx="3520440" cy="489204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26280" y="1600200"/>
            <a:ext cx="566928" cy="56692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8012" y="1741932"/>
            <a:ext cx="283464" cy="28346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257800" y="160020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HEED (2004) [3]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4526280" y="2286000"/>
            <a:ext cx="306324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Residual energy decides who leads; the probability doubles every iteration; members join the lowest-cost CH.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Weakness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Negotiation messages every round.</a:t>
            </a:r>
            <a:endParaRPr lang="en-US" sz="1600" dirty="0"/>
          </a:p>
        </p:txBody>
      </p:sp>
      <p:sp>
        <p:nvSpPr>
          <p:cNvPr id="14" name="Shape 10"/>
          <p:cNvSpPr/>
          <p:nvPr/>
        </p:nvSpPr>
        <p:spPr>
          <a:xfrm>
            <a:off x="8046720" y="1371600"/>
            <a:ext cx="3520440" cy="489204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275320" y="1600200"/>
            <a:ext cx="566928" cy="56692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7052" y="1741932"/>
            <a:ext cx="283464" cy="283464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006840" y="160020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PEGASIS (2002) [4]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8275320" y="2286000"/>
            <a:ext cx="306324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greedy chain; data fused along the chain; one leader, in turn, talks to the BS.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Weakness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delay, long chain links, single leader.</a:t>
            </a:r>
            <a:endParaRPr lang="en-US" sz="1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equations of the classic protocols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2011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LEACH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651760" y="1371600"/>
            <a:ext cx="8961120" cy="1371600"/>
          </a:xfrm>
          <a:prstGeom prst="roundRect">
            <a:avLst>
              <a:gd name="adj" fmla="val 5333"/>
            </a:avLst>
          </a:prstGeom>
          <a:solidFill>
            <a:srgbClr val="F7F7F4"/>
          </a:solidFill>
          <a:ln w="12700">
            <a:solidFill>
              <a:srgbClr val="D9D8D2"/>
            </a:solidFill>
            <a:prstDash val="solid"/>
          </a:ln>
        </p:spPr>
      </p:sp>
      <p:pic>
        <p:nvPicPr>
          <p:cNvPr id="6" name="Image 0" descr="/home/user/Routing-Protocols/thesis-final/build/fig/eq_lea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88920" y="1578470"/>
            <a:ext cx="8686800" cy="95786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" y="2971800"/>
            <a:ext cx="2011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HEED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2651760" y="2971800"/>
            <a:ext cx="8961120" cy="1371600"/>
          </a:xfrm>
          <a:prstGeom prst="roundRect">
            <a:avLst>
              <a:gd name="adj" fmla="val 5333"/>
            </a:avLst>
          </a:prstGeom>
          <a:solidFill>
            <a:srgbClr val="F7F7F4"/>
          </a:solidFill>
          <a:ln w="12700">
            <a:solidFill>
              <a:srgbClr val="D9D8D2"/>
            </a:solidFill>
            <a:prstDash val="solid"/>
          </a:ln>
        </p:spPr>
      </p:sp>
      <p:pic>
        <p:nvPicPr>
          <p:cNvPr id="9" name="Image 1" descr="/home/user/Routing-Protocols/thesis-final/build/fig/eq_he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8920" y="3267681"/>
            <a:ext cx="8686800" cy="77983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48640" y="4572000"/>
            <a:ext cx="2011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PEGASIS</a:t>
            </a:r>
            <a:endParaRPr lang="en-US" sz="2000" dirty="0"/>
          </a:p>
        </p:txBody>
      </p:sp>
      <p:sp>
        <p:nvSpPr>
          <p:cNvPr id="11" name="Shape 7"/>
          <p:cNvSpPr/>
          <p:nvPr/>
        </p:nvSpPr>
        <p:spPr>
          <a:xfrm>
            <a:off x="2651760" y="4572000"/>
            <a:ext cx="8961120" cy="1371600"/>
          </a:xfrm>
          <a:prstGeom prst="roundRect">
            <a:avLst>
              <a:gd name="adj" fmla="val 5333"/>
            </a:avLst>
          </a:prstGeom>
          <a:solidFill>
            <a:srgbClr val="F7F7F4"/>
          </a:solidFill>
          <a:ln w="12700">
            <a:solidFill>
              <a:srgbClr val="D9D8D2"/>
            </a:solidFill>
            <a:prstDash val="solid"/>
          </a:ln>
        </p:spPr>
      </p:sp>
      <p:pic>
        <p:nvPicPr>
          <p:cNvPr id="12" name="Image 2" descr="/home/user/Routing-Protocols/thesis-final/build/fig/eq_pegasi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7753" y="4663440"/>
            <a:ext cx="7769134" cy="118872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ORIGINAL — each paper in its own settings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prove that our code reproduces the paper</a:t>
            </a:r>
            <a:endParaRPr lang="en-US" sz="16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926080"/>
                <a:gridCol w="3017520"/>
                <a:gridCol w="292608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PEGASIS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Nodes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 × 50 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× 100 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 × 50 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 station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(25, −100) far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(50, 175) far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(25, 150) far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Energy / node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 J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J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 J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Packet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2000 bits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1000 bits × 5 frames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2000 bits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Radio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amplifier (100 pJ)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two-slope, d0 = 75 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amplifier (100 pJ)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12064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512064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is changed in the algorithms; only the paper's own parameters are used.</a:t>
            </a:r>
            <a:endParaRPr lang="en-US" sz="15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ORIGINAL results — paper vs our code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settings as each paper; FND / HND / LND in rounds</a:t>
            </a:r>
            <a:endParaRPr lang="en-US" sz="16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377440"/>
                <a:gridCol w="2194560"/>
                <a:gridCol w="2377440"/>
                <a:gridCol w="2103120"/>
              </a:tblGrid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Protocol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Our code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Difference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1035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+11.1%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1152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1312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1327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+1.1%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 / HND / LND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graphs only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734 / 1384 / 2259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behaviour matches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PEGASIS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1578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1616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+2.4%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PEGASIS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2082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−3.1%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PEGASIS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2192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2186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−0.3%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76072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576072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LND within 1 % (LEACH) and every PEGASIS value within 3.5 % → the code reproduces the papers.</a:t>
            </a:r>
            <a:endParaRPr lang="en-US" sz="15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ORIGINAL results — chart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Published (grey) vs our ORIGINAL code (blue)</a:t>
            </a:r>
            <a:endParaRPr lang="en-US" sz="16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280160"/>
          <a:ext cx="11064240" cy="5029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EDITED — one unified environment for all protocols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algorithms; only the environment changes, so the comparison is fair</a:t>
            </a:r>
            <a:endParaRPr lang="en-US" sz="16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3093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93192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Parameter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Nodes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100, random uniform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× 100 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Initial energy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 J per node (50 J total)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 station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centre (50, 50); far case (50, −100)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/ control packet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2000 / 200 bits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Radio model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first-order, two-slope (d² / d⁴)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E_elec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 nJ/bit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ε_fs / ε_mp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pJ/bit/m² / 0.0013 pJ/bit/m⁴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d0 = √(ε_fs/ε_mp)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87.7 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E_DA (aggregation)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nJ/bit/signal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7132320" y="1371600"/>
            <a:ext cx="4480560" cy="4434840"/>
          </a:xfrm>
          <a:prstGeom prst="roundRect">
            <a:avLst>
              <a:gd name="adj" fmla="val 2474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360920" y="160020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02652" y="1741932"/>
            <a:ext cx="283464" cy="28346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092440" y="1600200"/>
            <a:ext cx="3337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rules for everyone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7360920" y="2286000"/>
            <a:ext cx="40233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Same node positions (same seed)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CH advertisement heard by every node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join + TDMA messages are charged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CH fuses members + its own reading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 node without a CH sends directly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every run lasts until the last node dies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548640" y="594360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77240" y="594360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these values? They are the standard settings of the LEACH literature and the standard radio model.</a:t>
            </a:r>
            <a:endParaRPr lang="en-US" sz="15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EDITED results — classic protocols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environment, BS at the centre</a:t>
            </a:r>
            <a:endParaRPr lang="en-US" sz="16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585216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960120"/>
                <a:gridCol w="960120"/>
                <a:gridCol w="960120"/>
                <a:gridCol w="960120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Protocol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1586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1842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99.40%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1216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1883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99.68%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PEGASIS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1324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2352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3504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99.42%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HEED + fairness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1154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1960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99.74%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Chart 0" descr=""/>
          <p:cNvGraphicFramePr/>
          <p:nvPr/>
        </p:nvGraphicFramePr>
        <p:xfrm>
          <a:off x="6675120" y="1280160"/>
          <a:ext cx="502920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3"/>
          <p:cNvSpPr/>
          <p:nvPr/>
        </p:nvSpPr>
        <p:spPr>
          <a:xfrm>
            <a:off x="548640" y="585216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77240" y="585216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first death: LEACH (1383).  Earliest: HEED (634).  Longest last node: PEGASIS (3504).</a:t>
            </a:r>
            <a:endParaRPr lang="en-US" sz="15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EDITED results — chart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/ HND / LND in the unified environment</a:t>
            </a:r>
            <a:endParaRPr lang="en-US" sz="16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280160"/>
          <a:ext cx="11064240" cy="5029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Comparison — ORIGINAL vs EDITED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code in two environments</a:t>
            </a:r>
            <a:endParaRPr lang="en-US" sz="16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463040"/>
                <a:gridCol w="2926080"/>
                <a:gridCol w="2651760"/>
                <a:gridCol w="2011680"/>
              </a:tblGrid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Protocol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ORIGINAL (paper settings)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EDITED (unified)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1035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+33.6%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1152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1586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+37.7%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1327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1842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+38.8%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−13.6%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1216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−12.1%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2259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1883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−16.6%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PEGASIS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1616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1324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−18.1%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PEGASIS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2352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+16.6%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PEGASIS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2186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3504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+60.3%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Comparison — chart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vs our ORIGINAL vs our EDITED</a:t>
            </a:r>
            <a:endParaRPr lang="en-US" sz="1600" dirty="0"/>
          </a:p>
        </p:txBody>
      </p:sp>
      <p:pic>
        <p:nvPicPr>
          <p:cNvPr id="5" name="Image 0" descr="/home/user/Routing-Protocols/thesis-final/build/fig/p1_baselin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963615"/>
            <a:ext cx="11064240" cy="3662289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did the numbers change so much?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520440" cy="434340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60020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LEACH  ↑ (FND 1035 → 1383)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240280"/>
            <a:ext cx="31089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Amplifier 10× cheaper: 10 pJ instead of 100 pJ.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BS at the centre (≤ 70 m) instead of 100 – 150 m away.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savings are bigger than the setup messages we added.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297680" y="1371600"/>
            <a:ext cx="3520440" cy="434340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526280" y="160020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HEED  ↓ (FND 734 → 634)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526280" y="2240280"/>
            <a:ext cx="31089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Paper: 1 election then 5 data packets; unified: 1 election for 1 packet.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Election messages every round, each heard by ~20 neighbours.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 J instead of 2 J per node.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046720" y="1371600"/>
            <a:ext cx="3520440" cy="434340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75320" y="160020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PEGASIS  FND ↓, LND ↑ (1616 → 1324)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8275320" y="2240280"/>
            <a:ext cx="31089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4× bigger → one greedy chain link of 91.5 m (&gt; d0, cost d⁴).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 73 on that link died first.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Cheap radio + central BS → the last nodes live very long.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algorithms did not change — only the environment. That is why a fair comparison needs one environment.</a:t>
            </a:r>
            <a:endParaRPr lang="en-US" sz="15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Classic protocols — base station far away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codes with the BS at (50, −100)</a:t>
            </a:r>
            <a:endParaRPr lang="en-US" sz="16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463040"/>
                <a:gridCol w="1463040"/>
                <a:gridCol w="1463040"/>
                <a:gridCol w="1463040"/>
                <a:gridCol w="1554480"/>
                <a:gridCol w="1828800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Protocol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 centre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 far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 far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 far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PDR far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Change of FND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988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1652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99.43%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−28.6%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1374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99.52%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−47.9%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PEGASIS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1324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1374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2176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2713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99.08%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+3.8%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Chart 0" descr=""/>
          <p:cNvGraphicFramePr/>
          <p:nvPr/>
        </p:nvGraphicFramePr>
        <p:xfrm>
          <a:off x="548640" y="3566160"/>
          <a:ext cx="676656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3"/>
          <p:cNvSpPr/>
          <p:nvPr/>
        </p:nvSpPr>
        <p:spPr>
          <a:xfrm>
            <a:off x="7589520" y="3611880"/>
            <a:ext cx="4023360" cy="2697480"/>
          </a:xfrm>
          <a:prstGeom prst="roundRect">
            <a:avLst>
              <a:gd name="adj" fmla="val 4068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4"/>
          <p:cNvSpPr/>
          <p:nvPr/>
        </p:nvSpPr>
        <p:spPr>
          <a:xfrm>
            <a:off x="7818120" y="3840480"/>
            <a:ext cx="566928" cy="56692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9852" y="3982212"/>
            <a:ext cx="283464" cy="283464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8549640" y="3840480"/>
            <a:ext cx="2880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 BS</a:t>
            </a:r>
            <a:endParaRPr lang="en-US" sz="1600" dirty="0"/>
          </a:p>
        </p:txBody>
      </p:sp>
      <p:sp>
        <p:nvSpPr>
          <p:cNvPr id="11" name="Text 6"/>
          <p:cNvSpPr txBox="1"/>
          <p:nvPr/>
        </p:nvSpPr>
        <p:spPr>
          <a:xfrm>
            <a:off x="7818120" y="4526280"/>
            <a:ext cx="3566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LEACH and HEED lose 29 % and 48 %: every CH sends far (d⁴).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PEGASIS keeps its FND (1374): only one leader talks to the BS.</a:t>
            </a:r>
            <a:endParaRPr lang="en-US" sz="13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Classic protocols — summary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3520440" cy="498348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55448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LEACH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057400"/>
            <a:ext cx="310896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rotation with an epoch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Weakness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Energy-blind; setup every round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(FND)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settings: 1035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Unified, BS centre: 1383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Unified, BS far: 988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PDR (centre): 99.40%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297680" y="1325880"/>
            <a:ext cx="3520440" cy="498348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526280" y="155448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HEED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4526280" y="2057400"/>
            <a:ext cx="310896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+ neighbours, iterative election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Weakness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Election messages every round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(FND)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settings: 734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Unified, BS centre: 634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Unified, BS far: 330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PDR (centre): 99.68%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046720" y="1325880"/>
            <a:ext cx="3520440" cy="498348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75320" y="155448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PEGASIS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8275320" y="2057400"/>
            <a:ext cx="310896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B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chain, one leader to the BS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Weakness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chain links, delay, single leader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(FND)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settings: 1616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Unified, BS centre: 1324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Unified, BS far: 1374</a:t>
            </a:r>
            <a:endParaRPr lang="en-US" sz="15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PDR (centre): 99.42%</a:t>
            </a:r>
            <a:endParaRPr lang="en-US" sz="15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01168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10896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Hybrid protocols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9319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LEACH + HEED hybrids — paper → ORIGINAL → EDITED → IMPROVED</a:t>
            </a:r>
            <a:endParaRPr lang="en-US" sz="18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Introduction — what is a LEACH + HEED hybrid?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work, and the three papers, combine the strengths of both protocols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3566160" cy="42976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77240" y="160020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" y="1741932"/>
            <a:ext cx="283464" cy="28346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508760" y="1600200"/>
            <a:ext cx="2423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LEACH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2286000"/>
            <a:ext cx="310896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simple random election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rotation with epoch and G-set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join the nearest CH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TDMA + fusion at the CH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4160520" y="2926080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5F5E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</a:t>
            </a:r>
            <a:endParaRPr lang="en-US" sz="4800" dirty="0"/>
          </a:p>
        </p:txBody>
      </p:sp>
      <p:sp>
        <p:nvSpPr>
          <p:cNvPr id="11" name="Shape 8"/>
          <p:cNvSpPr/>
          <p:nvPr/>
        </p:nvSpPr>
        <p:spPr>
          <a:xfrm>
            <a:off x="4754880" y="1371600"/>
            <a:ext cx="3566160" cy="42976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983480" y="1600200"/>
            <a:ext cx="566928" cy="56692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5212" y="1741932"/>
            <a:ext cx="283464" cy="283464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5715000" y="1600200"/>
            <a:ext cx="2423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HEED</a:t>
            </a:r>
            <a:endParaRPr lang="en-US" sz="1600" dirty="0"/>
          </a:p>
        </p:txBody>
      </p:sp>
      <p:sp>
        <p:nvSpPr>
          <p:cNvPr id="15" name="Text 11"/>
          <p:cNvSpPr txBox="1"/>
          <p:nvPr/>
        </p:nvSpPr>
        <p:spPr>
          <a:xfrm>
            <a:off x="4983480" y="2286000"/>
            <a:ext cx="310896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residual energy decides who leads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connectivity (node degree / cost)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well-spread cluster heads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8366760" y="2926080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5F5E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</a:t>
            </a:r>
            <a:endParaRPr lang="en-US" sz="4800" dirty="0"/>
          </a:p>
        </p:txBody>
      </p:sp>
      <p:sp>
        <p:nvSpPr>
          <p:cNvPr id="17" name="Shape 13"/>
          <p:cNvSpPr/>
          <p:nvPr/>
        </p:nvSpPr>
        <p:spPr>
          <a:xfrm>
            <a:off x="8961120" y="1371600"/>
            <a:ext cx="2651760" cy="42976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9189720" y="1600200"/>
            <a:ext cx="566928" cy="56692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31452" y="1741932"/>
            <a:ext cx="283464" cy="283464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9921240" y="1600200"/>
            <a:ext cx="1508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</a:t>
            </a:r>
            <a:endParaRPr lang="en-US" sz="1600" dirty="0"/>
          </a:p>
        </p:txBody>
      </p:sp>
      <p:sp>
        <p:nvSpPr>
          <p:cNvPr id="21" name="Text 16"/>
          <p:cNvSpPr txBox="1"/>
          <p:nvPr/>
        </p:nvSpPr>
        <p:spPr>
          <a:xfrm>
            <a:off x="9189720" y="2286000"/>
            <a:ext cx="219456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LEACH speed and rotation with HEED's energy awareness — without HEED's negotiation.</a:t>
            </a:r>
            <a:endParaRPr lang="en-US" sz="1500" dirty="0"/>
          </a:p>
        </p:txBody>
      </p:sp>
      <p:sp>
        <p:nvSpPr>
          <p:cNvPr id="22" name="Shape 17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SH-LEACH (2015), H-LEACH (2016) and EECH-HEED (2025) follow this idea — and so does our protocol.</a:t>
            </a:r>
            <a:endParaRPr lang="en-US" sz="15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three hybrid papers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adds energy (HEED idea) to LEACH-style rotation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11064240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371600"/>
            <a:ext cx="28346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SH-LEACH (2015) [5]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+ round number + CH counter</a:t>
            </a:r>
            <a:endParaRPr lang="en-US" sz="1700" dirty="0"/>
          </a:p>
        </p:txBody>
      </p:sp>
      <p:pic>
        <p:nvPicPr>
          <p:cNvPr id="7" name="Image 0" descr="/home/user/Routing-Protocols/thesis-final/build/fig/eq_shlea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49040" y="1489238"/>
            <a:ext cx="7726680" cy="1273484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48640" y="3017520"/>
            <a:ext cx="11064240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3017520"/>
            <a:ext cx="28346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H-LEACH (2016) [6]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energy-based probability + energy gate</a:t>
            </a:r>
            <a:endParaRPr lang="en-US" sz="1700" dirty="0"/>
          </a:p>
        </p:txBody>
      </p:sp>
      <p:pic>
        <p:nvPicPr>
          <p:cNvPr id="10" name="Image 1" descr="/home/user/Routing-Protocols/thesis-final/build/fig/eq_hleac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0" y="3367109"/>
            <a:ext cx="7726680" cy="809582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548640" y="4663440"/>
            <a:ext cx="11064240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77240" y="4663440"/>
            <a:ext cx="28346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EECH-HEED (2025) [7]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zones, relays between CHs, adaptive sensing</a:t>
            </a:r>
            <a:endParaRPr lang="en-US" sz="1700" dirty="0"/>
          </a:p>
        </p:txBody>
      </p:sp>
      <p:pic>
        <p:nvPicPr>
          <p:cNvPr id="13" name="Image 2" descr="/home/user/Routing-Protocols/thesis-final/build/fig/eq_eech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49040" y="5056411"/>
            <a:ext cx="7726680" cy="722818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ORIGINAL — the hybrids in their own settings</a:t>
            </a:r>
            <a:endParaRPr lang="en-US" sz="3200" dirty="0"/>
          </a:p>
        </p:txBody>
      </p:sp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2743200"/>
                <a:gridCol w="2834640"/>
                <a:gridCol w="3017520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SH-LEACH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H-LEACH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EECH-HEED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Deployment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nodes, 100 × 100 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nodes, 100 × 100 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 near BS + 70 far; 14 advanced nodes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Energy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 J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 J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 – 1.5 J (≈ 56 J total)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Packet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2000 bits (not stated)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4000 bits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4000 bits, E_DA 50 nJ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Radio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amplifier 100 pJ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two-slope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two-slope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Other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C_prob = 0.1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setup messages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adaptive sensing 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ORIGINAL results — paper vs our code</a:t>
            </a:r>
            <a:endParaRPr lang="en-US" sz="32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194560"/>
                <a:gridCol w="2103120"/>
                <a:gridCol w="2377440"/>
                <a:gridCol w="237744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Protocol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Our code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Difference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SH-LEACH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 / HND / LND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graphs only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484 / 583 / 689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H-LEACH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 / HND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reported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1078 / 1157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H-LEACH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4312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1207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paper value not reachable*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EECH-HEED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−10.3%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EECH-HEED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1650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1954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+18.4%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EECH-HEED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3783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+72.0%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EECH-HEED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95 %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99.78%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56692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56692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4000-bit packets use up the 50 J before round 2500.  EECH-HEED depends on the sensor signal the paper does not give (sensing OFF → FND 420).</a:t>
            </a:r>
            <a:endParaRPr lang="en-US" sz="15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ORIGINAL results — chart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code in each paper's settings (EECH-HEED also vs its paper)</a:t>
            </a:r>
            <a:endParaRPr lang="en-US" sz="16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280160"/>
          <a:ext cx="6583680" cy="5029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7315200" y="1280160"/>
          <a:ext cx="4389120" cy="5029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EDITED results — hybrids in the unified environment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algorithms as in the papers</a:t>
            </a:r>
            <a:endParaRPr lang="en-US" sz="16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585216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914400"/>
                <a:gridCol w="914400"/>
                <a:gridCol w="914400"/>
                <a:gridCol w="914400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Protocol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SH-LEACH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647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98.58%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H-LEACH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1419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99.30%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EECH-HEED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1311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1545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99.74%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 (reference)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1586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1842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99.40%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Chart 0" descr=""/>
          <p:cNvGraphicFramePr/>
          <p:nvPr/>
        </p:nvGraphicFramePr>
        <p:xfrm>
          <a:off x="6675120" y="1280160"/>
          <a:ext cx="502920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3"/>
          <p:cNvSpPr/>
          <p:nvPr/>
        </p:nvSpPr>
        <p:spPr>
          <a:xfrm>
            <a:off x="548640" y="585216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77240" y="585216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of the three beats LEACH (1383); SH-LEACH dies after only 647 rounds.</a:t>
            </a:r>
            <a:endParaRPr lang="en-US" sz="15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EDITED results — chart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/ HND / LND in the unified environment</a:t>
            </a:r>
            <a:endParaRPr lang="en-US" sz="16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280160"/>
          <a:ext cx="11064240" cy="5029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EDITED — what went wrong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unified environment each hybrid shows a design flaw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11064240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1737360"/>
            <a:ext cx="594360" cy="594360"/>
          </a:xfrm>
          <a:prstGeom prst="ellipse">
            <a:avLst/>
          </a:prstGeom>
          <a:solidFill>
            <a:srgbClr val="E34948"/>
          </a:solidFill>
          <a:ln w="12700">
            <a:solidFill>
              <a:srgbClr val="E34948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5830" y="1885950"/>
            <a:ext cx="297180" cy="29718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600200" y="1371600"/>
            <a:ext cx="21031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SH-LEACH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647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3749040" y="1371600"/>
            <a:ext cx="76809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is never reset → the probability keeps growing → up to 100 CHs per round: every node sends alone to the BS.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548640" y="2834640"/>
            <a:ext cx="11064240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77240" y="3200400"/>
            <a:ext cx="594360" cy="594360"/>
          </a:xfrm>
          <a:prstGeom prst="ellipse">
            <a:avLst/>
          </a:prstGeom>
          <a:solidFill>
            <a:srgbClr val="E34948"/>
          </a:solidFill>
          <a:ln w="12700">
            <a:solidFill>
              <a:srgbClr val="E34948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5830" y="3348990"/>
            <a:ext cx="297180" cy="29718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600200" y="2834640"/>
            <a:ext cx="21031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H-LEACH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1384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3749040" y="2834640"/>
            <a:ext cx="76809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"E &gt; average" with equal energy → no CH in round 1 (deadlock); no G-set → bursts of up to 59 CHs.</a:t>
            </a:r>
            <a:endParaRPr lang="en-US" sz="1600" dirty="0"/>
          </a:p>
        </p:txBody>
      </p:sp>
      <p:sp>
        <p:nvSpPr>
          <p:cNvPr id="15" name="Shape 11"/>
          <p:cNvSpPr/>
          <p:nvPr/>
        </p:nvSpPr>
        <p:spPr>
          <a:xfrm>
            <a:off x="548640" y="4297680"/>
            <a:ext cx="11064240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777240" y="4663440"/>
            <a:ext cx="594360" cy="594360"/>
          </a:xfrm>
          <a:prstGeom prst="ellipse">
            <a:avLst/>
          </a:prstGeom>
          <a:solidFill>
            <a:srgbClr val="E34948"/>
          </a:solidFill>
          <a:ln w="12700">
            <a:solidFill>
              <a:srgbClr val="E34948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5830" y="4812030"/>
            <a:ext cx="297180" cy="29718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600200" y="4297680"/>
            <a:ext cx="21031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EECH-HEED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1311</a:t>
            </a:r>
            <a:endParaRPr lang="en-US" sz="1700" dirty="0"/>
          </a:p>
        </p:txBody>
      </p:sp>
      <p:sp>
        <p:nvSpPr>
          <p:cNvPr id="19" name="Text 14"/>
          <p:cNvSpPr txBox="1"/>
          <p:nvPr/>
        </p:nvSpPr>
        <p:spPr>
          <a:xfrm>
            <a:off x="3749040" y="4297680"/>
            <a:ext cx="76809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2: P ≈ 1 → rotation period 1/P ≈ 1 round → the same border nodes are CH every other round (221 times).</a:t>
            </a:r>
            <a:endParaRPr lang="en-US" sz="1600" dirty="0"/>
          </a:p>
        </p:txBody>
      </p:sp>
      <p:sp>
        <p:nvSpPr>
          <p:cNvPr id="20" name="Shape 15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add energy to LEACH but break its rotation.</a:t>
            </a:r>
            <a:endParaRPr lang="en-US" sz="15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did the numbers change so much?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520440" cy="434340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60020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SH-LEACH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103120"/>
            <a:ext cx="31089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 → EDIT (484 → 647): cheaper radio (10 vs 100 pJ).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→ IMPR (→ 1480, ×2.3): the counter restarts, so CHs stay few instead of reaching 100.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297680" y="1371600"/>
            <a:ext cx="3520440" cy="434340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526280" y="160020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H-LEACH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4526280" y="2103120"/>
            <a:ext cx="31089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 → EDIT (1078 → 1384): packet 2000 instead of 4000 bits (half the energy per message).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→ IMPR (→ 1473): no deadlock, no CH bursts (8.6 → 5.3 CHs per round).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046720" y="1371600"/>
            <a:ext cx="3520440" cy="434340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75320" y="160020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EECH-HEED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8275320" y="2103120"/>
            <a:ext cx="31089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 → EDIT: LND 3783 → 1545 because sensing is OFF (every node sends every round) and 50 J instead of 56 J.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→ IMPR (1311 → 1368): fixed rotation in zone 2 (7.5 → 2.9 CHs per round).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→ EDITED = environment only.  EDITED → IMPROVED = our one-line fix only.</a:t>
            </a:r>
            <a:endParaRPr lang="en-US" sz="15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IMPROVED — our fixes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or two lines of code per protocol; nothing else changed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585216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77240" y="160020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" y="1741932"/>
            <a:ext cx="283464" cy="28346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508760" y="1600200"/>
            <a:ext cx="4709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SH-LEACH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22860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→ ((r − 1) mod 1/C) + 1 : the counter restarts every 10 rounds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48640" y="2880360"/>
            <a:ext cx="585216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777240" y="310896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8972" y="3250692"/>
            <a:ext cx="283464" cy="28346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508760" y="3108960"/>
            <a:ext cx="4709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H-LEACH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777240" y="379476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"E &gt; E_avg" → "E ≥ E_avg"  +  LEACH G-set restored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548640" y="4389120"/>
            <a:ext cx="585216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777240" y="461772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8972" y="4759452"/>
            <a:ext cx="283464" cy="283464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508760" y="4617720"/>
            <a:ext cx="4709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EECH-HEED</a:t>
            </a:r>
            <a:endParaRPr lang="en-US" sz="1600" dirty="0"/>
          </a:p>
        </p:txBody>
      </p:sp>
      <p:sp>
        <p:nvSpPr>
          <p:cNvPr id="19" name="Text 14"/>
          <p:cNvSpPr txBox="1"/>
          <p:nvPr/>
        </p:nvSpPr>
        <p:spPr>
          <a:xfrm>
            <a:off x="777240" y="530352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2 uses the paper's 10 % for the period and the G-set; Eq. 5 becomes a weight</a:t>
            </a:r>
            <a:endParaRPr lang="en-US" sz="1300" dirty="0"/>
          </a:p>
        </p:txBody>
      </p:sp>
      <p:sp>
        <p:nvSpPr>
          <p:cNvPr id="20" name="Shape 15"/>
          <p:cNvSpPr/>
          <p:nvPr/>
        </p:nvSpPr>
        <p:spPr>
          <a:xfrm>
            <a:off x="6583680" y="1371600"/>
            <a:ext cx="5029200" cy="1325880"/>
          </a:xfrm>
          <a:prstGeom prst="roundRect">
            <a:avLst>
              <a:gd name="adj" fmla="val 5517"/>
            </a:avLst>
          </a:prstGeom>
          <a:solidFill>
            <a:srgbClr val="F7F7F4"/>
          </a:solidFill>
          <a:ln w="12700">
            <a:solidFill>
              <a:srgbClr val="D9D8D2"/>
            </a:solidFill>
            <a:prstDash val="solid"/>
          </a:ln>
        </p:spPr>
      </p:sp>
      <p:pic>
        <p:nvPicPr>
          <p:cNvPr id="21" name="Image 3" descr="/home/user/Routing-Protocols/thesis-final/build/fig/eq_fix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0840" y="1730507"/>
            <a:ext cx="4754880" cy="608066"/>
          </a:xfrm>
          <a:prstGeom prst="rect">
            <a:avLst/>
          </a:prstGeom>
        </p:spPr>
      </p:pic>
      <p:sp>
        <p:nvSpPr>
          <p:cNvPr id="22" name="Shape 16"/>
          <p:cNvSpPr/>
          <p:nvPr/>
        </p:nvSpPr>
        <p:spPr>
          <a:xfrm>
            <a:off x="6583680" y="2880360"/>
            <a:ext cx="5029200" cy="1325880"/>
          </a:xfrm>
          <a:prstGeom prst="roundRect">
            <a:avLst>
              <a:gd name="adj" fmla="val 5517"/>
            </a:avLst>
          </a:prstGeom>
          <a:solidFill>
            <a:srgbClr val="F7F7F4"/>
          </a:solidFill>
          <a:ln w="12700">
            <a:solidFill>
              <a:srgbClr val="D9D8D2"/>
            </a:solidFill>
            <a:prstDash val="solid"/>
          </a:ln>
        </p:spPr>
      </p:sp>
      <p:pic>
        <p:nvPicPr>
          <p:cNvPr id="23" name="Image 4" descr="/home/user/Routing-Protocols/thesis-final/build/fig/eq_fix2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20840" y="3298278"/>
            <a:ext cx="4754880" cy="490044"/>
          </a:xfrm>
          <a:prstGeom prst="rect">
            <a:avLst/>
          </a:prstGeom>
        </p:spPr>
      </p:pic>
      <p:sp>
        <p:nvSpPr>
          <p:cNvPr id="24" name="Shape 17"/>
          <p:cNvSpPr/>
          <p:nvPr/>
        </p:nvSpPr>
        <p:spPr>
          <a:xfrm>
            <a:off x="6583680" y="4389120"/>
            <a:ext cx="5029200" cy="1325880"/>
          </a:xfrm>
          <a:prstGeom prst="roundRect">
            <a:avLst>
              <a:gd name="adj" fmla="val 5517"/>
            </a:avLst>
          </a:prstGeom>
          <a:solidFill>
            <a:srgbClr val="F7F7F4"/>
          </a:solidFill>
          <a:ln w="12700">
            <a:solidFill>
              <a:srgbClr val="D9D8D2"/>
            </a:solidFill>
            <a:prstDash val="solid"/>
          </a:ln>
        </p:spPr>
      </p:sp>
      <p:pic>
        <p:nvPicPr>
          <p:cNvPr id="25" name="Image 5" descr="/home/user/Routing-Protocols/thesis-final/build/fig/eq_fix3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20840" y="4757464"/>
            <a:ext cx="4754880" cy="589192"/>
          </a:xfrm>
          <a:prstGeom prst="rect">
            <a:avLst/>
          </a:prstGeom>
        </p:spPr>
      </p:pic>
      <p:sp>
        <p:nvSpPr>
          <p:cNvPr id="26" name="Shape 18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27" name="Text 19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Lesson:  energy alone is not enough — the rotation (epoch / G-set) must be kept.</a:t>
            </a:r>
            <a:endParaRPr lang="en-US" sz="15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IMPROVED results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environment + our fix</a:t>
            </a:r>
            <a:endParaRPr lang="en-US" sz="1600" dirty="0"/>
          </a:p>
        </p:txBody>
      </p:sp>
      <p:graphicFrame>
        <p:nvGraphicFramePr>
          <p:cNvPr id="4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585216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914400"/>
                <a:gridCol w="914400"/>
                <a:gridCol w="914400"/>
                <a:gridCol w="914400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Protocol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SH-LEACH+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1480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1542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1558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99.21%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H-LEACH+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1473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1509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1525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99.36%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EECH-HEED+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1368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1767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99.51%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 (reference)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1586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1842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99.40%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Chart 0" descr=""/>
          <p:cNvGraphicFramePr/>
          <p:nvPr/>
        </p:nvGraphicFramePr>
        <p:xfrm>
          <a:off x="6675120" y="1280160"/>
          <a:ext cx="502920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3"/>
          <p:cNvSpPr/>
          <p:nvPr/>
        </p:nvSpPr>
        <p:spPr>
          <a:xfrm>
            <a:off x="548640" y="585216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77240" y="585216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the fix SH-LEACH+ (1480) and H-LEACH+ (1473) beat LEACH (1383).</a:t>
            </a:r>
            <a:endParaRPr lang="en-US" sz="15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flaw in numbers — cluster heads per round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Grey = paper algorithm (EDITED) · blue = after our fix (IMPROVED)</a:t>
            </a:r>
            <a:endParaRPr lang="en-US" sz="1600" dirty="0"/>
          </a:p>
        </p:txBody>
      </p:sp>
      <p:pic>
        <p:nvPicPr>
          <p:cNvPr id="5" name="Image 0" descr="/home/user/Routing-Protocols/thesis-final/build/fig/h1_hybrid_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945963"/>
            <a:ext cx="11064240" cy="314895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SH-LEACH reaches 100 CHs (every node alone); H-LEACH and EECH-HEED elect too many CHs, too often.</a:t>
            </a:r>
            <a:endParaRPr lang="en-US" sz="15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Comparison — ORIGINAL vs EDITED vs IMPROVED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hybrid, every version</a:t>
            </a:r>
            <a:endParaRPr lang="en-US" sz="1600" dirty="0"/>
          </a:p>
        </p:txBody>
      </p:sp>
      <p:graphicFrame>
        <p:nvGraphicFramePr>
          <p:cNvPr id="5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642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188720"/>
                <a:gridCol w="1828800"/>
                <a:gridCol w="1828800"/>
                <a:gridCol w="1828800"/>
                <a:gridCol w="237744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Protocol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ORIGINAL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EDITED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IMPROVED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EDITED → IMPROVED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SH-LEACH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1480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+128.7%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SH-LEACH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1542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+119.7%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SH-LEACH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1558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+116.1%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SH-LEACH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99.66%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98.58%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99.21%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H-LEACH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1078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1473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+6.4%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H-LEACH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1157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1419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+6.3%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H-LEACH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1207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1525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+6.3%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H-LEACH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95.04%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99.30%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99.36%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EECH-HEED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1311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1368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+4.3%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EECH-HEED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1954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+0.2%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EECH-HEED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3783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1545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1767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+14.4%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EECH-HEED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99.78%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99.74%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99.51%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Comparison — chart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(grey) · EDITED (orange) · IMPROVED (blue)</a:t>
            </a:r>
            <a:endParaRPr lang="en-US" sz="1600" dirty="0"/>
          </a:p>
        </p:txBody>
      </p:sp>
      <p:pic>
        <p:nvPicPr>
          <p:cNvPr id="5" name="Image 0" descr="/home/user/Routing-Protocols/thesis-final/build/fig/h2_hybrids_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008749"/>
            <a:ext cx="11064240" cy="3572022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SH-LEACH — idea, problems, fix and results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352044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55448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920240"/>
            <a:ext cx="31089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LEACH + residual energy + round number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297680" y="1325880"/>
            <a:ext cx="352044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526280" y="155448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Problems found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4526280" y="1920240"/>
            <a:ext cx="31089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round counter r never resets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CHs grow to 100 per round: every node sends alone to the BS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046720" y="1325880"/>
            <a:ext cx="352044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75320" y="155448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fix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8275320" y="1920240"/>
            <a:ext cx="31089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restarts every 1/C_prob = 10 rounds (one line of code)</a:t>
            </a:r>
            <a:endParaRPr lang="en-US" sz="1500" dirty="0"/>
          </a:p>
        </p:txBody>
      </p:sp>
      <p:graphicFrame>
        <p:nvGraphicFramePr>
          <p:cNvPr id="5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40480"/>
          <a:ext cx="1106424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463040"/>
                <a:gridCol w="1463040"/>
                <a:gridCol w="1463040"/>
                <a:gridCol w="1645920"/>
                <a:gridCol w="192024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Version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 far BS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ORIGINAL (paper settings)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99.66%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EDITED (unified)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98.58%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IMPROVED (our fix)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1480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1542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1558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99.21%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</a:tr>
            </a:tbl>
          </a:graphicData>
        </a:graphic>
      </p:graphicFrame>
      <p:sp>
        <p:nvSpPr>
          <p:cNvPr id="14" name="Shape 11"/>
          <p:cNvSpPr/>
          <p:nvPr/>
        </p:nvSpPr>
        <p:spPr>
          <a:xfrm>
            <a:off x="548640" y="580644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77240" y="580644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 FND 647 → 1480 (+128.7%) with the BS at the centre, 390 → 1388 (+255.9%) with the BS far away.</a:t>
            </a:r>
            <a:endParaRPr lang="en-US" sz="15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H-LEACH — idea, problems, fix and results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352044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55448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920240"/>
            <a:ext cx="31089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LEACH threshold with an energy-based probability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only if E &gt; network average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297680" y="1325880"/>
            <a:ext cx="352044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526280" y="155448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Problems found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4526280" y="1920240"/>
            <a:ext cx="31089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 energy → nobody is above average → no CH (deadlock)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G-set → bursts of up to 59 CHs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046720" y="1325880"/>
            <a:ext cx="352044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75320" y="155448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fix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8275320" y="1920240"/>
            <a:ext cx="31089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≥ average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LEACH G-set restored</a:t>
            </a:r>
            <a:endParaRPr lang="en-US" sz="1500" dirty="0"/>
          </a:p>
        </p:txBody>
      </p:sp>
      <p:graphicFrame>
        <p:nvGraphicFramePr>
          <p:cNvPr id="5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40480"/>
          <a:ext cx="1106424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463040"/>
                <a:gridCol w="1463040"/>
                <a:gridCol w="1463040"/>
                <a:gridCol w="1645920"/>
                <a:gridCol w="192024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Version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 far BS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ORIGINAL (paper settings)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1078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1157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1207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95.04%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EDITED (unified)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1419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99.30%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IMPROVED (our fix)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1473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1525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99.36%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1219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</a:tr>
            </a:tbl>
          </a:graphicData>
        </a:graphic>
      </p:graphicFrame>
      <p:sp>
        <p:nvSpPr>
          <p:cNvPr id="14" name="Shape 11"/>
          <p:cNvSpPr/>
          <p:nvPr/>
        </p:nvSpPr>
        <p:spPr>
          <a:xfrm>
            <a:off x="548640" y="580644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77240" y="580644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 FND 1384 → 1473 (+6.4%) with the BS at the centre, 1121 → 1219 (+8.7%) with the BS far away.</a:t>
            </a:r>
            <a:endParaRPr lang="en-US" sz="15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EECH-HEED — idea, problems, fix and results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352044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55448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920240"/>
            <a:ext cx="31089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zones: HEED near the BS, energy × degree far away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relays between CHs, adaptive sensing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297680" y="1325880"/>
            <a:ext cx="352044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526280" y="155448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Problems found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4526280" y="1920240"/>
            <a:ext cx="31089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2: P ≈ 1 → rotation period of 1 round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border nodes are CH every other round (221 times)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046720" y="1325880"/>
            <a:ext cx="352044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75320" y="155448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fix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8275320" y="1920240"/>
            <a:ext cx="31089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2 rotation fixed at the paper's 10 % (10 rounds)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× degree kept as a weight</a:t>
            </a:r>
            <a:endParaRPr lang="en-US" sz="1500" dirty="0"/>
          </a:p>
        </p:txBody>
      </p:sp>
      <p:graphicFrame>
        <p:nvGraphicFramePr>
          <p:cNvPr id="5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40480"/>
          <a:ext cx="1106424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463040"/>
                <a:gridCol w="1463040"/>
                <a:gridCol w="1463040"/>
                <a:gridCol w="1645920"/>
                <a:gridCol w="192024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Version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 far BS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ORIGINAL (paper settings)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1954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3783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99.78%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EDITED (unified)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1311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1545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99.74%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IMPROVED (our fix)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1368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1767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99.51%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1412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</a:tr>
            </a:tbl>
          </a:graphicData>
        </a:graphic>
      </p:graphicFrame>
      <p:sp>
        <p:nvSpPr>
          <p:cNvPr id="14" name="Shape 11"/>
          <p:cNvSpPr/>
          <p:nvPr/>
        </p:nvSpPr>
        <p:spPr>
          <a:xfrm>
            <a:off x="548640" y="580644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77240" y="580644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 FND 1311 → 1368 (+4.3%) with the BS at the centre, 932 → 1412 (+51.5%) with the BS far away.</a:t>
            </a:r>
            <a:endParaRPr lang="en-US" sz="15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three hybrids compared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our fixes · centre and far BS</a:t>
            </a:r>
            <a:endParaRPr lang="en-US" sz="1600" dirty="0"/>
          </a:p>
        </p:txBody>
      </p:sp>
      <p:graphicFrame>
        <p:nvGraphicFramePr>
          <p:cNvPr id="5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468880"/>
                <a:gridCol w="2194560"/>
                <a:gridCol w="2103120"/>
                <a:gridCol w="1371600"/>
                <a:gridCol w="1188720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Protocol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Problem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 before → after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 far (after)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PDR (after)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SH-LEACH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counter never resets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counter restarts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647 → 1480 (+128.7%)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1388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99.21%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H-LEACH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deadlock + no G-set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average + G-set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1384 → 1473 (+6.4%)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1219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99.36%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EECH-HEED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rotation of 1 round in zone 2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fixed 10-round rotation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1311 → 1368 (+4.3%)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1412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99.51%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 (reference)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1383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988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99.40%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Chart 0" descr=""/>
          <p:cNvGraphicFramePr/>
          <p:nvPr/>
        </p:nvGraphicFramePr>
        <p:xfrm>
          <a:off x="548640" y="4251960"/>
          <a:ext cx="7315200" cy="2103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3"/>
          <p:cNvSpPr/>
          <p:nvPr/>
        </p:nvSpPr>
        <p:spPr>
          <a:xfrm>
            <a:off x="8138160" y="4251960"/>
            <a:ext cx="347472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4"/>
          <p:cNvSpPr/>
          <p:nvPr/>
        </p:nvSpPr>
        <p:spPr>
          <a:xfrm>
            <a:off x="8366760" y="448056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8492" y="4622292"/>
            <a:ext cx="283464" cy="283464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9098280" y="4480560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hybrid</a:t>
            </a:r>
            <a:endParaRPr lang="en-US" sz="1600" dirty="0"/>
          </a:p>
        </p:txBody>
      </p:sp>
      <p:sp>
        <p:nvSpPr>
          <p:cNvPr id="11" name="Text 6"/>
          <p:cNvSpPr txBox="1"/>
          <p:nvPr/>
        </p:nvSpPr>
        <p:spPr>
          <a:xfrm>
            <a:off x="8366760" y="5166360"/>
            <a:ext cx="3017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Centre: SH-LEACH+ (1480).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 BS: EECH-HEED+ (1412).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biggest gain: SH-LEACH (+129 %).</a:t>
            </a:r>
            <a:endParaRPr lang="en-US" sz="13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01168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10896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Recent work &amp; literature review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9319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research is going (2024 – 2026)</a:t>
            </a:r>
            <a:endParaRPr lang="en-US" sz="18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Recent papers (studied, not re-implemented)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need training data or unpublished models — used to compare ideas</a:t>
            </a:r>
            <a:endParaRPr lang="en-US" sz="1600" dirty="0"/>
          </a:p>
        </p:txBody>
      </p:sp>
      <p:graphicFrame>
        <p:nvGraphicFramePr>
          <p:cNvPr id="5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291840"/>
                <a:gridCol w="2377440"/>
                <a:gridCol w="3200400"/>
              </a:tblGrid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Reported result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Limitation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RL-ILEACH 2026 [8]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Q-learning chooses CHs (energy, density, distance)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+784 % lifetime vs LEACH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 earlier than ILEACH (524 vs 936); learning cost not measured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DL-HEED 2025 [9]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Graph neural network inside HEED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 to +60 % vs HEED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needs training data; heavy on sensors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TLC 2024 [10]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two-level LEACH with a distance threshold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longer lifetime than LEACH variants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CH-failure protection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EECH-HEED 2025 [7]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 zones + multi-hop + adaptive sensing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 1250, PDR 95 %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rotation breaks in zone 2 (fixed by us)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Learning-based election adapts well, but does not always delay the first node death.</a:t>
            </a:r>
            <a:endParaRPr lang="en-US" sz="15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Literature review — summary</a:t>
            </a:r>
            <a:endParaRPr lang="en-US" sz="3200" dirty="0"/>
          </a:p>
        </p:txBody>
      </p:sp>
      <p:graphicFrame>
        <p:nvGraphicFramePr>
          <p:cNvPr id="5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6424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188720"/>
                <a:gridCol w="2377440"/>
                <a:gridCol w="2194560"/>
                <a:gridCol w="2651760"/>
              </a:tblGrid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 election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Main limitation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Used in our protocol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 [1]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 T(n), epoch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energy-blind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rotation T(r) + G-set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LEACH-C [2]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central (BS)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global knowledge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radio model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HEED [3]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iterative energy + cost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overhead every round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energy × degree (single pass)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PEGASIS [4]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chain leader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delay, long links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relay idea (only if cheaper)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SH-LEACH [5]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 × energy × 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 count grows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lesson: keep rotation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H-LEACH [6]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 + E &gt; E_avg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deadlock, no G-set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energy gate (I5)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EECH-HEED [7]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zones, T·α·β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rotation collapse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relay between CHs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RL-ILEACH [8] / DL-HEED [9]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2025–26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learning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training cost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energy + degree features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FTEC [11] · Pachlor [12]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 · 2022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fault tolerance · rotation review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backup CH · handover (I2)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EEUC [13] · Chauhan [14]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2005 · 2021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unequal clusters, relays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hot-spot lesson, relay rule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Research gap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577840" cy="43891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600200"/>
            <a:ext cx="566928" cy="56692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" y="1741932"/>
            <a:ext cx="283464" cy="28346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600200"/>
            <a:ext cx="4434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existing protocol combines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286000"/>
            <a:ext cx="512064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 cheap single-pass CH election (energy + connectivity)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cluster reuse to cut setup overhead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protection of the CH before and after it fails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relaying between CHs only when it saves energy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…and they are never compared in the same environment.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6309360" y="1371600"/>
            <a:ext cx="5303520" cy="43891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537960" y="160020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9692" y="1741932"/>
            <a:ext cx="283464" cy="28346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269480" y="1600200"/>
            <a:ext cx="4160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answer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6537960" y="2286000"/>
            <a:ext cx="484632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Reproduce all protocols fairly (ORIGINAL → EDITED).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Fix the flaws of the hybrids (IMPROVED).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Build a new protocol step by step (v1 → v8-Chain).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Test the hybrid cryptography of the proposal (vs no security and full RSA).</a:t>
            </a:r>
            <a:endParaRPr lang="en-US" sz="16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01168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10896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Proposed protocol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9319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 → v8-Chain — one change per version</a:t>
            </a:r>
            <a:endParaRPr lang="en-US" sz="18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protocol was built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version changes one thing, so its effect can be measured alone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31520" y="3063240"/>
            <a:ext cx="10789920" cy="0"/>
          </a:xfrm>
          <a:prstGeom prst="line">
            <a:avLst/>
          </a:prstGeom>
          <a:noFill/>
          <a:ln w="38100">
            <a:solidFill>
              <a:srgbClr val="D9D8D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2852928"/>
            <a:ext cx="420624" cy="420624"/>
          </a:xfrm>
          <a:prstGeom prst="ellipse">
            <a:avLst/>
          </a:prstGeom>
          <a:solidFill>
            <a:srgbClr val="9A9A96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103120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F1F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v1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502920" y="3474720"/>
            <a:ext cx="14264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HEED election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322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2404872" y="2852928"/>
            <a:ext cx="420624" cy="420624"/>
          </a:xfrm>
          <a:prstGeom prst="ellipse">
            <a:avLst/>
          </a:prstGeom>
          <a:solidFill>
            <a:srgbClr val="9A9A96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947672" y="2103120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F1F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v2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1901952" y="3474720"/>
            <a:ext cx="14264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fairness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338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3803904" y="2852928"/>
            <a:ext cx="420624" cy="420624"/>
          </a:xfrm>
          <a:prstGeom prst="ellipse">
            <a:avLst/>
          </a:prstGeom>
          <a:solidFill>
            <a:srgbClr val="1BAF7A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346704" y="2103120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v3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3300984" y="3474720"/>
            <a:ext cx="14264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pass + reuse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1645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202936" y="2852928"/>
            <a:ext cx="420624" cy="420624"/>
          </a:xfrm>
          <a:prstGeom prst="ellipse">
            <a:avLst/>
          </a:prstGeom>
          <a:solidFill>
            <a:srgbClr val="9A9A96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745736" y="2103120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F1F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v4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4700016" y="3474720"/>
            <a:ext cx="14264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reuse 15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1438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601968" y="2852928"/>
            <a:ext cx="420624" cy="420624"/>
          </a:xfrm>
          <a:prstGeom prst="ellipse">
            <a:avLst/>
          </a:prstGeom>
          <a:solidFill>
            <a:srgbClr val="9A9A96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144768" y="2103120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F1F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v5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6099048" y="3474720"/>
            <a:ext cx="14264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CH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1645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8001000" y="2852928"/>
            <a:ext cx="420624" cy="420624"/>
          </a:xfrm>
          <a:prstGeom prst="ellipse">
            <a:avLst/>
          </a:prstGeom>
          <a:solidFill>
            <a:srgbClr val="9A9A96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543800" y="2103120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F1F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v6/v7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7498080" y="3474720"/>
            <a:ext cx="14264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chain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1415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9400032" y="2852928"/>
            <a:ext cx="420624" cy="420624"/>
          </a:xfrm>
          <a:prstGeom prst="ellipse">
            <a:avLst/>
          </a:prstGeom>
          <a:solidFill>
            <a:srgbClr val="1BAF7A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942832" y="2103120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v8</a:t>
            </a:r>
            <a:endParaRPr lang="en-US" sz="1700" dirty="0"/>
          </a:p>
        </p:txBody>
      </p:sp>
      <p:sp>
        <p:nvSpPr>
          <p:cNvPr id="26" name="Text 24"/>
          <p:cNvSpPr txBox="1"/>
          <p:nvPr/>
        </p:nvSpPr>
        <p:spPr>
          <a:xfrm>
            <a:off x="8897112" y="3474720"/>
            <a:ext cx="14264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I1 – I5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2501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10799064" y="2852928"/>
            <a:ext cx="420624" cy="420624"/>
          </a:xfrm>
          <a:prstGeom prst="ellipse">
            <a:avLst/>
          </a:prstGeom>
          <a:solidFill>
            <a:srgbClr val="2A78D6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0341864" y="2103120"/>
            <a:ext cx="1335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v8-Chain</a:t>
            </a:r>
            <a:endParaRPr lang="en-US" sz="1700" dirty="0"/>
          </a:p>
        </p:txBody>
      </p:sp>
      <p:sp>
        <p:nvSpPr>
          <p:cNvPr id="29" name="Text 27"/>
          <p:cNvSpPr txBox="1"/>
          <p:nvPr/>
        </p:nvSpPr>
        <p:spPr>
          <a:xfrm>
            <a:off x="10296144" y="3474720"/>
            <a:ext cx="14264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relay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2501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548640" y="512064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77240" y="512064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big jumps: v3 (no negotiation + cluster reuse) and v8 (direct-to-BS + energy gate).</a:t>
            </a:r>
            <a:endParaRPr lang="en-US" sz="15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 of every version (1/2)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environment, BS at the centre · change = FND compared with the previous version</a:t>
            </a:r>
            <a:endParaRPr lang="en-US" sz="1600" dirty="0"/>
          </a:p>
        </p:txBody>
      </p:sp>
      <p:graphicFrame>
        <p:nvGraphicFramePr>
          <p:cNvPr id="6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3931920"/>
                <a:gridCol w="1097280"/>
                <a:gridCol w="1097280"/>
                <a:gridCol w="1097280"/>
                <a:gridCol w="1280160"/>
                <a:gridCol w="1371600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Version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changed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 change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HEED election + LEACH nearest join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1217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99.75%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rotation-fairness penalty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1276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99.64%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+5.0%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Single-pass score + 5-round cluster reuse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1645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2205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98.21%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+386.7%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Reuse interval 5 → 15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2206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2476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95.91%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−12.6%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backup CH (interval 15)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2131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2401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98.44%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v5-exp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Backup + cluster repair, interval 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1645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2101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98.82%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+14.4%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85216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585216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v3 is the first big jump: ×4.9 over v2 (no negotiation + cluster reuse).</a:t>
            </a:r>
            <a:endParaRPr lang="en-US" sz="15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 of every version (2/2)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environment, BS at the centre · change = FND compared with the previous version</a:t>
            </a:r>
            <a:endParaRPr lang="en-US" sz="1600" dirty="0"/>
          </a:p>
        </p:txBody>
      </p:sp>
      <p:graphicFrame>
        <p:nvGraphicFramePr>
          <p:cNvPr id="6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3931920"/>
                <a:gridCol w="1097280"/>
                <a:gridCol w="1097280"/>
                <a:gridCol w="1097280"/>
                <a:gridCol w="1280160"/>
                <a:gridCol w="1371600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Version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changed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 change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v5b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energy-aware backup check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1645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2106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98.56%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Ordered CH-to-CH chain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1415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1916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98.75%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−14.0%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Chain + backup + chain repair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1415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1911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99.10%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v7.1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Greedy multihop tree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1471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1916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99.07%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+4.0%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v5b + I1–I5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2589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2636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99.65%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+70.0%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v8-Chain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v8 + energy-aware CH relay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2589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2631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99.64%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85216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585216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v8 is the second big jump: +52 % over v5b (I1 – I5).  v8-Chain keeps it and adds the far-BS gain.</a:t>
            </a:r>
            <a:endParaRPr lang="en-US" sz="15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v1 – v2: starting from HEED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 = HEED election + LEACH nearest-CH join · v2 = + fairness penalty cost × (1 + 0.1·timesServed)</a:t>
            </a:r>
            <a:endParaRPr lang="en-US" sz="16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371600"/>
          <a:ext cx="6583680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7406640" y="1371600"/>
            <a:ext cx="4206240" cy="4389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635240" y="1600200"/>
            <a:ext cx="566928" cy="56692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6972" y="1741932"/>
            <a:ext cx="283464" cy="28346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366760" y="1600200"/>
            <a:ext cx="3063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learned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7635240" y="2286000"/>
            <a:ext cx="374904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only 322 → 338.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negotiation of HEED, paid every round, is the real problem — not fairness.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Lesson:  remove the iterative negotiation.</a:t>
            </a:r>
            <a:endParaRPr lang="en-US" sz="15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v3 – v4: single-pass election + cluster reuse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biggest jump of the whole study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325880"/>
            <a:ext cx="6766560" cy="960120"/>
          </a:xfrm>
          <a:prstGeom prst="roundRect">
            <a:avLst>
              <a:gd name="adj" fmla="val 7619"/>
            </a:avLst>
          </a:prstGeom>
          <a:solidFill>
            <a:srgbClr val="F7F7F4"/>
          </a:solidFill>
          <a:ln w="12700">
            <a:solidFill>
              <a:srgbClr val="D9D8D2"/>
            </a:solidFill>
            <a:prstDash val="solid"/>
          </a:ln>
        </p:spPr>
      </p:sp>
      <p:pic>
        <p:nvPicPr>
          <p:cNvPr id="6" name="Image 0" descr="/home/user/Routing-Protocols/thesis-final/build/fig/eq_sco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17097" y="1417320"/>
            <a:ext cx="4629647" cy="7772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498080" y="1325880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LEACH rotation × energy × neighbours, in one step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48640" y="2377440"/>
          <a:ext cx="585216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Shape 5"/>
          <p:cNvSpPr/>
          <p:nvPr/>
        </p:nvSpPr>
        <p:spPr>
          <a:xfrm>
            <a:off x="6675120" y="2377440"/>
            <a:ext cx="4937760" cy="347472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6903720" y="2606040"/>
            <a:ext cx="566928" cy="56692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5452" y="2747772"/>
            <a:ext cx="283464" cy="283464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7635240" y="2606040"/>
            <a:ext cx="3794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×4.9 longer first-node life</a:t>
            </a:r>
            <a:endParaRPr lang="en-US" sz="1600" dirty="0"/>
          </a:p>
        </p:txBody>
      </p:sp>
      <p:sp>
        <p:nvSpPr>
          <p:cNvPr id="13" name="Text 8"/>
          <p:cNvSpPr txBox="1"/>
          <p:nvPr/>
        </p:nvSpPr>
        <p:spPr>
          <a:xfrm>
            <a:off x="6903720" y="3291840"/>
            <a:ext cx="448056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Clusters are kept for 5 rounds, so setup is paid once per 5 rounds.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rounds is worse (1438, PDR 95.91%): the CH is overloaded and its members are orphaned when it dies.</a:t>
            </a:r>
            <a:endParaRPr lang="en-US" sz="1400" dirty="0"/>
          </a:p>
        </p:txBody>
      </p:sp>
      <p:sp>
        <p:nvSpPr>
          <p:cNvPr id="14" name="Shape 9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Lesson:  reuse clusters for 5 rounds — but protect the members when the CH dies.</a:t>
            </a:r>
            <a:endParaRPr lang="en-US" sz="15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v5: backup CH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strongest member replaces a dead CH (v5b: only if it has ≥ 5 % of E0)</a:t>
            </a:r>
            <a:endParaRPr lang="en-US" sz="1600" dirty="0"/>
          </a:p>
        </p:txBody>
      </p:sp>
      <p:graphicFrame>
        <p:nvGraphicFramePr>
          <p:cNvPr id="6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4008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097280"/>
                <a:gridCol w="1097280"/>
                <a:gridCol w="1097280"/>
                <a:gridCol w="109728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Version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2206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2476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95.91%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v5 (int 15)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2131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2401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98.44%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v5-exp (int 5)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1645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2101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98.82%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v5-exp (int 10)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1540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2091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2251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98.66%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v5b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1645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2106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98.56%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7223760" y="1371600"/>
            <a:ext cx="4389120" cy="420624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452360" y="160020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94092" y="1741932"/>
            <a:ext cx="283464" cy="28346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183880" y="1600200"/>
            <a:ext cx="3246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7452360" y="2286000"/>
            <a:ext cx="393192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backup protects the data (PDR ↑) but does not delay the first death.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Interval 5 is the best again.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v5b becomes the base of v8.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Lesson:  protection improves reliability; lifetime needs something else.</a:t>
            </a:r>
            <a:endParaRPr lang="en-US" sz="15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v6 – v7: chaining the cluster heads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CHs forward to each other towards the BS (idea from PEGASIS)</a:t>
            </a:r>
            <a:endParaRPr lang="en-US" sz="16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371600"/>
          <a:ext cx="6766560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7589520" y="1371600"/>
            <a:ext cx="4023360" cy="438912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818120" y="1600200"/>
            <a:ext cx="566928" cy="566928"/>
          </a:xfrm>
          <a:prstGeom prst="ellipse">
            <a:avLst/>
          </a:prstGeom>
          <a:solidFill>
            <a:srgbClr val="E34948"/>
          </a:solidFill>
          <a:ln w="12700">
            <a:solidFill>
              <a:srgbClr val="E34948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9852" y="1741932"/>
            <a:ext cx="283464" cy="28346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549640" y="1600200"/>
            <a:ext cx="2880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Worse, not better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7818120" y="2286000"/>
            <a:ext cx="356616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CHs near the BS carry everybody's traffic and die first (the "hot spot" of EEUC [13]).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BS at the centre, forced relaying costs more than it saves.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Lesson:  relay only when it really saves energy.</a:t>
            </a:r>
            <a:endParaRPr lang="en-US" sz="15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v8: five improvements on top of v5b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52044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600200"/>
            <a:ext cx="566928" cy="566928"/>
          </a:xfrm>
          <a:prstGeom prst="ellipse">
            <a:avLst/>
          </a:prstGeom>
          <a:solidFill>
            <a:srgbClr val="9A9A96"/>
          </a:solidFill>
          <a:ln w="12700">
            <a:solidFill>
              <a:srgbClr val="9A9A96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" y="1741932"/>
            <a:ext cx="283464" cy="28346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60020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I1 Epoch fix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286000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a new epoch when nobody is eligible → no round without CHs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297680" y="1371600"/>
            <a:ext cx="352044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26280" y="1600200"/>
            <a:ext cx="566928" cy="566928"/>
          </a:xfrm>
          <a:prstGeom prst="ellipse">
            <a:avLst/>
          </a:prstGeom>
          <a:solidFill>
            <a:srgbClr val="9A9A96"/>
          </a:solidFill>
          <a:ln w="12700">
            <a:solidFill>
              <a:srgbClr val="9A9A96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8012" y="1741932"/>
            <a:ext cx="283464" cy="28346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257800" y="160020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I2 Handover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4526280" y="2286000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 that cannot finish the round hands over before it dies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8046720" y="1371600"/>
            <a:ext cx="352044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275320" y="1600200"/>
            <a:ext cx="566928" cy="566928"/>
          </a:xfrm>
          <a:prstGeom prst="ellipse">
            <a:avLst/>
          </a:prstGeom>
          <a:solidFill>
            <a:srgbClr val="9A9A96"/>
          </a:solidFill>
          <a:ln w="12700">
            <a:solidFill>
              <a:srgbClr val="9A9A96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7052" y="1741932"/>
            <a:ext cx="283464" cy="283464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006840" y="160020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I3 Re-join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8275320" y="2286000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members of a dead CH join the nearest alive CH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548640" y="3566160"/>
            <a:ext cx="352044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777240" y="3794760"/>
            <a:ext cx="566928" cy="56692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8972" y="3936492"/>
            <a:ext cx="283464" cy="283464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508760" y="379476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I4 Direct-to-BS</a:t>
            </a:r>
            <a:endParaRPr lang="en-US" sz="1500" dirty="0"/>
          </a:p>
        </p:txBody>
      </p:sp>
      <p:sp>
        <p:nvSpPr>
          <p:cNvPr id="23" name="Text 17"/>
          <p:cNvSpPr txBox="1"/>
          <p:nvPr/>
        </p:nvSpPr>
        <p:spPr>
          <a:xfrm>
            <a:off x="777240" y="4480560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node not farther from the BS than from its CH sends directly</a:t>
            </a:r>
            <a:endParaRPr lang="en-US" sz="1300" dirty="0"/>
          </a:p>
        </p:txBody>
      </p:sp>
      <p:sp>
        <p:nvSpPr>
          <p:cNvPr id="24" name="Shape 18"/>
          <p:cNvSpPr/>
          <p:nvPr/>
        </p:nvSpPr>
        <p:spPr>
          <a:xfrm>
            <a:off x="4297680" y="3566160"/>
            <a:ext cx="352044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4526280" y="3794760"/>
            <a:ext cx="566928" cy="56692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8012" y="3936492"/>
            <a:ext cx="283464" cy="283464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5257800" y="379476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I5 Energy gate</a:t>
            </a:r>
            <a:endParaRPr lang="en-US" sz="1500" dirty="0"/>
          </a:p>
        </p:txBody>
      </p:sp>
      <p:sp>
        <p:nvSpPr>
          <p:cNvPr id="28" name="Text 21"/>
          <p:cNvSpPr txBox="1"/>
          <p:nvPr/>
        </p:nvSpPr>
        <p:spPr>
          <a:xfrm>
            <a:off x="4526280" y="4480560"/>
            <a:ext cx="3063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nodes with E ≥ network average may become CH</a:t>
            </a:r>
            <a:endParaRPr lang="en-US" sz="1300" dirty="0"/>
          </a:p>
        </p:txBody>
      </p:sp>
      <p:sp>
        <p:nvSpPr>
          <p:cNvPr id="29" name="Text 22"/>
          <p:cNvSpPr txBox="1"/>
          <p:nvPr/>
        </p:nvSpPr>
        <p:spPr>
          <a:xfrm>
            <a:off x="8138160" y="361188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2501</a:t>
            </a:r>
            <a:endParaRPr lang="en-US" sz="4400" dirty="0"/>
          </a:p>
        </p:txBody>
      </p:sp>
      <p:sp>
        <p:nvSpPr>
          <p:cNvPr id="30" name="Text 23"/>
          <p:cNvSpPr txBox="1"/>
          <p:nvPr/>
        </p:nvSpPr>
        <p:spPr>
          <a:xfrm>
            <a:off x="8138160" y="443484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(v5b 1645) · PDR 99.65%</a:t>
            </a:r>
            <a:endParaRPr lang="en-US" sz="13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Ablation — which improvement matters?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v8 with one improvement switched off</a:t>
            </a:r>
            <a:endParaRPr lang="en-US" sz="16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371600"/>
          <a:ext cx="7498080" cy="4937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8321040" y="1371600"/>
            <a:ext cx="3291840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549640" y="1600200"/>
            <a:ext cx="566928" cy="56692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91372" y="1741932"/>
            <a:ext cx="283464" cy="28346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9281160" y="1600200"/>
            <a:ext cx="2148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I4 and I5 make the gain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8549640" y="2286000"/>
            <a:ext cx="28346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I4: 1766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I5: 2106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8321040" y="3931920"/>
            <a:ext cx="3291840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8549640" y="4160520"/>
            <a:ext cx="566928" cy="56692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91372" y="4302252"/>
            <a:ext cx="283464" cy="283464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9281160" y="4160520"/>
            <a:ext cx="2148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I1, I2, I3 are safety nets</a:t>
            </a:r>
            <a:endParaRPr lang="en-US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8549640" y="4846320"/>
            <a:ext cx="28346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zero-CH rounds, no lost members, stable PDR</a:t>
            </a:r>
            <a:endParaRPr lang="en-US" sz="13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v8-Chain = v8 + energy-aware relay (for a far BS)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 forwards through another CH only if it is cheaper than going straight to the BS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325880"/>
            <a:ext cx="11064240" cy="868680"/>
          </a:xfrm>
          <a:prstGeom prst="roundRect">
            <a:avLst>
              <a:gd name="adj" fmla="val 8421"/>
            </a:avLst>
          </a:prstGeom>
          <a:solidFill>
            <a:srgbClr val="F7F7F4"/>
          </a:solidFill>
          <a:ln w="12700">
            <a:solidFill>
              <a:srgbClr val="D9D8D2"/>
            </a:solidFill>
            <a:prstDash val="solid"/>
          </a:ln>
        </p:spPr>
      </p:sp>
      <p:pic>
        <p:nvPicPr>
          <p:cNvPr id="6" name="Image 0" descr="/home/user/Routing-Protocols/thesis-final/build/fig/eq_rel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495669"/>
            <a:ext cx="10789920" cy="52910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" y="228600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BS at the centre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48640" y="2651760"/>
          <a:ext cx="539496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 5"/>
          <p:cNvSpPr txBox="1"/>
          <p:nvPr/>
        </p:nvSpPr>
        <p:spPr>
          <a:xfrm>
            <a:off x="6217920" y="228600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BS far away (50, −100)</a:t>
            </a:r>
            <a:endParaRPr lang="en-US" sz="1500" dirty="0"/>
          </a:p>
        </p:txBody>
      </p:sp>
      <p:graphicFrame>
        <p:nvGraphicFramePr>
          <p:cNvPr id="10" name="Chart 1" descr=""/>
          <p:cNvGraphicFramePr/>
          <p:nvPr/>
        </p:nvGraphicFramePr>
        <p:xfrm>
          <a:off x="6217920" y="2651760"/>
          <a:ext cx="539496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Shape 6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Centre: the relay is never cheaper, so v8-Chain = v8 (2501).  Far BS: +16 % FND (1441 → 1671) → use v8-Chain only when the BS is far.</a:t>
            </a:r>
            <a:endParaRPr lang="en-US" sz="15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Evolution — lifetime of all versions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/ HND / LND · unified environment, BS at the centre</a:t>
            </a:r>
            <a:endParaRPr lang="en-US" sz="16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280160"/>
          <a:ext cx="11064240" cy="5029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Evolution — first node death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jumps: v3 and v8</a:t>
            </a:r>
            <a:endParaRPr lang="en-US" sz="16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280160"/>
          <a:ext cx="11064240" cy="5029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Evolution — packet delivery ratio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 of every version</a:t>
            </a:r>
            <a:endParaRPr lang="en-US" sz="16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280160"/>
          <a:ext cx="1106424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85216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585216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Reuse without protection loses data (v4 95.91%); backup, handover and re-join bring it back (v8-Chain 99.64%).</a:t>
            </a:r>
            <a:endParaRPr lang="en-US" sz="15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Architecture of v8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once every 5 rounds · data every round · fault tolerance · the relay box is added only in v8-Chain (far BS)</a:t>
            </a:r>
            <a:endParaRPr lang="en-US" sz="1600" dirty="0"/>
          </a:p>
        </p:txBody>
      </p:sp>
      <p:pic>
        <p:nvPicPr>
          <p:cNvPr id="5" name="Image 0" descr="/home/user/Routing-Protocols/thesis-final/build/fig/f12_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28591" y="1325880"/>
            <a:ext cx="8904339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relay in action (v8-Chain)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50 — centre: no relay is cheaper, all CHs send directly · far BS: CHs relay towards the BS</a:t>
            </a:r>
            <a:endParaRPr lang="en-US" sz="1600" dirty="0"/>
          </a:p>
        </p:txBody>
      </p:sp>
      <p:pic>
        <p:nvPicPr>
          <p:cNvPr id="5" name="Image 0" descr="/home/user/Routing-Protocols/thesis-final/build/fig/f11_topology_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6940" y="1325880"/>
            <a:ext cx="4544040" cy="5029200"/>
          </a:xfrm>
          <a:prstGeom prst="rect">
            <a:avLst/>
          </a:prstGeom>
        </p:spPr>
      </p:pic>
      <p:pic>
        <p:nvPicPr>
          <p:cNvPr id="6" name="Image 1" descr="/home/user/Routing-Protocols/thesis-final/build/fig/f11_topology_farB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33705" y="1325880"/>
            <a:ext cx="2997631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Final comparison — network lifetime (BS at the centre)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version of every family, unified environment</a:t>
            </a:r>
            <a:endParaRPr lang="en-US" sz="16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188720"/>
          <a:ext cx="7315200" cy="5120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8138160" y="155448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2501</a:t>
            </a:r>
            <a:endParaRPr lang="en-US" sz="4400" dirty="0"/>
          </a:p>
        </p:txBody>
      </p:sp>
      <p:sp>
        <p:nvSpPr>
          <p:cNvPr id="7" name="Text 4"/>
          <p:cNvSpPr txBox="1"/>
          <p:nvPr/>
        </p:nvSpPr>
        <p:spPr>
          <a:xfrm>
            <a:off x="8138160" y="237744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v8: rounds before the first node dies — the latest of all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138160" y="310896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+81%</a:t>
            </a:r>
            <a:endParaRPr lang="en-US" sz="4400" dirty="0"/>
          </a:p>
        </p:txBody>
      </p:sp>
      <p:sp>
        <p:nvSpPr>
          <p:cNvPr id="9" name="Text 6"/>
          <p:cNvSpPr txBox="1"/>
          <p:nvPr/>
        </p:nvSpPr>
        <p:spPr>
          <a:xfrm>
            <a:off x="8138160" y="393192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vs LEACH (1383)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8138160" y="466344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+69%</a:t>
            </a:r>
            <a:endParaRPr lang="en-US" sz="4400" dirty="0"/>
          </a:p>
        </p:txBody>
      </p:sp>
      <p:sp>
        <p:nvSpPr>
          <p:cNvPr id="11" name="Text 8"/>
          <p:cNvSpPr txBox="1"/>
          <p:nvPr/>
        </p:nvSpPr>
        <p:spPr>
          <a:xfrm>
            <a:off x="8138160" y="548640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vs the best hybrid (SH-LEACH+ 1480)</a:t>
            </a:r>
            <a:endParaRPr lang="en-US" sz="130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Alive nodes and energy per round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v8 (blue) keeps every node alive longest, then all die together</a:t>
            </a:r>
            <a:endParaRPr lang="en-US" sz="1600" dirty="0"/>
          </a:p>
        </p:txBody>
      </p:sp>
      <p:pic>
        <p:nvPicPr>
          <p:cNvPr id="5" name="Image 0" descr="/home/user/Routing-Protocols/thesis-final/build/fig/f3_alive_curv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375863"/>
            <a:ext cx="5486400" cy="2837793"/>
          </a:xfrm>
          <a:prstGeom prst="rect">
            <a:avLst/>
          </a:prstGeom>
        </p:spPr>
      </p:pic>
      <p:pic>
        <p:nvPicPr>
          <p:cNvPr id="6" name="Image 1" descr="/home/user/Routing-Protocols/thesis-final/build/fig/f10_energy_curve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2359082"/>
            <a:ext cx="5486400" cy="2871357"/>
          </a:xfrm>
          <a:prstGeom prst="rect">
            <a:avLst/>
          </a:prstGeom>
        </p:spPr>
      </p:pic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Reliability and robustness</a:t>
            </a:r>
            <a:endParaRPr lang="en-US" sz="3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280160"/>
          <a:ext cx="57607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pic>
        <p:nvPicPr>
          <p:cNvPr id="5" name="Image 0" descr="/home/user/Routing-Protocols/thesis-final/build/fig/f7_robustnes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885369"/>
            <a:ext cx="5212080" cy="2355742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6492240" y="4937760"/>
            <a:ext cx="5212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random topologies: FND 2471 – 2531 (mean 2500)</a:t>
            </a:r>
            <a:endParaRPr lang="en-US" sz="1500" dirty="0"/>
          </a:p>
        </p:txBody>
      </p:sp>
      <p:sp>
        <p:nvSpPr>
          <p:cNvPr id="7" name="Shape 3"/>
          <p:cNvSpPr/>
          <p:nvPr/>
        </p:nvSpPr>
        <p:spPr>
          <a:xfrm>
            <a:off x="548640" y="594360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77240" y="594360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protocols deliver &gt; 99 % of readings; they differ in lifetime.  The v8 result is not luck of one layout.</a:t>
            </a:r>
            <a:endParaRPr lang="en-US" sz="150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Summary of the comparison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environment, BS at the centre</a:t>
            </a:r>
            <a:endParaRPr lang="en-US" sz="1600" dirty="0"/>
          </a:p>
        </p:txBody>
      </p:sp>
      <p:graphicFrame>
        <p:nvGraphicFramePr>
          <p:cNvPr id="8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2377440"/>
                <a:gridCol w="1005840"/>
                <a:gridCol w="1005840"/>
                <a:gridCol w="1005840"/>
                <a:gridCol w="1188720"/>
                <a:gridCol w="1371600"/>
                <a:gridCol w="155448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Protocol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Family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v8 FND gain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FND far BS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classic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1586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1842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99.40%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+81%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classic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1216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1883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99.68%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+294%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PEGASIS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classic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1324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2352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3504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99.42%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+89%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1374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SH-LEACH+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hybrid, fixed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1480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1542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1558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99.21%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+69%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H-LEACH+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hybrid, fixed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1473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1525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99.36%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1219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EECH-HEED+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recent hybrid, fixed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1368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1767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99.51%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+83%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1412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proposed (main)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2589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2636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99.65%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1441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v8-Chain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proposed (far BS)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2589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2631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99.64%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1671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9FA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80644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580644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Centre: v8 has the latest first death (+69 % to +294 %).  Far BS: v8-Chain is the best (1671).</a:t>
            </a:r>
            <a:endParaRPr lang="en-US" sz="15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the BS is far away — all protocols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BS at (50, −100): grey = centre, orange / blue = far</a:t>
            </a:r>
            <a:endParaRPr lang="en-US" sz="1600" dirty="0"/>
          </a:p>
        </p:txBody>
      </p:sp>
      <p:pic>
        <p:nvPicPr>
          <p:cNvPr id="5" name="Image 0" descr="/home/user/Routing-Protocols/thesis-final/build/fig/far_fn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1829" y="1325880"/>
            <a:ext cx="10997862" cy="42976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576072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576072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 BS: v8 alone reaches 1441, close to EECH-HEED+ (1412); v8-Chain reaches 1671 — the best of all.</a:t>
            </a:r>
            <a:endParaRPr lang="en-US" sz="150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Far BS — ranking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node death with the BS at (50, −100)</a:t>
            </a:r>
            <a:endParaRPr lang="en-US" sz="1600" dirty="0"/>
          </a:p>
        </p:txBody>
      </p:sp>
      <p:pic>
        <p:nvPicPr>
          <p:cNvPr id="5" name="Image 0" descr="/home/user/Routing-Protocols/thesis-final/build/fig/far_ran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227276"/>
            <a:ext cx="6766560" cy="304352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589520" y="1371600"/>
            <a:ext cx="4023360" cy="475488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818120" y="160020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9852" y="1741932"/>
            <a:ext cx="283464" cy="28346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549640" y="1600200"/>
            <a:ext cx="2880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v8-Chain here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7818120" y="2286000"/>
            <a:ext cx="3566160" cy="3703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a far BS every CH → BS packet costs d⁴.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relay lets a CH hand its packet to a CH nearer the BS when that is cheaper.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+16 % over v8, +18 % over the best other protocol (EECH-HEED+), +69 % over LEACH.</a:t>
            </a:r>
            <a:endParaRPr lang="en-US" sz="140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Which version we chose — and why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v8 is the main protocol · v8-Chain = v8 + relay, used only when the BS is far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3520440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77240" y="160020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" y="1741932"/>
            <a:ext cx="283464" cy="28346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508760" y="160020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v8: latest first death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228600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FND 2501 with the BS at the centre — highest of all protocols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4297680" y="1371600"/>
            <a:ext cx="3520440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526280" y="1600200"/>
            <a:ext cx="566928" cy="56692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8012" y="1741932"/>
            <a:ext cx="283464" cy="28346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257800" y="160020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v8-Chain: for a far BS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4526280" y="228600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adds the energy-aware relay: 1441 → 1671 (+16 %) when the BS is far; no change at the centre</a:t>
            </a:r>
            <a:endParaRPr lang="en-US" sz="1600" dirty="0"/>
          </a:p>
        </p:txBody>
      </p:sp>
      <p:sp>
        <p:nvSpPr>
          <p:cNvPr id="15" name="Shape 11"/>
          <p:cNvSpPr/>
          <p:nvPr/>
        </p:nvSpPr>
        <p:spPr>
          <a:xfrm>
            <a:off x="8046720" y="1371600"/>
            <a:ext cx="3520440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275320" y="1600200"/>
            <a:ext cx="566928" cy="56692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7052" y="1741932"/>
            <a:ext cx="283464" cy="283464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9006840" y="160020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Reliable</a:t>
            </a:r>
            <a:endParaRPr lang="en-US" sz="1600" dirty="0"/>
          </a:p>
        </p:txBody>
      </p:sp>
      <p:sp>
        <p:nvSpPr>
          <p:cNvPr id="19" name="Text 14"/>
          <p:cNvSpPr txBox="1"/>
          <p:nvPr/>
        </p:nvSpPr>
        <p:spPr>
          <a:xfrm>
            <a:off x="8275320" y="228600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PDR 99.65%; no round without CHs; members never orphaned</a:t>
            </a:r>
            <a:endParaRPr lang="en-US" sz="1600" dirty="0"/>
          </a:p>
        </p:txBody>
      </p:sp>
      <p:sp>
        <p:nvSpPr>
          <p:cNvPr id="20" name="Shape 15"/>
          <p:cNvSpPr/>
          <p:nvPr/>
        </p:nvSpPr>
        <p:spPr>
          <a:xfrm>
            <a:off x="548640" y="3840480"/>
            <a:ext cx="3520440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777240" y="4069080"/>
            <a:ext cx="566928" cy="566928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8972" y="4210812"/>
            <a:ext cx="283464" cy="283464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508760" y="406908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</a:t>
            </a:r>
            <a:endParaRPr lang="en-US" sz="1600" dirty="0"/>
          </a:p>
        </p:txBody>
      </p:sp>
      <p:sp>
        <p:nvSpPr>
          <p:cNvPr id="24" name="Text 18"/>
          <p:cNvSpPr txBox="1"/>
          <p:nvPr/>
        </p:nvSpPr>
        <p:spPr>
          <a:xfrm>
            <a:off x="777240" y="475488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topologies: FND 2471 – 2531</a:t>
            </a:r>
            <a:endParaRPr lang="en-US" sz="1600" dirty="0"/>
          </a:p>
        </p:txBody>
      </p:sp>
      <p:sp>
        <p:nvSpPr>
          <p:cNvPr id="25" name="Shape 19"/>
          <p:cNvSpPr/>
          <p:nvPr/>
        </p:nvSpPr>
        <p:spPr>
          <a:xfrm>
            <a:off x="4297680" y="3840480"/>
            <a:ext cx="3520440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4526280" y="4069080"/>
            <a:ext cx="566928" cy="56692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8012" y="4210812"/>
            <a:ext cx="283464" cy="283464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5257800" y="406908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Lightweight and distributed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4526280" y="475488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one-step score, local decisions, no training</a:t>
            </a:r>
            <a:endParaRPr lang="en-US" sz="1600" dirty="0"/>
          </a:p>
        </p:txBody>
      </p:sp>
      <p:sp>
        <p:nvSpPr>
          <p:cNvPr id="30" name="Shape 23"/>
          <p:cNvSpPr/>
          <p:nvPr/>
        </p:nvSpPr>
        <p:spPr>
          <a:xfrm>
            <a:off x="8046720" y="3840480"/>
            <a:ext cx="3520440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8275320" y="4069080"/>
            <a:ext cx="566928" cy="566928"/>
          </a:xfrm>
          <a:prstGeom prst="ellipse">
            <a:avLst/>
          </a:prstGeom>
          <a:solidFill>
            <a:srgbClr val="9A9A96"/>
          </a:solidFill>
          <a:ln w="12700">
            <a:solidFill>
              <a:srgbClr val="9A9A96"/>
            </a:solidFill>
            <a:prstDash val="solid"/>
          </a:ln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17052" y="4210812"/>
            <a:ext cx="283464" cy="283464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9006840" y="406908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part justified</a:t>
            </a:r>
            <a:endParaRPr lang="en-US" sz="1600" dirty="0"/>
          </a:p>
        </p:txBody>
      </p:sp>
      <p:sp>
        <p:nvSpPr>
          <p:cNvPr id="34" name="Text 26"/>
          <p:cNvSpPr txBox="1"/>
          <p:nvPr/>
        </p:nvSpPr>
        <p:spPr>
          <a:xfrm>
            <a:off x="8275320" y="475488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mechanism kept only if the ablation shows it helps</a:t>
            </a:r>
            <a:endParaRPr lang="en-US" sz="1600" dirty="0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01168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10896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Adding security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9319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hybrid cryptography of the thesis proposal, tested on LEACH, PEGASIS and v8 / v8-Chain</a:t>
            </a:r>
            <a:endParaRPr lang="en-US" sz="1800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not RSA for everything?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of one operation on an 8-bit sensor MCU (ATmega128, Wander et al. [16]) — log scale</a:t>
            </a:r>
            <a:endParaRPr lang="en-US" sz="1600" dirty="0"/>
          </a:p>
        </p:txBody>
      </p:sp>
      <p:pic>
        <p:nvPicPr>
          <p:cNvPr id="5" name="Image 0" descr="/home/user/Routing-Protocols/thesis-final/build/fig/s5_sec_op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243907"/>
            <a:ext cx="7589520" cy="2644507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412480" y="137160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349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912 mJ</a:t>
            </a:r>
            <a:endParaRPr lang="en-US" sz="4400" dirty="0"/>
          </a:p>
        </p:txBody>
      </p:sp>
      <p:sp>
        <p:nvSpPr>
          <p:cNvPr id="7" name="Text 4"/>
          <p:cNvSpPr txBox="1"/>
          <p:nvPr/>
        </p:nvSpPr>
        <p:spPr>
          <a:xfrm>
            <a:off x="8412480" y="219456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RSA-decrypt ONE 2000-bit reading — the whole battery is 500 mJ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412480" y="324612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 µJ</a:t>
            </a:r>
            <a:endParaRPr lang="en-US" sz="4400" dirty="0"/>
          </a:p>
        </p:txBody>
      </p:sp>
      <p:sp>
        <p:nvSpPr>
          <p:cNvPr id="9" name="Text 6"/>
          <p:cNvSpPr txBox="1"/>
          <p:nvPr/>
        </p:nvSpPr>
        <p:spPr>
          <a:xfrm>
            <a:off x="8412480" y="406908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AES-encrypt the same reading (≈ 90 000× cheaper)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48640" y="594360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77240" y="594360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Proposal idea: symmetric crypto for every message; public-key crypto only where it is really needed.</a:t>
            </a:r>
            <a:endParaRPr lang="en-US" sz="1500"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hybrid scheme (thesis proposal)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Symmetric inside the cluster · public key only between the CH and the sink · the sink authenticates the CHs</a:t>
            </a:r>
            <a:endParaRPr lang="en-US" sz="1600" dirty="0"/>
          </a:p>
        </p:txBody>
      </p:sp>
      <p:pic>
        <p:nvPicPr>
          <p:cNvPr id="5" name="Image 0" descr="/home/user/Routing-Protocols/thesis-final/build/fig/s4_sec_sche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34404"/>
            <a:ext cx="6949440" cy="309191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4572000"/>
            <a:ext cx="6949440" cy="1188720"/>
          </a:xfrm>
          <a:prstGeom prst="roundRect">
            <a:avLst>
              <a:gd name="adj" fmla="val 6154"/>
            </a:avLst>
          </a:prstGeom>
          <a:solidFill>
            <a:srgbClr val="F7F7F4"/>
          </a:solidFill>
          <a:ln w="12700">
            <a:solidFill>
              <a:srgbClr val="D9D8D2"/>
            </a:solidFill>
            <a:prstDash val="solid"/>
          </a:ln>
        </p:spPr>
      </p:sp>
      <p:pic>
        <p:nvPicPr>
          <p:cNvPr id="7" name="Image 1" descr="/home/user/Routing-Protocols/thesis-final/build/fig/eq_securit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4721352"/>
            <a:ext cx="6675120" cy="890016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7726680" y="1325880"/>
            <a:ext cx="393192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7955280" y="155448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7012" y="1696212"/>
            <a:ext cx="283464" cy="283464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8686800" y="1554480"/>
            <a:ext cx="2788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Members → CH</a:t>
            </a:r>
            <a:endParaRPr lang="en-US" sz="1400" dirty="0"/>
          </a:p>
        </p:txBody>
      </p:sp>
      <p:sp>
        <p:nvSpPr>
          <p:cNvPr id="12" name="Text 7"/>
          <p:cNvSpPr txBox="1"/>
          <p:nvPr/>
        </p:nvSpPr>
        <p:spPr>
          <a:xfrm>
            <a:off x="7955280" y="224028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AES + 8-byte MIC (IEEE 802.15.4 security [17]): +104 bits, 5 nJ/bit</a:t>
            </a:r>
            <a:endParaRPr lang="en-US" sz="1200" dirty="0"/>
          </a:p>
        </p:txBody>
      </p:sp>
      <p:sp>
        <p:nvSpPr>
          <p:cNvPr id="13" name="Shape 8"/>
          <p:cNvSpPr/>
          <p:nvPr/>
        </p:nvSpPr>
        <p:spPr>
          <a:xfrm>
            <a:off x="7726680" y="2834640"/>
            <a:ext cx="393192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Shape 9"/>
          <p:cNvSpPr/>
          <p:nvPr/>
        </p:nvSpPr>
        <p:spPr>
          <a:xfrm>
            <a:off x="7955280" y="3063240"/>
            <a:ext cx="566928" cy="56692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97012" y="3204972"/>
            <a:ext cx="283464" cy="283464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8686800" y="3063240"/>
            <a:ext cx="2788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 and sink</a:t>
            </a:r>
            <a:endParaRPr lang="en-US" sz="1400" dirty="0"/>
          </a:p>
        </p:txBody>
      </p:sp>
      <p:sp>
        <p:nvSpPr>
          <p:cNvPr id="17" name="Text 11"/>
          <p:cNvSpPr txBox="1"/>
          <p:nvPr/>
        </p:nvSpPr>
        <p:spPr>
          <a:xfrm>
            <a:off x="7955280" y="374904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key (RSA or ECC) to authenticate; the sink replies with credentials / a session key</a:t>
            </a:r>
            <a:endParaRPr lang="en-US" sz="1200" dirty="0"/>
          </a:p>
        </p:txBody>
      </p:sp>
      <p:sp>
        <p:nvSpPr>
          <p:cNvPr id="18" name="Shape 12"/>
          <p:cNvSpPr/>
          <p:nvPr/>
        </p:nvSpPr>
        <p:spPr>
          <a:xfrm>
            <a:off x="7726680" y="4343400"/>
            <a:ext cx="393192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7955280" y="4572000"/>
            <a:ext cx="566928" cy="566928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97012" y="4713732"/>
            <a:ext cx="283464" cy="283464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8686800" y="4572000"/>
            <a:ext cx="2788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sink</a:t>
            </a:r>
            <a:endParaRPr lang="en-US" sz="1400" dirty="0"/>
          </a:p>
        </p:txBody>
      </p:sp>
      <p:sp>
        <p:nvSpPr>
          <p:cNvPr id="22" name="Text 15"/>
          <p:cNvSpPr txBox="1"/>
          <p:nvPr/>
        </p:nvSpPr>
        <p:spPr>
          <a:xfrm>
            <a:off x="7955280" y="525780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mains-powered, does the heavy private-key work (RSA decrypt / sign)</a:t>
            </a:r>
            <a:endParaRPr lang="en-US" sz="1200" dirty="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Scenarios tested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codes; security switched on with compiler flags (-DSEC_…), all 0 by default</a:t>
            </a:r>
            <a:endParaRPr lang="en-US" sz="1600" dirty="0"/>
          </a:p>
        </p:txBody>
      </p:sp>
      <p:graphicFrame>
        <p:nvGraphicFramePr>
          <p:cNvPr id="8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194560"/>
                <a:gridCol w="2834640"/>
                <a:gridCol w="329184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 message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Public key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a node pays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security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nothing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AES + MIC only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AES + MIC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 (keys pre-loaded)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+104 bits, 5 nJ/bit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Hybrid — once per node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AES + MIC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once at deployment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+ 15.4 mJ (RSA) / 22.3 mJ (ECC) once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Hybrid — per new CH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AES + MIC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 time a node becomes CH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+ 15.4 / 22.3 mJ per election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ECC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ECIES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 packet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22.3 mJ send + 22.3 mJ receive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RSA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RSA-1024 (3 blocks)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 packet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1F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35.7 mJ send + 912 mJ receive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57784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557784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Compared on LEACH, PEGASIS and v8 (BS at the centre) and v8-Chain (BS far away), as planned in the proposal.</a:t>
            </a:r>
            <a:endParaRPr lang="en-US" sz="1500" dirty="0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87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 — FND with security, BS at the centre</a:t>
            </a:r>
            <a:endParaRPr lang="en-US" sz="3200" dirty="0"/>
          </a:p>
        </p:txBody>
      </p:sp>
      <p:pic>
        <p:nvPicPr>
          <p:cNvPr id="4" name="Image 0" descr="/home/user/Routing-Protocols/thesis-final/build/fig/s2_sec_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3192" y="1188720"/>
            <a:ext cx="10455135" cy="44348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576072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576072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(public key once): v8 2061 rounds = +49 % over LEACH WITHOUT security, ×2.0 LEACH with the same security.</a:t>
            </a:r>
            <a:endParaRPr lang="en-US" sz="1500" dirty="0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 — FND with security, BS far away</a:t>
            </a:r>
            <a:endParaRPr lang="en-US" sz="3200" dirty="0"/>
          </a:p>
        </p:txBody>
      </p:sp>
      <p:pic>
        <p:nvPicPr>
          <p:cNvPr id="4" name="Image 0" descr="/home/user/Routing-Protocols/thesis-final/build/fig/s2_sec_f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3192" y="1188720"/>
            <a:ext cx="10455135" cy="44348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576072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576072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 BS, same hybrid for all: v8-Chain 1331 vs PEGASIS 1199 (+11 %) and LEACH 798 (+67 %).</a:t>
            </a:r>
            <a:endParaRPr lang="en-US" sz="1500" dirty="0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PDR — full public key breaks the network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987552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BS at the centre · % of readings that reach the BS</a:t>
            </a:r>
            <a:endParaRPr lang="en-US" sz="1600" dirty="0"/>
          </a:p>
        </p:txBody>
      </p:sp>
      <p:pic>
        <p:nvPicPr>
          <p:cNvPr id="5" name="Image 0" descr="/home/user/Routing-Protocols/thesis-final/build/fig/s3_sec_pd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7465" y="1371600"/>
            <a:ext cx="10766590" cy="42062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580644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580644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RSA: a CH cannot pay 912 mJ to decrypt one packet, so almost nothing arrives (PDR 3 – 6 %).  The hybrid keeps PDR ≈ 99 %.</a:t>
            </a:r>
            <a:endParaRPr lang="en-US" sz="1500" dirty="0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learn about security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5440680" cy="20574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554480"/>
            <a:ext cx="566928" cy="566928"/>
          </a:xfrm>
          <a:prstGeom prst="ellipse">
            <a:avLst/>
          </a:prstGeom>
          <a:solidFill>
            <a:srgbClr val="E34948"/>
          </a:solidFill>
          <a:ln w="12700">
            <a:solidFill>
              <a:srgbClr val="E34948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" y="1696212"/>
            <a:ext cx="283464" cy="28346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554480"/>
            <a:ext cx="4297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RSA / ECC is impossible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240280"/>
            <a:ext cx="4983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packet with public key: FND 1 – 203 rounds and PDR 3 – 24 %. The proposal was right: RSA is too heavy for the nodes.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172200" y="1325880"/>
            <a:ext cx="5440680" cy="20574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400800" y="1554480"/>
            <a:ext cx="566928" cy="56692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2532" y="1696212"/>
            <a:ext cx="283464" cy="28346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132320" y="1554480"/>
            <a:ext cx="4297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key once, not per CH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6400800" y="2240280"/>
            <a:ext cx="4983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Authenticating every new CH with RSA/ECC cuts FND by 47 – 71 %. Once per node, then symmetric credentials from the sink: only −18 %.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548640" y="3566160"/>
            <a:ext cx="5440680" cy="20574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777240" y="3794760"/>
            <a:ext cx="566928" cy="56692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8972" y="3936492"/>
            <a:ext cx="283464" cy="283464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508760" y="3794760"/>
            <a:ext cx="4297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RSA vs ECC on the node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777240" y="4480560"/>
            <a:ext cx="4983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sink doing the private-key work, RSA costs the node 15.4 mJ vs 22.3 mJ for ECDH — ECC still gives smaller keys (160 vs 1024 bits).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6172200" y="3566160"/>
            <a:ext cx="5440680" cy="20574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400800" y="3794760"/>
            <a:ext cx="566928" cy="56692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42532" y="3936492"/>
            <a:ext cx="283464" cy="283464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132320" y="3794760"/>
            <a:ext cx="4297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v8 protects best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6400800" y="4480560"/>
            <a:ext cx="4983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re-elections (setup every 5 rounds) = fewer authentications. With the recommended hybrid: v8 2061, PEGASIS 1158, LEACH 1019.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3F6FB"/>
          </a:solidFill>
          <a:ln w="12700">
            <a:solidFill>
              <a:srgbClr val="F3F6FB"/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77724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Recommended: AES + MIC for every message, public key once per node, the sink authenticates CHs with symmetric credentials.</a:t>
            </a:r>
            <a:endParaRPr lang="en-US" sz="1500" dirty="0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01168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08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10896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9319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Limitations, summary and references</a:t>
            </a:r>
            <a:endParaRPr lang="en-US" sz="1800" dirty="0"/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Limitations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544068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554480"/>
            <a:ext cx="566928" cy="566928"/>
          </a:xfrm>
          <a:prstGeom prst="ellipse">
            <a:avLst/>
          </a:prstGeom>
          <a:solidFill>
            <a:srgbClr val="9A9A96"/>
          </a:solidFill>
          <a:ln w="12700">
            <a:solidFill>
              <a:srgbClr val="9A9A96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" y="1696212"/>
            <a:ext cx="283464" cy="28346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554480"/>
            <a:ext cx="4297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Analytical energy model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240280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runs use the first-order radio model: no collisions, retransmissions or fading (the demo shows packet level on a small scale).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172200" y="1325880"/>
            <a:ext cx="544068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400800" y="1554480"/>
            <a:ext cx="566928" cy="566928"/>
          </a:xfrm>
          <a:prstGeom prst="ellipse">
            <a:avLst/>
          </a:prstGeom>
          <a:solidFill>
            <a:srgbClr val="9A9A96"/>
          </a:solidFill>
          <a:ln w="12700">
            <a:solidFill>
              <a:srgbClr val="9A9A96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2532" y="1696212"/>
            <a:ext cx="283464" cy="28346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132320" y="1554480"/>
            <a:ext cx="4297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Static, equal nodes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6400800" y="2240280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static nodes with equal energy; no mobility or heterogeneous hardware.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548640" y="3017520"/>
            <a:ext cx="544068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777240" y="3246120"/>
            <a:ext cx="566928" cy="566928"/>
          </a:xfrm>
          <a:prstGeom prst="ellipse">
            <a:avLst/>
          </a:prstGeom>
          <a:solidFill>
            <a:srgbClr val="9A9A96"/>
          </a:solidFill>
          <a:ln w="12700">
            <a:solidFill>
              <a:srgbClr val="9A9A96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8972" y="3387852"/>
            <a:ext cx="283464" cy="283464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508760" y="3246120"/>
            <a:ext cx="4297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field size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777240" y="3931920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× 100 m and 100 nodes; larger networks not tested.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6172200" y="3017520"/>
            <a:ext cx="544068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400800" y="3246120"/>
            <a:ext cx="566928" cy="566928"/>
          </a:xfrm>
          <a:prstGeom prst="ellipse">
            <a:avLst/>
          </a:prstGeom>
          <a:solidFill>
            <a:srgbClr val="E34948"/>
          </a:solidFill>
          <a:ln w="12700">
            <a:solidFill>
              <a:srgbClr val="E34948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42532" y="3387852"/>
            <a:ext cx="283464" cy="283464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132320" y="3246120"/>
            <a:ext cx="4297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as energy cost only</a:t>
            </a:r>
            <a:endParaRPr lang="en-US" sz="1500" dirty="0"/>
          </a:p>
        </p:txBody>
      </p:sp>
      <p:sp>
        <p:nvSpPr>
          <p:cNvPr id="23" name="Text 17"/>
          <p:cNvSpPr txBox="1"/>
          <p:nvPr/>
        </p:nvSpPr>
        <p:spPr>
          <a:xfrm>
            <a:off x="6400800" y="3931920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Crypto energy from published MCU measurements [16] (AES assumed); attacks are not simulated.</a:t>
            </a:r>
            <a:endParaRPr lang="en-US" sz="1250" dirty="0"/>
          </a:p>
        </p:txBody>
      </p:sp>
      <p:sp>
        <p:nvSpPr>
          <p:cNvPr id="24" name="Shape 18"/>
          <p:cNvSpPr/>
          <p:nvPr/>
        </p:nvSpPr>
        <p:spPr>
          <a:xfrm>
            <a:off x="548640" y="4709160"/>
            <a:ext cx="544068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777240" y="4937760"/>
            <a:ext cx="566928" cy="566928"/>
          </a:xfrm>
          <a:prstGeom prst="ellipse">
            <a:avLst/>
          </a:prstGeom>
          <a:solidFill>
            <a:srgbClr val="9A9A96"/>
          </a:solidFill>
          <a:ln w="12700">
            <a:solidFill>
              <a:srgbClr val="9A9A96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8972" y="5079492"/>
            <a:ext cx="283464" cy="283464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508760" y="4937760"/>
            <a:ext cx="4297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paper details</a:t>
            </a:r>
            <a:endParaRPr lang="en-US" sz="1500" dirty="0"/>
          </a:p>
        </p:txBody>
      </p:sp>
      <p:sp>
        <p:nvSpPr>
          <p:cNvPr id="28" name="Text 21"/>
          <p:cNvSpPr txBox="1"/>
          <p:nvPr/>
        </p:nvSpPr>
        <p:spPr>
          <a:xfrm>
            <a:off x="777240" y="5623560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settings (packet size, sensor signal) had to be assumed and documented.</a:t>
            </a:r>
            <a:endParaRPr lang="en-US" sz="1250" dirty="0"/>
          </a:p>
        </p:txBody>
      </p:sp>
      <p:sp>
        <p:nvSpPr>
          <p:cNvPr id="29" name="Shape 22"/>
          <p:cNvSpPr/>
          <p:nvPr/>
        </p:nvSpPr>
        <p:spPr>
          <a:xfrm>
            <a:off x="6172200" y="4709160"/>
            <a:ext cx="544068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9D8D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0" name="Shape 23"/>
          <p:cNvSpPr/>
          <p:nvPr/>
        </p:nvSpPr>
        <p:spPr>
          <a:xfrm>
            <a:off x="6400800" y="4937760"/>
            <a:ext cx="566928" cy="566928"/>
          </a:xfrm>
          <a:prstGeom prst="ellipse">
            <a:avLst/>
          </a:prstGeom>
          <a:solidFill>
            <a:srgbClr val="9A9A96"/>
          </a:solidFill>
          <a:ln w="12700">
            <a:solidFill>
              <a:srgbClr val="9A9A96"/>
            </a:solidFill>
            <a:prstDash val="solid"/>
          </a:ln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42532" y="5079492"/>
            <a:ext cx="283464" cy="283464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7132320" y="4937760"/>
            <a:ext cx="4297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PEGASIS keeps a longer LND</a:t>
            </a:r>
            <a:endParaRPr lang="en-US" sz="1500" dirty="0"/>
          </a:p>
        </p:txBody>
      </p:sp>
      <p:sp>
        <p:nvSpPr>
          <p:cNvPr id="33" name="Text 25"/>
          <p:cNvSpPr txBox="1"/>
          <p:nvPr/>
        </p:nvSpPr>
        <p:spPr>
          <a:xfrm>
            <a:off x="6400800" y="5623560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3504 vs 2636: v8 is designed for the first death, not the last.</a:t>
            </a:r>
            <a:endParaRPr lang="en-US" sz="1250" dirty="0"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Summary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463040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2501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46888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v8: rounds before the first node dies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4480560" y="1463040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+69%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4480560" y="246888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the best fixed hybrid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229600" y="1463040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1671</a:t>
            </a:r>
            <a:endParaRPr lang="en-US" sz="4800" dirty="0"/>
          </a:p>
        </p:txBody>
      </p:sp>
      <p:sp>
        <p:nvSpPr>
          <p:cNvPr id="8" name="Text 6"/>
          <p:cNvSpPr txBox="1"/>
          <p:nvPr/>
        </p:nvSpPr>
        <p:spPr>
          <a:xfrm>
            <a:off x="8229600" y="246888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v8-Chain with a far BS (best of all)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3291840"/>
            <a:ext cx="106984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protocols reproduced and validated against their papers, then compared in one fair environment.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Flaws found and fixed in three hybrids: all of them had broken LEACH's rotation.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v8 built step by step: single-pass election, cluster reuse, CH protection, direct-to-BS and energy gate — the main protocol.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v8-Chain adds an energy-aware relay: same as v8 at the centre, +16 % when the BS is far.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cryptography (AES + public key once) costs 18 % of lifetime — v8 still beats LEACH without security; full RSA breaks the network.</a:t>
            </a:r>
            <a:endParaRPr lang="en-US" sz="1600" dirty="0"/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64240" cy="5303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[1]  W. R. Heinzelman, A. Chandrakasan, H. Balakrishnan, "Energy-Efficient Communication Protocol for Wireless Microsensor Networks," Proc. 33rd Hawaii Int. Conf. System Sciences (HICSS), 2000.</a:t>
            </a:r>
            <a:endParaRPr lang="en-US" sz="13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[2]  W. B. Heinzelman, A. P. Chandrakasan, H. Balakrishnan, "An Application-Specific Protocol Architecture for Wireless Microsensor Networks," IEEE Trans. Wireless Communications, vol. 1, no. 4, 2002.</a:t>
            </a:r>
            <a:endParaRPr lang="en-US" sz="13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[3]  O. Younis, S. Fahmy, "HEED: A Hybrid, Energy-Efficient, Distributed Clustering Approach for Ad Hoc Sensor Networks," IEEE Trans. Mobile Computing, vol. 3, no. 4, 2004.</a:t>
            </a:r>
            <a:endParaRPr lang="en-US" sz="13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[4]  S. Lindsey, C. S. Raghavendra, "PEGASIS: Power-Efficient Gathering in Sensor Information Systems," Proc. IEEE Aerospace Conference, 2002.</a:t>
            </a:r>
            <a:endParaRPr lang="en-US" sz="13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[5]  S. Shrestha, Y. M. Kim, K. Jung, J.-Y. Lee, "The Improved Energy Efficient LEACH Protocol Technology of Wireless Sensor Networks," Int. J. Internet, Broadcasting and Communication (IJIBC), vol. 7, no. 1, pp. 30–35, 2015.</a:t>
            </a:r>
            <a:endParaRPr lang="en-US" sz="13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[6]  A. Razaque, M. Mudigulam, K. Gavini, F. Amsaad, M. Abdulgader, P. Krishna, "H-LEACH: Hybrid-Low Energy Adaptive Clustering Hierarchy for Wireless Sensor Networks," Proc. IEEE LISAT, 2016.</a:t>
            </a:r>
            <a:endParaRPr lang="en-US" sz="13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[7]  S. Kaur, S. Kour, M. Singh, "EECH-HEED: an adaptive hybrid clustering protocol for energy efficient soil monitoring in heterogeneous wireless sensor networks," Scientific Reports, vol. 15, 35548, 2025.</a:t>
            </a:r>
            <a:endParaRPr lang="en-US" sz="13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[8]  H. H. El-Sayed, E. M. Abd-Elgaber, S. K. Refaay, "An intelligent reinforcement learning enhanced improved LEACH protocol for prolonging wireless sensor network lifetime," Scientific Reports, 2026.</a:t>
            </a:r>
            <a:endParaRPr lang="en-US" sz="13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[9]  A. Juwaied, L. Jackowska-Strumillo, "DL-HEED: A Deep Learning Approach to Energy-Efficient Clustering in Heterogeneous Wireless Sensor Networks," Applied Sciences, vol. 15, no. 16, 8996, 2025.</a:t>
            </a:r>
            <a:endParaRPr lang="en-US" sz="1350" dirty="0"/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 (continued)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64240" cy="5303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[10]  S. Subedi, S. K. Acharya, J. Lee, S. Lee, "Two-Level Clustering Algorithm for Cluster Head Selection in Randomly Deployed Wireless Sensor Networks," Telecom, vol. 5, no. 3, 27, 2024.</a:t>
            </a:r>
            <a:endParaRPr lang="en-US" sz="13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[11]  J. Jassbi, S. Moridi, "Fault Tolerance and Energy Efficient Clustering Algorithm in Wireless Sensor Networks: FTEC," Wireless Personal Communications, 2019.</a:t>
            </a:r>
            <a:endParaRPr lang="en-US" sz="13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[12]  R. Pachlor, D. Shrimankar, K. K. Nagwanshi, M. Paliwal, "Cluster-Head Rotation Approaches in Sensor Networks: A Review," arXiv:2206.08892, 2022.</a:t>
            </a:r>
            <a:endParaRPr lang="en-US" sz="13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[13]  C. Li, M. Ye, G. Chen, J. Wu, "An Energy-Efficient Unequal Clustering Mechanism for Wireless Sensor Networks," Proc. IEEE MASS, 2005.</a:t>
            </a:r>
            <a:endParaRPr lang="en-US" sz="13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[14]  V. Chauhan, S. Soni, "Energy Aware Unequal Clustering Algorithm with Multi-hop Routing via Low Degree Relay Nodes for Wireless Sensor Networks," J. Ambient Intelligence and Humanized Computing, vol. 12, pp. 2469–2482, 2021.</a:t>
            </a:r>
            <a:endParaRPr lang="en-US" sz="13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[15]  ns-3 Network Simulator, release 3.41, https://www.nsnam.org, 2024.</a:t>
            </a:r>
            <a:endParaRPr lang="en-US" sz="13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[16]  A. S. Wander, N. Gura, H. Eberle, V. Gupta, S. C. Shantz, "Energy Analysis of Public-Key Cryptography for Wireless Sensor Networks," Proc. IEEE PerCom, 2005.</a:t>
            </a:r>
            <a:endParaRPr lang="en-US" sz="13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50" dirty="0">
                <a:solidFill>
                  <a:srgbClr val="1F1F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[17]  IEEE Std 802.15.4-2020, "IEEE Standard for Low-Rate Wireless Networks," 2020.</a:t>
            </a:r>
            <a:endParaRPr lang="en-US" sz="1350" dirty="0"/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41848" y="1280160"/>
            <a:ext cx="914400" cy="9144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70448" y="1508760"/>
            <a:ext cx="457200" cy="4572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246888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50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361188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thanks to my supervisors Dr. Hesham ElZouka, Dr. Amani Saad and Dr. Khaled Saada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429768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and discussion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539496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Code, results and papers: GitHub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96</Slides>
  <Notes>96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96</vt:i4>
      </vt:variant>
    </vt:vector>
  </HeadingPairs>
  <TitlesOfParts>
    <vt:vector size="9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Energy-Efficient Secure Clustering in WSNs</dc:title>
  <dc:subject>PptxGenJS Presentation</dc:subject>
  <dc:creator>Rahma Khaled Oshba</dc:creator>
  <cp:lastModifiedBy>Rahma Khaled Oshba</cp:lastModifiedBy>
  <cp:revision>1</cp:revision>
  <dcterms:created xsi:type="dcterms:W3CDTF">2026-09-26T03:24:06Z</dcterms:created>
  <dcterms:modified xsi:type="dcterms:W3CDTF">2026-09-26T03:24:06Z</dcterms:modified>
</cp:coreProperties>
</file>