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3.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8.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9.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Sheet1!$B$2:$B$8</c:f>
              <c:numCache>
                <c:formatCode>General</c:formatCode>
                <c:ptCount val="7"/>
                <c:pt idx="0">
                  <c:v>1383</c:v>
                </c:pt>
                <c:pt idx="1">
                  <c:v>634</c:v>
                </c:pt>
                <c:pt idx="2">
                  <c:v>743</c:v>
                </c:pt>
                <c:pt idx="3">
                  <c:v>1324</c:v>
                </c:pt>
                <c:pt idx="4">
                  <c:v>1440</c:v>
                </c:pt>
                <c:pt idx="5">
                  <c:v>2177</c:v>
                </c:pt>
                <c:pt idx="6">
                  <c:v>1653</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Sheet1!$C$2:$C$8</c:f>
              <c:numCache>
                <c:formatCode>General</c:formatCode>
                <c:ptCount val="7"/>
                <c:pt idx="0">
                  <c:v>1586</c:v>
                </c:pt>
                <c:pt idx="1">
                  <c:v>1216</c:v>
                </c:pt>
                <c:pt idx="2">
                  <c:v>1154</c:v>
                </c:pt>
                <c:pt idx="3">
                  <c:v>2352</c:v>
                </c:pt>
                <c:pt idx="4">
                  <c:v>1584</c:v>
                </c:pt>
                <c:pt idx="5">
                  <c:v>2255</c:v>
                </c:pt>
                <c:pt idx="6">
                  <c:v>2134</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Sheet1!$D$2:$D$8</c:f>
              <c:numCache>
                <c:formatCode>General</c:formatCode>
                <c:ptCount val="7"/>
                <c:pt idx="0">
                  <c:v>1842</c:v>
                </c:pt>
                <c:pt idx="1">
                  <c:v>1883</c:v>
                </c:pt>
                <c:pt idx="2">
                  <c:v>1960</c:v>
                </c:pt>
                <c:pt idx="3">
                  <c:v>3504</c:v>
                </c:pt>
                <c:pt idx="4">
                  <c:v>1604</c:v>
                </c:pt>
                <c:pt idx="5">
                  <c:v>2305</c:v>
                </c:pt>
                <c:pt idx="6">
                  <c:v>2184</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Paper-exact</c:v>
                </c:pt>
              </c:strCache>
            </c:strRef>
          </c:tx>
          <c:spPr>
            <a:solidFill>
              <a:srgbClr val="9E9E9E"/>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Sheet1!$B$2:$B$6</c:f>
              <c:numCache>
                <c:formatCode>General</c:formatCode>
                <c:ptCount val="5"/>
                <c:pt idx="0">
                  <c:v>1327</c:v>
                </c:pt>
                <c:pt idx="1">
                  <c:v>2259</c:v>
                </c:pt>
                <c:pt idx="2">
                  <c:v>2186</c:v>
                </c:pt>
                <c:pt idx="3">
                  <c:v>1210</c:v>
                </c:pt>
                <c:pt idx="4">
                  <c:v>884</c:v>
                </c:pt>
              </c:numCache>
            </c:numRef>
          </c:val>
        </c:ser>
        <c:ser>
          <c:idx val="1"/>
          <c:order val="1"/>
          <c:tx>
            <c:strRef>
              <c:f>Sheet1!$C$1</c:f>
              <c:strCache>
                <c:ptCount val="1"/>
                <c:pt idx="0">
                  <c:v>Unified</c:v>
                </c:pt>
              </c:strCache>
            </c:strRef>
          </c:tx>
          <c:spPr>
            <a:solidFill>
              <a:srgbClr val="8A2522"/>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Sheet1!$C$2:$C$6</c:f>
              <c:numCache>
                <c:formatCode>General</c:formatCode>
                <c:ptCount val="5"/>
                <c:pt idx="0">
                  <c:v>1842</c:v>
                </c:pt>
                <c:pt idx="1">
                  <c:v>1883</c:v>
                </c:pt>
                <c:pt idx="2">
                  <c:v>3504</c:v>
                </c:pt>
                <c:pt idx="3">
                  <c:v>2305</c:v>
                </c:pt>
                <c:pt idx="4">
                  <c:v>1604</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330</c:v>
                </c:pt>
                <c:pt idx="1">
                  <c:v>345</c:v>
                </c:pt>
                <c:pt idx="2">
                  <c:v>1730</c:v>
                </c:pt>
                <c:pt idx="3">
                  <c:v>1513</c:v>
                </c:pt>
                <c:pt idx="4">
                  <c:v>1513</c:v>
                </c:pt>
                <c:pt idx="5">
                  <c:v>1730</c:v>
                </c:pt>
                <c:pt idx="6">
                  <c:v>1621</c:v>
                </c:pt>
                <c:pt idx="7">
                  <c:v>1551</c:v>
                </c:pt>
                <c:pt idx="8">
                  <c:v>1551</c:v>
                </c:pt>
                <c:pt idx="9">
                  <c:v>1491</c:v>
                </c:pt>
                <c:pt idx="10">
                  <c:v>1381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Sheet1!$C$2:$C$12</c:f>
              <c:numCache>
                <c:formatCode>General</c:formatCode>
                <c:ptCount val="11"/>
                <c:pt idx="0">
                  <c:v>557</c:v>
                </c:pt>
                <c:pt idx="1">
                  <c:v>534</c:v>
                </c:pt>
                <c:pt idx="2">
                  <c:v>2081</c:v>
                </c:pt>
                <c:pt idx="3">
                  <c:v>2219</c:v>
                </c:pt>
                <c:pt idx="4">
                  <c:v>2127</c:v>
                </c:pt>
                <c:pt idx="5">
                  <c:v>2086</c:v>
                </c:pt>
                <c:pt idx="6">
                  <c:v>2141</c:v>
                </c:pt>
                <c:pt idx="7">
                  <c:v>1981</c:v>
                </c:pt>
                <c:pt idx="8">
                  <c:v>1976</c:v>
                </c:pt>
                <c:pt idx="9">
                  <c:v>1991</c:v>
                </c:pt>
                <c:pt idx="10">
                  <c:v>2071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Sheet1!$D$2:$D$12</c:f>
              <c:numCache>
                <c:formatCode>General</c:formatCode>
                <c:ptCount val="11"/>
                <c:pt idx="0">
                  <c:v>1318</c:v>
                </c:pt>
                <c:pt idx="1">
                  <c:v>1393</c:v>
                </c:pt>
                <c:pt idx="2">
                  <c:v>2703</c:v>
                </c:pt>
                <c:pt idx="3">
                  <c:v>2521</c:v>
                </c:pt>
                <c:pt idx="4">
                  <c:v>2416</c:v>
                </c:pt>
                <c:pt idx="5">
                  <c:v>2156</c:v>
                </c:pt>
                <c:pt idx="6">
                  <c:v>2291</c:v>
                </c:pt>
                <c:pt idx="7">
                  <c:v>2106</c:v>
                </c:pt>
                <c:pt idx="8">
                  <c:v>2066</c:v>
                </c:pt>
                <c:pt idx="9">
                  <c:v>2086</c:v>
                </c:pt>
                <c:pt idx="10">
                  <c:v>2241</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PDR (%)</a:t>
            </a:r>
          </a:p>
        </c:rich>
      </c:tx>
      <c:layout/>
      <c:overlay val="0"/>
    </c:title>
    <c:autoTitleDeleted val="0"/>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99.74</c:v>
                </c:pt>
                <c:pt idx="1">
                  <c:v>99.79</c:v>
                </c:pt>
                <c:pt idx="2">
                  <c:v>97.72</c:v>
                </c:pt>
                <c:pt idx="3">
                  <c:v>94.67</c:v>
                </c:pt>
                <c:pt idx="4">
                  <c:v>97.05</c:v>
                </c:pt>
                <c:pt idx="5">
                  <c:v>98.27</c:v>
                </c:pt>
                <c:pt idx="6">
                  <c:v>97.94</c:v>
                </c:pt>
                <c:pt idx="7">
                  <c:v>97.49</c:v>
                </c:pt>
                <c:pt idx="8">
                  <c:v>98.43</c:v>
                </c:pt>
                <c:pt idx="9">
                  <c:v>98.49</c:v>
                </c:pt>
                <c:pt idx="10">
                  <c:v>97.88</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4"/>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BS at center</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1551</c:v>
                </c:pt>
                <c:pt idx="1">
                  <c:v>1551</c:v>
                </c:pt>
                <c:pt idx="2">
                  <c:v>2621</c:v>
                </c:pt>
                <c:pt idx="3">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1981</c:v>
                </c:pt>
                <c:pt idx="1">
                  <c:v>1976</c:v>
                </c:pt>
                <c:pt idx="2">
                  <c:v>2711</c:v>
                </c:pt>
                <c:pt idx="3">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2106</c:v>
                </c:pt>
                <c:pt idx="1">
                  <c:v>2066</c:v>
                </c:pt>
                <c:pt idx="2">
                  <c:v>2761</c:v>
                </c:pt>
                <c:pt idx="3">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Far BS</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1266</c:v>
                </c:pt>
                <c:pt idx="1">
                  <c:v>1266</c:v>
                </c:pt>
                <c:pt idx="2">
                  <c:v>1471</c:v>
                </c:pt>
                <c:pt idx="3">
                  <c:v>1716</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1910</c:v>
                </c:pt>
                <c:pt idx="1">
                  <c:v>1891</c:v>
                </c:pt>
                <c:pt idx="2">
                  <c:v>1646</c:v>
                </c:pt>
                <c:pt idx="3">
                  <c:v>1886</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2031</c:v>
                </c:pt>
                <c:pt idx="1">
                  <c:v>1976</c:v>
                </c:pt>
                <c:pt idx="2">
                  <c:v>1716</c:v>
                </c:pt>
                <c:pt idx="3">
                  <c:v>1956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FND (rounds)</a:t>
            </a:r>
          </a:p>
        </c:rich>
      </c:tx>
      <c:layout/>
      <c:overlay val="0"/>
    </c:title>
    <c:autoTitleDeleted val="0"/>
    <c:plotArea>
      <c:layout/>
      <c:barChart>
        <c:barDir val="bar"/>
        <c:grouping val="clustered"/>
        <c:varyColors val="0"/>
        <c:ser>
          <c:idx val="0"/>
          <c:order val="0"/>
          <c:tx>
            <c:strRef>
              <c:f>Sheet1!$B$1</c:f>
              <c:strCache>
                <c:ptCount val="1"/>
                <c:pt idx="0">
                  <c:v>FND</c:v>
                </c:pt>
              </c:strCache>
            </c:strRef>
          </c:tx>
          <c:spPr>
            <a:solidFill>
              <a:srgbClr val="8A252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v8 (full)</c:v>
                  </c:pt>
                  <c:pt idx="1">
                    <c:v>v8 − I1</c:v>
                  </c:pt>
                  <c:pt idx="2">
                    <c:v>v8 − I2</c:v>
                  </c:pt>
                  <c:pt idx="3">
                    <c:v>v8 − I3</c:v>
                  </c:pt>
                  <c:pt idx="4">
                    <c:v>v8 − I4</c:v>
                  </c:pt>
                  <c:pt idx="5">
                    <c:v>v8 − I5</c:v>
                  </c:pt>
                  <c:pt idx="6">
                    <c:v>Threshold fix only</c:v>
                  </c:pt>
                </c:lvl>
              </c:multiLvlStrCache>
            </c:multiLvlStrRef>
          </c:cat>
          <c:val>
            <c:numRef>
              <c:f>Sheet1!$B$2:$B$8</c:f>
              <c:numCache>
                <c:formatCode>General</c:formatCode>
                <c:ptCount val="7"/>
                <c:pt idx="0">
                  <c:v>2621</c:v>
                </c:pt>
                <c:pt idx="1">
                  <c:v>2621</c:v>
                </c:pt>
                <c:pt idx="2">
                  <c:v>2585</c:v>
                </c:pt>
                <c:pt idx="3">
                  <c:v>2621</c:v>
                </c:pt>
                <c:pt idx="4">
                  <c:v>1821</c:v>
                </c:pt>
                <c:pt idx="5">
                  <c:v>2171</c:v>
                </c:pt>
                <c:pt idx="6">
                  <c:v>1730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00"/>
          <c:min val="0"/>
        </c:scaling>
        <c:delete val="0"/>
        <c:axPos val="b"/>
        <c:majorGridlines>
          <c:spPr>
            <a:ln w="9525" cap="flat">
              <a:solidFill>
                <a:srgbClr val="E3E0D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1383</c:v>
                </c:pt>
                <c:pt idx="1">
                  <c:v>634</c:v>
                </c:pt>
                <c:pt idx="2">
                  <c:v>1324</c:v>
                </c:pt>
                <c:pt idx="3">
                  <c:v>1247</c:v>
                </c:pt>
                <c:pt idx="4">
                  <c:v>2347</c:v>
                </c:pt>
                <c:pt idx="5">
                  <c:v>1730</c:v>
                </c:pt>
                <c:pt idx="6">
                  <c:v>1551</c:v>
                </c:pt>
                <c:pt idx="7">
                  <c:v>1491</c:v>
                </c:pt>
                <c:pt idx="8">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Sheet1!$C$2:$C$10</c:f>
              <c:numCache>
                <c:formatCode>General</c:formatCode>
                <c:ptCount val="9"/>
                <c:pt idx="0">
                  <c:v>1586</c:v>
                </c:pt>
                <c:pt idx="1">
                  <c:v>1216</c:v>
                </c:pt>
                <c:pt idx="2">
                  <c:v>2352</c:v>
                </c:pt>
                <c:pt idx="3">
                  <c:v>1600</c:v>
                </c:pt>
                <c:pt idx="4">
                  <c:v>2449</c:v>
                </c:pt>
                <c:pt idx="5">
                  <c:v>2081</c:v>
                </c:pt>
                <c:pt idx="6">
                  <c:v>1976</c:v>
                </c:pt>
                <c:pt idx="7">
                  <c:v>1991</c:v>
                </c:pt>
                <c:pt idx="8">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Sheet1!$D$2:$D$10</c:f>
              <c:numCache>
                <c:formatCode>General</c:formatCode>
                <c:ptCount val="9"/>
                <c:pt idx="0">
                  <c:v>1842</c:v>
                </c:pt>
                <c:pt idx="1">
                  <c:v>1883</c:v>
                </c:pt>
                <c:pt idx="2">
                  <c:v>3504</c:v>
                </c:pt>
                <c:pt idx="3">
                  <c:v>1649</c:v>
                </c:pt>
                <c:pt idx="4">
                  <c:v>2499</c:v>
                </c:pt>
                <c:pt idx="5">
                  <c:v>2703</c:v>
                </c:pt>
                <c:pt idx="6">
                  <c:v>2066</c:v>
                </c:pt>
                <c:pt idx="7">
                  <c:v>2086</c:v>
                </c:pt>
                <c:pt idx="8">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99.4</c:v>
                </c:pt>
                <c:pt idx="1">
                  <c:v>99.68</c:v>
                </c:pt>
                <c:pt idx="2">
                  <c:v>99.42</c:v>
                </c:pt>
                <c:pt idx="3">
                  <c:v>99.79</c:v>
                </c:pt>
                <c:pt idx="4">
                  <c:v>97.33</c:v>
                </c:pt>
                <c:pt idx="5">
                  <c:v>97.72</c:v>
                </c:pt>
                <c:pt idx="6">
                  <c:v>98.43</c:v>
                </c:pt>
                <c:pt idx="7">
                  <c:v>98.49</c:v>
                </c:pt>
                <c:pt idx="8">
                  <c:v>99.27</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6"/>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background, related work, methodology, reproduction of existing protocols, the evolution of the proposed protocol, the final v8-Chain design,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definition figure from the background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Clustering = dominant energy-saving architecture. The CH does the heavy work, so choosing and rotating CHs well is the core problem of this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d0 = sqrt(Efs/Emp) = 87.7 m. Beyond d0 cost grows with d^4 — this is why a far BS makes CH relaying worthwhile.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LEACH is simple and cheap but blind to energy; HEED picks better CHs but pays an iterative negotiation every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mechanism of v8-Chain exists somewhere on its own; the contribution is combining them, making relaying an energy decision, and evaluating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pillars. None of the reviewed works combines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published protocol was first reproduced in its own paper's settings (to validate our code), then moved to the unified environment (to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experiments run inside a VMware Workstation 17 virtual machine with Ubuntu Linux (6 GB RAM, 6 CPU cores, 40 GB disk, NAT network, snapshot 'clean + NS3'). ns-3.41 is the simulator; NetAnim replays the network; Python and Excel are used for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very first test (scratch/wsn-first-packet.cc): 4 nodes with the full IEEE 802.15.4 stack — real PHY and MAC — so we see a packet actually travel from a sensor to the sink before building clustering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from the ns-3 folder; the program writes wsn-first-packet.xml, which NetAnim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sensor sent 100 packets; the sink received all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nodes spent the same 62.6 J although the sink received 300 packets and each sensor only sent 100. The radio stays in RX (listening) all the time, so the energy is set by listening time, not by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of the simulator for the center-BS run. The same command with scratch/hybrid-v8-chain-farBS runs the far-BS case. Each run also writes three CSV files and a NetAnim XML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hybrid-v8-chain-clustering.xml in NetAnim and take a screenshot mid-run: cluster heads are red, each cluster has its own colour, dead nodes are grey.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results in the comparison use exactly these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FND is the most important metric for coverage: the moment a node dies, a part of the field is no longer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numbers cannot be compared with each other directly — every paper used different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every protocol runs in the same environment, so differences come from the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lesson became a mechanism in the proposed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combined HEED CH selection with LEACH joining; v2 added a rotation-fairness penalty. Both kept HEED's per-round negotiation — so lifetime stayed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step. The score keeps HEED's intelligence but in one shot, and clusters are reused for 5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 CHs sorted by distance to BS, the closest is the gateway. v7 lets the promoted backup take the dead CH's place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 forwards to the nearest CH strictly closer to the BS: no single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v3–v7.2 beat v3 on LND while also keeping PDR high: there was room for a better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v5b refused to use any node below 5% of E0 (0.025 J). Late in the run every node is below that, so nodes stayed alive but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I1–I5 can each be switched off at compile time — that is how the ablation was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defence. v5 only had the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rule makes the protocol adapt to the BS position with no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inherited from LEACH/HEED/v3/v5. Green: new in v8. Orange: new in v8-Chain.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simulation state (seed 12345), not an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v8-Chain = v8 at the center (no relays). The big gains vs. v7: +1070 rounds FND and +0.84 pp PDR.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Direct-only v8 loses at a far BS; the energy-aware relay closes the gap to the v7 chain and keeps v8's FND and PDR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Snapshots from the simulation output: round 1 (all alive), round 1300 (batteries half used, CHs rotate), round 2621 (first node dies — FND), round 2740 (near the end). Dark red = full battery, pale = almost empty, grey x =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with the BS at (50, −100): CHs pass data to each other towards the BS (energy-aware relay). FND at round 1716.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Leave-one-out: each row disables ONE mechanism (center 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Seeds 12345, 1, 7, 42, 99, 2024, 31337,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1417320"/>
            <a:ext cx="8595360" cy="1737360"/>
          </a:xfrm>
          <a:prstGeom prst="rect">
            <a:avLst/>
          </a:prstGeom>
          <a:noFill/>
          <a:ln/>
        </p:spPr>
        <p:txBody>
          <a:bodyPr wrap="square" lIns="0" tIns="0" rIns="0" bIns="0" rtlCol="0" anchor="b"/>
          <a:lstStyle/>
          <a:p>
            <a:pPr indent="0" marL="0">
              <a:buNone/>
            </a:pPr>
            <a:r>
              <a:rPr lang="en-US" sz="3600" b="1" dirty="0">
                <a:solidFill>
                  <a:srgbClr val="8A2522"/>
                </a:solidFill>
                <a:latin typeface="Arial" pitchFamily="34" charset="0"/>
                <a:ea typeface="Arial" pitchFamily="34" charset="-122"/>
                <a:cs typeface="Arial" pitchFamily="34" charset="-120"/>
              </a:rPr>
              <a:t>Energy-Efficient Secure Clustering in Wireless Sensor Networks Using Hybrid Cryptography</a:t>
            </a:r>
            <a:endParaRPr lang="en-US" sz="3600" dirty="0"/>
          </a:p>
        </p:txBody>
      </p:sp>
      <p:sp>
        <p:nvSpPr>
          <p:cNvPr id="54" name="Text 52"/>
          <p:cNvSpPr txBox="1"/>
          <p:nvPr/>
        </p:nvSpPr>
        <p:spPr>
          <a:xfrm>
            <a:off x="822960" y="3246120"/>
            <a:ext cx="8595360" cy="731520"/>
          </a:xfrm>
          <a:prstGeom prst="rect">
            <a:avLst/>
          </a:prstGeom>
          <a:noFill/>
          <a:ln/>
        </p:spPr>
        <p:txBody>
          <a:bodyPr wrap="square" lIns="0" tIns="0" rIns="0" bIns="0" rtlCol="0" anchor="t"/>
          <a:lstStyle/>
          <a:p>
            <a:pPr indent="0" marL="0">
              <a:buNone/>
            </a:pPr>
            <a:r>
              <a:rPr lang="en-US" sz="1700" i="1" dirty="0">
                <a:solidFill>
                  <a:srgbClr val="323232"/>
                </a:solidFill>
                <a:latin typeface="Arial" pitchFamily="34" charset="0"/>
                <a:ea typeface="Arial" pitchFamily="34" charset="-122"/>
                <a:cs typeface="Arial" pitchFamily="34" charset="-120"/>
              </a:rPr>
              <a:t>A comparative simulation study: LEACH / HEED / PEGASIS family vs. the proposed hybrid protocol (v1 → v8-Chain)</a:t>
            </a:r>
            <a:endParaRPr lang="en-US" sz="1700" dirty="0"/>
          </a:p>
        </p:txBody>
      </p:sp>
      <p:sp>
        <p:nvSpPr>
          <p:cNvPr id="55" name="Text 53"/>
          <p:cNvSpPr txBox="1"/>
          <p:nvPr/>
        </p:nvSpPr>
        <p:spPr>
          <a:xfrm>
            <a:off x="2011680" y="4343400"/>
            <a:ext cx="8229600" cy="1371600"/>
          </a:xfrm>
          <a:prstGeom prst="rect">
            <a:avLst/>
          </a:prstGeom>
          <a:noFill/>
          <a:ln/>
        </p:spPr>
        <p:txBody>
          <a:bodyPr wrap="square" lIns="0" tIns="0" rIns="0" bIns="0" rtlCol="0" anchor="t"/>
          <a:lstStyle/>
          <a:p>
            <a:pPr indent="0" marL="0">
              <a:spcAft>
                <a:spcPts val="600"/>
              </a:spcAft>
              <a:buNone/>
            </a:pPr>
            <a:r>
              <a:rPr lang="en-US" sz="1600" b="1" dirty="0">
                <a:solidFill>
                  <a:srgbClr val="8A2522"/>
                </a:solidFill>
                <a:latin typeface="Arial" pitchFamily="34" charset="0"/>
                <a:ea typeface="Arial" pitchFamily="34" charset="-122"/>
                <a:cs typeface="Arial" pitchFamily="34" charset="-120"/>
              </a:rPr>
              <a:t>Presented by: </a:t>
            </a:r>
            <a:pPr indent="0" marL="0">
              <a:spcAft>
                <a:spcPts val="600"/>
              </a:spcAft>
              <a:buNone/>
            </a:pPr>
            <a:r>
              <a:rPr lang="en-US" sz="1600" b="1" dirty="0">
                <a:solidFill>
                  <a:srgbClr val="323232"/>
                </a:solidFill>
                <a:latin typeface="Arial" pitchFamily="34" charset="0"/>
                <a:ea typeface="Arial" pitchFamily="34" charset="-122"/>
                <a:cs typeface="Arial" pitchFamily="34" charset="-120"/>
              </a:rPr>
              <a:t>Eng. Rahma Khaled Oshba</a:t>
            </a:r>
            <a:endParaRPr lang="en-US" sz="1600" dirty="0"/>
          </a:p>
          <a:p>
            <a:pPr indent="0" marL="0">
              <a:spcAft>
                <a:spcPts val="600"/>
              </a:spcAft>
              <a:buNone/>
            </a:pPr>
            <a:r>
              <a:rPr lang="en-US" sz="1600" b="1" dirty="0">
                <a:solidFill>
                  <a:srgbClr val="8A2522"/>
                </a:solidFill>
                <a:latin typeface="Arial" pitchFamily="34" charset="0"/>
                <a:ea typeface="Arial" pitchFamily="34" charset="-122"/>
                <a:cs typeface="Arial" pitchFamily="34" charset="-120"/>
              </a:rPr>
              <a:t>Supervised by: </a:t>
            </a:r>
            <a:pPr indent="0" marL="0">
              <a:spcAft>
                <a:spcPts val="600"/>
              </a:spcAft>
              <a:buNone/>
            </a:pPr>
            <a:r>
              <a:rPr lang="en-US" sz="1600" dirty="0">
                <a:solidFill>
                  <a:srgbClr val="323232"/>
                </a:solidFill>
                <a:latin typeface="Arial" pitchFamily="34" charset="0"/>
                <a:ea typeface="Arial" pitchFamily="34" charset="-122"/>
                <a:cs typeface="Arial" pitchFamily="34" charset="-120"/>
              </a:rPr>
              <a:t>Dr. Hesham ElZouka  ·  Dr. Amani Saad  ·  Dr. Khaled Saada</a:t>
            </a:r>
            <a:endParaRPr lang="en-US" sz="1600" dirty="0"/>
          </a:p>
          <a:p>
            <a:pPr indent="0" marL="0">
              <a:spcAft>
                <a:spcPts val="600"/>
              </a:spcAft>
              <a:buNone/>
            </a:pPr>
            <a:r>
              <a:rPr lang="en-US" sz="1300" i="1" dirty="0">
                <a:solidFill>
                  <a:srgbClr val="6B6B6B"/>
                </a:solidFill>
                <a:latin typeface="Arial" pitchFamily="34" charset="0"/>
                <a:ea typeface="Arial" pitchFamily="34" charset="-122"/>
                <a:cs typeface="Arial" pitchFamily="34" charset="-120"/>
              </a:rPr>
              <a:t>Master's Thesis Defense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Agenda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a:t>
            </a:r>
            <a:endParaRPr lang="en-US" sz="1000" dirty="0"/>
          </a:p>
        </p:txBody>
      </p:sp>
      <p:sp>
        <p:nvSpPr>
          <p:cNvPr id="20" name="Shape 17"/>
          <p:cNvSpPr/>
          <p:nvPr/>
        </p:nvSpPr>
        <p:spPr>
          <a:xfrm>
            <a:off x="822960" y="1463040"/>
            <a:ext cx="5029200" cy="868680"/>
          </a:xfrm>
          <a:prstGeom prst="roundRect">
            <a:avLst>
              <a:gd name="adj" fmla="val 12632"/>
            </a:avLst>
          </a:prstGeom>
          <a:solidFill>
            <a:srgbClr val="FFFFFF"/>
          </a:solidFill>
          <a:ln w="12700">
            <a:solidFill>
              <a:srgbClr val="D6D3C7"/>
            </a:solidFill>
            <a:prstDash val="solid"/>
          </a:ln>
        </p:spPr>
      </p:sp>
      <p:sp>
        <p:nvSpPr>
          <p:cNvPr id="21" name="Text 18"/>
          <p:cNvSpPr txBox="1"/>
          <p:nvPr/>
        </p:nvSpPr>
        <p:spPr>
          <a:xfrm>
            <a:off x="100584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01</a:t>
            </a:r>
            <a:endParaRPr lang="en-US" sz="2600" dirty="0"/>
          </a:p>
        </p:txBody>
      </p:sp>
      <p:sp>
        <p:nvSpPr>
          <p:cNvPr id="22" name="Text 19"/>
          <p:cNvSpPr txBox="1"/>
          <p:nvPr/>
        </p:nvSpPr>
        <p:spPr>
          <a:xfrm>
            <a:off x="187452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Background: WSNs &amp; clustering</a:t>
            </a:r>
            <a:endParaRPr lang="en-US" sz="1600" dirty="0"/>
          </a:p>
        </p:txBody>
      </p:sp>
      <p:sp>
        <p:nvSpPr>
          <p:cNvPr id="23" name="Shape 20"/>
          <p:cNvSpPr/>
          <p:nvPr/>
        </p:nvSpPr>
        <p:spPr>
          <a:xfrm>
            <a:off x="822960" y="2560320"/>
            <a:ext cx="5029200" cy="868680"/>
          </a:xfrm>
          <a:prstGeom prst="roundRect">
            <a:avLst>
              <a:gd name="adj" fmla="val 12632"/>
            </a:avLst>
          </a:prstGeom>
          <a:solidFill>
            <a:srgbClr val="FFFFFF"/>
          </a:solidFill>
          <a:ln w="12700">
            <a:solidFill>
              <a:srgbClr val="D6D3C7"/>
            </a:solidFill>
            <a:prstDash val="solid"/>
          </a:ln>
        </p:spPr>
      </p:sp>
      <p:sp>
        <p:nvSpPr>
          <p:cNvPr id="24" name="Text 21"/>
          <p:cNvSpPr txBox="1"/>
          <p:nvPr/>
        </p:nvSpPr>
        <p:spPr>
          <a:xfrm>
            <a:off x="100584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02</a:t>
            </a:r>
            <a:endParaRPr lang="en-US" sz="2600" dirty="0"/>
          </a:p>
        </p:txBody>
      </p:sp>
      <p:sp>
        <p:nvSpPr>
          <p:cNvPr id="25" name="Text 22"/>
          <p:cNvSpPr txBox="1"/>
          <p:nvPr/>
        </p:nvSpPr>
        <p:spPr>
          <a:xfrm>
            <a:off x="187452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Related work &amp; research gap</a:t>
            </a:r>
            <a:endParaRPr lang="en-US" sz="1600" dirty="0"/>
          </a:p>
        </p:txBody>
      </p:sp>
      <p:sp>
        <p:nvSpPr>
          <p:cNvPr id="26" name="Shape 23"/>
          <p:cNvSpPr/>
          <p:nvPr/>
        </p:nvSpPr>
        <p:spPr>
          <a:xfrm>
            <a:off x="822960" y="3657600"/>
            <a:ext cx="5029200" cy="868680"/>
          </a:xfrm>
          <a:prstGeom prst="roundRect">
            <a:avLst>
              <a:gd name="adj" fmla="val 12632"/>
            </a:avLst>
          </a:prstGeom>
          <a:solidFill>
            <a:srgbClr val="FFFFFF"/>
          </a:solidFill>
          <a:ln w="12700">
            <a:solidFill>
              <a:srgbClr val="D6D3C7"/>
            </a:solidFill>
            <a:prstDash val="solid"/>
          </a:ln>
        </p:spPr>
      </p:sp>
      <p:sp>
        <p:nvSpPr>
          <p:cNvPr id="27" name="Text 24"/>
          <p:cNvSpPr txBox="1"/>
          <p:nvPr/>
        </p:nvSpPr>
        <p:spPr>
          <a:xfrm>
            <a:off x="100584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03</a:t>
            </a:r>
            <a:endParaRPr lang="en-US" sz="2600" dirty="0"/>
          </a:p>
        </p:txBody>
      </p:sp>
      <p:sp>
        <p:nvSpPr>
          <p:cNvPr id="28" name="Text 25"/>
          <p:cNvSpPr txBox="1"/>
          <p:nvPr/>
        </p:nvSpPr>
        <p:spPr>
          <a:xfrm>
            <a:off x="187452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Methodology, ns-3 setup &amp; first experiment</a:t>
            </a:r>
            <a:endParaRPr lang="en-US" sz="1600" dirty="0"/>
          </a:p>
        </p:txBody>
      </p:sp>
      <p:sp>
        <p:nvSpPr>
          <p:cNvPr id="29" name="Shape 26"/>
          <p:cNvSpPr/>
          <p:nvPr/>
        </p:nvSpPr>
        <p:spPr>
          <a:xfrm>
            <a:off x="822960" y="4754880"/>
            <a:ext cx="5029200" cy="868680"/>
          </a:xfrm>
          <a:prstGeom prst="roundRect">
            <a:avLst>
              <a:gd name="adj" fmla="val 12632"/>
            </a:avLst>
          </a:prstGeom>
          <a:solidFill>
            <a:srgbClr val="FFFFFF"/>
          </a:solidFill>
          <a:ln w="12700">
            <a:solidFill>
              <a:srgbClr val="D6D3C7"/>
            </a:solidFill>
            <a:prstDash val="solid"/>
          </a:ln>
        </p:spPr>
      </p:sp>
      <p:sp>
        <p:nvSpPr>
          <p:cNvPr id="30" name="Text 27"/>
          <p:cNvSpPr txBox="1"/>
          <p:nvPr/>
        </p:nvSpPr>
        <p:spPr>
          <a:xfrm>
            <a:off x="1005840" y="475488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04</a:t>
            </a:r>
            <a:endParaRPr lang="en-US" sz="2600" dirty="0"/>
          </a:p>
        </p:txBody>
      </p:sp>
      <p:sp>
        <p:nvSpPr>
          <p:cNvPr id="31" name="Text 28"/>
          <p:cNvSpPr txBox="1"/>
          <p:nvPr/>
        </p:nvSpPr>
        <p:spPr>
          <a:xfrm>
            <a:off x="1874520" y="475488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Reproducing existing protocols</a:t>
            </a:r>
            <a:endParaRPr lang="en-US" sz="1600" dirty="0"/>
          </a:p>
        </p:txBody>
      </p:sp>
      <p:sp>
        <p:nvSpPr>
          <p:cNvPr id="32" name="Shape 29"/>
          <p:cNvSpPr/>
          <p:nvPr/>
        </p:nvSpPr>
        <p:spPr>
          <a:xfrm>
            <a:off x="6217920" y="1463040"/>
            <a:ext cx="5029200" cy="868680"/>
          </a:xfrm>
          <a:prstGeom prst="roundRect">
            <a:avLst>
              <a:gd name="adj" fmla="val 12632"/>
            </a:avLst>
          </a:prstGeom>
          <a:solidFill>
            <a:srgbClr val="FFFFFF"/>
          </a:solidFill>
          <a:ln w="12700">
            <a:solidFill>
              <a:srgbClr val="D6D3C7"/>
            </a:solidFill>
            <a:prstDash val="solid"/>
          </a:ln>
        </p:spPr>
      </p:sp>
      <p:sp>
        <p:nvSpPr>
          <p:cNvPr id="33" name="Text 30"/>
          <p:cNvSpPr txBox="1"/>
          <p:nvPr/>
        </p:nvSpPr>
        <p:spPr>
          <a:xfrm>
            <a:off x="640080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05</a:t>
            </a:r>
            <a:endParaRPr lang="en-US" sz="2600" dirty="0"/>
          </a:p>
        </p:txBody>
      </p:sp>
      <p:sp>
        <p:nvSpPr>
          <p:cNvPr id="34" name="Text 31"/>
          <p:cNvSpPr txBox="1"/>
          <p:nvPr/>
        </p:nvSpPr>
        <p:spPr>
          <a:xfrm>
            <a:off x="726948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Proposed protocol: v1 → v7.2</a:t>
            </a:r>
            <a:endParaRPr lang="en-US" sz="1600" dirty="0"/>
          </a:p>
        </p:txBody>
      </p:sp>
      <p:sp>
        <p:nvSpPr>
          <p:cNvPr id="35" name="Shape 32"/>
          <p:cNvSpPr/>
          <p:nvPr/>
        </p:nvSpPr>
        <p:spPr>
          <a:xfrm>
            <a:off x="6217920" y="2560320"/>
            <a:ext cx="5029200" cy="868680"/>
          </a:xfrm>
          <a:prstGeom prst="roundRect">
            <a:avLst>
              <a:gd name="adj" fmla="val 12632"/>
            </a:avLst>
          </a:prstGeom>
          <a:solidFill>
            <a:srgbClr val="FFFFFF"/>
          </a:solidFill>
          <a:ln w="12700">
            <a:solidFill>
              <a:srgbClr val="D6D3C7"/>
            </a:solidFill>
            <a:prstDash val="solid"/>
          </a:ln>
        </p:spPr>
      </p:sp>
      <p:sp>
        <p:nvSpPr>
          <p:cNvPr id="36" name="Text 33"/>
          <p:cNvSpPr txBox="1"/>
          <p:nvPr/>
        </p:nvSpPr>
        <p:spPr>
          <a:xfrm>
            <a:off x="640080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06</a:t>
            </a:r>
            <a:endParaRPr lang="en-US" sz="2600" dirty="0"/>
          </a:p>
        </p:txBody>
      </p:sp>
      <p:sp>
        <p:nvSpPr>
          <p:cNvPr id="37" name="Text 34"/>
          <p:cNvSpPr txBox="1"/>
          <p:nvPr/>
        </p:nvSpPr>
        <p:spPr>
          <a:xfrm>
            <a:off x="726948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Final design: v8-Chain</a:t>
            </a:r>
            <a:endParaRPr lang="en-US" sz="1600" dirty="0"/>
          </a:p>
        </p:txBody>
      </p:sp>
      <p:sp>
        <p:nvSpPr>
          <p:cNvPr id="38" name="Shape 35"/>
          <p:cNvSpPr/>
          <p:nvPr/>
        </p:nvSpPr>
        <p:spPr>
          <a:xfrm>
            <a:off x="6217920" y="3657600"/>
            <a:ext cx="5029200" cy="868680"/>
          </a:xfrm>
          <a:prstGeom prst="roundRect">
            <a:avLst>
              <a:gd name="adj" fmla="val 12632"/>
            </a:avLst>
          </a:prstGeom>
          <a:solidFill>
            <a:srgbClr val="FFFFFF"/>
          </a:solidFill>
          <a:ln w="12700">
            <a:solidFill>
              <a:srgbClr val="D6D3C7"/>
            </a:solidFill>
            <a:prstDash val="solid"/>
          </a:ln>
        </p:spPr>
      </p:sp>
      <p:sp>
        <p:nvSpPr>
          <p:cNvPr id="39" name="Text 36"/>
          <p:cNvSpPr txBox="1"/>
          <p:nvPr/>
        </p:nvSpPr>
        <p:spPr>
          <a:xfrm>
            <a:off x="640080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07</a:t>
            </a:r>
            <a:endParaRPr lang="en-US" sz="2600" dirty="0"/>
          </a:p>
        </p:txBody>
      </p:sp>
      <p:sp>
        <p:nvSpPr>
          <p:cNvPr id="40" name="Text 37"/>
          <p:cNvSpPr txBox="1"/>
          <p:nvPr/>
        </p:nvSpPr>
        <p:spPr>
          <a:xfrm>
            <a:off x="726948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Results, findings, conclusion &amp; references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01</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Background</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Wireless sensor networks, clustering, and why energy decides everything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Wireless Sensor Networks</a:t>
            </a:r>
            <a:pPr indent="0" marL="0">
              <a:buNone/>
            </a:pPr>
            <a:r>
              <a:rPr lang="en-US" sz="2100" dirty="0">
                <a:solidFill>
                  <a:srgbClr val="8A2522"/>
                </a:solidFill>
                <a:latin typeface="Arial" pitchFamily="34" charset="0"/>
                <a:ea typeface="Arial" pitchFamily="34" charset="-122"/>
                <a:cs typeface="Arial" pitchFamily="34" charset="-120"/>
              </a:rPr>
              <a:t>  –  Definition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a:t>
            </a:r>
            <a:endParaRPr lang="en-US" sz="1000" dirty="0"/>
          </a:p>
        </p:txBody>
      </p:sp>
      <p:pic>
        <p:nvPicPr>
          <p:cNvPr id="20" name="Image 0" descr="img/bg_definition.png">    </p:cNvPr>
          <p:cNvPicPr>
            <a:picLocks noChangeAspect="1"/>
          </p:cNvPicPr>
          <p:nvPr/>
        </p:nvPicPr>
        <p:blipFill>
          <a:blip r:embed="rId1"/>
          <a:stretch>
            <a:fillRect/>
          </a:stretch>
        </p:blipFill>
        <p:spPr>
          <a:xfrm>
            <a:off x="640080" y="1447800"/>
            <a:ext cx="6766560" cy="4511040"/>
          </a:xfrm>
          <a:prstGeom prst="rect">
            <a:avLst/>
          </a:prstGeom>
        </p:spPr>
      </p:pic>
      <p:sp>
        <p:nvSpPr>
          <p:cNvPr id="21" name="Text 17"/>
          <p:cNvSpPr txBox="1"/>
          <p:nvPr/>
        </p:nvSpPr>
        <p:spPr>
          <a:xfrm>
            <a:off x="7680960" y="1463040"/>
            <a:ext cx="3840480" cy="4572000"/>
          </a:xfrm>
          <a:prstGeom prst="rect">
            <a:avLst/>
          </a:prstGeom>
          <a:noFill/>
          <a:ln/>
        </p:spPr>
        <p:txBody>
          <a:bodyPr wrap="square" lIns="635" tIns="635" rIns="635" bIns="635" rtlCol="0" anchor="t"/>
          <a:lstStyle/>
          <a:p>
            <a:pPr indent="0" marL="0">
              <a:spcAft>
                <a:spcPts val="600"/>
              </a:spcAft>
              <a:buNone/>
            </a:pPr>
            <a:r>
              <a:rPr lang="en-US" sz="1500" b="1" dirty="0">
                <a:solidFill>
                  <a:srgbClr val="8A2522"/>
                </a:solidFill>
                <a:latin typeface="Arial" pitchFamily="34" charset="0"/>
                <a:ea typeface="Arial" pitchFamily="34" charset="-122"/>
                <a:cs typeface="Arial" pitchFamily="34" charset="-120"/>
              </a:rPr>
              <a:t>What is a WSN?</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Many small, battery-powered sensor nodes sense the environment and send data wirelessly to a base station (sink).</a:t>
            </a:r>
            <a:endParaRPr lang="en-US" sz="1400" dirty="0"/>
          </a:p>
          <a:p>
            <a:pPr indent="0" marL="0">
              <a:spcBef>
                <a:spcPts val="800"/>
              </a:spcBef>
              <a:spcAft>
                <a:spcPts val="600"/>
              </a:spcAft>
              <a:buNone/>
            </a:pPr>
            <a:r>
              <a:rPr lang="en-US" sz="1500" b="1" dirty="0">
                <a:solidFill>
                  <a:srgbClr val="8A2522"/>
                </a:solidFill>
                <a:latin typeface="Arial" pitchFamily="34" charset="0"/>
                <a:ea typeface="Arial" pitchFamily="34" charset="-122"/>
                <a:cs typeface="Arial" pitchFamily="34" charset="-120"/>
              </a:rPr>
              <a:t>Key constraints</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usually non-rechargeable battery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processing and memory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Radio communication is the main energy consumer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WSN Components</a:t>
            </a:r>
            <a:pPr indent="0" marL="0">
              <a:buNone/>
            </a:pPr>
            <a:r>
              <a:rPr lang="en-US" sz="2100" dirty="0">
                <a:solidFill>
                  <a:srgbClr val="8A2522"/>
                </a:solidFill>
                <a:latin typeface="Arial" pitchFamily="34" charset="0"/>
                <a:ea typeface="Arial" pitchFamily="34" charset="-122"/>
                <a:cs typeface="Arial" pitchFamily="34" charset="-120"/>
              </a:rPr>
              <a:t>  –  Node, network &amp; data 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a:t>
            </a:r>
            <a:endParaRPr lang="en-US" sz="1000" dirty="0"/>
          </a:p>
        </p:txBody>
      </p:sp>
      <p:pic>
        <p:nvPicPr>
          <p:cNvPr id="19" name="Image 0" descr="img/bg_overview.png">    </p:cNvPr>
          <p:cNvPicPr>
            <a:picLocks noChangeAspect="1"/>
          </p:cNvPicPr>
          <p:nvPr/>
        </p:nvPicPr>
        <p:blipFill>
          <a:blip r:embed="rId1"/>
          <a:stretch>
            <a:fillRect/>
          </a:stretch>
        </p:blipFill>
        <p:spPr>
          <a:xfrm>
            <a:off x="640080" y="1386840"/>
            <a:ext cx="6949440" cy="4632960"/>
          </a:xfrm>
          <a:prstGeom prst="rect">
            <a:avLst/>
          </a:prstGeom>
        </p:spPr>
      </p:pic>
      <p:sp>
        <p:nvSpPr>
          <p:cNvPr id="20" name="Shape 17"/>
          <p:cNvSpPr/>
          <p:nvPr/>
        </p:nvSpPr>
        <p:spPr>
          <a:xfrm>
            <a:off x="7863840" y="141732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55448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Sensor node</a:t>
            </a:r>
            <a:endParaRPr lang="en-US" sz="1500" dirty="0"/>
          </a:p>
        </p:txBody>
      </p:sp>
      <p:sp>
        <p:nvSpPr>
          <p:cNvPr id="22" name="Text 19"/>
          <p:cNvSpPr txBox="1"/>
          <p:nvPr/>
        </p:nvSpPr>
        <p:spPr>
          <a:xfrm>
            <a:off x="8065008" y="214884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Sensing unit, processor, transceiver and a power unit (battery).</a:t>
            </a:r>
            <a:endParaRPr lang="en-US" sz="1400" dirty="0"/>
          </a:p>
        </p:txBody>
      </p:sp>
      <p:sp>
        <p:nvSpPr>
          <p:cNvPr id="23" name="Shape 20"/>
          <p:cNvSpPr/>
          <p:nvPr/>
        </p:nvSpPr>
        <p:spPr>
          <a:xfrm>
            <a:off x="7863840" y="297180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10896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Base station (sink)</a:t>
            </a:r>
            <a:endParaRPr lang="en-US" sz="1500" dirty="0"/>
          </a:p>
        </p:txBody>
      </p:sp>
      <p:sp>
        <p:nvSpPr>
          <p:cNvPr id="25" name="Text 22"/>
          <p:cNvSpPr txBox="1"/>
          <p:nvPr/>
        </p:nvSpPr>
        <p:spPr>
          <a:xfrm>
            <a:off x="8065008" y="370332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Collects the data and connects the network to users / the Internet.</a:t>
            </a:r>
            <a:endParaRPr lang="en-US" sz="1400" dirty="0"/>
          </a:p>
        </p:txBody>
      </p:sp>
      <p:sp>
        <p:nvSpPr>
          <p:cNvPr id="26" name="Shape 23"/>
          <p:cNvSpPr/>
          <p:nvPr/>
        </p:nvSpPr>
        <p:spPr>
          <a:xfrm>
            <a:off x="7863840" y="452628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8065008" y="466344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Data flow</a:t>
            </a:r>
            <a:endParaRPr lang="en-US" sz="1500" dirty="0"/>
          </a:p>
        </p:txBody>
      </p:sp>
      <p:sp>
        <p:nvSpPr>
          <p:cNvPr id="28" name="Text 25"/>
          <p:cNvSpPr txBox="1"/>
          <p:nvPr/>
        </p:nvSpPr>
        <p:spPr>
          <a:xfrm>
            <a:off x="8065008" y="525780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Node → cluster → sink → user, over single- or multi-hop links.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Clustering in WSNs</a:t>
            </a:r>
            <a:pPr indent="0" marL="0">
              <a:buNone/>
            </a:pPr>
            <a:r>
              <a:rPr lang="en-US" sz="2100" dirty="0">
                <a:solidFill>
                  <a:srgbClr val="8A2522"/>
                </a:solidFill>
                <a:latin typeface="Arial" pitchFamily="34" charset="0"/>
                <a:ea typeface="Arial" pitchFamily="34" charset="-122"/>
                <a:cs typeface="Arial" pitchFamily="34" charset="-120"/>
              </a:rPr>
              <a:t>  –  Why cluster heads?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a:t>
            </a:r>
            <a:endParaRPr lang="en-US" sz="1000" dirty="0"/>
          </a:p>
        </p:txBody>
      </p:sp>
      <p:sp>
        <p:nvSpPr>
          <p:cNvPr id="20" name="Shape 17"/>
          <p:cNvSpPr/>
          <p:nvPr/>
        </p:nvSpPr>
        <p:spPr>
          <a:xfrm>
            <a:off x="822960" y="1508760"/>
            <a:ext cx="3364992" cy="1188720"/>
          </a:xfrm>
          <a:prstGeom prst="roundRect">
            <a:avLst>
              <a:gd name="adj" fmla="val 7692"/>
            </a:avLst>
          </a:prstGeom>
          <a:solidFill>
            <a:srgbClr val="FFFFFF"/>
          </a:solidFill>
          <a:ln w="12700">
            <a:solidFill>
              <a:srgbClr val="D6D3C7"/>
            </a:solidFill>
            <a:prstDash val="solid"/>
          </a:ln>
        </p:spPr>
      </p:sp>
      <p:sp>
        <p:nvSpPr>
          <p:cNvPr id="21" name="Text 18"/>
          <p:cNvSpPr txBox="1"/>
          <p:nvPr/>
        </p:nvSpPr>
        <p:spPr>
          <a:xfrm>
            <a:off x="896112"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Members</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send short-range data to their CH</a:t>
            </a:r>
            <a:endParaRPr lang="en-US" sz="1500" dirty="0"/>
          </a:p>
        </p:txBody>
      </p:sp>
      <p:sp>
        <p:nvSpPr>
          <p:cNvPr id="22" name="Shape 19"/>
          <p:cNvSpPr/>
          <p:nvPr/>
        </p:nvSpPr>
        <p:spPr>
          <a:xfrm>
            <a:off x="4226357" y="2002536"/>
            <a:ext cx="179222" cy="201168"/>
          </a:xfrm>
          <a:prstGeom prst="rightArrow">
            <a:avLst/>
          </a:prstGeom>
          <a:solidFill>
            <a:srgbClr val="8A2522"/>
          </a:solidFill>
          <a:ln w="12700">
            <a:solidFill>
              <a:srgbClr val="8A2522"/>
            </a:solidFill>
            <a:prstDash val="solid"/>
          </a:ln>
        </p:spPr>
      </p:sp>
      <p:sp>
        <p:nvSpPr>
          <p:cNvPr id="23" name="Shape 20"/>
          <p:cNvSpPr/>
          <p:nvPr/>
        </p:nvSpPr>
        <p:spPr>
          <a:xfrm>
            <a:off x="4443984" y="1508760"/>
            <a:ext cx="3364992" cy="1188720"/>
          </a:xfrm>
          <a:prstGeom prst="roundRect">
            <a:avLst>
              <a:gd name="adj" fmla="val 7692"/>
            </a:avLst>
          </a:prstGeom>
          <a:solidFill>
            <a:srgbClr val="FFFFFF"/>
          </a:solidFill>
          <a:ln w="12700">
            <a:solidFill>
              <a:srgbClr val="D6D3C7"/>
            </a:solidFill>
            <a:prstDash val="solid"/>
          </a:ln>
        </p:spPr>
      </p:sp>
      <p:sp>
        <p:nvSpPr>
          <p:cNvPr id="24" name="Text 21"/>
          <p:cNvSpPr txBox="1"/>
          <p:nvPr/>
        </p:nvSpPr>
        <p:spPr>
          <a:xfrm>
            <a:off x="4517136"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Cluster Head (CH)</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aggregates into one packet</a:t>
            </a:r>
            <a:endParaRPr lang="en-US" sz="1500" dirty="0"/>
          </a:p>
        </p:txBody>
      </p:sp>
      <p:sp>
        <p:nvSpPr>
          <p:cNvPr id="25" name="Shape 22"/>
          <p:cNvSpPr/>
          <p:nvPr/>
        </p:nvSpPr>
        <p:spPr>
          <a:xfrm>
            <a:off x="7847381" y="2002536"/>
            <a:ext cx="179222" cy="201168"/>
          </a:xfrm>
          <a:prstGeom prst="rightArrow">
            <a:avLst/>
          </a:prstGeom>
          <a:solidFill>
            <a:srgbClr val="8A2522"/>
          </a:solidFill>
          <a:ln w="12700">
            <a:solidFill>
              <a:srgbClr val="8A2522"/>
            </a:solidFill>
            <a:prstDash val="solid"/>
          </a:ln>
        </p:spPr>
      </p:sp>
      <p:sp>
        <p:nvSpPr>
          <p:cNvPr id="26" name="Shape 23"/>
          <p:cNvSpPr/>
          <p:nvPr/>
        </p:nvSpPr>
        <p:spPr>
          <a:xfrm>
            <a:off x="8065008" y="1508760"/>
            <a:ext cx="3364992" cy="1188720"/>
          </a:xfrm>
          <a:prstGeom prst="roundRect">
            <a:avLst>
              <a:gd name="adj" fmla="val 7692"/>
            </a:avLst>
          </a:prstGeom>
          <a:solidFill>
            <a:srgbClr val="FFFFFF"/>
          </a:solidFill>
          <a:ln w="12700">
            <a:solidFill>
              <a:srgbClr val="D6D3C7"/>
            </a:solidFill>
            <a:prstDash val="solid"/>
          </a:ln>
        </p:spPr>
      </p:sp>
      <p:sp>
        <p:nvSpPr>
          <p:cNvPr id="27" name="Text 24"/>
          <p:cNvSpPr txBox="1"/>
          <p:nvPr/>
        </p:nvSpPr>
        <p:spPr>
          <a:xfrm>
            <a:off x="8138160"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Base Station</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one packet per cluster</a:t>
            </a:r>
            <a:endParaRPr lang="en-US" sz="1500" dirty="0"/>
          </a:p>
        </p:txBody>
      </p:sp>
      <p:sp>
        <p:nvSpPr>
          <p:cNvPr id="28" name="Shape 25"/>
          <p:cNvSpPr/>
          <p:nvPr/>
        </p:nvSpPr>
        <p:spPr>
          <a:xfrm>
            <a:off x="82296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1024128" y="3246120"/>
            <a:ext cx="457200" cy="457200"/>
          </a:xfrm>
          <a:prstGeom prst="ellipse">
            <a:avLst/>
          </a:prstGeom>
          <a:solidFill>
            <a:srgbClr val="4E7D3A"/>
          </a:solidFill>
          <a:ln w="12700">
            <a:solidFill>
              <a:srgbClr val="4E7D3A"/>
            </a:solidFill>
            <a:prstDash val="solid"/>
          </a:ln>
        </p:spPr>
      </p:sp>
      <p:sp>
        <p:nvSpPr>
          <p:cNvPr id="30" name="Text 27"/>
          <p:cNvSpPr txBox="1"/>
          <p:nvPr/>
        </p:nvSpPr>
        <p:spPr>
          <a:xfrm>
            <a:off x="102412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1" name="Text 28"/>
          <p:cNvSpPr txBox="1"/>
          <p:nvPr/>
        </p:nvSpPr>
        <p:spPr>
          <a:xfrm>
            <a:off x="160020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Benefits</a:t>
            </a:r>
            <a:endParaRPr lang="en-US" sz="1500" dirty="0"/>
          </a:p>
        </p:txBody>
      </p:sp>
      <p:sp>
        <p:nvSpPr>
          <p:cNvPr id="32" name="Text 29"/>
          <p:cNvSpPr txBox="1"/>
          <p:nvPr/>
        </p:nvSpPr>
        <p:spPr>
          <a:xfrm>
            <a:off x="102412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Fewer long-range transmissions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Data aggregation removes redundancy</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Scales to many nodes</a:t>
            </a:r>
            <a:endParaRPr lang="en-US" sz="1400" dirty="0"/>
          </a:p>
        </p:txBody>
      </p:sp>
      <p:sp>
        <p:nvSpPr>
          <p:cNvPr id="33" name="Shape 30"/>
          <p:cNvSpPr/>
          <p:nvPr/>
        </p:nvSpPr>
        <p:spPr>
          <a:xfrm>
            <a:off x="443484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4" name="Shape 31"/>
          <p:cNvSpPr/>
          <p:nvPr/>
        </p:nvSpPr>
        <p:spPr>
          <a:xfrm>
            <a:off x="4636008" y="3246120"/>
            <a:ext cx="457200" cy="457200"/>
          </a:xfrm>
          <a:prstGeom prst="ellipse">
            <a:avLst/>
          </a:prstGeom>
          <a:solidFill>
            <a:srgbClr val="B8860B"/>
          </a:solidFill>
          <a:ln w="12700">
            <a:solidFill>
              <a:srgbClr val="B8860B"/>
            </a:solidFill>
            <a:prstDash val="solid"/>
          </a:ln>
        </p:spPr>
      </p:sp>
      <p:sp>
        <p:nvSpPr>
          <p:cNvPr id="35" name="Text 32"/>
          <p:cNvSpPr txBox="1"/>
          <p:nvPr/>
        </p:nvSpPr>
        <p:spPr>
          <a:xfrm>
            <a:off x="463600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6" name="Text 33"/>
          <p:cNvSpPr txBox="1"/>
          <p:nvPr/>
        </p:nvSpPr>
        <p:spPr>
          <a:xfrm>
            <a:off x="521208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 catch</a:t>
            </a:r>
            <a:endParaRPr lang="en-US" sz="1500" dirty="0"/>
          </a:p>
        </p:txBody>
      </p:sp>
      <p:sp>
        <p:nvSpPr>
          <p:cNvPr id="37" name="Text 34"/>
          <p:cNvSpPr txBox="1"/>
          <p:nvPr/>
        </p:nvSpPr>
        <p:spPr>
          <a:xfrm>
            <a:off x="463600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CHs spend far more energy (receive + aggregate + long transmission)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A badly chosen or over-used CH dies early</a:t>
            </a:r>
            <a:endParaRPr lang="en-US" sz="1400" dirty="0"/>
          </a:p>
        </p:txBody>
      </p:sp>
      <p:sp>
        <p:nvSpPr>
          <p:cNvPr id="38" name="Shape 35"/>
          <p:cNvSpPr/>
          <p:nvPr/>
        </p:nvSpPr>
        <p:spPr>
          <a:xfrm>
            <a:off x="804672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9" name="Shape 36"/>
          <p:cNvSpPr/>
          <p:nvPr/>
        </p:nvSpPr>
        <p:spPr>
          <a:xfrm>
            <a:off x="8247888" y="3246120"/>
            <a:ext cx="457200" cy="457200"/>
          </a:xfrm>
          <a:prstGeom prst="ellipse">
            <a:avLst/>
          </a:prstGeom>
          <a:solidFill>
            <a:srgbClr val="8A2522"/>
          </a:solidFill>
          <a:ln w="12700">
            <a:solidFill>
              <a:srgbClr val="8A2522"/>
            </a:solidFill>
            <a:prstDash val="solid"/>
          </a:ln>
        </p:spPr>
      </p:sp>
      <p:sp>
        <p:nvSpPr>
          <p:cNvPr id="40" name="Text 37"/>
          <p:cNvSpPr txBox="1"/>
          <p:nvPr/>
        </p:nvSpPr>
        <p:spPr>
          <a:xfrm>
            <a:off x="824788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41" name="Text 38"/>
          <p:cNvSpPr txBox="1"/>
          <p:nvPr/>
        </p:nvSpPr>
        <p:spPr>
          <a:xfrm>
            <a:off x="882396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Therefore</a:t>
            </a:r>
            <a:endParaRPr lang="en-US" sz="1500" dirty="0"/>
          </a:p>
        </p:txBody>
      </p:sp>
      <p:sp>
        <p:nvSpPr>
          <p:cNvPr id="42" name="Text 39"/>
          <p:cNvSpPr txBox="1"/>
          <p:nvPr/>
        </p:nvSpPr>
        <p:spPr>
          <a:xfrm>
            <a:off x="824788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CH selection, CH rotation and what happens when a CH fails decide the network lifetime.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Radio Energy Model</a:t>
            </a:r>
            <a:pPr indent="0" marL="0">
              <a:buNone/>
            </a:pPr>
            <a:r>
              <a:rPr lang="en-US" sz="2100" dirty="0">
                <a:solidFill>
                  <a:srgbClr val="8A2522"/>
                </a:solidFill>
                <a:latin typeface="Arial" pitchFamily="34" charset="0"/>
                <a:ea typeface="Arial" pitchFamily="34" charset="-122"/>
                <a:cs typeface="Arial" pitchFamily="34" charset="-120"/>
              </a:rPr>
              <a:t>  –  First-order, two-slope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7</a:t>
            </a:r>
            <a:endParaRPr lang="en-US" sz="1000" dirty="0"/>
          </a:p>
        </p:txBody>
      </p:sp>
      <p:sp>
        <p:nvSpPr>
          <p:cNvPr id="20" name="Shape 17"/>
          <p:cNvSpPr/>
          <p:nvPr/>
        </p:nvSpPr>
        <p:spPr>
          <a:xfrm>
            <a:off x="822960" y="1463040"/>
            <a:ext cx="5852160" cy="2377440"/>
          </a:xfrm>
          <a:prstGeom prst="roundRect">
            <a:avLst>
              <a:gd name="adj" fmla="val 4615"/>
            </a:avLst>
          </a:prstGeom>
          <a:solidFill>
            <a:srgbClr val="FFFFFF"/>
          </a:solidFill>
          <a:ln w="12700">
            <a:solidFill>
              <a:srgbClr val="D6D3C7"/>
            </a:solidFill>
            <a:prstDash val="solid"/>
          </a:ln>
        </p:spPr>
      </p:sp>
      <p:sp>
        <p:nvSpPr>
          <p:cNvPr id="21" name="Text 18"/>
          <p:cNvSpPr txBox="1"/>
          <p:nvPr/>
        </p:nvSpPr>
        <p:spPr>
          <a:xfrm>
            <a:off x="1051560" y="1600200"/>
            <a:ext cx="5486400" cy="2148840"/>
          </a:xfrm>
          <a:prstGeom prst="rect">
            <a:avLst/>
          </a:prstGeom>
          <a:noFill/>
          <a:ln/>
        </p:spPr>
        <p:txBody>
          <a:bodyPr wrap="square" lIns="0" tIns="0" rIns="0" bIns="0" rtlCol="0" anchor="t"/>
          <a:lstStyle/>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Transmit k bits over distance d</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E_fs·k·d²        d &lt;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E_mp·k·d⁴        d ≥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E_RX = E_elec·k    E_DA per bit</a:t>
            </a:r>
            <a:endParaRPr lang="en-US" sz="1600" dirty="0"/>
          </a:p>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d0 = √(E_fs / E_mp) ≈ 87.7 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1463040"/>
          <a:ext cx="4389120" cy="914400"/>
        </p:xfrm>
        <a:graphic>
          <a:graphicData uri="http://schemas.openxmlformats.org/drawingml/2006/table">
            <a:tbl>
              <a:tblPr/>
              <a:tblGrid>
                <a:gridCol w="2011680"/>
                <a:gridCol w="23774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E_elec</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50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E_fs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 pJ/bit/m²</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0.0013 pJ/bit/m⁴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E_DA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Packet / control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2000 /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3" name="Shape 19"/>
          <p:cNvSpPr/>
          <p:nvPr/>
        </p:nvSpPr>
        <p:spPr>
          <a:xfrm>
            <a:off x="822960" y="4114800"/>
            <a:ext cx="10607040" cy="1691640"/>
          </a:xfrm>
          <a:prstGeom prst="roundRect">
            <a:avLst>
              <a:gd name="adj" fmla="val 64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0"/>
          <p:cNvSpPr txBox="1"/>
          <p:nvPr/>
        </p:nvSpPr>
        <p:spPr>
          <a:xfrm>
            <a:off x="1024128" y="42519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this means</a:t>
            </a:r>
            <a:endParaRPr lang="en-US" sz="1500" dirty="0"/>
          </a:p>
        </p:txBody>
      </p:sp>
      <p:sp>
        <p:nvSpPr>
          <p:cNvPr id="25" name="Text 21"/>
          <p:cNvSpPr txBox="1"/>
          <p:nvPr/>
        </p:nvSpPr>
        <p:spPr>
          <a:xfrm>
            <a:off x="1024128" y="4846320"/>
            <a:ext cx="10204704" cy="822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Short distances are cheap; long ones are very expensive (d² then d⁴). Every protocol in this study tries to (1) keep member→CH links short, (2) send as few long-range packets as possible, and (3) spread the expensive CH role fairly.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Problem &amp; Objectives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8</a:t>
            </a:r>
            <a:endParaRPr lang="en-US" sz="1000" dirty="0"/>
          </a:p>
        </p:txBody>
      </p:sp>
      <p:sp>
        <p:nvSpPr>
          <p:cNvPr id="19" name="Shape 17"/>
          <p:cNvSpPr/>
          <p:nvPr/>
        </p:nvSpPr>
        <p:spPr>
          <a:xfrm>
            <a:off x="822960" y="1417320"/>
            <a:ext cx="10607040" cy="1234440"/>
          </a:xfrm>
          <a:prstGeom prst="roundRect">
            <a:avLst>
              <a:gd name="adj" fmla="val 8889"/>
            </a:avLst>
          </a:prstGeom>
          <a:solidFill>
            <a:srgbClr val="8A2522"/>
          </a:solidFill>
          <a:ln w="12700">
            <a:solidFill>
              <a:srgbClr val="8A2522"/>
            </a:solidFill>
            <a:prstDash val="solid"/>
          </a:ln>
        </p:spPr>
      </p:sp>
      <p:sp>
        <p:nvSpPr>
          <p:cNvPr id="20" name="Text 18"/>
          <p:cNvSpPr txBox="1"/>
          <p:nvPr/>
        </p:nvSpPr>
        <p:spPr>
          <a:xfrm>
            <a:off x="1097280" y="1463040"/>
            <a:ext cx="10058400" cy="1143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can CH selection, cluster maintenance and inter-cluster routing be designed together so that a WSN lives longer and delivers more data — without heavy control overhead?</a:t>
            </a:r>
            <a:endParaRPr lang="en-US" sz="1800" dirty="0"/>
          </a:p>
        </p:txBody>
      </p:sp>
      <p:sp>
        <p:nvSpPr>
          <p:cNvPr id="21" name="Shape 19"/>
          <p:cNvSpPr/>
          <p:nvPr/>
        </p:nvSpPr>
        <p:spPr>
          <a:xfrm>
            <a:off x="822960"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3"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4" name="Text 22"/>
          <p:cNvSpPr txBox="1"/>
          <p:nvPr/>
        </p:nvSpPr>
        <p:spPr>
          <a:xfrm>
            <a:off x="1600200"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Reproduce fairly</a:t>
            </a:r>
            <a:endParaRPr lang="en-US" sz="1500" dirty="0"/>
          </a:p>
        </p:txBody>
      </p:sp>
      <p:sp>
        <p:nvSpPr>
          <p:cNvPr id="25" name="Text 23"/>
          <p:cNvSpPr txBox="1"/>
          <p:nvPr/>
        </p:nvSpPr>
        <p:spPr>
          <a:xfrm>
            <a:off x="1024128"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Rebuild LEACH, HEED, PEGASIS and two LEACH+HEED hybrids in one unified ns-3 environment.</a:t>
            </a:r>
            <a:endParaRPr lang="en-US" sz="1450" dirty="0"/>
          </a:p>
        </p:txBody>
      </p:sp>
      <p:sp>
        <p:nvSpPr>
          <p:cNvPr id="26" name="Shape 24"/>
          <p:cNvSpPr/>
          <p:nvPr/>
        </p:nvSpPr>
        <p:spPr>
          <a:xfrm>
            <a:off x="3538728"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Shape 25"/>
          <p:cNvSpPr/>
          <p:nvPr/>
        </p:nvSpPr>
        <p:spPr>
          <a:xfrm>
            <a:off x="3739896" y="3108960"/>
            <a:ext cx="457200" cy="457200"/>
          </a:xfrm>
          <a:prstGeom prst="ellipse">
            <a:avLst/>
          </a:prstGeom>
          <a:solidFill>
            <a:srgbClr val="8A2522"/>
          </a:solidFill>
          <a:ln w="12700">
            <a:solidFill>
              <a:srgbClr val="8A2522"/>
            </a:solidFill>
            <a:prstDash val="solid"/>
          </a:ln>
        </p:spPr>
      </p:sp>
      <p:sp>
        <p:nvSpPr>
          <p:cNvPr id="28" name="Text 26"/>
          <p:cNvSpPr txBox="1"/>
          <p:nvPr/>
        </p:nvSpPr>
        <p:spPr>
          <a:xfrm>
            <a:off x="3739896"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9" name="Text 27"/>
          <p:cNvSpPr txBox="1"/>
          <p:nvPr/>
        </p:nvSpPr>
        <p:spPr>
          <a:xfrm>
            <a:off x="4315968"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Diagnose</a:t>
            </a:r>
            <a:endParaRPr lang="en-US" sz="1500" dirty="0"/>
          </a:p>
        </p:txBody>
      </p:sp>
      <p:sp>
        <p:nvSpPr>
          <p:cNvPr id="30" name="Text 28"/>
          <p:cNvSpPr txBox="1"/>
          <p:nvPr/>
        </p:nvSpPr>
        <p:spPr>
          <a:xfrm>
            <a:off x="3739896"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Find why each protocol wins or loses — including flaws in the published algorithms.</a:t>
            </a:r>
            <a:endParaRPr lang="en-US" sz="1450" dirty="0"/>
          </a:p>
        </p:txBody>
      </p:sp>
      <p:sp>
        <p:nvSpPr>
          <p:cNvPr id="31" name="Shape 29"/>
          <p:cNvSpPr/>
          <p:nvPr/>
        </p:nvSpPr>
        <p:spPr>
          <a:xfrm>
            <a:off x="6254496"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2" name="Shape 30"/>
          <p:cNvSpPr/>
          <p:nvPr/>
        </p:nvSpPr>
        <p:spPr>
          <a:xfrm>
            <a:off x="6455664" y="3108960"/>
            <a:ext cx="457200" cy="457200"/>
          </a:xfrm>
          <a:prstGeom prst="ellipse">
            <a:avLst/>
          </a:prstGeom>
          <a:solidFill>
            <a:srgbClr val="8A2522"/>
          </a:solidFill>
          <a:ln w="12700">
            <a:solidFill>
              <a:srgbClr val="8A2522"/>
            </a:solidFill>
            <a:prstDash val="solid"/>
          </a:ln>
        </p:spPr>
      </p:sp>
      <p:sp>
        <p:nvSpPr>
          <p:cNvPr id="33" name="Text 31"/>
          <p:cNvSpPr txBox="1"/>
          <p:nvPr/>
        </p:nvSpPr>
        <p:spPr>
          <a:xfrm>
            <a:off x="6455664"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7031736"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Design</a:t>
            </a:r>
            <a:endParaRPr lang="en-US" sz="1500" dirty="0"/>
          </a:p>
        </p:txBody>
      </p:sp>
      <p:sp>
        <p:nvSpPr>
          <p:cNvPr id="35" name="Text 33"/>
          <p:cNvSpPr txBox="1"/>
          <p:nvPr/>
        </p:nvSpPr>
        <p:spPr>
          <a:xfrm>
            <a:off x="6455664"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Evolve an original hybrid protocol one mechanism at a time (v1 → v8-Chain).</a:t>
            </a:r>
            <a:endParaRPr lang="en-US" sz="1450" dirty="0"/>
          </a:p>
        </p:txBody>
      </p:sp>
      <p:sp>
        <p:nvSpPr>
          <p:cNvPr id="36" name="Shape 34"/>
          <p:cNvSpPr/>
          <p:nvPr/>
        </p:nvSpPr>
        <p:spPr>
          <a:xfrm>
            <a:off x="8970264"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Shape 35"/>
          <p:cNvSpPr/>
          <p:nvPr/>
        </p:nvSpPr>
        <p:spPr>
          <a:xfrm>
            <a:off x="9171432" y="3108960"/>
            <a:ext cx="457200" cy="457200"/>
          </a:xfrm>
          <a:prstGeom prst="ellipse">
            <a:avLst/>
          </a:prstGeom>
          <a:solidFill>
            <a:srgbClr val="8A2522"/>
          </a:solidFill>
          <a:ln w="12700">
            <a:solidFill>
              <a:srgbClr val="8A2522"/>
            </a:solidFill>
            <a:prstDash val="solid"/>
          </a:ln>
        </p:spPr>
      </p:sp>
      <p:sp>
        <p:nvSpPr>
          <p:cNvPr id="38" name="Text 36"/>
          <p:cNvSpPr txBox="1"/>
          <p:nvPr/>
        </p:nvSpPr>
        <p:spPr>
          <a:xfrm>
            <a:off x="917143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9" name="Text 37"/>
          <p:cNvSpPr txBox="1"/>
          <p:nvPr/>
        </p:nvSpPr>
        <p:spPr>
          <a:xfrm>
            <a:off x="9747504"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Validate</a:t>
            </a:r>
            <a:endParaRPr lang="en-US" sz="1500" dirty="0"/>
          </a:p>
        </p:txBody>
      </p:sp>
      <p:sp>
        <p:nvSpPr>
          <p:cNvPr id="40" name="Text 38"/>
          <p:cNvSpPr txBox="1"/>
          <p:nvPr/>
        </p:nvSpPr>
        <p:spPr>
          <a:xfrm>
            <a:off x="9171432"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Measure FND, HND, LND, PDR at two BS placements and 8 random topologies.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02</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Related Work</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LEACH · HEED · PEGASIS · literature hybrids · recent 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LEACH vs. HEED</a:t>
            </a:r>
            <a:pPr indent="0" marL="0">
              <a:buNone/>
            </a:pPr>
            <a:r>
              <a:rPr lang="en-US" sz="2100" dirty="0">
                <a:solidFill>
                  <a:srgbClr val="8A2522"/>
                </a:solidFill>
                <a:latin typeface="Arial" pitchFamily="34" charset="0"/>
                <a:ea typeface="Arial" pitchFamily="34" charset="-122"/>
                <a:cs typeface="Arial" pitchFamily="34" charset="-120"/>
              </a:rPr>
              <a:t>  –  Two foundations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675120" cy="914400"/>
        </p:xfrm>
        <a:graphic>
          <a:graphicData uri="http://schemas.openxmlformats.org/drawingml/2006/table">
            <a:tbl>
              <a:tblPr/>
              <a:tblGrid>
                <a:gridCol w="1737360"/>
                <a:gridCol w="2286000"/>
                <a:gridCol w="2651760"/>
              </a:tblGrid>
              <a:tr h="384048">
                <a:tc>
                  <a:txBody>
                    <a:bodyPr/>
                    <a:lstStyle/>
                    <a:p>
                      <a:pPr algn="ctr" indent="0" marL="0">
                        <a:buNone/>
                      </a:pP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LEACH (2000)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HEED (2004)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Probabilistic CH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Energy + communication-cost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Random, threshold T(n)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Iterative, probability ∝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Energy awareness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none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Overhead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Low</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High (several rounds of messages)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Strength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Simple, balanced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Better-informed CHs, high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Weakness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Weak CHs may be elected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Overhead shortens lifetime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7818120" y="1463040"/>
            <a:ext cx="3611880" cy="4343400"/>
          </a:xfrm>
          <a:prstGeom prst="roundRect">
            <a:avLst>
              <a:gd name="adj" fmla="val 3038"/>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19288" y="1600200"/>
            <a:ext cx="32278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Key insight</a:t>
            </a:r>
            <a:endParaRPr lang="en-US" sz="1500" dirty="0"/>
          </a:p>
        </p:txBody>
      </p:sp>
      <p:sp>
        <p:nvSpPr>
          <p:cNvPr id="23" name="Text 19"/>
          <p:cNvSpPr txBox="1"/>
          <p:nvPr/>
        </p:nvSpPr>
        <p:spPr>
          <a:xfrm>
            <a:off x="8019288" y="2194560"/>
            <a:ext cx="3209544" cy="3474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Combine LEACH's lightweight rotation with HEED's energy- and connectivity-aware CH quality — without HEED's per-round negotiation cost.</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This is the starting point (v1) of the proposed protocol.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Cluster-based vs. Chain-based</a:t>
            </a:r>
            <a:pPr indent="0" marL="0">
              <a:buNone/>
            </a:pPr>
            <a:r>
              <a:rPr lang="en-US" sz="2100" dirty="0">
                <a:solidFill>
                  <a:srgbClr val="8A2522"/>
                </a:solidFill>
                <a:latin typeface="Arial" pitchFamily="34" charset="0"/>
                <a:ea typeface="Arial" pitchFamily="34" charset="-122"/>
                <a:cs typeface="Arial" pitchFamily="34" charset="-120"/>
              </a:rPr>
              <a:t>  –  LEACH &amp; PEGASIS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11</a:t>
            </a:r>
            <a:endParaRPr lang="en-US" sz="1000" dirty="0"/>
          </a:p>
        </p:txBody>
      </p:sp>
      <p:pic>
        <p:nvPicPr>
          <p:cNvPr id="19" name="Image 0" descr="img/bg_leach_pegasis.png">    </p:cNvPr>
          <p:cNvPicPr>
            <a:picLocks noChangeAspect="1"/>
          </p:cNvPicPr>
          <p:nvPr/>
        </p:nvPicPr>
        <p:blipFill>
          <a:blip r:embed="rId1"/>
          <a:stretch>
            <a:fillRect/>
          </a:stretch>
        </p:blipFill>
        <p:spPr>
          <a:xfrm>
            <a:off x="640080" y="1447800"/>
            <a:ext cx="6766560" cy="4511040"/>
          </a:xfrm>
          <a:prstGeom prst="rect">
            <a:avLst/>
          </a:prstGeom>
        </p:spPr>
      </p:pic>
      <p:sp>
        <p:nvSpPr>
          <p:cNvPr id="20" name="Shape 17"/>
          <p:cNvSpPr/>
          <p:nvPr/>
        </p:nvSpPr>
        <p:spPr>
          <a:xfrm>
            <a:off x="7680960" y="1417320"/>
            <a:ext cx="38404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882128" y="155448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PEGASIS (2002)</a:t>
            </a:r>
            <a:endParaRPr lang="en-US" sz="1500" dirty="0"/>
          </a:p>
        </p:txBody>
      </p:sp>
      <p:sp>
        <p:nvSpPr>
          <p:cNvPr id="22" name="Text 19"/>
          <p:cNvSpPr txBox="1"/>
          <p:nvPr/>
        </p:nvSpPr>
        <p:spPr>
          <a:xfrm>
            <a:off x="7882128" y="214884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Greedy chain through all nodes; one leader per round sends to the BS. Very long lifetime, but long delay and one chain = single point of failure.</a:t>
            </a:r>
            <a:endParaRPr lang="en-US" sz="1400" dirty="0"/>
          </a:p>
        </p:txBody>
      </p:sp>
      <p:sp>
        <p:nvSpPr>
          <p:cNvPr id="23" name="Shape 20"/>
          <p:cNvSpPr/>
          <p:nvPr/>
        </p:nvSpPr>
        <p:spPr>
          <a:xfrm>
            <a:off x="7680960" y="3749040"/>
            <a:ext cx="384048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882128" y="3886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Relevance to this work</a:t>
            </a:r>
            <a:endParaRPr lang="en-US" sz="1500" dirty="0"/>
          </a:p>
        </p:txBody>
      </p:sp>
      <p:sp>
        <p:nvSpPr>
          <p:cNvPr id="25" name="Text 22"/>
          <p:cNvSpPr txBox="1"/>
          <p:nvPr/>
        </p:nvSpPr>
        <p:spPr>
          <a:xfrm>
            <a:off x="7882128" y="448056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idea inspired the CH-to-CH relay (v6/v7) and, finally, the energy-aware relay of v8-Chain — used only when it saves energy.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Literature Hybrids</a:t>
            </a:r>
            <a:pPr indent="0" marL="0">
              <a:buNone/>
            </a:pPr>
            <a:r>
              <a:rPr lang="en-US" sz="2100" dirty="0">
                <a:solidFill>
                  <a:srgbClr val="8A2522"/>
                </a:solidFill>
                <a:latin typeface="Arial" pitchFamily="34" charset="0"/>
                <a:ea typeface="Arial" pitchFamily="34" charset="-122"/>
                <a:cs typeface="Arial" pitchFamily="34" charset="-120"/>
              </a:rPr>
              <a:t>  –  SH-LEACH &amp; H-LEACH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12</a:t>
            </a:r>
            <a:endParaRPr lang="en-US" sz="1000" dirty="0"/>
          </a:p>
        </p:txBody>
      </p:sp>
      <p:sp>
        <p:nvSpPr>
          <p:cNvPr id="19" name="Shape 17"/>
          <p:cNvSpPr/>
          <p:nvPr/>
        </p:nvSpPr>
        <p:spPr>
          <a:xfrm>
            <a:off x="82296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(2015)</a:t>
            </a:r>
            <a:endParaRPr lang="en-US" sz="1500" dirty="0"/>
          </a:p>
        </p:txBody>
      </p:sp>
      <p:sp>
        <p:nvSpPr>
          <p:cNvPr id="21" name="Text 19"/>
          <p:cNvSpPr txBox="1"/>
          <p:nvPr/>
        </p:nvSpPr>
        <p:spPr>
          <a:xfrm>
            <a:off x="102412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LEACH + HEED-style probability doubling</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Targets a later first node death</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the formula applies ONE doubling instead of HEED's iterative doubling.</a:t>
            </a:r>
            <a:endParaRPr lang="en-US" sz="1500" dirty="0"/>
          </a:p>
        </p:txBody>
      </p:sp>
      <p:sp>
        <p:nvSpPr>
          <p:cNvPr id="22" name="Shape 20"/>
          <p:cNvSpPr/>
          <p:nvPr/>
        </p:nvSpPr>
        <p:spPr>
          <a:xfrm>
            <a:off x="626364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(2016)</a:t>
            </a:r>
            <a:endParaRPr lang="en-US" sz="1500" dirty="0"/>
          </a:p>
        </p:txBody>
      </p:sp>
      <p:sp>
        <p:nvSpPr>
          <p:cNvPr id="24" name="Text 22"/>
          <p:cNvSpPr txBox="1"/>
          <p:nvPr/>
        </p:nvSpPr>
        <p:spPr>
          <a:xfrm>
            <a:off x="646480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Energy-gated election: only nodes with energy &gt; average may become CH</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with equal initial energy no node is strictly above average → no CH is ever elected (deadlock).</a:t>
            </a:r>
            <a:endParaRPr lang="en-US" sz="1500" dirty="0"/>
          </a:p>
        </p:txBody>
      </p:sp>
      <p:sp>
        <p:nvSpPr>
          <p:cNvPr id="25" name="Shape 23"/>
          <p:cNvSpPr/>
          <p:nvPr/>
        </p:nvSpPr>
        <p:spPr>
          <a:xfrm>
            <a:off x="822960" y="4800600"/>
            <a:ext cx="10607040" cy="1097280"/>
          </a:xfrm>
          <a:prstGeom prst="roundRect">
            <a:avLst>
              <a:gd name="adj" fmla="val 10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6" name="Text 24"/>
          <p:cNvSpPr txBox="1"/>
          <p:nvPr/>
        </p:nvSpPr>
        <p:spPr>
          <a:xfrm>
            <a:off x="1024128" y="49377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they show</a:t>
            </a:r>
            <a:endParaRPr lang="en-US" sz="1500" dirty="0"/>
          </a:p>
        </p:txBody>
      </p:sp>
      <p:sp>
        <p:nvSpPr>
          <p:cNvPr id="27" name="Text 25"/>
          <p:cNvSpPr txBox="1"/>
          <p:nvPr/>
        </p:nvSpPr>
        <p:spPr>
          <a:xfrm>
            <a:off x="1024128" y="5532120"/>
            <a:ext cx="10204704" cy="2286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Fusing LEACH and HEED helps CH selection — but neither handles cluster reuse, CH failure or inter-cluster relaying.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Recent Related Work</a:t>
            </a:r>
            <a:pPr indent="0" marL="0">
              <a:buNone/>
            </a:pPr>
            <a:r>
              <a:rPr lang="en-US" sz="2100" dirty="0">
                <a:solidFill>
                  <a:srgbClr val="8A2522"/>
                </a:solidFill>
                <a:latin typeface="Arial" pitchFamily="34" charset="0"/>
                <a:ea typeface="Arial" pitchFamily="34" charset="-122"/>
                <a:cs typeface="Arial" pitchFamily="34" charset="-120"/>
              </a:rPr>
              <a:t>  –  2024 – 2026</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377440"/>
                <a:gridCol w="1645920"/>
                <a:gridCol w="3383280"/>
                <a:gridCol w="3200400"/>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Paper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Gap w.r.t. this work</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Kaur et al.,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 + EECH zones + adaptive threshold sensing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Not LEACH+HEED; no reuse or failure recovery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Juwaied &amp; Jackowska-Strumillo,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DL-HEED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Graph neural network replaces HEED's CH formula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Training/inference cost; no reuse or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Subedi et al., 2024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TLC-LEACH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Two-level grid clustering, angular boundary fix</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 failure recovery; no energy × connectivity score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El-Sayed et al., 2026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RL-ILEACH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Q-learning inside ILEACH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PDR gain not significant; no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Razaque 2016 / Shrestha 2015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 / 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Direct LEACH + HEED fusion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No reuse, failover or relay — the gap targeted here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Related Mechanisms</a:t>
            </a:r>
            <a:pPr indent="0" marL="0">
              <a:buNone/>
            </a:pPr>
            <a:r>
              <a:rPr lang="en-US" sz="2100" dirty="0">
                <a:solidFill>
                  <a:srgbClr val="8A2522"/>
                </a:solidFill>
                <a:latin typeface="Arial" pitchFamily="34" charset="0"/>
                <a:ea typeface="Arial" pitchFamily="34" charset="-122"/>
                <a:cs typeface="Arial" pitchFamily="34" charset="-120"/>
              </a:rPr>
              <a:t>  –  What exists vs. what is new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926080"/>
                <a:gridCol w="3474720"/>
                <a:gridCol w="4206240"/>
              </a:tblGrid>
              <a:tr h="54864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Mechanism in v8-Chain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Where it already appears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 this thesis adds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LEACH + HEED fusion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H-LEACH [5], SH-LEACH [4]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Single-pass score + reuse; fixes to both papers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Backup cluster head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FTEC [10] (HEED + backup CH)</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Backup + cluster repair with a live-average energy test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CH hand-over before depletion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Threshold-based CH rotation (review [11])</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Proactive hand-over per round, cost-based trigger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Inter-cluster multi-hop</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EEUC [12], EAUCA [13]</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Relay only when cheaper than direct — adapts to BS position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Two-slope radio model</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Heinzelman et al. 2002 [14]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Same model for every protocol (fair comparison)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Shape 17"/>
          <p:cNvSpPr/>
          <p:nvPr/>
        </p:nvSpPr>
        <p:spPr>
          <a:xfrm>
            <a:off x="822960" y="5303520"/>
            <a:ext cx="10607040" cy="640080"/>
          </a:xfrm>
          <a:prstGeom prst="roundRect">
            <a:avLst>
              <a:gd name="adj" fmla="val 171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44068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No reviewed work combines all four pillars — the novelty is the integration and its controlled, step-by-step evaluation.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Gap</a:t>
            </a:r>
            <a:pPr indent="0" marL="0">
              <a:buNone/>
            </a:pPr>
            <a:r>
              <a:rPr lang="en-US" sz="2100" dirty="0">
                <a:solidFill>
                  <a:srgbClr val="8A2522"/>
                </a:solidFill>
                <a:latin typeface="Arial" pitchFamily="34" charset="0"/>
                <a:ea typeface="Arial" pitchFamily="34" charset="-122"/>
                <a:cs typeface="Arial" pitchFamily="34" charset="-120"/>
              </a:rPr>
              <a:t>  –  What is still missing</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15</a:t>
            </a:r>
            <a:endParaRPr lang="en-US" sz="1000" dirty="0"/>
          </a:p>
        </p:txBody>
      </p:sp>
      <p:sp>
        <p:nvSpPr>
          <p:cNvPr id="20" name="Shape 17"/>
          <p:cNvSpPr/>
          <p:nvPr/>
        </p:nvSpPr>
        <p:spPr>
          <a:xfrm>
            <a:off x="822960"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73736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Energy-aware CH selection</a:t>
            </a:r>
            <a:endParaRPr lang="en-US" sz="1500" dirty="0"/>
          </a:p>
        </p:txBody>
      </p:sp>
      <p:sp>
        <p:nvSpPr>
          <p:cNvPr id="24" name="Text 21"/>
          <p:cNvSpPr txBox="1"/>
          <p:nvPr/>
        </p:nvSpPr>
        <p:spPr>
          <a:xfrm>
            <a:off x="1024128"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Energy × connectivity score</a:t>
            </a:r>
            <a:endParaRPr lang="en-US" sz="1600" dirty="0"/>
          </a:p>
        </p:txBody>
      </p:sp>
      <p:sp>
        <p:nvSpPr>
          <p:cNvPr id="25" name="Shape 22"/>
          <p:cNvSpPr/>
          <p:nvPr/>
        </p:nvSpPr>
        <p:spPr>
          <a:xfrm>
            <a:off x="3538728"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739896" y="173736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739896"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4315968"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Multi-round cluster reuse</a:t>
            </a:r>
            <a:endParaRPr lang="en-US" sz="1500" dirty="0"/>
          </a:p>
        </p:txBody>
      </p:sp>
      <p:sp>
        <p:nvSpPr>
          <p:cNvPr id="29" name="Text 26"/>
          <p:cNvSpPr txBox="1"/>
          <p:nvPr/>
        </p:nvSpPr>
        <p:spPr>
          <a:xfrm>
            <a:off x="3739896"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Less setup overhead</a:t>
            </a:r>
            <a:endParaRPr lang="en-US" sz="1600" dirty="0"/>
          </a:p>
        </p:txBody>
      </p:sp>
      <p:sp>
        <p:nvSpPr>
          <p:cNvPr id="30" name="Shape 27"/>
          <p:cNvSpPr/>
          <p:nvPr/>
        </p:nvSpPr>
        <p:spPr>
          <a:xfrm>
            <a:off x="6254496"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6455664" y="173736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6455664"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7031736"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CH failure recovery</a:t>
            </a:r>
            <a:endParaRPr lang="en-US" sz="1500" dirty="0"/>
          </a:p>
        </p:txBody>
      </p:sp>
      <p:sp>
        <p:nvSpPr>
          <p:cNvPr id="34" name="Text 31"/>
          <p:cNvSpPr txBox="1"/>
          <p:nvPr/>
        </p:nvSpPr>
        <p:spPr>
          <a:xfrm>
            <a:off x="6455664"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Backup CH + repair (and prevention)</a:t>
            </a:r>
            <a:endParaRPr lang="en-US" sz="1600" dirty="0"/>
          </a:p>
        </p:txBody>
      </p:sp>
      <p:sp>
        <p:nvSpPr>
          <p:cNvPr id="35" name="Shape 32"/>
          <p:cNvSpPr/>
          <p:nvPr/>
        </p:nvSpPr>
        <p:spPr>
          <a:xfrm>
            <a:off x="8970264"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9171432" y="173736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9171432"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9747504"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Adaptive inter-cluster relay</a:t>
            </a:r>
            <a:endParaRPr lang="en-US" sz="1500" dirty="0"/>
          </a:p>
        </p:txBody>
      </p:sp>
      <p:sp>
        <p:nvSpPr>
          <p:cNvPr id="39" name="Text 36"/>
          <p:cNvSpPr txBox="1"/>
          <p:nvPr/>
        </p:nvSpPr>
        <p:spPr>
          <a:xfrm>
            <a:off x="9171432"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CH-to-CH only when it saves energy</a:t>
            </a:r>
            <a:endParaRPr lang="en-US" sz="1600" dirty="0"/>
          </a:p>
        </p:txBody>
      </p:sp>
      <p:sp>
        <p:nvSpPr>
          <p:cNvPr id="40" name="Shape 37"/>
          <p:cNvSpPr/>
          <p:nvPr/>
        </p:nvSpPr>
        <p:spPr>
          <a:xfrm>
            <a:off x="822960" y="4343400"/>
            <a:ext cx="10607040" cy="1463040"/>
          </a:xfrm>
          <a:prstGeom prst="roundRect">
            <a:avLst>
              <a:gd name="adj" fmla="val 7500"/>
            </a:avLst>
          </a:prstGeom>
          <a:solidFill>
            <a:srgbClr val="8A2522"/>
          </a:solidFill>
          <a:ln w="12700">
            <a:solidFill>
              <a:srgbClr val="8A2522"/>
            </a:solidFill>
            <a:prstDash val="solid"/>
          </a:ln>
        </p:spPr>
      </p:sp>
      <p:sp>
        <p:nvSpPr>
          <p:cNvPr id="41" name="Text 38"/>
          <p:cNvSpPr txBox="1"/>
          <p:nvPr/>
        </p:nvSpPr>
        <p:spPr>
          <a:xfrm>
            <a:off x="1097280" y="4389120"/>
            <a:ext cx="10058400" cy="13716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Our direction: </a:t>
            </a:r>
            <a:pPr indent="0" marL="0">
              <a:buNone/>
            </a:pPr>
            <a:r>
              <a:rPr lang="en-US" sz="1700" dirty="0">
                <a:solidFill>
                  <a:srgbClr val="FFFFFF"/>
                </a:solidFill>
                <a:latin typeface="Arial" pitchFamily="34" charset="0"/>
                <a:ea typeface="Arial" pitchFamily="34" charset="-122"/>
                <a:cs typeface="Arial" pitchFamily="34" charset="-120"/>
              </a:rPr>
              <a:t>one integrated hybrid clustering &amp; routing protocol that combines all four pillars — evaluated step by step against the reproduced baselines.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03</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Methodology</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Reproduce → unify → modify → design → test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Workflow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17</a:t>
            </a:r>
            <a:endParaRPr lang="en-US" sz="1000" dirty="0"/>
          </a:p>
        </p:txBody>
      </p:sp>
      <p:sp>
        <p:nvSpPr>
          <p:cNvPr id="20" name="Shape 17"/>
          <p:cNvSpPr/>
          <p:nvPr/>
        </p:nvSpPr>
        <p:spPr>
          <a:xfrm>
            <a:off x="822960" y="1600200"/>
            <a:ext cx="1280160" cy="1417320"/>
          </a:xfrm>
          <a:prstGeom prst="roundRect">
            <a:avLst>
              <a:gd name="adj" fmla="val 7143"/>
            </a:avLst>
          </a:prstGeom>
          <a:solidFill>
            <a:srgbClr val="FFFFFF"/>
          </a:solidFill>
          <a:ln w="12700">
            <a:solidFill>
              <a:srgbClr val="D6D3C7"/>
            </a:solidFill>
            <a:prstDash val="solid"/>
          </a:ln>
        </p:spPr>
      </p:sp>
      <p:sp>
        <p:nvSpPr>
          <p:cNvPr id="21" name="Text 18"/>
          <p:cNvSpPr txBox="1"/>
          <p:nvPr/>
        </p:nvSpPr>
        <p:spPr>
          <a:xfrm>
            <a:off x="8961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1</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Literature review</a:t>
            </a:r>
            <a:endParaRPr lang="en-US" sz="2200" dirty="0"/>
          </a:p>
        </p:txBody>
      </p:sp>
      <p:sp>
        <p:nvSpPr>
          <p:cNvPr id="22" name="Shape 19"/>
          <p:cNvSpPr/>
          <p:nvPr/>
        </p:nvSpPr>
        <p:spPr>
          <a:xfrm>
            <a:off x="2144268" y="2208276"/>
            <a:ext cx="192024" cy="201168"/>
          </a:xfrm>
          <a:prstGeom prst="rightArrow">
            <a:avLst/>
          </a:prstGeom>
          <a:solidFill>
            <a:srgbClr val="8A2522"/>
          </a:solidFill>
          <a:ln w="12700">
            <a:solidFill>
              <a:srgbClr val="8A2522"/>
            </a:solidFill>
            <a:prstDash val="solid"/>
          </a:ln>
        </p:spPr>
      </p:sp>
      <p:sp>
        <p:nvSpPr>
          <p:cNvPr id="23" name="Shape 20"/>
          <p:cNvSpPr/>
          <p:nvPr/>
        </p:nvSpPr>
        <p:spPr>
          <a:xfrm>
            <a:off x="2377440" y="1600200"/>
            <a:ext cx="1280160" cy="1417320"/>
          </a:xfrm>
          <a:prstGeom prst="roundRect">
            <a:avLst>
              <a:gd name="adj" fmla="val 7143"/>
            </a:avLst>
          </a:prstGeom>
          <a:solidFill>
            <a:srgbClr val="FFFFFF"/>
          </a:solidFill>
          <a:ln w="12700">
            <a:solidFill>
              <a:srgbClr val="D6D3C7"/>
            </a:solidFill>
            <a:prstDash val="solid"/>
          </a:ln>
        </p:spPr>
      </p:sp>
      <p:sp>
        <p:nvSpPr>
          <p:cNvPr id="24" name="Text 21"/>
          <p:cNvSpPr txBox="1"/>
          <p:nvPr/>
        </p:nvSpPr>
        <p:spPr>
          <a:xfrm>
            <a:off x="24505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2</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Protocol reconstruction</a:t>
            </a:r>
            <a:endParaRPr lang="en-US" sz="2200" dirty="0"/>
          </a:p>
        </p:txBody>
      </p:sp>
      <p:sp>
        <p:nvSpPr>
          <p:cNvPr id="25" name="Shape 22"/>
          <p:cNvSpPr/>
          <p:nvPr/>
        </p:nvSpPr>
        <p:spPr>
          <a:xfrm>
            <a:off x="3698748" y="2208276"/>
            <a:ext cx="192024" cy="201168"/>
          </a:xfrm>
          <a:prstGeom prst="rightArrow">
            <a:avLst/>
          </a:prstGeom>
          <a:solidFill>
            <a:srgbClr val="8A2522"/>
          </a:solidFill>
          <a:ln w="12700">
            <a:solidFill>
              <a:srgbClr val="8A2522"/>
            </a:solidFill>
            <a:prstDash val="solid"/>
          </a:ln>
        </p:spPr>
      </p:sp>
      <p:sp>
        <p:nvSpPr>
          <p:cNvPr id="26" name="Shape 23"/>
          <p:cNvSpPr/>
          <p:nvPr/>
        </p:nvSpPr>
        <p:spPr>
          <a:xfrm>
            <a:off x="3931920" y="1600200"/>
            <a:ext cx="1280160" cy="1417320"/>
          </a:xfrm>
          <a:prstGeom prst="roundRect">
            <a:avLst>
              <a:gd name="adj" fmla="val 7143"/>
            </a:avLst>
          </a:prstGeom>
          <a:solidFill>
            <a:srgbClr val="FFFFFF"/>
          </a:solidFill>
          <a:ln w="12700">
            <a:solidFill>
              <a:srgbClr val="D6D3C7"/>
            </a:solidFill>
            <a:prstDash val="solid"/>
          </a:ln>
        </p:spPr>
      </p:sp>
      <p:sp>
        <p:nvSpPr>
          <p:cNvPr id="27" name="Text 24"/>
          <p:cNvSpPr txBox="1"/>
          <p:nvPr/>
        </p:nvSpPr>
        <p:spPr>
          <a:xfrm>
            <a:off x="400507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3</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Unified environment</a:t>
            </a:r>
            <a:endParaRPr lang="en-US" sz="2200" dirty="0"/>
          </a:p>
        </p:txBody>
      </p:sp>
      <p:sp>
        <p:nvSpPr>
          <p:cNvPr id="28" name="Shape 25"/>
          <p:cNvSpPr/>
          <p:nvPr/>
        </p:nvSpPr>
        <p:spPr>
          <a:xfrm>
            <a:off x="5253228" y="2208276"/>
            <a:ext cx="192024" cy="201168"/>
          </a:xfrm>
          <a:prstGeom prst="rightArrow">
            <a:avLst/>
          </a:prstGeom>
          <a:solidFill>
            <a:srgbClr val="8A2522"/>
          </a:solidFill>
          <a:ln w="12700">
            <a:solidFill>
              <a:srgbClr val="8A2522"/>
            </a:solidFill>
            <a:prstDash val="solid"/>
          </a:ln>
        </p:spPr>
      </p:sp>
      <p:sp>
        <p:nvSpPr>
          <p:cNvPr id="29" name="Shape 26"/>
          <p:cNvSpPr/>
          <p:nvPr/>
        </p:nvSpPr>
        <p:spPr>
          <a:xfrm>
            <a:off x="5486400" y="1600200"/>
            <a:ext cx="1280160" cy="1417320"/>
          </a:xfrm>
          <a:prstGeom prst="roundRect">
            <a:avLst>
              <a:gd name="adj" fmla="val 7143"/>
            </a:avLst>
          </a:prstGeom>
          <a:solidFill>
            <a:srgbClr val="FFFFFF"/>
          </a:solidFill>
          <a:ln w="12700">
            <a:solidFill>
              <a:srgbClr val="D6D3C7"/>
            </a:solidFill>
            <a:prstDash val="solid"/>
          </a:ln>
        </p:spPr>
      </p:sp>
      <p:sp>
        <p:nvSpPr>
          <p:cNvPr id="30" name="Text 27"/>
          <p:cNvSpPr txBox="1"/>
          <p:nvPr/>
        </p:nvSpPr>
        <p:spPr>
          <a:xfrm>
            <a:off x="555955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4</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Targeted fixes</a:t>
            </a:r>
            <a:endParaRPr lang="en-US" sz="2200" dirty="0"/>
          </a:p>
        </p:txBody>
      </p:sp>
      <p:sp>
        <p:nvSpPr>
          <p:cNvPr id="31" name="Shape 28"/>
          <p:cNvSpPr/>
          <p:nvPr/>
        </p:nvSpPr>
        <p:spPr>
          <a:xfrm>
            <a:off x="6807708" y="2208276"/>
            <a:ext cx="192024" cy="201168"/>
          </a:xfrm>
          <a:prstGeom prst="rightArrow">
            <a:avLst/>
          </a:prstGeom>
          <a:solidFill>
            <a:srgbClr val="8A2522"/>
          </a:solidFill>
          <a:ln w="12700">
            <a:solidFill>
              <a:srgbClr val="8A2522"/>
            </a:solidFill>
            <a:prstDash val="solid"/>
          </a:ln>
        </p:spPr>
      </p:sp>
      <p:sp>
        <p:nvSpPr>
          <p:cNvPr id="32" name="Shape 29"/>
          <p:cNvSpPr/>
          <p:nvPr/>
        </p:nvSpPr>
        <p:spPr>
          <a:xfrm>
            <a:off x="7040880" y="1600200"/>
            <a:ext cx="1280160" cy="1417320"/>
          </a:xfrm>
          <a:prstGeom prst="roundRect">
            <a:avLst>
              <a:gd name="adj" fmla="val 7143"/>
            </a:avLst>
          </a:prstGeom>
          <a:solidFill>
            <a:srgbClr val="FFFFFF"/>
          </a:solidFill>
          <a:ln w="12700">
            <a:solidFill>
              <a:srgbClr val="D6D3C7"/>
            </a:solidFill>
            <a:prstDash val="solid"/>
          </a:ln>
        </p:spPr>
      </p:sp>
      <p:sp>
        <p:nvSpPr>
          <p:cNvPr id="33" name="Text 30"/>
          <p:cNvSpPr txBox="1"/>
          <p:nvPr/>
        </p:nvSpPr>
        <p:spPr>
          <a:xfrm>
            <a:off x="711403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5</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Proposed protocol</a:t>
            </a:r>
            <a:endParaRPr lang="en-US" sz="2200" dirty="0"/>
          </a:p>
        </p:txBody>
      </p:sp>
      <p:sp>
        <p:nvSpPr>
          <p:cNvPr id="34" name="Shape 31"/>
          <p:cNvSpPr/>
          <p:nvPr/>
        </p:nvSpPr>
        <p:spPr>
          <a:xfrm>
            <a:off x="8362188" y="2208276"/>
            <a:ext cx="192024" cy="201168"/>
          </a:xfrm>
          <a:prstGeom prst="rightArrow">
            <a:avLst/>
          </a:prstGeom>
          <a:solidFill>
            <a:srgbClr val="8A2522"/>
          </a:solidFill>
          <a:ln w="12700">
            <a:solidFill>
              <a:srgbClr val="8A2522"/>
            </a:solidFill>
            <a:prstDash val="solid"/>
          </a:ln>
        </p:spPr>
      </p:sp>
      <p:sp>
        <p:nvSpPr>
          <p:cNvPr id="35" name="Shape 32"/>
          <p:cNvSpPr/>
          <p:nvPr/>
        </p:nvSpPr>
        <p:spPr>
          <a:xfrm>
            <a:off x="8595360" y="1600200"/>
            <a:ext cx="1280160" cy="1417320"/>
          </a:xfrm>
          <a:prstGeom prst="roundRect">
            <a:avLst>
              <a:gd name="adj" fmla="val 7143"/>
            </a:avLst>
          </a:prstGeom>
          <a:solidFill>
            <a:srgbClr val="FFFFFF"/>
          </a:solidFill>
          <a:ln w="12700">
            <a:solidFill>
              <a:srgbClr val="D6D3C7"/>
            </a:solidFill>
            <a:prstDash val="solid"/>
          </a:ln>
        </p:spPr>
      </p:sp>
      <p:sp>
        <p:nvSpPr>
          <p:cNvPr id="36" name="Text 33"/>
          <p:cNvSpPr txBox="1"/>
          <p:nvPr/>
        </p:nvSpPr>
        <p:spPr>
          <a:xfrm>
            <a:off x="86685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6</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Controlled experiments</a:t>
            </a:r>
            <a:endParaRPr lang="en-US" sz="2200" dirty="0"/>
          </a:p>
        </p:txBody>
      </p:sp>
      <p:sp>
        <p:nvSpPr>
          <p:cNvPr id="37" name="Shape 34"/>
          <p:cNvSpPr/>
          <p:nvPr/>
        </p:nvSpPr>
        <p:spPr>
          <a:xfrm>
            <a:off x="9916668" y="2208276"/>
            <a:ext cx="192024" cy="201168"/>
          </a:xfrm>
          <a:prstGeom prst="rightArrow">
            <a:avLst/>
          </a:prstGeom>
          <a:solidFill>
            <a:srgbClr val="8A2522"/>
          </a:solidFill>
          <a:ln w="12700">
            <a:solidFill>
              <a:srgbClr val="8A2522"/>
            </a:solidFill>
            <a:prstDash val="solid"/>
          </a:ln>
        </p:spPr>
      </p:sp>
      <p:sp>
        <p:nvSpPr>
          <p:cNvPr id="38" name="Shape 35"/>
          <p:cNvSpPr/>
          <p:nvPr/>
        </p:nvSpPr>
        <p:spPr>
          <a:xfrm>
            <a:off x="10149840" y="1600200"/>
            <a:ext cx="1280160" cy="1417320"/>
          </a:xfrm>
          <a:prstGeom prst="roundRect">
            <a:avLst>
              <a:gd name="adj" fmla="val 7143"/>
            </a:avLst>
          </a:prstGeom>
          <a:solidFill>
            <a:srgbClr val="FFFFFF"/>
          </a:solidFill>
          <a:ln w="12700">
            <a:solidFill>
              <a:srgbClr val="D6D3C7"/>
            </a:solidFill>
            <a:prstDash val="solid"/>
          </a:ln>
        </p:spPr>
      </p:sp>
      <p:sp>
        <p:nvSpPr>
          <p:cNvPr id="39" name="Text 36"/>
          <p:cNvSpPr txBox="1"/>
          <p:nvPr/>
        </p:nvSpPr>
        <p:spPr>
          <a:xfrm>
            <a:off x="102229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7</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Analysis</a:t>
            </a:r>
            <a:endParaRPr lang="en-US" sz="2200" dirty="0"/>
          </a:p>
        </p:txBody>
      </p:sp>
      <p:sp>
        <p:nvSpPr>
          <p:cNvPr id="40" name="Shape 37"/>
          <p:cNvSpPr/>
          <p:nvPr/>
        </p:nvSpPr>
        <p:spPr>
          <a:xfrm>
            <a:off x="82296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Text 38"/>
          <p:cNvSpPr txBox="1"/>
          <p:nvPr/>
        </p:nvSpPr>
        <p:spPr>
          <a:xfrm>
            <a:off x="102412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Two-step reproduction</a:t>
            </a:r>
            <a:endParaRPr lang="en-US" sz="1500" dirty="0"/>
          </a:p>
        </p:txBody>
      </p:sp>
      <p:sp>
        <p:nvSpPr>
          <p:cNvPr id="42" name="Text 39"/>
          <p:cNvSpPr txBox="1"/>
          <p:nvPr/>
        </p:nvSpPr>
        <p:spPr>
          <a:xfrm>
            <a:off x="102412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1 — paper-exact: our code with each paper's own field, radio, BS and packet size → validates the implementation.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2 — unified: the same code in one common environment → protocols become directly comparable.</a:t>
            </a:r>
            <a:endParaRPr lang="en-US" sz="1500" dirty="0"/>
          </a:p>
        </p:txBody>
      </p:sp>
      <p:sp>
        <p:nvSpPr>
          <p:cNvPr id="43" name="Shape 40"/>
          <p:cNvSpPr/>
          <p:nvPr/>
        </p:nvSpPr>
        <p:spPr>
          <a:xfrm>
            <a:off x="626364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4" name="Text 41"/>
          <p:cNvSpPr txBox="1"/>
          <p:nvPr/>
        </p:nvSpPr>
        <p:spPr>
          <a:xfrm>
            <a:off x="646480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One change per version</a:t>
            </a:r>
            <a:endParaRPr lang="en-US" sz="1500" dirty="0"/>
          </a:p>
        </p:txBody>
      </p:sp>
      <p:sp>
        <p:nvSpPr>
          <p:cNvPr id="45" name="Text 42"/>
          <p:cNvSpPr txBox="1"/>
          <p:nvPr/>
        </p:nvSpPr>
        <p:spPr>
          <a:xfrm>
            <a:off x="646480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proposed protocol was developed version by version, changing ONE mechanism each time, so every gain or loss can be attributed to its cause.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Tools &amp; Setup</a:t>
            </a:r>
            <a:pPr indent="0" marL="0">
              <a:buNone/>
            </a:pPr>
            <a:r>
              <a:rPr lang="en-US" sz="2100" dirty="0">
                <a:solidFill>
                  <a:srgbClr val="8A2522"/>
                </a:solidFill>
                <a:latin typeface="Arial" pitchFamily="34" charset="0"/>
                <a:ea typeface="Arial" pitchFamily="34" charset="-122"/>
                <a:cs typeface="Arial" pitchFamily="34" charset="-120"/>
              </a:rPr>
              <a:t>  –  Where the experiments start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18</a:t>
            </a:r>
            <a:endParaRPr lang="en-US" sz="1000" dirty="0"/>
          </a:p>
        </p:txBody>
      </p:sp>
      <p:sp>
        <p:nvSpPr>
          <p:cNvPr id="20" name="Shape 17"/>
          <p:cNvSpPr/>
          <p:nvPr/>
        </p:nvSpPr>
        <p:spPr>
          <a:xfrm>
            <a:off x="822960" y="1371600"/>
            <a:ext cx="1916582"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VMware</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virtual machine</a:t>
            </a:r>
            <a:endParaRPr lang="en-US" sz="1500" dirty="0"/>
          </a:p>
        </p:txBody>
      </p:sp>
      <p:sp>
        <p:nvSpPr>
          <p:cNvPr id="22" name="Shape 19"/>
          <p:cNvSpPr/>
          <p:nvPr/>
        </p:nvSpPr>
        <p:spPr>
          <a:xfrm>
            <a:off x="2777947" y="1705356"/>
            <a:ext cx="179222" cy="201168"/>
          </a:xfrm>
          <a:prstGeom prst="rightArrow">
            <a:avLst/>
          </a:prstGeom>
          <a:solidFill>
            <a:srgbClr val="8A2522"/>
          </a:solidFill>
          <a:ln w="12700">
            <a:solidFill>
              <a:srgbClr val="8A2522"/>
            </a:solidFill>
            <a:prstDash val="solid"/>
          </a:ln>
        </p:spPr>
      </p:sp>
      <p:sp>
        <p:nvSpPr>
          <p:cNvPr id="23" name="Shape 20"/>
          <p:cNvSpPr/>
          <p:nvPr/>
        </p:nvSpPr>
        <p:spPr>
          <a:xfrm>
            <a:off x="2995574" y="1371600"/>
            <a:ext cx="1916582"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068726"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Ubuntu Linux</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operating system</a:t>
            </a:r>
            <a:endParaRPr lang="en-US" sz="1500" dirty="0"/>
          </a:p>
        </p:txBody>
      </p:sp>
      <p:sp>
        <p:nvSpPr>
          <p:cNvPr id="25" name="Shape 22"/>
          <p:cNvSpPr/>
          <p:nvPr/>
        </p:nvSpPr>
        <p:spPr>
          <a:xfrm>
            <a:off x="4950562" y="1705356"/>
            <a:ext cx="179222" cy="201168"/>
          </a:xfrm>
          <a:prstGeom prst="rightArrow">
            <a:avLst/>
          </a:prstGeom>
          <a:solidFill>
            <a:srgbClr val="8A2522"/>
          </a:solidFill>
          <a:ln w="12700">
            <a:solidFill>
              <a:srgbClr val="8A2522"/>
            </a:solidFill>
            <a:prstDash val="solid"/>
          </a:ln>
        </p:spPr>
      </p:sp>
      <p:sp>
        <p:nvSpPr>
          <p:cNvPr id="26" name="Shape 23"/>
          <p:cNvSpPr/>
          <p:nvPr/>
        </p:nvSpPr>
        <p:spPr>
          <a:xfrm>
            <a:off x="5168189" y="1371600"/>
            <a:ext cx="1916582"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5241341"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ns-3.41</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 network simulator</a:t>
            </a:r>
            <a:endParaRPr lang="en-US" sz="1500" dirty="0"/>
          </a:p>
        </p:txBody>
      </p:sp>
      <p:sp>
        <p:nvSpPr>
          <p:cNvPr id="28" name="Shape 25"/>
          <p:cNvSpPr/>
          <p:nvPr/>
        </p:nvSpPr>
        <p:spPr>
          <a:xfrm>
            <a:off x="7123176" y="1705356"/>
            <a:ext cx="179222" cy="201168"/>
          </a:xfrm>
          <a:prstGeom prst="rightArrow">
            <a:avLst/>
          </a:prstGeom>
          <a:solidFill>
            <a:srgbClr val="8A2522"/>
          </a:solidFill>
          <a:ln w="12700">
            <a:solidFill>
              <a:srgbClr val="8A2522"/>
            </a:solidFill>
            <a:prstDash val="solid"/>
          </a:ln>
        </p:spPr>
      </p:sp>
      <p:sp>
        <p:nvSpPr>
          <p:cNvPr id="29" name="Shape 26"/>
          <p:cNvSpPr/>
          <p:nvPr/>
        </p:nvSpPr>
        <p:spPr>
          <a:xfrm>
            <a:off x="7340803" y="1371600"/>
            <a:ext cx="1916582"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7413955"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NetAnim</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network animation</a:t>
            </a:r>
            <a:endParaRPr lang="en-US" sz="1500" dirty="0"/>
          </a:p>
        </p:txBody>
      </p:sp>
      <p:sp>
        <p:nvSpPr>
          <p:cNvPr id="31" name="Shape 28"/>
          <p:cNvSpPr/>
          <p:nvPr/>
        </p:nvSpPr>
        <p:spPr>
          <a:xfrm>
            <a:off x="9295790" y="1705356"/>
            <a:ext cx="179222" cy="201168"/>
          </a:xfrm>
          <a:prstGeom prst="rightArrow">
            <a:avLst/>
          </a:prstGeom>
          <a:solidFill>
            <a:srgbClr val="8A2522"/>
          </a:solidFill>
          <a:ln w="12700">
            <a:solidFill>
              <a:srgbClr val="8A2522"/>
            </a:solidFill>
            <a:prstDash val="solid"/>
          </a:ln>
        </p:spPr>
      </p:sp>
      <p:sp>
        <p:nvSpPr>
          <p:cNvPr id="32" name="Shape 29"/>
          <p:cNvSpPr/>
          <p:nvPr/>
        </p:nvSpPr>
        <p:spPr>
          <a:xfrm>
            <a:off x="9513418" y="1371600"/>
            <a:ext cx="1916582" cy="868680"/>
          </a:xfrm>
          <a:prstGeom prst="roundRect">
            <a:avLst>
              <a:gd name="adj" fmla="val 10526"/>
            </a:avLst>
          </a:prstGeom>
          <a:solidFill>
            <a:srgbClr val="FFFFFF"/>
          </a:solidFill>
          <a:ln w="12700">
            <a:solidFill>
              <a:srgbClr val="D6D3C7"/>
            </a:solidFill>
            <a:prstDash val="solid"/>
          </a:ln>
        </p:spPr>
      </p:sp>
      <p:sp>
        <p:nvSpPr>
          <p:cNvPr id="33" name="Text 30"/>
          <p:cNvSpPr txBox="1"/>
          <p:nvPr/>
        </p:nvSpPr>
        <p:spPr>
          <a:xfrm>
            <a:off x="9586570"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Python / Excel</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charts &amp; comparison</a:t>
            </a:r>
            <a:endParaRPr lang="en-US" sz="1500" dirty="0"/>
          </a:p>
        </p:txBody>
      </p:sp>
      <p:pic>
        <p:nvPicPr>
          <p:cNvPr id="34" name="Image 0" descr="img/vm_settings.png">    </p:cNvPr>
          <p:cNvPicPr>
            <a:picLocks noChangeAspect="1"/>
          </p:cNvPicPr>
          <p:nvPr/>
        </p:nvPicPr>
        <p:blipFill>
          <a:blip r:embed="rId1"/>
          <a:stretch>
            <a:fillRect/>
          </a:stretch>
        </p:blipFill>
        <p:spPr>
          <a:xfrm>
            <a:off x="822960" y="2622816"/>
            <a:ext cx="5166360" cy="2709648"/>
          </a:xfrm>
          <a:prstGeom prst="rect">
            <a:avLst/>
          </a:prstGeom>
        </p:spPr>
      </p:pic>
      <p:pic>
        <p:nvPicPr>
          <p:cNvPr id="35" name="Image 1" descr="img/vm_ubuntu.png">    </p:cNvPr>
          <p:cNvPicPr>
            <a:picLocks noChangeAspect="1"/>
          </p:cNvPicPr>
          <p:nvPr/>
        </p:nvPicPr>
        <p:blipFill>
          <a:blip r:embed="rId2"/>
          <a:stretch>
            <a:fillRect/>
          </a:stretch>
        </p:blipFill>
        <p:spPr>
          <a:xfrm>
            <a:off x="6263640" y="2623902"/>
            <a:ext cx="5166360" cy="2707475"/>
          </a:xfrm>
          <a:prstGeom prst="rect">
            <a:avLst/>
          </a:prstGeom>
        </p:spPr>
      </p:pic>
      <p:sp>
        <p:nvSpPr>
          <p:cNvPr id="36" name="Text 31"/>
          <p:cNvSpPr txBox="1"/>
          <p:nvPr/>
        </p:nvSpPr>
        <p:spPr>
          <a:xfrm>
            <a:off x="82296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VMware VM: 6 GB RAM · 6 cores · 40 GB · snapshot “clean + NS3”</a:t>
            </a:r>
            <a:endParaRPr lang="en-US" sz="1150" dirty="0"/>
          </a:p>
        </p:txBody>
      </p:sp>
      <p:sp>
        <p:nvSpPr>
          <p:cNvPr id="37" name="Text 32"/>
          <p:cNvSpPr txBox="1"/>
          <p:nvPr/>
        </p:nvSpPr>
        <p:spPr>
          <a:xfrm>
            <a:off x="626364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Ubuntu desktop running inside the VM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A simple network to confirm the idea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19</a:t>
            </a:r>
            <a:endParaRPr lang="en-US" sz="1000" dirty="0"/>
          </a:p>
        </p:txBody>
      </p:sp>
      <p:pic>
        <p:nvPicPr>
          <p:cNvPr id="20" name="Image 0" descr="img/first_netanim.png">    </p:cNvPr>
          <p:cNvPicPr>
            <a:picLocks noChangeAspect="1"/>
          </p:cNvPicPr>
          <p:nvPr/>
        </p:nvPicPr>
        <p:blipFill>
          <a:blip r:embed="rId1"/>
          <a:stretch>
            <a:fillRect/>
          </a:stretch>
        </p:blipFill>
        <p:spPr>
          <a:xfrm>
            <a:off x="822960" y="1448736"/>
            <a:ext cx="5577840" cy="3411889"/>
          </a:xfrm>
          <a:prstGeom prst="rect">
            <a:avLst/>
          </a:prstGeom>
        </p:spPr>
      </p:pic>
      <p:sp>
        <p:nvSpPr>
          <p:cNvPr id="21" name="Text 17"/>
          <p:cNvSpPr txBox="1"/>
          <p:nvPr/>
        </p:nvSpPr>
        <p:spPr>
          <a:xfrm>
            <a:off x="822960" y="4983480"/>
            <a:ext cx="557784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NetAnim view of the first network: nodes 0, 1, 2 = sensors · node 3 = sink</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75120" y="1371600"/>
          <a:ext cx="4754880" cy="914400"/>
        </p:xfrm>
        <a:graphic>
          <a:graphicData uri="http://schemas.openxmlformats.org/drawingml/2006/table">
            <a:tbl>
              <a:tblPr/>
              <a:tblGrid>
                <a:gridCol w="1371600"/>
                <a:gridCol w="3383280"/>
              </a:tblGrid>
              <a:tr h="56692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Nodes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3 sensors + 1 sink (MAC 00:01–00:04)</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Placement</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Random in a 20 × 20 m box</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Stack</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IEEE 802.15.4 LR-WPAN PHY + MAC, ACK on</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Channel</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Log-distance loss, constant-speed delay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Traffic</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50 B every 10 s per sensor, 1000 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Energy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100 J battery, 3.3 V · TX 17 mA · RX 19 mA</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Running it in ns-3</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20</a:t>
            </a:r>
            <a:endParaRPr lang="en-US" sz="1000" dirty="0"/>
          </a:p>
        </p:txBody>
      </p:sp>
      <p:pic>
        <p:nvPicPr>
          <p:cNvPr id="20" name="Image 0" descr="img/first_terminal.png">    </p:cNvPr>
          <p:cNvPicPr>
            <a:picLocks noChangeAspect="1"/>
          </p:cNvPicPr>
          <p:nvPr/>
        </p:nvPicPr>
        <p:blipFill>
          <a:blip r:embed="rId1"/>
          <a:stretch>
            <a:fillRect/>
          </a:stretch>
        </p:blipFill>
        <p:spPr>
          <a:xfrm>
            <a:off x="822960" y="1345868"/>
            <a:ext cx="5394960" cy="4166265"/>
          </a:xfrm>
          <a:prstGeom prst="rect">
            <a:avLst/>
          </a:prstGeom>
        </p:spPr>
      </p:pic>
      <p:pic>
        <p:nvPicPr>
          <p:cNvPr id="21" name="Image 1" descr="img/netanim_cmd.png">    </p:cNvPr>
          <p:cNvPicPr>
            <a:picLocks noChangeAspect="1"/>
          </p:cNvPicPr>
          <p:nvPr/>
        </p:nvPicPr>
        <p:blipFill>
          <a:blip r:embed="rId2"/>
          <a:stretch>
            <a:fillRect/>
          </a:stretch>
        </p:blipFill>
        <p:spPr>
          <a:xfrm>
            <a:off x="822960" y="5583265"/>
            <a:ext cx="5394960" cy="464638"/>
          </a:xfrm>
          <a:prstGeom prst="rect">
            <a:avLst/>
          </a:prstGeom>
        </p:spPr>
      </p:pic>
      <p:sp>
        <p:nvSpPr>
          <p:cNvPr id="22" name="Shape 17"/>
          <p:cNvSpPr/>
          <p:nvPr/>
        </p:nvSpPr>
        <p:spPr>
          <a:xfrm>
            <a:off x="6492240" y="1371600"/>
            <a:ext cx="493776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18"/>
          <p:cNvSpPr txBox="1"/>
          <p:nvPr/>
        </p:nvSpPr>
        <p:spPr>
          <a:xfrm>
            <a:off x="6693408" y="150876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Commands</a:t>
            </a:r>
            <a:endParaRPr lang="en-US" sz="1500" dirty="0"/>
          </a:p>
        </p:txBody>
      </p:sp>
      <p:sp>
        <p:nvSpPr>
          <p:cNvPr id="24" name="Text 19"/>
          <p:cNvSpPr txBox="1"/>
          <p:nvPr/>
        </p:nvSpPr>
        <p:spPr>
          <a:xfrm>
            <a:off x="6693408" y="2103120"/>
            <a:ext cx="4535424" cy="114300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~/ns-allinone-3.41/ns-3.41</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./ns3 run scratch/wsn-first-packet</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../netanim-3.109 &amp;&amp; ./NetAnim</a:t>
            </a:r>
            <a:endParaRPr lang="en-US" sz="1350" dirty="0"/>
          </a:p>
        </p:txBody>
      </p:sp>
      <p:sp>
        <p:nvSpPr>
          <p:cNvPr id="25" name="Shape 20"/>
          <p:cNvSpPr/>
          <p:nvPr/>
        </p:nvSpPr>
        <p:spPr>
          <a:xfrm>
            <a:off x="6492240" y="3611880"/>
            <a:ext cx="493776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1"/>
          <p:cNvSpPr txBox="1"/>
          <p:nvPr/>
        </p:nvSpPr>
        <p:spPr>
          <a:xfrm>
            <a:off x="6693408" y="374904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 terminal shows</a:t>
            </a:r>
            <a:endParaRPr lang="en-US" sz="1500" dirty="0"/>
          </a:p>
        </p:txBody>
      </p:sp>
      <p:sp>
        <p:nvSpPr>
          <p:cNvPr id="27" name="Text 22"/>
          <p:cNvSpPr txBox="1"/>
          <p:nvPr/>
        </p:nvSpPr>
        <p:spPr>
          <a:xfrm>
            <a:off x="6693408" y="4343400"/>
            <a:ext cx="4535424" cy="1508760"/>
          </a:xfrm>
          <a:prstGeom prst="rect">
            <a:avLst/>
          </a:prstGeom>
          <a:noFill/>
          <a:ln/>
        </p:spPr>
        <p:txBody>
          <a:bodyPr wrap="square" lIns="0" tIns="0" rIns="0" bIns="0" rtlCol="0" anchor="t"/>
          <a:lstStyle/>
          <a:p>
            <a:pPr indent="0" marL="0">
              <a:spcAft>
                <a:spcPts val="400"/>
              </a:spcAft>
              <a:buNone/>
            </a:pPr>
            <a:r>
              <a:rPr lang="en-US" sz="1300" dirty="0">
                <a:solidFill>
                  <a:srgbClr val="323232"/>
                </a:solidFill>
                <a:latin typeface="Arial" pitchFamily="34" charset="0"/>
                <a:ea typeface="Arial" pitchFamily="34" charset="-122"/>
                <a:cs typeface="Arial" pitchFamily="34" charset="-120"/>
              </a:rPr>
              <a:t>• 4 node positions + colours for NetAnim</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Each packet: 1 TX and 3 RX events — the channel is shared, so every node hears every frame</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“No ipv4 object found” is normal: 802.15.4 here runs without IP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Results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6035040" cy="914400"/>
        </p:xfrm>
        <a:graphic>
          <a:graphicData uri="http://schemas.openxmlformats.org/drawingml/2006/table">
            <a:tbl>
              <a:tblPr/>
              <a:tblGrid>
                <a:gridCol w="2651760"/>
                <a:gridCol w="3383280"/>
              </a:tblGrid>
              <a:tr h="50292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Packets sent /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300 / 300</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PDR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100 %</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Bytes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15 000 bytes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Throughput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120 bit/s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per sensor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 (37.36 J left)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by the sink</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Total energy (4 nodes)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250.54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Lifetime</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Not reached in 1000 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Text 17"/>
          <p:cNvSpPr txBox="1"/>
          <p:nvPr/>
        </p:nvSpPr>
        <p:spPr>
          <a:xfrm>
            <a:off x="7315200" y="14630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300 / 300</a:t>
            </a:r>
            <a:endParaRPr lang="en-US" sz="3600" dirty="0"/>
          </a:p>
        </p:txBody>
      </p:sp>
      <p:sp>
        <p:nvSpPr>
          <p:cNvPr id="22" name="Text 18"/>
          <p:cNvSpPr txBox="1"/>
          <p:nvPr/>
        </p:nvSpPr>
        <p:spPr>
          <a:xfrm>
            <a:off x="7315200" y="21945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 PDR 100 %</a:t>
            </a:r>
            <a:endParaRPr lang="en-US" sz="1350" dirty="0"/>
          </a:p>
        </p:txBody>
      </p:sp>
      <p:sp>
        <p:nvSpPr>
          <p:cNvPr id="23" name="Text 19"/>
          <p:cNvSpPr txBox="1"/>
          <p:nvPr/>
        </p:nvSpPr>
        <p:spPr>
          <a:xfrm>
            <a:off x="7315200" y="28346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120 bit/s</a:t>
            </a:r>
            <a:endParaRPr lang="en-US" sz="3600" dirty="0"/>
          </a:p>
        </p:txBody>
      </p:sp>
      <p:sp>
        <p:nvSpPr>
          <p:cNvPr id="24" name="Text 20"/>
          <p:cNvSpPr txBox="1"/>
          <p:nvPr/>
        </p:nvSpPr>
        <p:spPr>
          <a:xfrm>
            <a:off x="7315200" y="35661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throughput (15 000 bytes in 1000 s)</a:t>
            </a:r>
            <a:endParaRPr lang="en-US" sz="1350" dirty="0"/>
          </a:p>
        </p:txBody>
      </p:sp>
      <p:sp>
        <p:nvSpPr>
          <p:cNvPr id="25" name="Text 21"/>
          <p:cNvSpPr txBox="1"/>
          <p:nvPr/>
        </p:nvSpPr>
        <p:spPr>
          <a:xfrm>
            <a:off x="7315200" y="42062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62.64 J</a:t>
            </a:r>
            <a:endParaRPr lang="en-US" sz="3600" dirty="0"/>
          </a:p>
        </p:txBody>
      </p:sp>
      <p:sp>
        <p:nvSpPr>
          <p:cNvPr id="26" name="Text 22"/>
          <p:cNvSpPr txBox="1"/>
          <p:nvPr/>
        </p:nvSpPr>
        <p:spPr>
          <a:xfrm>
            <a:off x="7315200" y="49377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consumed by EVERY node — sensors and sink alike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 from the First Experiment</a:t>
            </a:r>
            <a:pPr indent="0" marL="0">
              <a:buNone/>
            </a:pPr>
            <a:r>
              <a:rPr lang="en-US" sz="2100" dirty="0">
                <a:solidFill>
                  <a:srgbClr val="8A2522"/>
                </a:solidFill>
                <a:latin typeface="Arial" pitchFamily="34" charset="0"/>
                <a:ea typeface="Arial" pitchFamily="34" charset="-122"/>
                <a:cs typeface="Arial" pitchFamily="34" charset="-120"/>
              </a:rPr>
              <a:t>  –  Energy</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22</a:t>
            </a:r>
            <a:endParaRPr lang="en-US" sz="1000" dirty="0"/>
          </a:p>
        </p:txBody>
      </p:sp>
      <p:sp>
        <p:nvSpPr>
          <p:cNvPr id="20" name="Shape 17"/>
          <p:cNvSpPr/>
          <p:nvPr/>
        </p:nvSpPr>
        <p:spPr>
          <a:xfrm>
            <a:off x="822960" y="1371600"/>
            <a:ext cx="516636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102412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Why every node used 62.64 J</a:t>
            </a:r>
            <a:endParaRPr lang="en-US" sz="1500" dirty="0"/>
          </a:p>
        </p:txBody>
      </p:sp>
      <p:sp>
        <p:nvSpPr>
          <p:cNvPr id="22" name="Text 19"/>
          <p:cNvSpPr txBox="1"/>
          <p:nvPr/>
        </p:nvSpPr>
        <p:spPr>
          <a:xfrm>
            <a:off x="102412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Radio always in RX mode (listening):</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3.3 V × 19 mA × 999 s ≈ 62.64 J</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Actual transmitting: ≈ 2 ms per packet → about 0.2 s in the whole run.</a:t>
            </a:r>
            <a:endParaRPr lang="en-US" sz="1400" dirty="0"/>
          </a:p>
        </p:txBody>
      </p:sp>
      <p:sp>
        <p:nvSpPr>
          <p:cNvPr id="23" name="Shape 20"/>
          <p:cNvSpPr/>
          <p:nvPr/>
        </p:nvSpPr>
        <p:spPr>
          <a:xfrm>
            <a:off x="6263640" y="1371600"/>
            <a:ext cx="516636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646480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Consequence</a:t>
            </a:r>
            <a:endParaRPr lang="en-US" sz="1500" dirty="0"/>
          </a:p>
        </p:txBody>
      </p:sp>
      <p:sp>
        <p:nvSpPr>
          <p:cNvPr id="25" name="Text 22"/>
          <p:cNvSpPr txBox="1"/>
          <p:nvPr/>
        </p:nvSpPr>
        <p:spPr>
          <a:xfrm>
            <a:off x="646480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At this rate every battery (100 J) empties after ≈ 1 600 s (≈ 27 min), even with no data at all. Idle listening, not sending, kills the node.</a:t>
            </a:r>
            <a:endParaRPr lang="en-US" sz="1400" dirty="0"/>
          </a:p>
        </p:txBody>
      </p:sp>
      <p:sp>
        <p:nvSpPr>
          <p:cNvPr id="26" name="Shape 23"/>
          <p:cNvSpPr/>
          <p:nvPr/>
        </p:nvSpPr>
        <p:spPr>
          <a:xfrm>
            <a:off x="822960" y="3749040"/>
            <a:ext cx="1060704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8620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this shaped the thesis</a:t>
            </a:r>
            <a:endParaRPr lang="en-US" sz="1500" dirty="0"/>
          </a:p>
        </p:txBody>
      </p:sp>
      <p:sp>
        <p:nvSpPr>
          <p:cNvPr id="28" name="Text 25"/>
          <p:cNvSpPr txBox="1"/>
          <p:nvPr/>
        </p:nvSpPr>
        <p:spPr>
          <a:xfrm>
            <a:off x="1024128" y="4480560"/>
            <a:ext cx="10204704" cy="132588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Nodes must sleep outside their turn → clustering with a TDMA schedule: members wake only in their slot, the CH listens for its cluster.</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100-node study therefore uses the first-order radio model, which charges energy per transmitted / received bit (it assumes sleeping outside the slot).</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small experiment confirmed the delivery chain (sensor → MAC → channel → sink) and the energy tracking before scaling up.</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Running the Protocols</a:t>
            </a:r>
            <a:pPr indent="0" marL="0">
              <a:buNone/>
            </a:pPr>
            <a:r>
              <a:rPr lang="en-US" sz="2100" dirty="0">
                <a:solidFill>
                  <a:srgbClr val="8A2522"/>
                </a:solidFill>
                <a:latin typeface="Arial" pitchFamily="34" charset="0"/>
                <a:ea typeface="Arial" pitchFamily="34" charset="-122"/>
                <a:cs typeface="Arial" pitchFamily="34" charset="-120"/>
              </a:rPr>
              <a:t>  –  ns-3 terminal</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23</a:t>
            </a:r>
            <a:endParaRPr lang="en-US" sz="1000" dirty="0"/>
          </a:p>
        </p:txBody>
      </p:sp>
      <p:pic>
        <p:nvPicPr>
          <p:cNvPr id="20" name="Image 0" descr="img/terminal_center.png">    </p:cNvPr>
          <p:cNvPicPr>
            <a:picLocks noChangeAspect="1"/>
          </p:cNvPicPr>
          <p:nvPr/>
        </p:nvPicPr>
        <p:blipFill>
          <a:blip r:embed="rId1"/>
          <a:stretch>
            <a:fillRect/>
          </a:stretch>
        </p:blipFill>
        <p:spPr>
          <a:xfrm>
            <a:off x="5591468" y="1234440"/>
            <a:ext cx="5550584" cy="4892040"/>
          </a:xfrm>
          <a:prstGeom prst="rect">
            <a:avLst/>
          </a:prstGeom>
        </p:spPr>
      </p:pic>
      <p:sp>
        <p:nvSpPr>
          <p:cNvPr id="21" name="Shape 17"/>
          <p:cNvSpPr/>
          <p:nvPr/>
        </p:nvSpPr>
        <p:spPr>
          <a:xfrm>
            <a:off x="822960" y="1417320"/>
            <a:ext cx="411480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1554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it is run</a:t>
            </a:r>
            <a:endParaRPr lang="en-US" sz="1500" dirty="0"/>
          </a:p>
        </p:txBody>
      </p:sp>
      <p:sp>
        <p:nvSpPr>
          <p:cNvPr id="23" name="Text 19"/>
          <p:cNvSpPr txBox="1"/>
          <p:nvPr/>
        </p:nvSpPr>
        <p:spPr>
          <a:xfrm>
            <a:off x="1024128" y="2148840"/>
            <a:ext cx="371246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scratch/hybrid-v8-chain-farBS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(one .cc file per protocol in scratch/)</a:t>
            </a:r>
            <a:endParaRPr lang="en-US" sz="1400" dirty="0"/>
          </a:p>
        </p:txBody>
      </p:sp>
      <p:sp>
        <p:nvSpPr>
          <p:cNvPr id="24" name="Shape 20"/>
          <p:cNvSpPr/>
          <p:nvPr/>
        </p:nvSpPr>
        <p:spPr>
          <a:xfrm>
            <a:off x="822960" y="3703320"/>
            <a:ext cx="411480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24128" y="3840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it produces</a:t>
            </a:r>
            <a:endParaRPr lang="en-US" sz="1500" dirty="0"/>
          </a:p>
        </p:txBody>
      </p:sp>
      <p:sp>
        <p:nvSpPr>
          <p:cNvPr id="26" name="Text 22"/>
          <p:cNvSpPr txBox="1"/>
          <p:nvPr/>
        </p:nvSpPr>
        <p:spPr>
          <a:xfrm>
            <a:off x="1024128" y="4434840"/>
            <a:ext cx="3712464" cy="1325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Per-round results CSV (alive, CHs, PDR, energy…)</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Per-node energy &amp; lifetime CSVs</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NetAnim XML — CHs in red, clusters coloured</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NetAnim</a:t>
            </a:r>
            <a:pPr indent="0" marL="0">
              <a:buNone/>
            </a:pPr>
            <a:r>
              <a:rPr lang="en-US" sz="2100" dirty="0">
                <a:solidFill>
                  <a:srgbClr val="8A2522"/>
                </a:solidFill>
                <a:latin typeface="Arial" pitchFamily="34" charset="0"/>
                <a:ea typeface="Arial" pitchFamily="34" charset="-122"/>
                <a:cs typeface="Arial" pitchFamily="34" charset="-120"/>
              </a:rPr>
              <a:t>  –  The proposed protocol animated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24</a:t>
            </a:r>
            <a:endParaRPr lang="en-US" sz="1000" dirty="0"/>
          </a:p>
        </p:txBody>
      </p:sp>
      <p:sp>
        <p:nvSpPr>
          <p:cNvPr id="20" name="Shape 17"/>
          <p:cNvSpPr/>
          <p:nvPr/>
        </p:nvSpPr>
        <p:spPr>
          <a:xfrm>
            <a:off x="822960" y="1417320"/>
            <a:ext cx="7315200" cy="4480560"/>
          </a:xfrm>
          <a:prstGeom prst="roundRect">
            <a:avLst>
              <a:gd name="adj" fmla="val 2041"/>
            </a:avLst>
          </a:prstGeom>
          <a:solidFill>
            <a:srgbClr val="FFFFFF"/>
          </a:solidFill>
          <a:ln w="19050">
            <a:solidFill>
              <a:srgbClr val="C9A09E"/>
            </a:solidFill>
            <a:prstDash val="dash"/>
          </a:ln>
        </p:spPr>
      </p:sp>
      <p:sp>
        <p:nvSpPr>
          <p:cNvPr id="21" name="Text 18"/>
          <p:cNvSpPr txBox="1"/>
          <p:nvPr/>
        </p:nvSpPr>
        <p:spPr>
          <a:xfrm>
            <a:off x="1005840" y="1600200"/>
            <a:ext cx="6949440" cy="4114800"/>
          </a:xfrm>
          <a:prstGeom prst="rect">
            <a:avLst/>
          </a:prstGeom>
          <a:noFill/>
          <a:ln/>
        </p:spPr>
        <p:txBody>
          <a:bodyPr wrap="square" lIns="0" tIns="0" rIns="0" bIns="0" rtlCol="0" anchor="ctr"/>
          <a:lstStyle/>
          <a:p>
            <a:pPr algn="ct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a:p>
            <a:pPr algn="ctr" indent="0" marL="0">
              <a:buNone/>
            </a:pPr>
            <a:r>
              <a:rPr lang="en-US" sz="1300" b="1" dirty="0">
                <a:solidFill>
                  <a:srgbClr val="8A2522"/>
                </a:solidFill>
                <a:latin typeface="Arial" pitchFamily="34" charset="0"/>
                <a:ea typeface="Arial" pitchFamily="34" charset="-122"/>
                <a:cs typeface="Arial" pitchFamily="34" charset="-120"/>
              </a:rPr>
              <a:t>Screenshot — NetAnim: v8-Chain clusters (CHs in red)</a:t>
            </a:r>
            <a:endParaRPr lang="en-US" sz="3000" dirty="0"/>
          </a:p>
          <a:p>
            <a:pPr algn="ctr" indent="0" marL="0">
              <a:buNone/>
            </a:pPr>
            <a:r>
              <a:rPr lang="en-US" sz="1100" i="1" dirty="0">
                <a:solidFill>
                  <a:srgbClr val="6B6B6B"/>
                </a:solidFill>
                <a:latin typeface="Arial" pitchFamily="34" charset="0"/>
                <a:ea typeface="Arial" pitchFamily="34" charset="-122"/>
                <a:cs typeface="Arial" pitchFamily="34" charset="-120"/>
              </a:rPr>
              <a:t>(paste your VMware screenshot here)</a:t>
            </a:r>
            <a:endParaRPr lang="en-US" sz="3000" dirty="0"/>
          </a:p>
        </p:txBody>
      </p:sp>
      <p:sp>
        <p:nvSpPr>
          <p:cNvPr id="22" name="Shape 19"/>
          <p:cNvSpPr/>
          <p:nvPr/>
        </p:nvSpPr>
        <p:spPr>
          <a:xfrm>
            <a:off x="8412480" y="1417320"/>
            <a:ext cx="3017520" cy="448056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0"/>
          <p:cNvSpPr txBox="1"/>
          <p:nvPr/>
        </p:nvSpPr>
        <p:spPr>
          <a:xfrm>
            <a:off x="8613648" y="1554480"/>
            <a:ext cx="26334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Colours in NetAnim</a:t>
            </a:r>
            <a:endParaRPr lang="en-US" sz="1500" dirty="0"/>
          </a:p>
        </p:txBody>
      </p:sp>
      <p:sp>
        <p:nvSpPr>
          <p:cNvPr id="24" name="Text 21"/>
          <p:cNvSpPr txBox="1"/>
          <p:nvPr/>
        </p:nvSpPr>
        <p:spPr>
          <a:xfrm>
            <a:off x="8613648" y="2148840"/>
            <a:ext cx="2615184" cy="3611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Red: cluster head</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Same colour: same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Light grey: no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Dark grey: dead node</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Yellow: sink (BS)</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Simulation Environment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6583680" cy="914400"/>
        </p:xfrm>
        <a:graphic>
          <a:graphicData uri="http://schemas.openxmlformats.org/drawingml/2006/table">
            <a:tbl>
              <a:tblPr/>
              <a:tblGrid>
                <a:gridCol w="2377440"/>
                <a:gridCol w="4206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Network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nodes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Field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 100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Initial energy E0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0.5 J / node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Packet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2000 bits (control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Data rate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250 kbps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BS position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(50, 50) center; far scenario (50, −100)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Communication range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Radio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First-order, two-slope (d² / d⁴)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d0 = √(E_fs/E_mp)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87.7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Random seed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12345 (robustness: 8 seeds)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Simulator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ns-3.41, C++ (analytical energy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Text 17"/>
          <p:cNvSpPr txBox="1"/>
          <p:nvPr/>
        </p:nvSpPr>
        <p:spPr>
          <a:xfrm>
            <a:off x="7955280" y="15544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100</a:t>
            </a:r>
            <a:endParaRPr lang="en-US" sz="3600" dirty="0"/>
          </a:p>
        </p:txBody>
      </p:sp>
      <p:sp>
        <p:nvSpPr>
          <p:cNvPr id="22" name="Text 18"/>
          <p:cNvSpPr txBox="1"/>
          <p:nvPr/>
        </p:nvSpPr>
        <p:spPr>
          <a:xfrm>
            <a:off x="7955280" y="22860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sensor nodes in a 100 × 100 m field</a:t>
            </a:r>
            <a:endParaRPr lang="en-US" sz="1350" dirty="0"/>
          </a:p>
        </p:txBody>
      </p:sp>
      <p:sp>
        <p:nvSpPr>
          <p:cNvPr id="23" name="Text 19"/>
          <p:cNvSpPr txBox="1"/>
          <p:nvPr/>
        </p:nvSpPr>
        <p:spPr>
          <a:xfrm>
            <a:off x="7955280" y="29260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0.5 J</a:t>
            </a:r>
            <a:endParaRPr lang="en-US" sz="3600" dirty="0"/>
          </a:p>
        </p:txBody>
      </p:sp>
      <p:sp>
        <p:nvSpPr>
          <p:cNvPr id="24" name="Text 20"/>
          <p:cNvSpPr txBox="1"/>
          <p:nvPr/>
        </p:nvSpPr>
        <p:spPr>
          <a:xfrm>
            <a:off x="7955280" y="36576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initial energy per node</a:t>
            </a:r>
            <a:endParaRPr lang="en-US" sz="1350" dirty="0"/>
          </a:p>
        </p:txBody>
      </p:sp>
      <p:sp>
        <p:nvSpPr>
          <p:cNvPr id="25" name="Text 21"/>
          <p:cNvSpPr txBox="1"/>
          <p:nvPr/>
        </p:nvSpPr>
        <p:spPr>
          <a:xfrm>
            <a:off x="7955280" y="42976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2</a:t>
            </a:r>
            <a:endParaRPr lang="en-US" sz="3600" dirty="0"/>
          </a:p>
        </p:txBody>
      </p:sp>
      <p:sp>
        <p:nvSpPr>
          <p:cNvPr id="26" name="Text 22"/>
          <p:cNvSpPr txBox="1"/>
          <p:nvPr/>
        </p:nvSpPr>
        <p:spPr>
          <a:xfrm>
            <a:off x="7955280" y="50292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BS positions: center (50,50) and far (50, −100)</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Performance Metrics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26</a:t>
            </a:r>
            <a:endParaRPr lang="en-US" sz="1000" dirty="0"/>
          </a:p>
        </p:txBody>
      </p:sp>
      <p:sp>
        <p:nvSpPr>
          <p:cNvPr id="20" name="Shape 17"/>
          <p:cNvSpPr/>
          <p:nvPr/>
        </p:nvSpPr>
        <p:spPr>
          <a:xfrm>
            <a:off x="822960" y="1508760"/>
            <a:ext cx="2514600" cy="3291840"/>
          </a:xfrm>
          <a:prstGeom prst="roundRect">
            <a:avLst>
              <a:gd name="adj" fmla="val 4364"/>
            </a:avLst>
          </a:prstGeom>
          <a:solidFill>
            <a:srgbClr val="FFFFFF"/>
          </a:solidFill>
          <a:ln w="12700">
            <a:solidFill>
              <a:srgbClr val="D6D3C7"/>
            </a:solidFill>
            <a:prstDash val="solid"/>
          </a:ln>
        </p:spPr>
      </p:sp>
      <p:sp>
        <p:nvSpPr>
          <p:cNvPr id="21" name="Text 18"/>
          <p:cNvSpPr txBox="1"/>
          <p:nvPr/>
        </p:nvSpPr>
        <p:spPr>
          <a:xfrm>
            <a:off x="822960"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FND</a:t>
            </a:r>
            <a:endParaRPr lang="en-US" sz="3800" dirty="0"/>
          </a:p>
        </p:txBody>
      </p:sp>
      <p:sp>
        <p:nvSpPr>
          <p:cNvPr id="22" name="Text 19"/>
          <p:cNvSpPr txBox="1"/>
          <p:nvPr/>
        </p:nvSpPr>
        <p:spPr>
          <a:xfrm>
            <a:off x="960120"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First Node Dead</a:t>
            </a:r>
            <a:endParaRPr lang="en-US" sz="1400" dirty="0"/>
          </a:p>
        </p:txBody>
      </p:sp>
      <p:sp>
        <p:nvSpPr>
          <p:cNvPr id="23" name="Text 20"/>
          <p:cNvSpPr txBox="1"/>
          <p:nvPr/>
        </p:nvSpPr>
        <p:spPr>
          <a:xfrm>
            <a:off x="1005840"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first node dies — load balance &amp; coverage stability.</a:t>
            </a:r>
            <a:endParaRPr lang="en-US" sz="1400" dirty="0"/>
          </a:p>
        </p:txBody>
      </p:sp>
      <p:sp>
        <p:nvSpPr>
          <p:cNvPr id="24" name="Shape 21"/>
          <p:cNvSpPr/>
          <p:nvPr/>
        </p:nvSpPr>
        <p:spPr>
          <a:xfrm>
            <a:off x="3538728" y="1508760"/>
            <a:ext cx="2514600" cy="3291840"/>
          </a:xfrm>
          <a:prstGeom prst="roundRect">
            <a:avLst>
              <a:gd name="adj" fmla="val 4364"/>
            </a:avLst>
          </a:prstGeom>
          <a:solidFill>
            <a:srgbClr val="FFFFFF"/>
          </a:solidFill>
          <a:ln w="12700">
            <a:solidFill>
              <a:srgbClr val="D6D3C7"/>
            </a:solidFill>
            <a:prstDash val="solid"/>
          </a:ln>
        </p:spPr>
      </p:sp>
      <p:sp>
        <p:nvSpPr>
          <p:cNvPr id="25" name="Text 22"/>
          <p:cNvSpPr txBox="1"/>
          <p:nvPr/>
        </p:nvSpPr>
        <p:spPr>
          <a:xfrm>
            <a:off x="3538728"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HND</a:t>
            </a:r>
            <a:endParaRPr lang="en-US" sz="3800" dirty="0"/>
          </a:p>
        </p:txBody>
      </p:sp>
      <p:sp>
        <p:nvSpPr>
          <p:cNvPr id="26" name="Text 23"/>
          <p:cNvSpPr txBox="1"/>
          <p:nvPr/>
        </p:nvSpPr>
        <p:spPr>
          <a:xfrm>
            <a:off x="3675888"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Half Nodes Dead</a:t>
            </a:r>
            <a:endParaRPr lang="en-US" sz="1400" dirty="0"/>
          </a:p>
        </p:txBody>
      </p:sp>
      <p:sp>
        <p:nvSpPr>
          <p:cNvPr id="27" name="Text 24"/>
          <p:cNvSpPr txBox="1"/>
          <p:nvPr/>
        </p:nvSpPr>
        <p:spPr>
          <a:xfrm>
            <a:off x="3721608"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50% of nodes are dead — useful network lifetime.</a:t>
            </a:r>
            <a:endParaRPr lang="en-US" sz="1400" dirty="0"/>
          </a:p>
        </p:txBody>
      </p:sp>
      <p:sp>
        <p:nvSpPr>
          <p:cNvPr id="28" name="Shape 25"/>
          <p:cNvSpPr/>
          <p:nvPr/>
        </p:nvSpPr>
        <p:spPr>
          <a:xfrm>
            <a:off x="6254496" y="1508760"/>
            <a:ext cx="2514600" cy="3291840"/>
          </a:xfrm>
          <a:prstGeom prst="roundRect">
            <a:avLst>
              <a:gd name="adj" fmla="val 4364"/>
            </a:avLst>
          </a:prstGeom>
          <a:solidFill>
            <a:srgbClr val="FFFFFF"/>
          </a:solidFill>
          <a:ln w="12700">
            <a:solidFill>
              <a:srgbClr val="D6D3C7"/>
            </a:solidFill>
            <a:prstDash val="solid"/>
          </a:ln>
        </p:spPr>
      </p:sp>
      <p:sp>
        <p:nvSpPr>
          <p:cNvPr id="29" name="Text 26"/>
          <p:cNvSpPr txBox="1"/>
          <p:nvPr/>
        </p:nvSpPr>
        <p:spPr>
          <a:xfrm>
            <a:off x="6254496"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LND</a:t>
            </a:r>
            <a:endParaRPr lang="en-US" sz="3800" dirty="0"/>
          </a:p>
        </p:txBody>
      </p:sp>
      <p:sp>
        <p:nvSpPr>
          <p:cNvPr id="30" name="Text 27"/>
          <p:cNvSpPr txBox="1"/>
          <p:nvPr/>
        </p:nvSpPr>
        <p:spPr>
          <a:xfrm>
            <a:off x="6391656"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Last Node Dead</a:t>
            </a:r>
            <a:endParaRPr lang="en-US" sz="1400" dirty="0"/>
          </a:p>
        </p:txBody>
      </p:sp>
      <p:sp>
        <p:nvSpPr>
          <p:cNvPr id="31" name="Text 28"/>
          <p:cNvSpPr txBox="1"/>
          <p:nvPr/>
        </p:nvSpPr>
        <p:spPr>
          <a:xfrm>
            <a:off x="6437376"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last node dies — total lifetime (can be inflated by silent nodes).</a:t>
            </a:r>
            <a:endParaRPr lang="en-US" sz="1400" dirty="0"/>
          </a:p>
        </p:txBody>
      </p:sp>
      <p:sp>
        <p:nvSpPr>
          <p:cNvPr id="32" name="Shape 29"/>
          <p:cNvSpPr/>
          <p:nvPr/>
        </p:nvSpPr>
        <p:spPr>
          <a:xfrm>
            <a:off x="8970264" y="1508760"/>
            <a:ext cx="2514600" cy="3291840"/>
          </a:xfrm>
          <a:prstGeom prst="roundRect">
            <a:avLst>
              <a:gd name="adj" fmla="val 4364"/>
            </a:avLst>
          </a:prstGeom>
          <a:solidFill>
            <a:srgbClr val="FFFFFF"/>
          </a:solidFill>
          <a:ln w="12700">
            <a:solidFill>
              <a:srgbClr val="D6D3C7"/>
            </a:solidFill>
            <a:prstDash val="solid"/>
          </a:ln>
        </p:spPr>
      </p:sp>
      <p:sp>
        <p:nvSpPr>
          <p:cNvPr id="33" name="Text 30"/>
          <p:cNvSpPr txBox="1"/>
          <p:nvPr/>
        </p:nvSpPr>
        <p:spPr>
          <a:xfrm>
            <a:off x="8970264"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PDR</a:t>
            </a:r>
            <a:endParaRPr lang="en-US" sz="3800" dirty="0"/>
          </a:p>
        </p:txBody>
      </p:sp>
      <p:sp>
        <p:nvSpPr>
          <p:cNvPr id="34" name="Text 31"/>
          <p:cNvSpPr txBox="1"/>
          <p:nvPr/>
        </p:nvSpPr>
        <p:spPr>
          <a:xfrm>
            <a:off x="9107424"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Packet Delivery Ratio</a:t>
            </a:r>
            <a:endParaRPr lang="en-US" sz="1400" dirty="0"/>
          </a:p>
        </p:txBody>
      </p:sp>
      <p:sp>
        <p:nvSpPr>
          <p:cNvPr id="35" name="Text 32"/>
          <p:cNvSpPr txBox="1"/>
          <p:nvPr/>
        </p:nvSpPr>
        <p:spPr>
          <a:xfrm>
            <a:off x="9153144"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Delivered ÷ generated packets over the whole lifetime — reliability.</a:t>
            </a:r>
            <a:endParaRPr lang="en-US" sz="1400" dirty="0"/>
          </a:p>
        </p:txBody>
      </p:sp>
      <p:sp>
        <p:nvSpPr>
          <p:cNvPr id="36" name="Shape 33"/>
          <p:cNvSpPr/>
          <p:nvPr/>
        </p:nvSpPr>
        <p:spPr>
          <a:xfrm>
            <a:off x="822960" y="5029200"/>
            <a:ext cx="10607040" cy="868680"/>
          </a:xfrm>
          <a:prstGeom prst="roundRect">
            <a:avLst>
              <a:gd name="adj" fmla="val 1263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Text 34"/>
          <p:cNvSpPr txBox="1"/>
          <p:nvPr/>
        </p:nvSpPr>
        <p:spPr>
          <a:xfrm>
            <a:off x="1024128" y="5166360"/>
            <a:ext cx="10222992" cy="548640"/>
          </a:xfrm>
          <a:prstGeom prst="rect">
            <a:avLst/>
          </a:prstGeom>
          <a:noFill/>
          <a:ln/>
        </p:spPr>
        <p:txBody>
          <a:bodyPr wrap="square" lIns="0" tIns="0" rIns="0" bIns="0" rtlCol="0" anchor="ctr"/>
          <a:lstStyle/>
          <a:p>
            <a:pPr indent="0" marL="0">
              <a:buNone/>
            </a:pPr>
            <a:r>
              <a:rPr lang="en-US" sz="1350" b="1" dirty="0">
                <a:solidFill>
                  <a:srgbClr val="323232"/>
                </a:solidFill>
                <a:latin typeface="Arial" pitchFamily="34" charset="0"/>
                <a:ea typeface="Arial" pitchFamily="34" charset="-122"/>
                <a:cs typeface="Arial" pitchFamily="34" charset="-120"/>
              </a:rPr>
              <a:t>Also reported: total delivered packets — it exposes "alive but silent" nodes that make LND look better than the network really is.</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04</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Reproducing Existing Protocols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Published → paper-exact → unified → improved</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Published vs. Our Reproduction</a:t>
            </a:r>
            <a:pPr indent="0" marL="0">
              <a:buNone/>
            </a:pPr>
            <a:r>
              <a:rPr lang="en-US" sz="2100" dirty="0">
                <a:solidFill>
                  <a:srgbClr val="8A2522"/>
                </a:solidFill>
                <a:latin typeface="Arial" pitchFamily="34" charset="0"/>
                <a:ea typeface="Arial" pitchFamily="34" charset="-122"/>
                <a:cs typeface="Arial" pitchFamily="34" charset="-120"/>
              </a:rPr>
              <a:t>  –  Step 1: paper-exact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554480"/>
                <a:gridCol w="1371600"/>
                <a:gridCol w="1005840"/>
                <a:gridCol w="1005840"/>
                <a:gridCol w="1005840"/>
                <a:gridCol w="10058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Published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1035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884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1160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94.75%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1129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90.43%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092440" y="1463040"/>
            <a:ext cx="3337560" cy="4389120"/>
          </a:xfrm>
          <a:prstGeom prst="roundRect">
            <a:avLst>
              <a:gd name="adj" fmla="val 3288"/>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93608" y="1600200"/>
            <a:ext cx="2953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Findings</a:t>
            </a:r>
            <a:endParaRPr lang="en-US" sz="1500" dirty="0"/>
          </a:p>
        </p:txBody>
      </p:sp>
      <p:sp>
        <p:nvSpPr>
          <p:cNvPr id="23" name="Text 19"/>
          <p:cNvSpPr txBox="1"/>
          <p:nvPr/>
        </p:nvSpPr>
        <p:spPr>
          <a:xfrm>
            <a:off x="8293608" y="2194560"/>
            <a:ext cx="29352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PEGASIS: LND within 0.3% of the paper (FND/HND within 3.1%).</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LEACH: LND within 1.1% of the paper.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HEED: 500 nodes as in the paper, which gives graphs only.</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H-LEACH needed a fallback just to run (its gate deadlocks).</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EECH-HEED is lower than published because its adaptive sensing was not yet implemented.</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Environment</a:t>
            </a:r>
            <a:pPr indent="0" marL="0">
              <a:buNone/>
            </a:pPr>
            <a:r>
              <a:rPr lang="en-US" sz="2100" dirty="0">
                <a:solidFill>
                  <a:srgbClr val="8A2522"/>
                </a:solidFill>
                <a:latin typeface="Arial" pitchFamily="34" charset="0"/>
                <a:ea typeface="Arial" pitchFamily="34" charset="-122"/>
                <a:cs typeface="Arial" pitchFamily="34" charset="-120"/>
              </a:rPr>
              <a:t>  –  Step 2: same field, radio and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4937760" cy="914400"/>
        </p:xfrm>
        <a:graphic>
          <a:graphicData uri="http://schemas.openxmlformats.org/drawingml/2006/table">
            <a:tbl>
              <a:tblPr/>
              <a:tblGrid>
                <a:gridCol w="1737360"/>
                <a:gridCol w="777240"/>
                <a:gridCol w="777240"/>
                <a:gridCol w="77724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1842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634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99.68%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 (fairness)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1960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3504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99.42%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91.68%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graphicFrame>
        <p:nvGraphicFramePr>
          <p:cNvPr id="21" name="Chart 0" descr=""/>
          <p:cNvGraphicFramePr/>
          <p:nvPr/>
        </p:nvGraphicFramePr>
        <p:xfrm>
          <a:off x="5943600" y="1325880"/>
          <a:ext cx="55778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Why the Numbers Change</a:t>
            </a:r>
            <a:pPr indent="0" marL="0">
              <a:buNone/>
            </a:pPr>
            <a:r>
              <a:rPr lang="en-US" sz="2100" dirty="0">
                <a:solidFill>
                  <a:srgbClr val="8A2522"/>
                </a:solidFill>
                <a:latin typeface="Arial" pitchFamily="34" charset="0"/>
                <a:ea typeface="Arial" pitchFamily="34" charset="-122"/>
                <a:cs typeface="Arial" pitchFamily="34" charset="-120"/>
              </a:rPr>
              <a:t>  –  Paper-exact vs. unified LND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30</a:t>
            </a:r>
            <a:endParaRPr lang="en-US" sz="1000" dirty="0"/>
          </a:p>
        </p:txBody>
      </p:sp>
      <p:graphicFrame>
        <p:nvGraphicFramePr>
          <p:cNvPr id="19" name="Chart 0" descr=""/>
          <p:cNvGraphicFramePr/>
          <p:nvPr/>
        </p:nvGraphicFramePr>
        <p:xfrm>
          <a:off x="73152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7589520" y="1463040"/>
            <a:ext cx="3840480" cy="4389120"/>
          </a:xfrm>
          <a:prstGeom prst="roundRect">
            <a:avLst>
              <a:gd name="adj" fmla="val 285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790688" y="1600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Main causes</a:t>
            </a:r>
            <a:endParaRPr lang="en-US" sz="1500" dirty="0"/>
          </a:p>
        </p:txBody>
      </p:sp>
      <p:sp>
        <p:nvSpPr>
          <p:cNvPr id="22" name="Text 19"/>
          <p:cNvSpPr txBox="1"/>
          <p:nvPr/>
        </p:nvSpPr>
        <p:spPr>
          <a:xfrm>
            <a:off x="7790688" y="2194560"/>
            <a:ext cx="343814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Field size (50×50 → 100×100 m)</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BS position (far → center)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Radio model (single-term → two-slope)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HEED: 500 → 100 nodes, 2 J → 0.5 J, 5 frames → 1 packet per round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Setup overhead charged for every protocol</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algorithm is identical in both bars — only the environment changed.</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Improving the Literature Hybrids</a:t>
            </a:r>
            <a:pPr indent="0" marL="0">
              <a:buNone/>
            </a:pPr>
            <a:r>
              <a:rPr lang="en-US" sz="2100" dirty="0">
                <a:solidFill>
                  <a:srgbClr val="8A2522"/>
                </a:solidFill>
                <a:latin typeface="Arial" pitchFamily="34" charset="0"/>
                <a:ea typeface="Arial" pitchFamily="34" charset="-122"/>
                <a:cs typeface="Arial" pitchFamily="34" charset="-120"/>
              </a:rPr>
              <a:t>  –  Targeted fixes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035040" cy="914400"/>
        </p:xfrm>
        <a:graphic>
          <a:graphicData uri="http://schemas.openxmlformats.org/drawingml/2006/table">
            <a:tbl>
              <a:tblPr/>
              <a:tblGrid>
                <a:gridCol w="1371600"/>
                <a:gridCol w="1188720"/>
                <a:gridCol w="868680"/>
                <a:gridCol w="868680"/>
                <a:gridCol w="86868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1247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1600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1649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2347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2449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2499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0" name="Shape 17"/>
          <p:cNvSpPr/>
          <p:nvPr/>
        </p:nvSpPr>
        <p:spPr>
          <a:xfrm>
            <a:off x="7132320" y="1463040"/>
            <a:ext cx="42976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333488" y="160020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fix</a:t>
            </a:r>
            <a:endParaRPr lang="en-US" sz="1500" dirty="0"/>
          </a:p>
        </p:txBody>
      </p:sp>
      <p:sp>
        <p:nvSpPr>
          <p:cNvPr id="22" name="Text 19"/>
          <p:cNvSpPr txBox="1"/>
          <p:nvPr/>
        </p:nvSpPr>
        <p:spPr>
          <a:xfrm>
            <a:off x="7333488" y="2194560"/>
            <a:ext cx="38953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True iterative HEED doubling + Cprob 0.10 → 0.03: HND/LND/PDR up, FND −13% (fewer, larger clusters).</a:t>
            </a:r>
            <a:endParaRPr lang="en-US" sz="1400" dirty="0"/>
          </a:p>
        </p:txBody>
      </p:sp>
      <p:sp>
        <p:nvSpPr>
          <p:cNvPr id="23" name="Shape 20"/>
          <p:cNvSpPr/>
          <p:nvPr/>
        </p:nvSpPr>
        <p:spPr>
          <a:xfrm>
            <a:off x="7132320" y="3703320"/>
            <a:ext cx="42976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333488" y="384048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fix</a:t>
            </a:r>
            <a:endParaRPr lang="en-US" sz="1500" dirty="0"/>
          </a:p>
        </p:txBody>
      </p:sp>
      <p:sp>
        <p:nvSpPr>
          <p:cNvPr id="25" name="Text 22"/>
          <p:cNvSpPr txBox="1"/>
          <p:nvPr/>
        </p:nvSpPr>
        <p:spPr>
          <a:xfrm>
            <a:off x="7333488" y="4434840"/>
            <a:ext cx="38953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Energy gate relaxed from 1.0× to 0.8× the average: the energy-weighted rule finally decides → FND/HND/LND +7.8–8.6%, no PDR cost.</a:t>
            </a:r>
            <a:endParaRPr lang="en-US" sz="1400" dirty="0"/>
          </a:p>
        </p:txBody>
      </p:sp>
      <p:sp>
        <p:nvSpPr>
          <p:cNvPr id="26" name="Shape 23"/>
          <p:cNvSpPr/>
          <p:nvPr/>
        </p:nvSpPr>
        <p:spPr>
          <a:xfrm>
            <a:off x="822960" y="3703320"/>
            <a:ext cx="603504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40480"/>
            <a:ext cx="5650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Context: EECH-HEED</a:t>
            </a:r>
            <a:endParaRPr lang="en-US" sz="1500" dirty="0"/>
          </a:p>
        </p:txBody>
      </p:sp>
      <p:sp>
        <p:nvSpPr>
          <p:cNvPr id="28" name="Text 25"/>
          <p:cNvSpPr txBox="1"/>
          <p:nvPr/>
        </p:nvSpPr>
        <p:spPr>
          <a:xfrm>
            <a:off x="1024128" y="4434840"/>
            <a:ext cx="563270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Adding its adaptive threshold sensing gives the longest raw lifetime (LND 3808) — because nodes transmit less often, not because of better clustering. Kept as context, not as a direct peer.</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Lessons Carried Forward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32</a:t>
            </a:r>
            <a:endParaRPr lang="en-US" sz="1000" dirty="0"/>
          </a:p>
        </p:txBody>
      </p:sp>
      <p:sp>
        <p:nvSpPr>
          <p:cNvPr id="20" name="Shape 17"/>
          <p:cNvSpPr/>
          <p:nvPr/>
        </p:nvSpPr>
        <p:spPr>
          <a:xfrm>
            <a:off x="82296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82880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selection</a:t>
            </a:r>
            <a:endParaRPr lang="en-US" sz="1400" dirty="0"/>
          </a:p>
        </p:txBody>
      </p:sp>
      <p:sp>
        <p:nvSpPr>
          <p:cNvPr id="24" name="Text 21"/>
          <p:cNvSpPr txBox="1"/>
          <p:nvPr/>
        </p:nvSpPr>
        <p:spPr>
          <a:xfrm>
            <a:off x="102412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Better CH choice alone is not enough.</a:t>
            </a:r>
            <a:endParaRPr lang="en-US" sz="1500" dirty="0"/>
          </a:p>
        </p:txBody>
      </p:sp>
      <p:sp>
        <p:nvSpPr>
          <p:cNvPr id="25" name="Shape 22"/>
          <p:cNvSpPr/>
          <p:nvPr/>
        </p:nvSpPr>
        <p:spPr>
          <a:xfrm>
            <a:off x="297180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172968" y="182880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17296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374904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Control overhead</a:t>
            </a:r>
            <a:endParaRPr lang="en-US" sz="1400" dirty="0"/>
          </a:p>
        </p:txBody>
      </p:sp>
      <p:sp>
        <p:nvSpPr>
          <p:cNvPr id="29" name="Text 26"/>
          <p:cNvSpPr txBox="1"/>
          <p:nvPr/>
        </p:nvSpPr>
        <p:spPr>
          <a:xfrm>
            <a:off x="317296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Re-clustering every round wastes energy.</a:t>
            </a:r>
            <a:endParaRPr lang="en-US" sz="1500" dirty="0"/>
          </a:p>
        </p:txBody>
      </p:sp>
      <p:sp>
        <p:nvSpPr>
          <p:cNvPr id="30" name="Shape 27"/>
          <p:cNvSpPr/>
          <p:nvPr/>
        </p:nvSpPr>
        <p:spPr>
          <a:xfrm>
            <a:off x="512064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5321808" y="182880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532180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589788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Cluster reuse</a:t>
            </a:r>
            <a:endParaRPr lang="en-US" sz="1400" dirty="0"/>
          </a:p>
        </p:txBody>
      </p:sp>
      <p:sp>
        <p:nvSpPr>
          <p:cNvPr id="34" name="Text 31"/>
          <p:cNvSpPr txBox="1"/>
          <p:nvPr/>
        </p:nvSpPr>
        <p:spPr>
          <a:xfrm>
            <a:off x="532180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Longer reuse saves energy but risks stale clusters.</a:t>
            </a:r>
            <a:endParaRPr lang="en-US" sz="1500" dirty="0"/>
          </a:p>
        </p:txBody>
      </p:sp>
      <p:sp>
        <p:nvSpPr>
          <p:cNvPr id="35" name="Shape 32"/>
          <p:cNvSpPr/>
          <p:nvPr/>
        </p:nvSpPr>
        <p:spPr>
          <a:xfrm>
            <a:off x="726948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7470648" y="18288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747064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804672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failure</a:t>
            </a:r>
            <a:endParaRPr lang="en-US" sz="1400" dirty="0"/>
          </a:p>
        </p:txBody>
      </p:sp>
      <p:sp>
        <p:nvSpPr>
          <p:cNvPr id="39" name="Text 36"/>
          <p:cNvSpPr txBox="1"/>
          <p:nvPr/>
        </p:nvSpPr>
        <p:spPr>
          <a:xfrm>
            <a:off x="747064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A dead CH strands its whole cluster.</a:t>
            </a:r>
            <a:endParaRPr lang="en-US" sz="1500" dirty="0"/>
          </a:p>
        </p:txBody>
      </p:sp>
      <p:sp>
        <p:nvSpPr>
          <p:cNvPr id="40" name="Shape 37"/>
          <p:cNvSpPr/>
          <p:nvPr/>
        </p:nvSpPr>
        <p:spPr>
          <a:xfrm>
            <a:off x="941832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9619488" y="18288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961948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43" name="Text 40"/>
          <p:cNvSpPr txBox="1"/>
          <p:nvPr/>
        </p:nvSpPr>
        <p:spPr>
          <a:xfrm>
            <a:off x="1019556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Inter-cluster routing</a:t>
            </a:r>
            <a:endParaRPr lang="en-US" sz="1400" dirty="0"/>
          </a:p>
        </p:txBody>
      </p:sp>
      <p:sp>
        <p:nvSpPr>
          <p:cNvPr id="44" name="Text 41"/>
          <p:cNvSpPr txBox="1"/>
          <p:nvPr/>
        </p:nvSpPr>
        <p:spPr>
          <a:xfrm>
            <a:off x="961948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Direct CH → BS is costly when the BS is far.</a:t>
            </a:r>
            <a:endParaRPr lang="en-US" sz="1500" dirty="0"/>
          </a:p>
        </p:txBody>
      </p:sp>
      <p:sp>
        <p:nvSpPr>
          <p:cNvPr id="45" name="Text 42"/>
          <p:cNvSpPr txBox="1"/>
          <p:nvPr/>
        </p:nvSpPr>
        <p:spPr>
          <a:xfrm>
            <a:off x="822960" y="4937760"/>
            <a:ext cx="10607040" cy="548640"/>
          </a:xfrm>
          <a:prstGeom prst="rect">
            <a:avLst/>
          </a:prstGeom>
          <a:noFill/>
          <a:ln/>
        </p:spPr>
        <p:txBody>
          <a:bodyPr wrap="square" lIns="0" tIns="0" rIns="0" bIns="0" rtlCol="0" anchor="ctr"/>
          <a:lstStyle/>
          <a:p>
            <a:pPr indent="0" marL="0">
              <a:buNone/>
            </a:pPr>
            <a:r>
              <a:rPr lang="en-US" sz="1700" b="1" dirty="0">
                <a:solidFill>
                  <a:srgbClr val="8A2522"/>
                </a:solidFill>
                <a:latin typeface="Arial" pitchFamily="34" charset="0"/>
                <a:ea typeface="Arial" pitchFamily="34" charset="-122"/>
                <a:cs typeface="Arial" pitchFamily="34" charset="-120"/>
              </a:rPr>
              <a:t>→ These observations drove every version of the proposed protocol.</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05</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Proposed Protocol: v1 → v7.2</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One mechanism per version, measured every time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Evolution Roadmap</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34</a:t>
            </a:r>
            <a:endParaRPr lang="en-US" sz="1000" dirty="0"/>
          </a:p>
        </p:txBody>
      </p:sp>
      <p:sp>
        <p:nvSpPr>
          <p:cNvPr id="19" name="Shape 17"/>
          <p:cNvSpPr/>
          <p:nvPr/>
        </p:nvSpPr>
        <p:spPr>
          <a:xfrm>
            <a:off x="1417320" y="3246120"/>
            <a:ext cx="9372600" cy="0"/>
          </a:xfrm>
          <a:prstGeom prst="line">
            <a:avLst/>
          </a:prstGeom>
          <a:noFill/>
          <a:ln w="38100">
            <a:solidFill>
              <a:srgbClr val="8A2522"/>
            </a:solidFill>
            <a:prstDash val="solid"/>
          </a:ln>
        </p:spPr>
      </p:sp>
      <p:sp>
        <p:nvSpPr>
          <p:cNvPr id="20" name="Shape 18"/>
          <p:cNvSpPr/>
          <p:nvPr/>
        </p:nvSpPr>
        <p:spPr>
          <a:xfrm>
            <a:off x="1216152" y="3044952"/>
            <a:ext cx="402336" cy="402336"/>
          </a:xfrm>
          <a:prstGeom prst="ellipse">
            <a:avLst/>
          </a:prstGeom>
          <a:solidFill>
            <a:srgbClr val="FFFFFF"/>
          </a:solidFill>
          <a:ln w="25400">
            <a:solidFill>
              <a:srgbClr val="8A2522"/>
            </a:solidFill>
            <a:prstDash val="solid"/>
          </a:ln>
        </p:spPr>
      </p:sp>
      <p:sp>
        <p:nvSpPr>
          <p:cNvPr id="21" name="Text 19"/>
          <p:cNvSpPr txBox="1"/>
          <p:nvPr/>
        </p:nvSpPr>
        <p:spPr>
          <a:xfrm>
            <a:off x="7772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v1</a:t>
            </a:r>
            <a:endParaRPr lang="en-US" sz="1500" dirty="0"/>
          </a:p>
        </p:txBody>
      </p:sp>
      <p:sp>
        <p:nvSpPr>
          <p:cNvPr id="22" name="Text 20"/>
          <p:cNvSpPr txBox="1"/>
          <p:nvPr/>
        </p:nvSpPr>
        <p:spPr>
          <a:xfrm>
            <a:off x="7315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HEED CH + LEACH join</a:t>
            </a:r>
            <a:endParaRPr lang="en-US" sz="1100" dirty="0"/>
          </a:p>
        </p:txBody>
      </p:sp>
      <p:sp>
        <p:nvSpPr>
          <p:cNvPr id="23" name="Shape 21"/>
          <p:cNvSpPr/>
          <p:nvPr/>
        </p:nvSpPr>
        <p:spPr>
          <a:xfrm>
            <a:off x="2257552" y="3044952"/>
            <a:ext cx="402336" cy="402336"/>
          </a:xfrm>
          <a:prstGeom prst="ellipse">
            <a:avLst/>
          </a:prstGeom>
          <a:solidFill>
            <a:srgbClr val="FFFFFF"/>
          </a:solidFill>
          <a:ln w="25400">
            <a:solidFill>
              <a:srgbClr val="8A2522"/>
            </a:solidFill>
            <a:prstDash val="solid"/>
          </a:ln>
        </p:spPr>
      </p:sp>
      <p:sp>
        <p:nvSpPr>
          <p:cNvPr id="24" name="Text 22"/>
          <p:cNvSpPr txBox="1"/>
          <p:nvPr/>
        </p:nvSpPr>
        <p:spPr>
          <a:xfrm>
            <a:off x="18186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v2</a:t>
            </a:r>
            <a:endParaRPr lang="en-US" sz="1500" dirty="0"/>
          </a:p>
        </p:txBody>
      </p:sp>
      <p:sp>
        <p:nvSpPr>
          <p:cNvPr id="25" name="Text 23"/>
          <p:cNvSpPr txBox="1"/>
          <p:nvPr/>
        </p:nvSpPr>
        <p:spPr>
          <a:xfrm>
            <a:off x="17729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Rotation fairness</a:t>
            </a:r>
            <a:endParaRPr lang="en-US" sz="1100" dirty="0"/>
          </a:p>
        </p:txBody>
      </p:sp>
      <p:sp>
        <p:nvSpPr>
          <p:cNvPr id="26" name="Shape 24"/>
          <p:cNvSpPr/>
          <p:nvPr/>
        </p:nvSpPr>
        <p:spPr>
          <a:xfrm>
            <a:off x="3298952" y="3044952"/>
            <a:ext cx="402336" cy="402336"/>
          </a:xfrm>
          <a:prstGeom prst="ellipse">
            <a:avLst/>
          </a:prstGeom>
          <a:solidFill>
            <a:srgbClr val="FFFFFF"/>
          </a:solidFill>
          <a:ln w="25400">
            <a:solidFill>
              <a:srgbClr val="8A2522"/>
            </a:solidFill>
            <a:prstDash val="solid"/>
          </a:ln>
        </p:spPr>
      </p:sp>
      <p:sp>
        <p:nvSpPr>
          <p:cNvPr id="27" name="Text 25"/>
          <p:cNvSpPr txBox="1"/>
          <p:nvPr/>
        </p:nvSpPr>
        <p:spPr>
          <a:xfrm>
            <a:off x="28600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v3</a:t>
            </a:r>
            <a:endParaRPr lang="en-US" sz="1500" dirty="0"/>
          </a:p>
        </p:txBody>
      </p:sp>
      <p:sp>
        <p:nvSpPr>
          <p:cNvPr id="28" name="Text 26"/>
          <p:cNvSpPr txBox="1"/>
          <p:nvPr/>
        </p:nvSpPr>
        <p:spPr>
          <a:xfrm>
            <a:off x="28143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Single-pass score + reuse</a:t>
            </a:r>
            <a:endParaRPr lang="en-US" sz="1100" dirty="0"/>
          </a:p>
        </p:txBody>
      </p:sp>
      <p:sp>
        <p:nvSpPr>
          <p:cNvPr id="29" name="Shape 27"/>
          <p:cNvSpPr/>
          <p:nvPr/>
        </p:nvSpPr>
        <p:spPr>
          <a:xfrm>
            <a:off x="4340352" y="3044952"/>
            <a:ext cx="402336" cy="402336"/>
          </a:xfrm>
          <a:prstGeom prst="ellipse">
            <a:avLst/>
          </a:prstGeom>
          <a:solidFill>
            <a:srgbClr val="FFFFFF"/>
          </a:solidFill>
          <a:ln w="25400">
            <a:solidFill>
              <a:srgbClr val="8A2522"/>
            </a:solidFill>
            <a:prstDash val="solid"/>
          </a:ln>
        </p:spPr>
      </p:sp>
      <p:sp>
        <p:nvSpPr>
          <p:cNvPr id="30" name="Text 28"/>
          <p:cNvSpPr txBox="1"/>
          <p:nvPr/>
        </p:nvSpPr>
        <p:spPr>
          <a:xfrm>
            <a:off x="39014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v4</a:t>
            </a:r>
            <a:endParaRPr lang="en-US" sz="1500" dirty="0"/>
          </a:p>
        </p:txBody>
      </p:sp>
      <p:sp>
        <p:nvSpPr>
          <p:cNvPr id="31" name="Text 29"/>
          <p:cNvSpPr txBox="1"/>
          <p:nvPr/>
        </p:nvSpPr>
        <p:spPr>
          <a:xfrm>
            <a:off x="38557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Interval 15</a:t>
            </a:r>
            <a:endParaRPr lang="en-US" sz="1100" dirty="0"/>
          </a:p>
        </p:txBody>
      </p:sp>
      <p:sp>
        <p:nvSpPr>
          <p:cNvPr id="32" name="Shape 30"/>
          <p:cNvSpPr/>
          <p:nvPr/>
        </p:nvSpPr>
        <p:spPr>
          <a:xfrm>
            <a:off x="5381752" y="3044952"/>
            <a:ext cx="402336" cy="402336"/>
          </a:xfrm>
          <a:prstGeom prst="ellipse">
            <a:avLst/>
          </a:prstGeom>
          <a:solidFill>
            <a:srgbClr val="FFFFFF"/>
          </a:solidFill>
          <a:ln w="25400">
            <a:solidFill>
              <a:srgbClr val="8A2522"/>
            </a:solidFill>
            <a:prstDash val="solid"/>
          </a:ln>
        </p:spPr>
      </p:sp>
      <p:sp>
        <p:nvSpPr>
          <p:cNvPr id="33" name="Text 31"/>
          <p:cNvSpPr txBox="1"/>
          <p:nvPr/>
        </p:nvSpPr>
        <p:spPr>
          <a:xfrm>
            <a:off x="49428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v5</a:t>
            </a:r>
            <a:endParaRPr lang="en-US" sz="1500" dirty="0"/>
          </a:p>
        </p:txBody>
      </p:sp>
      <p:sp>
        <p:nvSpPr>
          <p:cNvPr id="34" name="Text 32"/>
          <p:cNvSpPr txBox="1"/>
          <p:nvPr/>
        </p:nvSpPr>
        <p:spPr>
          <a:xfrm>
            <a:off x="48971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Backup CH</a:t>
            </a:r>
            <a:endParaRPr lang="en-US" sz="1100" dirty="0"/>
          </a:p>
        </p:txBody>
      </p:sp>
      <p:sp>
        <p:nvSpPr>
          <p:cNvPr id="35" name="Shape 33"/>
          <p:cNvSpPr/>
          <p:nvPr/>
        </p:nvSpPr>
        <p:spPr>
          <a:xfrm>
            <a:off x="6423152" y="3044952"/>
            <a:ext cx="402336" cy="402336"/>
          </a:xfrm>
          <a:prstGeom prst="ellipse">
            <a:avLst/>
          </a:prstGeom>
          <a:solidFill>
            <a:srgbClr val="FFFFFF"/>
          </a:solidFill>
          <a:ln w="25400">
            <a:solidFill>
              <a:srgbClr val="8A2522"/>
            </a:solidFill>
            <a:prstDash val="solid"/>
          </a:ln>
        </p:spPr>
      </p:sp>
      <p:sp>
        <p:nvSpPr>
          <p:cNvPr id="36" name="Text 34"/>
          <p:cNvSpPr txBox="1"/>
          <p:nvPr/>
        </p:nvSpPr>
        <p:spPr>
          <a:xfrm>
            <a:off x="59842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v6</a:t>
            </a:r>
            <a:endParaRPr lang="en-US" sz="1500" dirty="0"/>
          </a:p>
        </p:txBody>
      </p:sp>
      <p:sp>
        <p:nvSpPr>
          <p:cNvPr id="37" name="Text 35"/>
          <p:cNvSpPr txBox="1"/>
          <p:nvPr/>
        </p:nvSpPr>
        <p:spPr>
          <a:xfrm>
            <a:off x="59385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CH-to-CH chain</a:t>
            </a:r>
            <a:endParaRPr lang="en-US" sz="1100" dirty="0"/>
          </a:p>
        </p:txBody>
      </p:sp>
      <p:sp>
        <p:nvSpPr>
          <p:cNvPr id="38" name="Shape 36"/>
          <p:cNvSpPr/>
          <p:nvPr/>
        </p:nvSpPr>
        <p:spPr>
          <a:xfrm>
            <a:off x="7464552" y="3044952"/>
            <a:ext cx="402336" cy="402336"/>
          </a:xfrm>
          <a:prstGeom prst="ellipse">
            <a:avLst/>
          </a:prstGeom>
          <a:solidFill>
            <a:srgbClr val="FFFFFF"/>
          </a:solidFill>
          <a:ln w="25400">
            <a:solidFill>
              <a:srgbClr val="8A2522"/>
            </a:solidFill>
            <a:prstDash val="solid"/>
          </a:ln>
        </p:spPr>
      </p:sp>
      <p:sp>
        <p:nvSpPr>
          <p:cNvPr id="39" name="Text 37"/>
          <p:cNvSpPr txBox="1"/>
          <p:nvPr/>
        </p:nvSpPr>
        <p:spPr>
          <a:xfrm>
            <a:off x="70256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a:t>
            </a:r>
            <a:endParaRPr lang="en-US" sz="1500" dirty="0"/>
          </a:p>
        </p:txBody>
      </p:sp>
      <p:sp>
        <p:nvSpPr>
          <p:cNvPr id="40" name="Text 38"/>
          <p:cNvSpPr txBox="1"/>
          <p:nvPr/>
        </p:nvSpPr>
        <p:spPr>
          <a:xfrm>
            <a:off x="69799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Chain + repair</a:t>
            </a:r>
            <a:endParaRPr lang="en-US" sz="1100" dirty="0"/>
          </a:p>
        </p:txBody>
      </p:sp>
      <p:sp>
        <p:nvSpPr>
          <p:cNvPr id="41" name="Shape 39"/>
          <p:cNvSpPr/>
          <p:nvPr/>
        </p:nvSpPr>
        <p:spPr>
          <a:xfrm>
            <a:off x="8505952" y="3044952"/>
            <a:ext cx="402336" cy="402336"/>
          </a:xfrm>
          <a:prstGeom prst="ellipse">
            <a:avLst/>
          </a:prstGeom>
          <a:solidFill>
            <a:srgbClr val="FFFFFF"/>
          </a:solidFill>
          <a:ln w="25400">
            <a:solidFill>
              <a:srgbClr val="8A2522"/>
            </a:solidFill>
            <a:prstDash val="solid"/>
          </a:ln>
        </p:spPr>
      </p:sp>
      <p:sp>
        <p:nvSpPr>
          <p:cNvPr id="42" name="Text 40"/>
          <p:cNvSpPr txBox="1"/>
          <p:nvPr/>
        </p:nvSpPr>
        <p:spPr>
          <a:xfrm>
            <a:off x="80670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v7.1/2</a:t>
            </a:r>
            <a:endParaRPr lang="en-US" sz="1500" dirty="0"/>
          </a:p>
        </p:txBody>
      </p:sp>
      <p:sp>
        <p:nvSpPr>
          <p:cNvPr id="43" name="Text 41"/>
          <p:cNvSpPr txBox="1"/>
          <p:nvPr/>
        </p:nvSpPr>
        <p:spPr>
          <a:xfrm>
            <a:off x="80213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Multihop</a:t>
            </a:r>
            <a:endParaRPr lang="en-US" sz="1100" dirty="0"/>
          </a:p>
        </p:txBody>
      </p:sp>
      <p:sp>
        <p:nvSpPr>
          <p:cNvPr id="44" name="Shape 42"/>
          <p:cNvSpPr/>
          <p:nvPr/>
        </p:nvSpPr>
        <p:spPr>
          <a:xfrm>
            <a:off x="9547352" y="3044952"/>
            <a:ext cx="402336" cy="402336"/>
          </a:xfrm>
          <a:prstGeom prst="ellipse">
            <a:avLst/>
          </a:prstGeom>
          <a:solidFill>
            <a:srgbClr val="8A2522"/>
          </a:solidFill>
          <a:ln w="25400">
            <a:solidFill>
              <a:srgbClr val="8A2522"/>
            </a:solidFill>
            <a:prstDash val="solid"/>
          </a:ln>
        </p:spPr>
      </p:sp>
      <p:sp>
        <p:nvSpPr>
          <p:cNvPr id="45" name="Text 43"/>
          <p:cNvSpPr txBox="1"/>
          <p:nvPr/>
        </p:nvSpPr>
        <p:spPr>
          <a:xfrm>
            <a:off x="91084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a:t>
            </a:r>
            <a:endParaRPr lang="en-US" sz="1500" dirty="0"/>
          </a:p>
        </p:txBody>
      </p:sp>
      <p:sp>
        <p:nvSpPr>
          <p:cNvPr id="46" name="Text 44"/>
          <p:cNvSpPr txBox="1"/>
          <p:nvPr/>
        </p:nvSpPr>
        <p:spPr>
          <a:xfrm>
            <a:off x="90627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Proactive + direct</a:t>
            </a:r>
            <a:endParaRPr lang="en-US" sz="1100" dirty="0"/>
          </a:p>
        </p:txBody>
      </p:sp>
      <p:sp>
        <p:nvSpPr>
          <p:cNvPr id="47" name="Shape 45"/>
          <p:cNvSpPr/>
          <p:nvPr/>
        </p:nvSpPr>
        <p:spPr>
          <a:xfrm>
            <a:off x="10588752" y="3044952"/>
            <a:ext cx="402336" cy="402336"/>
          </a:xfrm>
          <a:prstGeom prst="ellipse">
            <a:avLst/>
          </a:prstGeom>
          <a:solidFill>
            <a:srgbClr val="8A2522"/>
          </a:solidFill>
          <a:ln w="25400">
            <a:solidFill>
              <a:srgbClr val="8A2522"/>
            </a:solidFill>
            <a:prstDash val="solid"/>
          </a:ln>
        </p:spPr>
      </p:sp>
      <p:sp>
        <p:nvSpPr>
          <p:cNvPr id="48" name="Text 46"/>
          <p:cNvSpPr txBox="1"/>
          <p:nvPr/>
        </p:nvSpPr>
        <p:spPr>
          <a:xfrm>
            <a:off x="101498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v8-Chain</a:t>
            </a:r>
            <a:endParaRPr lang="en-US" sz="1500" dirty="0"/>
          </a:p>
        </p:txBody>
      </p:sp>
      <p:sp>
        <p:nvSpPr>
          <p:cNvPr id="49" name="Text 47"/>
          <p:cNvSpPr txBox="1"/>
          <p:nvPr/>
        </p:nvSpPr>
        <p:spPr>
          <a:xfrm>
            <a:off x="101041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Energy-aware relay</a:t>
            </a:r>
            <a:endParaRPr lang="en-US" sz="1100" dirty="0"/>
          </a:p>
        </p:txBody>
      </p:sp>
      <p:sp>
        <p:nvSpPr>
          <p:cNvPr id="50" name="Shape 48"/>
          <p:cNvSpPr/>
          <p:nvPr/>
        </p:nvSpPr>
        <p:spPr>
          <a:xfrm>
            <a:off x="822960" y="4892040"/>
            <a:ext cx="10607040" cy="960120"/>
          </a:xfrm>
          <a:prstGeom prst="roundRect">
            <a:avLst>
              <a:gd name="adj" fmla="val 11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51" name="Text 49"/>
          <p:cNvSpPr txBox="1"/>
          <p:nvPr/>
        </p:nvSpPr>
        <p:spPr>
          <a:xfrm>
            <a:off x="1024128" y="5029200"/>
            <a:ext cx="10222992" cy="548640"/>
          </a:xfrm>
          <a:prstGeom prst="rect">
            <a:avLst/>
          </a:prstGeom>
          <a:noFill/>
          <a:ln/>
        </p:spPr>
        <p:txBody>
          <a:bodyPr wrap="square" lIns="0" tIns="0" rIns="0" bIns="0" rtlCol="0" anchor="ctr"/>
          <a:lstStyle/>
          <a:p>
            <a:pPr indent="0" marL="0">
              <a:buNone/>
            </a:pPr>
            <a:r>
              <a:rPr lang="en-US" sz="1500" b="1" dirty="0">
                <a:solidFill>
                  <a:srgbClr val="323232"/>
                </a:solidFill>
                <a:latin typeface="Arial" pitchFamily="34" charset="0"/>
                <a:ea typeface="Arial" pitchFamily="34" charset="-122"/>
                <a:cs typeface="Arial" pitchFamily="34" charset="-120"/>
              </a:rPr>
              <a:t>Selection  →  reuse  →  recovery  →  relay  →  prevention + adaptive relay</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v2</a:t>
            </a:r>
            <a:pPr indent="0" marL="0">
              <a:buNone/>
            </a:pPr>
            <a:r>
              <a:rPr lang="en-US" sz="2100" dirty="0">
                <a:solidFill>
                  <a:srgbClr val="8A2522"/>
                </a:solidFill>
                <a:latin typeface="Arial" pitchFamily="34" charset="0"/>
                <a:ea typeface="Arial" pitchFamily="34" charset="-122"/>
                <a:cs typeface="Arial" pitchFamily="34" charset="-120"/>
              </a:rPr>
              <a:t>  –  Hybrid foundation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35</a:t>
            </a:r>
            <a:endParaRPr lang="en-US" sz="1000" dirty="0"/>
          </a:p>
        </p:txBody>
      </p:sp>
      <p:sp>
        <p:nvSpPr>
          <p:cNvPr id="20" name="Shape 17"/>
          <p:cNvSpPr/>
          <p:nvPr/>
        </p:nvSpPr>
        <p:spPr>
          <a:xfrm>
            <a:off x="822960" y="1508760"/>
            <a:ext cx="2459736"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Residual energy</a:t>
            </a:r>
            <a:endParaRPr lang="en-US" sz="1400" dirty="0"/>
          </a:p>
        </p:txBody>
      </p:sp>
      <p:sp>
        <p:nvSpPr>
          <p:cNvPr id="22" name="Shape 19"/>
          <p:cNvSpPr/>
          <p:nvPr/>
        </p:nvSpPr>
        <p:spPr>
          <a:xfrm>
            <a:off x="3321101" y="1842516"/>
            <a:ext cx="179222" cy="201168"/>
          </a:xfrm>
          <a:prstGeom prst="rightArrow">
            <a:avLst/>
          </a:prstGeom>
          <a:solidFill>
            <a:srgbClr val="8A2522"/>
          </a:solidFill>
          <a:ln w="12700">
            <a:solidFill>
              <a:srgbClr val="8A2522"/>
            </a:solidFill>
            <a:prstDash val="solid"/>
          </a:ln>
        </p:spPr>
      </p:sp>
      <p:sp>
        <p:nvSpPr>
          <p:cNvPr id="23" name="Shape 20"/>
          <p:cNvSpPr/>
          <p:nvPr/>
        </p:nvSpPr>
        <p:spPr>
          <a:xfrm>
            <a:off x="3538728" y="1508760"/>
            <a:ext cx="2459736"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611880"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HEED-style CH selection</a:t>
            </a:r>
            <a:endParaRPr lang="en-US" sz="1400" dirty="0"/>
          </a:p>
        </p:txBody>
      </p:sp>
      <p:sp>
        <p:nvSpPr>
          <p:cNvPr id="25" name="Shape 22"/>
          <p:cNvSpPr/>
          <p:nvPr/>
        </p:nvSpPr>
        <p:spPr>
          <a:xfrm>
            <a:off x="6036869" y="1842516"/>
            <a:ext cx="179222" cy="201168"/>
          </a:xfrm>
          <a:prstGeom prst="rightArrow">
            <a:avLst/>
          </a:prstGeom>
          <a:solidFill>
            <a:srgbClr val="8A2522"/>
          </a:solidFill>
          <a:ln w="12700">
            <a:solidFill>
              <a:srgbClr val="8A2522"/>
            </a:solidFill>
            <a:prstDash val="solid"/>
          </a:ln>
        </p:spPr>
      </p:sp>
      <p:sp>
        <p:nvSpPr>
          <p:cNvPr id="26" name="Shape 23"/>
          <p:cNvSpPr/>
          <p:nvPr/>
        </p:nvSpPr>
        <p:spPr>
          <a:xfrm>
            <a:off x="6254496" y="1508760"/>
            <a:ext cx="2459736"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6327648"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LEACH nearest-CH join</a:t>
            </a:r>
            <a:endParaRPr lang="en-US" sz="1400" dirty="0"/>
          </a:p>
        </p:txBody>
      </p:sp>
      <p:sp>
        <p:nvSpPr>
          <p:cNvPr id="28" name="Shape 25"/>
          <p:cNvSpPr/>
          <p:nvPr/>
        </p:nvSpPr>
        <p:spPr>
          <a:xfrm>
            <a:off x="8752637" y="1842516"/>
            <a:ext cx="179222" cy="201168"/>
          </a:xfrm>
          <a:prstGeom prst="rightArrow">
            <a:avLst/>
          </a:prstGeom>
          <a:solidFill>
            <a:srgbClr val="8A2522"/>
          </a:solidFill>
          <a:ln w="12700">
            <a:solidFill>
              <a:srgbClr val="8A2522"/>
            </a:solidFill>
            <a:prstDash val="solid"/>
          </a:ln>
        </p:spPr>
      </p:sp>
      <p:sp>
        <p:nvSpPr>
          <p:cNvPr id="29" name="Shape 26"/>
          <p:cNvSpPr/>
          <p:nvPr/>
        </p:nvSpPr>
        <p:spPr>
          <a:xfrm>
            <a:off x="8970264" y="1508760"/>
            <a:ext cx="2459736"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9043416"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CH → BS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2743200"/>
          <a:ext cx="10607040" cy="914400"/>
        </p:xfrm>
        <a:graphic>
          <a:graphicData uri="http://schemas.openxmlformats.org/drawingml/2006/table">
            <a:tbl>
              <a:tblPr/>
              <a:tblGrid>
                <a:gridCol w="1097280"/>
                <a:gridCol w="512064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HEED-style CH selection + LEACH clustering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557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rotation-fairness penalty (λ = 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345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2" name="Shape 28"/>
          <p:cNvSpPr/>
          <p:nvPr/>
        </p:nvSpPr>
        <p:spPr>
          <a:xfrm>
            <a:off x="822960" y="4023360"/>
            <a:ext cx="10607040" cy="1828800"/>
          </a:xfrm>
          <a:prstGeom prst="roundRect">
            <a:avLst>
              <a:gd name="adj" fmla="val 6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3" name="Text 29"/>
          <p:cNvSpPr txBox="1"/>
          <p:nvPr/>
        </p:nvSpPr>
        <p:spPr>
          <a:xfrm>
            <a:off x="1024128" y="416052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Diagnosis</a:t>
            </a:r>
            <a:endParaRPr lang="en-US" sz="1500" dirty="0"/>
          </a:p>
        </p:txBody>
      </p:sp>
      <p:sp>
        <p:nvSpPr>
          <p:cNvPr id="34" name="Text 30"/>
          <p:cNvSpPr txBox="1"/>
          <p:nvPr/>
        </p:nvSpPr>
        <p:spPr>
          <a:xfrm>
            <a:off x="1024128" y="4754880"/>
            <a:ext cx="10204704" cy="9601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High PDR but very early first death: the iterative HEED negotiation is paid in full EVERY round, whether or not the topology changed. The overhead — not the CH quality — was the root cause.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v3</a:t>
            </a:r>
            <a:pPr indent="0" marL="0">
              <a:buNone/>
            </a:pPr>
            <a:r>
              <a:rPr lang="en-US" sz="2100" dirty="0">
                <a:solidFill>
                  <a:srgbClr val="8A2522"/>
                </a:solidFill>
                <a:latin typeface="Arial" pitchFamily="34" charset="0"/>
                <a:ea typeface="Arial" pitchFamily="34" charset="-122"/>
                <a:cs typeface="Arial" pitchFamily="34" charset="-120"/>
              </a:rPr>
              <a:t>  –  Root-cause redesign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36</a:t>
            </a:r>
            <a:endParaRPr lang="en-US" sz="1000" dirty="0"/>
          </a:p>
        </p:txBody>
      </p:sp>
      <p:sp>
        <p:nvSpPr>
          <p:cNvPr id="20" name="Shape 17"/>
          <p:cNvSpPr/>
          <p:nvPr/>
        </p:nvSpPr>
        <p:spPr>
          <a:xfrm>
            <a:off x="822960" y="1463040"/>
            <a:ext cx="6583680" cy="1371600"/>
          </a:xfrm>
          <a:prstGeom prst="roundRect">
            <a:avLst>
              <a:gd name="adj" fmla="val 8000"/>
            </a:avLst>
          </a:prstGeom>
          <a:solidFill>
            <a:srgbClr val="FFFFFF"/>
          </a:solidFill>
          <a:ln w="12700">
            <a:solidFill>
              <a:srgbClr val="D6D3C7"/>
            </a:solidFill>
            <a:prstDash val="solid"/>
          </a:ln>
        </p:spPr>
      </p:sp>
      <p:sp>
        <p:nvSpPr>
          <p:cNvPr id="21" name="Text 18"/>
          <p:cNvSpPr txBox="1"/>
          <p:nvPr/>
        </p:nvSpPr>
        <p:spPr>
          <a:xfrm>
            <a:off x="1005840" y="1508760"/>
            <a:ext cx="6309360" cy="1280160"/>
          </a:xfrm>
          <a:prstGeom prst="rect">
            <a:avLst/>
          </a:prstGeom>
          <a:noFill/>
          <a:ln/>
        </p:spPr>
        <p:txBody>
          <a:bodyPr wrap="square" lIns="0" tIns="0" rIns="0" bIns="0" rtlCol="0" anchor="ctr"/>
          <a:lstStyle/>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score = (E / E0) × (1 + degree / maxDegree)</a:t>
            </a:r>
            <a:endParaRPr lang="en-US" sz="1800" dirty="0"/>
          </a:p>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P(CH) = min(1, T(r) × score)</a:t>
            </a:r>
            <a:endParaRPr lang="en-US" sz="1800" dirty="0"/>
          </a:p>
        </p:txBody>
      </p:sp>
      <p:sp>
        <p:nvSpPr>
          <p:cNvPr id="22" name="Text 19"/>
          <p:cNvSpPr txBox="1"/>
          <p:nvPr/>
        </p:nvSpPr>
        <p:spPr>
          <a:xfrm>
            <a:off x="822960" y="3063240"/>
            <a:ext cx="6583680" cy="201168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Single pass — no iterative negotiation</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CHs recomputed only once every 5 rounds (setup interval)</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LEACH threshold T(r) and epoch keep the rotation fair</a:t>
            </a:r>
            <a:endParaRPr lang="en-US" sz="1500" dirty="0"/>
          </a:p>
        </p:txBody>
      </p:sp>
      <p:sp>
        <p:nvSpPr>
          <p:cNvPr id="23" name="Text 20"/>
          <p:cNvSpPr txBox="1"/>
          <p:nvPr/>
        </p:nvSpPr>
        <p:spPr>
          <a:xfrm>
            <a:off x="7955280" y="146304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+94%</a:t>
            </a:r>
            <a:endParaRPr lang="en-US" sz="4800" dirty="0"/>
          </a:p>
        </p:txBody>
      </p:sp>
      <p:sp>
        <p:nvSpPr>
          <p:cNvPr id="24" name="Text 21"/>
          <p:cNvSpPr txBox="1"/>
          <p:nvPr/>
        </p:nvSpPr>
        <p:spPr>
          <a:xfrm>
            <a:off x="7955280" y="219456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vs v2 (1393 → 2703)</a:t>
            </a:r>
            <a:endParaRPr lang="en-US" sz="1350" dirty="0"/>
          </a:p>
        </p:txBody>
      </p:sp>
      <p:sp>
        <p:nvSpPr>
          <p:cNvPr id="25" name="Text 22"/>
          <p:cNvSpPr txBox="1"/>
          <p:nvPr/>
        </p:nvSpPr>
        <p:spPr>
          <a:xfrm>
            <a:off x="7955280" y="301752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×5</a:t>
            </a:r>
            <a:endParaRPr lang="en-US" sz="4800" dirty="0"/>
          </a:p>
        </p:txBody>
      </p:sp>
      <p:sp>
        <p:nvSpPr>
          <p:cNvPr id="26" name="Text 23"/>
          <p:cNvSpPr txBox="1"/>
          <p:nvPr/>
        </p:nvSpPr>
        <p:spPr>
          <a:xfrm>
            <a:off x="7955280" y="374904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(345 → 1730)</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 y="5074920"/>
          <a:ext cx="6583680" cy="914400"/>
        </p:xfrm>
        <a:graphic>
          <a:graphicData uri="http://schemas.openxmlformats.org/drawingml/2006/table">
            <a:tbl>
              <a:tblPr/>
              <a:tblGrid>
                <a:gridCol w="1645920"/>
                <a:gridCol w="1645920"/>
                <a:gridCol w="1645920"/>
                <a:gridCol w="16459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v4 &amp; v5</a:t>
            </a:r>
            <a:pPr indent="0" marL="0">
              <a:buNone/>
            </a:pPr>
            <a:r>
              <a:rPr lang="en-US" sz="2100" dirty="0">
                <a:solidFill>
                  <a:srgbClr val="8A2522"/>
                </a:solidFill>
                <a:latin typeface="Arial" pitchFamily="34" charset="0"/>
                <a:ea typeface="Arial" pitchFamily="34" charset="-122"/>
                <a:cs typeface="Arial" pitchFamily="34" charset="-120"/>
              </a:rPr>
              <a:t>  –  Reuse interval and backup 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766560" cy="914400"/>
        </p:xfrm>
        <a:graphic>
          <a:graphicData uri="http://schemas.openxmlformats.org/drawingml/2006/table">
            <a:tbl>
              <a:tblPr/>
              <a:tblGrid>
                <a:gridCol w="914400"/>
                <a:gridCol w="2743200"/>
                <a:gridCol w="777240"/>
                <a:gridCol w="777240"/>
                <a:gridCol w="777240"/>
                <a:gridCol w="777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Change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2521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94.67%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Backup CH failover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2416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10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2141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97.94%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0" name="Shape 17"/>
          <p:cNvSpPr/>
          <p:nvPr/>
        </p:nvSpPr>
        <p:spPr>
          <a:xfrm>
            <a:off x="7863840" y="1463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v4: longer reuse hurts</a:t>
            </a:r>
            <a:endParaRPr lang="en-US" sz="1500" dirty="0"/>
          </a:p>
        </p:txBody>
      </p:sp>
      <p:sp>
        <p:nvSpPr>
          <p:cNvPr id="22" name="Text 19"/>
          <p:cNvSpPr txBox="1"/>
          <p:nvPr/>
        </p:nvSpPr>
        <p:spPr>
          <a:xfrm>
            <a:off x="8065008" y="2194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dies mid-interval strands its cluster for longer → PDR 97.72% → 94.67%.</a:t>
            </a:r>
            <a:endParaRPr lang="en-US" sz="1400" dirty="0"/>
          </a:p>
        </p:txBody>
      </p:sp>
      <p:sp>
        <p:nvSpPr>
          <p:cNvPr id="23" name="Shape 20"/>
          <p:cNvSpPr/>
          <p:nvPr/>
        </p:nvSpPr>
        <p:spPr>
          <a:xfrm>
            <a:off x="7863840" y="3749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886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v5: backup CH</a:t>
            </a:r>
            <a:endParaRPr lang="en-US" sz="1500" dirty="0"/>
          </a:p>
        </p:txBody>
      </p:sp>
      <p:sp>
        <p:nvSpPr>
          <p:cNvPr id="25" name="Text 22"/>
          <p:cNvSpPr txBox="1"/>
          <p:nvPr/>
        </p:nvSpPr>
        <p:spPr>
          <a:xfrm>
            <a:off x="8065008" y="4480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highest-energy member is pre-designated at setup (zero extra messages) and promoted when the CH dies → PDR back to 97%+.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v6 &amp; v7</a:t>
            </a:r>
            <a:pPr indent="0" marL="0">
              <a:buNone/>
            </a:pPr>
            <a:r>
              <a:rPr lang="en-US" sz="2100" dirty="0">
                <a:solidFill>
                  <a:srgbClr val="8A2522"/>
                </a:solidFill>
                <a:latin typeface="Arial" pitchFamily="34" charset="0"/>
                <a:ea typeface="Arial" pitchFamily="34" charset="-122"/>
                <a:cs typeface="Arial" pitchFamily="34" charset="-120"/>
              </a:rPr>
              <a:t>  –  CH-to-CH chain +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38</a:t>
            </a:r>
            <a:endParaRPr lang="en-US" sz="1000" dirty="0"/>
          </a:p>
        </p:txBody>
      </p:sp>
      <p:sp>
        <p:nvSpPr>
          <p:cNvPr id="20" name="Shape 17"/>
          <p:cNvSpPr/>
          <p:nvPr/>
        </p:nvSpPr>
        <p:spPr>
          <a:xfrm>
            <a:off x="822960" y="1463040"/>
            <a:ext cx="1060704" cy="731520"/>
          </a:xfrm>
          <a:prstGeom prst="roundRect">
            <a:avLst>
              <a:gd name="adj" fmla="val 12500"/>
            </a:avLst>
          </a:prstGeom>
          <a:solidFill>
            <a:srgbClr val="FFFFFF"/>
          </a:solidFill>
          <a:ln w="12700">
            <a:solidFill>
              <a:srgbClr val="D6D3C7"/>
            </a:solidFill>
            <a:prstDash val="solid"/>
          </a:ln>
        </p:spPr>
      </p:sp>
      <p:sp>
        <p:nvSpPr>
          <p:cNvPr id="21" name="Text 18"/>
          <p:cNvSpPr txBox="1"/>
          <p:nvPr/>
        </p:nvSpPr>
        <p:spPr>
          <a:xfrm>
            <a:off x="896112"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CH₁</a:t>
            </a:r>
            <a:endParaRPr lang="en-US" sz="1500" dirty="0"/>
          </a:p>
        </p:txBody>
      </p:sp>
      <p:sp>
        <p:nvSpPr>
          <p:cNvPr id="22" name="Shape 19"/>
          <p:cNvSpPr/>
          <p:nvPr/>
        </p:nvSpPr>
        <p:spPr>
          <a:xfrm>
            <a:off x="1931670" y="1728216"/>
            <a:ext cx="224028" cy="201168"/>
          </a:xfrm>
          <a:prstGeom prst="rightArrow">
            <a:avLst/>
          </a:prstGeom>
          <a:solidFill>
            <a:srgbClr val="8A2522"/>
          </a:solidFill>
          <a:ln w="12700">
            <a:solidFill>
              <a:srgbClr val="8A2522"/>
            </a:solidFill>
            <a:prstDash val="solid"/>
          </a:ln>
        </p:spPr>
      </p:sp>
      <p:sp>
        <p:nvSpPr>
          <p:cNvPr id="23" name="Shape 20"/>
          <p:cNvSpPr/>
          <p:nvPr/>
        </p:nvSpPr>
        <p:spPr>
          <a:xfrm>
            <a:off x="2203704" y="1463040"/>
            <a:ext cx="1060704" cy="731520"/>
          </a:xfrm>
          <a:prstGeom prst="roundRect">
            <a:avLst>
              <a:gd name="adj" fmla="val 12500"/>
            </a:avLst>
          </a:prstGeom>
          <a:solidFill>
            <a:srgbClr val="FFFFFF"/>
          </a:solidFill>
          <a:ln w="12700">
            <a:solidFill>
              <a:srgbClr val="D6D3C7"/>
            </a:solidFill>
            <a:prstDash val="solid"/>
          </a:ln>
        </p:spPr>
      </p:sp>
      <p:sp>
        <p:nvSpPr>
          <p:cNvPr id="24" name="Text 21"/>
          <p:cNvSpPr txBox="1"/>
          <p:nvPr/>
        </p:nvSpPr>
        <p:spPr>
          <a:xfrm>
            <a:off x="2276856"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CH₂</a:t>
            </a:r>
            <a:endParaRPr lang="en-US" sz="1500" dirty="0"/>
          </a:p>
        </p:txBody>
      </p:sp>
      <p:sp>
        <p:nvSpPr>
          <p:cNvPr id="25" name="Shape 22"/>
          <p:cNvSpPr/>
          <p:nvPr/>
        </p:nvSpPr>
        <p:spPr>
          <a:xfrm>
            <a:off x="3312414" y="1728216"/>
            <a:ext cx="224028" cy="201168"/>
          </a:xfrm>
          <a:prstGeom prst="rightArrow">
            <a:avLst/>
          </a:prstGeom>
          <a:solidFill>
            <a:srgbClr val="8A2522"/>
          </a:solidFill>
          <a:ln w="12700">
            <a:solidFill>
              <a:srgbClr val="8A2522"/>
            </a:solidFill>
            <a:prstDash val="solid"/>
          </a:ln>
        </p:spPr>
      </p:sp>
      <p:sp>
        <p:nvSpPr>
          <p:cNvPr id="26" name="Shape 23"/>
          <p:cNvSpPr/>
          <p:nvPr/>
        </p:nvSpPr>
        <p:spPr>
          <a:xfrm>
            <a:off x="3584448" y="1463040"/>
            <a:ext cx="1060704" cy="731520"/>
          </a:xfrm>
          <a:prstGeom prst="roundRect">
            <a:avLst>
              <a:gd name="adj" fmla="val 12500"/>
            </a:avLst>
          </a:prstGeom>
          <a:solidFill>
            <a:srgbClr val="FFFFFF"/>
          </a:solidFill>
          <a:ln w="12700">
            <a:solidFill>
              <a:srgbClr val="D6D3C7"/>
            </a:solidFill>
            <a:prstDash val="solid"/>
          </a:ln>
        </p:spPr>
      </p:sp>
      <p:sp>
        <p:nvSpPr>
          <p:cNvPr id="27" name="Text 24"/>
          <p:cNvSpPr txBox="1"/>
          <p:nvPr/>
        </p:nvSpPr>
        <p:spPr>
          <a:xfrm>
            <a:off x="3657600"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CH₃</a:t>
            </a:r>
            <a:endParaRPr lang="en-US" sz="1500" dirty="0"/>
          </a:p>
        </p:txBody>
      </p:sp>
      <p:sp>
        <p:nvSpPr>
          <p:cNvPr id="28" name="Shape 25"/>
          <p:cNvSpPr/>
          <p:nvPr/>
        </p:nvSpPr>
        <p:spPr>
          <a:xfrm>
            <a:off x="4693158" y="1728216"/>
            <a:ext cx="224028" cy="201168"/>
          </a:xfrm>
          <a:prstGeom prst="rightArrow">
            <a:avLst/>
          </a:prstGeom>
          <a:solidFill>
            <a:srgbClr val="8A2522"/>
          </a:solidFill>
          <a:ln w="12700">
            <a:solidFill>
              <a:srgbClr val="8A2522"/>
            </a:solidFill>
            <a:prstDash val="solid"/>
          </a:ln>
        </p:spPr>
      </p:sp>
      <p:sp>
        <p:nvSpPr>
          <p:cNvPr id="29" name="Shape 26"/>
          <p:cNvSpPr/>
          <p:nvPr/>
        </p:nvSpPr>
        <p:spPr>
          <a:xfrm>
            <a:off x="4965192" y="1463040"/>
            <a:ext cx="1060704" cy="731520"/>
          </a:xfrm>
          <a:prstGeom prst="roundRect">
            <a:avLst>
              <a:gd name="adj" fmla="val 12500"/>
            </a:avLst>
          </a:prstGeom>
          <a:solidFill>
            <a:srgbClr val="FFFFFF"/>
          </a:solidFill>
          <a:ln w="12700">
            <a:solidFill>
              <a:srgbClr val="D6D3C7"/>
            </a:solidFill>
            <a:prstDash val="solid"/>
          </a:ln>
        </p:spPr>
      </p:sp>
      <p:sp>
        <p:nvSpPr>
          <p:cNvPr id="30" name="Text 27"/>
          <p:cNvSpPr txBox="1"/>
          <p:nvPr/>
        </p:nvSpPr>
        <p:spPr>
          <a:xfrm>
            <a:off x="5038344"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Gateway CH</a:t>
            </a:r>
            <a:endParaRPr lang="en-US" sz="1500" dirty="0"/>
          </a:p>
        </p:txBody>
      </p:sp>
      <p:sp>
        <p:nvSpPr>
          <p:cNvPr id="31" name="Shape 28"/>
          <p:cNvSpPr/>
          <p:nvPr/>
        </p:nvSpPr>
        <p:spPr>
          <a:xfrm>
            <a:off x="6073902" y="1728216"/>
            <a:ext cx="224028" cy="201168"/>
          </a:xfrm>
          <a:prstGeom prst="rightArrow">
            <a:avLst/>
          </a:prstGeom>
          <a:solidFill>
            <a:srgbClr val="8A2522"/>
          </a:solidFill>
          <a:ln w="12700">
            <a:solidFill>
              <a:srgbClr val="8A2522"/>
            </a:solidFill>
            <a:prstDash val="solid"/>
          </a:ln>
        </p:spPr>
      </p:sp>
      <p:sp>
        <p:nvSpPr>
          <p:cNvPr id="32" name="Shape 29"/>
          <p:cNvSpPr/>
          <p:nvPr/>
        </p:nvSpPr>
        <p:spPr>
          <a:xfrm>
            <a:off x="6345936" y="1463040"/>
            <a:ext cx="1060704" cy="731520"/>
          </a:xfrm>
          <a:prstGeom prst="roundRect">
            <a:avLst>
              <a:gd name="adj" fmla="val 12500"/>
            </a:avLst>
          </a:prstGeom>
          <a:solidFill>
            <a:srgbClr val="8A2522"/>
          </a:solidFill>
          <a:ln w="12700">
            <a:solidFill>
              <a:srgbClr val="8A2522"/>
            </a:solidFill>
            <a:prstDash val="solid"/>
          </a:ln>
        </p:spPr>
      </p:sp>
      <p:sp>
        <p:nvSpPr>
          <p:cNvPr id="33" name="Text 30"/>
          <p:cNvSpPr txBox="1"/>
          <p:nvPr/>
        </p:nvSpPr>
        <p:spPr>
          <a:xfrm>
            <a:off x="6419088" y="1517904"/>
            <a:ext cx="91440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BS</a:t>
            </a:r>
            <a:endParaRPr lang="en-US" sz="15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6583680" cy="914400"/>
        </p:xfrm>
        <a:graphic>
          <a:graphicData uri="http://schemas.openxmlformats.org/drawingml/2006/table">
            <a:tbl>
              <a:tblPr/>
              <a:tblGrid>
                <a:gridCol w="1097280"/>
                <a:gridCol w="109728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5" name="Shape 31"/>
          <p:cNvSpPr/>
          <p:nvPr/>
        </p:nvSpPr>
        <p:spPr>
          <a:xfrm>
            <a:off x="7726680" y="1463040"/>
            <a:ext cx="370332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Text 32"/>
          <p:cNvSpPr txBox="1"/>
          <p:nvPr/>
        </p:nvSpPr>
        <p:spPr>
          <a:xfrm>
            <a:off x="7927848" y="1600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Backup + chain repair</a:t>
            </a:r>
            <a:endParaRPr lang="en-US" sz="1500" dirty="0"/>
          </a:p>
        </p:txBody>
      </p:sp>
      <p:sp>
        <p:nvSpPr>
          <p:cNvPr id="37" name="Text 33"/>
          <p:cNvSpPr txBox="1"/>
          <p:nvPr/>
        </p:nvSpPr>
        <p:spPr>
          <a:xfrm>
            <a:off x="7927848" y="2194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Recovery validated: 16/16 repairs (center) and 21/21 (far BS) via backup promotion.</a:t>
            </a:r>
            <a:endParaRPr lang="en-US" sz="1400" dirty="0"/>
          </a:p>
        </p:txBody>
      </p:sp>
      <p:sp>
        <p:nvSpPr>
          <p:cNvPr id="38" name="Shape 34"/>
          <p:cNvSpPr/>
          <p:nvPr/>
        </p:nvSpPr>
        <p:spPr>
          <a:xfrm>
            <a:off x="7726680" y="3749040"/>
            <a:ext cx="3703320" cy="2103120"/>
          </a:xfrm>
          <a:prstGeom prst="roundRect">
            <a:avLst>
              <a:gd name="adj" fmla="val 5217"/>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9" name="Text 35"/>
          <p:cNvSpPr txBox="1"/>
          <p:nvPr/>
        </p:nvSpPr>
        <p:spPr>
          <a:xfrm>
            <a:off x="7927848" y="3886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Observation</a:t>
            </a:r>
            <a:endParaRPr lang="en-US" sz="1500" dirty="0"/>
          </a:p>
        </p:txBody>
      </p:sp>
      <p:sp>
        <p:nvSpPr>
          <p:cNvPr id="40" name="Text 36"/>
          <p:cNvSpPr txBox="1"/>
          <p:nvPr/>
        </p:nvSpPr>
        <p:spPr>
          <a:xfrm>
            <a:off x="7927848" y="4480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raises PDR, but an always-on chain adds relay cost when the BS is near. A fixed topology is not ideal everywhere.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v7.1 &amp; v7.2</a:t>
            </a:r>
            <a:pPr indent="0" marL="0">
              <a:buNone/>
            </a:pPr>
            <a:r>
              <a:rPr lang="en-US" sz="2100" dirty="0">
                <a:solidFill>
                  <a:srgbClr val="8A2522"/>
                </a:solidFill>
                <a:latin typeface="Arial" pitchFamily="34" charset="0"/>
                <a:ea typeface="Arial" pitchFamily="34" charset="-122"/>
                <a:cs typeface="Arial" pitchFamily="34" charset="-120"/>
              </a:rPr>
              <a:t>  –  Multihop routing tree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486400" cy="914400"/>
        </p:xfrm>
        <a:graphic>
          <a:graphicData uri="http://schemas.openxmlformats.org/drawingml/2006/table">
            <a:tbl>
              <a:tblPr/>
              <a:tblGrid>
                <a:gridCol w="1463040"/>
                <a:gridCol w="2011680"/>
                <a:gridCol w="2011680"/>
              </a:tblGrid>
              <a:tr h="64008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Metric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v7.1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v7.2 (interval 10)</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FND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1491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1381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HND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1991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2071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2086</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2241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PDR</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98.49%</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97.88%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6583680" y="1463040"/>
            <a:ext cx="484632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6784848" y="160020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Multihop tree</a:t>
            </a:r>
            <a:endParaRPr lang="en-US" sz="1500" dirty="0"/>
          </a:p>
        </p:txBody>
      </p:sp>
      <p:sp>
        <p:nvSpPr>
          <p:cNvPr id="23" name="Text 19"/>
          <p:cNvSpPr txBox="1"/>
          <p:nvPr/>
        </p:nvSpPr>
        <p:spPr>
          <a:xfrm>
            <a:off x="6784848" y="2194560"/>
            <a:ext cx="4443984" cy="114300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Removes the single-gateway bottleneck → highest PDR of v1–v7 (98.49%), at a small FND cost.</a:t>
            </a:r>
            <a:endParaRPr lang="en-US" sz="1450" dirty="0"/>
          </a:p>
        </p:txBody>
      </p:sp>
      <p:sp>
        <p:nvSpPr>
          <p:cNvPr id="24" name="Shape 20"/>
          <p:cNvSpPr/>
          <p:nvPr/>
        </p:nvSpPr>
        <p:spPr>
          <a:xfrm>
            <a:off x="6583680" y="3657600"/>
            <a:ext cx="484632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6784848" y="379476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Interval again</a:t>
            </a:r>
            <a:endParaRPr lang="en-US" sz="1500" dirty="0"/>
          </a:p>
        </p:txBody>
      </p:sp>
      <p:sp>
        <p:nvSpPr>
          <p:cNvPr id="26" name="Text 22"/>
          <p:cNvSpPr txBox="1"/>
          <p:nvPr/>
        </p:nvSpPr>
        <p:spPr>
          <a:xfrm>
            <a:off x="6784848" y="4389120"/>
            <a:ext cx="4443984" cy="132588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Interval 10 gives more LND but less PDR — confirming that setup frequency is a separate lever from selection or topology.</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v7.2 at a Glance</a:t>
            </a:r>
            <a:pPr indent="0" marL="0">
              <a:buNone/>
            </a:pPr>
            <a:r>
              <a:rPr lang="en-US" sz="2100" dirty="0">
                <a:solidFill>
                  <a:srgbClr val="8A2522"/>
                </a:solidFill>
                <a:latin typeface="Arial" pitchFamily="34" charset="0"/>
                <a:ea typeface="Arial" pitchFamily="34" charset="-122"/>
                <a:cs typeface="Arial" pitchFamily="34" charset="-120"/>
              </a:rPr>
              <a:t>  –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40</a:t>
            </a:r>
            <a:endParaRPr lang="en-US" sz="1000" dirty="0"/>
          </a:p>
        </p:txBody>
      </p:sp>
      <p:graphicFrame>
        <p:nvGraphicFramePr>
          <p:cNvPr id="19" name="Chart 0" descr=""/>
          <p:cNvGraphicFramePr/>
          <p:nvPr/>
        </p:nvGraphicFramePr>
        <p:xfrm>
          <a:off x="640080" y="1234440"/>
          <a:ext cx="10881360" cy="48463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Where v1–v7.2 Stood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41</a:t>
            </a:r>
            <a:endParaRPr lang="en-US" sz="1000" dirty="0"/>
          </a:p>
        </p:txBody>
      </p:sp>
      <p:graphicFrame>
        <p:nvGraphicFramePr>
          <p:cNvPr id="20" name="Chart 0" descr=""/>
          <p:cNvGraphicFramePr/>
          <p:nvPr/>
        </p:nvGraphicFramePr>
        <p:xfrm>
          <a:off x="64008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7863840" y="1463040"/>
            <a:ext cx="3566160" cy="4389120"/>
          </a:xfrm>
          <a:prstGeom prst="roundRect">
            <a:avLst>
              <a:gd name="adj" fmla="val 307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Trade-offs so far</a:t>
            </a:r>
            <a:endParaRPr lang="en-US" sz="1500" dirty="0"/>
          </a:p>
        </p:txBody>
      </p:sp>
      <p:sp>
        <p:nvSpPr>
          <p:cNvPr id="23" name="Text 19"/>
          <p:cNvSpPr txBox="1"/>
          <p:nvPr/>
        </p:nvSpPr>
        <p:spPr>
          <a:xfrm>
            <a:off x="8065008" y="2194560"/>
            <a:ext cx="31638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v3: best LND, lower PDR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v1/v2: best PDR, very short life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v7 / v7.1: best balance, but FND ≤ 1551</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Goal for the final design: later first death AND higher PDR at the same time.</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06</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Final Design: v8-Chain</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Prevent CH death, relieve the CHs, relay only when it pays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What We Found in v5b</a:t>
            </a:r>
            <a:pPr indent="0" marL="0">
              <a:buNone/>
            </a:pPr>
            <a:r>
              <a:rPr lang="en-US" sz="2100" dirty="0">
                <a:solidFill>
                  <a:srgbClr val="8A2522"/>
                </a:solidFill>
                <a:latin typeface="Arial" pitchFamily="34" charset="0"/>
                <a:ea typeface="Arial" pitchFamily="34" charset="-122"/>
                <a:cs typeface="Arial" pitchFamily="34" charset="-120"/>
              </a:rPr>
              <a:t>  –  Energy-Aware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43</a:t>
            </a:r>
            <a:endParaRPr lang="en-US" sz="1000" dirty="0"/>
          </a:p>
        </p:txBody>
      </p:sp>
      <p:sp>
        <p:nvSpPr>
          <p:cNvPr id="20" name="Text 17"/>
          <p:cNvSpPr txBox="1"/>
          <p:nvPr/>
        </p:nvSpPr>
        <p:spPr>
          <a:xfrm>
            <a:off x="8229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3203</a:t>
            </a:r>
            <a:endParaRPr lang="en-US" sz="4400" dirty="0"/>
          </a:p>
        </p:txBody>
      </p:sp>
      <p:sp>
        <p:nvSpPr>
          <p:cNvPr id="21" name="Text 18"/>
          <p:cNvSpPr txBox="1"/>
          <p:nvPr/>
        </p:nvSpPr>
        <p:spPr>
          <a:xfrm>
            <a:off x="8229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of v5b — looks like the best…</a:t>
            </a:r>
            <a:endParaRPr lang="en-US" sz="1350" dirty="0"/>
          </a:p>
        </p:txBody>
      </p:sp>
      <p:sp>
        <p:nvSpPr>
          <p:cNvPr id="22" name="Text 19"/>
          <p:cNvSpPr txBox="1"/>
          <p:nvPr/>
        </p:nvSpPr>
        <p:spPr>
          <a:xfrm>
            <a:off x="44805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59</a:t>
            </a:r>
            <a:endParaRPr lang="en-US" sz="4400" dirty="0"/>
          </a:p>
        </p:txBody>
      </p:sp>
      <p:sp>
        <p:nvSpPr>
          <p:cNvPr id="23" name="Text 20"/>
          <p:cNvSpPr txBox="1"/>
          <p:nvPr/>
        </p:nvSpPr>
        <p:spPr>
          <a:xfrm>
            <a:off x="44805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in its last 1038 rounds</a:t>
            </a:r>
            <a:endParaRPr lang="en-US" sz="1350" dirty="0"/>
          </a:p>
        </p:txBody>
      </p:sp>
      <p:sp>
        <p:nvSpPr>
          <p:cNvPr id="24" name="Text 21"/>
          <p:cNvSpPr txBox="1"/>
          <p:nvPr/>
        </p:nvSpPr>
        <p:spPr>
          <a:xfrm>
            <a:off x="81381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 / 20</a:t>
            </a:r>
            <a:endParaRPr lang="en-US" sz="4400" dirty="0"/>
          </a:p>
        </p:txBody>
      </p:sp>
      <p:sp>
        <p:nvSpPr>
          <p:cNvPr id="25" name="Text 22"/>
          <p:cNvSpPr txBox="1"/>
          <p:nvPr/>
        </p:nvSpPr>
        <p:spPr>
          <a:xfrm>
            <a:off x="81381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a:t>
            </a:r>
            <a:endParaRPr lang="en-US" sz="1350" dirty="0"/>
          </a:p>
        </p:txBody>
      </p:sp>
      <p:sp>
        <p:nvSpPr>
          <p:cNvPr id="26" name="Shape 23"/>
          <p:cNvSpPr/>
          <p:nvPr/>
        </p:nvSpPr>
        <p:spPr>
          <a:xfrm>
            <a:off x="82296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1: silent survivors</a:t>
            </a:r>
            <a:endParaRPr lang="en-US" sz="1500" dirty="0"/>
          </a:p>
        </p:txBody>
      </p:sp>
      <p:sp>
        <p:nvSpPr>
          <p:cNvPr id="28" name="Text 25"/>
          <p:cNvSpPr txBox="1"/>
          <p:nvPr/>
        </p:nvSpPr>
        <p:spPr>
          <a:xfrm>
            <a:off x="102412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fixed threshold left weak members unclustered: they stopped sending, so they did not die → an inflated LND with almost no data delivered.</a:t>
            </a:r>
            <a:endParaRPr lang="en-US" sz="1450" dirty="0"/>
          </a:p>
        </p:txBody>
      </p:sp>
      <p:sp>
        <p:nvSpPr>
          <p:cNvPr id="29" name="Shape 26"/>
          <p:cNvSpPr/>
          <p:nvPr/>
        </p:nvSpPr>
        <p:spPr>
          <a:xfrm>
            <a:off x="626364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0" name="Text 27"/>
          <p:cNvSpPr txBox="1"/>
          <p:nvPr/>
        </p:nvSpPr>
        <p:spPr>
          <a:xfrm>
            <a:off x="646480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2: zero-CH rounds</a:t>
            </a:r>
            <a:endParaRPr lang="en-US" sz="1500" dirty="0"/>
          </a:p>
        </p:txBody>
      </p:sp>
      <p:sp>
        <p:nvSpPr>
          <p:cNvPr id="31" name="Text 28"/>
          <p:cNvSpPr txBox="1"/>
          <p:nvPr/>
        </p:nvSpPr>
        <p:spPr>
          <a:xfrm>
            <a:off x="646480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When every alive node had already been CH in the epoch, nobody was eligible: 998 rounds ran with NO cluster head (e.g., rounds 196–200 with all 100 nodes alive).</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 Mechanisms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44</a:t>
            </a:r>
            <a:endParaRPr lang="en-US" sz="1000" dirty="0"/>
          </a:p>
        </p:txBody>
      </p:sp>
      <p:sp>
        <p:nvSpPr>
          <p:cNvPr id="20" name="Shape 17"/>
          <p:cNvSpPr/>
          <p:nvPr/>
        </p:nvSpPr>
        <p:spPr>
          <a:xfrm>
            <a:off x="822960"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I1</a:t>
            </a:r>
            <a:endParaRPr lang="en-US" sz="1300" dirty="0"/>
          </a:p>
        </p:txBody>
      </p:sp>
      <p:sp>
        <p:nvSpPr>
          <p:cNvPr id="23" name="Text 20"/>
          <p:cNvSpPr txBox="1"/>
          <p:nvPr/>
        </p:nvSpPr>
        <p:spPr>
          <a:xfrm>
            <a:off x="1600200"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Epoch-exhaustion fix</a:t>
            </a:r>
            <a:endParaRPr lang="en-US" sz="1400" dirty="0"/>
          </a:p>
        </p:txBody>
      </p:sp>
      <p:sp>
        <p:nvSpPr>
          <p:cNvPr id="24" name="Text 21"/>
          <p:cNvSpPr txBox="1"/>
          <p:nvPr/>
        </p:nvSpPr>
        <p:spPr>
          <a:xfrm>
            <a:off x="1024128"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New epoch starts when nobody is eligible → never zero CHs.</a:t>
            </a:r>
            <a:endParaRPr lang="en-US" sz="1400" dirty="0"/>
          </a:p>
        </p:txBody>
      </p:sp>
      <p:sp>
        <p:nvSpPr>
          <p:cNvPr id="25" name="Shape 22"/>
          <p:cNvSpPr/>
          <p:nvPr/>
        </p:nvSpPr>
        <p:spPr>
          <a:xfrm>
            <a:off x="4416552"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4617720"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461772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I2</a:t>
            </a:r>
            <a:endParaRPr lang="en-US" sz="1300" dirty="0"/>
          </a:p>
        </p:txBody>
      </p:sp>
      <p:sp>
        <p:nvSpPr>
          <p:cNvPr id="28" name="Text 25"/>
          <p:cNvSpPr txBox="1"/>
          <p:nvPr/>
        </p:nvSpPr>
        <p:spPr>
          <a:xfrm>
            <a:off x="5193792"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Proactive CH handover</a:t>
            </a:r>
            <a:endParaRPr lang="en-US" sz="1400" dirty="0"/>
          </a:p>
        </p:txBody>
      </p:sp>
      <p:sp>
        <p:nvSpPr>
          <p:cNvPr id="29" name="Text 26"/>
          <p:cNvSpPr txBox="1"/>
          <p:nvPr/>
        </p:nvSpPr>
        <p:spPr>
          <a:xfrm>
            <a:off x="4617720"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cannot afford this round hands over to its strongest member BEFORE dying.</a:t>
            </a:r>
            <a:endParaRPr lang="en-US" sz="1400" dirty="0"/>
          </a:p>
        </p:txBody>
      </p:sp>
      <p:sp>
        <p:nvSpPr>
          <p:cNvPr id="30" name="Shape 27"/>
          <p:cNvSpPr/>
          <p:nvPr/>
        </p:nvSpPr>
        <p:spPr>
          <a:xfrm>
            <a:off x="8010144"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8211312" y="164592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821131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I3</a:t>
            </a:r>
            <a:endParaRPr lang="en-US" sz="1300" dirty="0"/>
          </a:p>
        </p:txBody>
      </p:sp>
      <p:sp>
        <p:nvSpPr>
          <p:cNvPr id="33" name="Text 30"/>
          <p:cNvSpPr txBox="1"/>
          <p:nvPr/>
        </p:nvSpPr>
        <p:spPr>
          <a:xfrm>
            <a:off x="8787384"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Orphan re-join</a:t>
            </a:r>
            <a:endParaRPr lang="en-US" sz="1400" dirty="0"/>
          </a:p>
        </p:txBody>
      </p:sp>
      <p:sp>
        <p:nvSpPr>
          <p:cNvPr id="34" name="Text 31"/>
          <p:cNvSpPr txBox="1"/>
          <p:nvPr/>
        </p:nvSpPr>
        <p:spPr>
          <a:xfrm>
            <a:off x="8211312"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Members of a dead CH join the nearest surviving CH.</a:t>
            </a:r>
            <a:endParaRPr lang="en-US" sz="1400" dirty="0"/>
          </a:p>
        </p:txBody>
      </p:sp>
      <p:sp>
        <p:nvSpPr>
          <p:cNvPr id="35" name="Shape 32"/>
          <p:cNvSpPr/>
          <p:nvPr/>
        </p:nvSpPr>
        <p:spPr>
          <a:xfrm>
            <a:off x="822960"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1024128" y="38862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1024128"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I4</a:t>
            </a:r>
            <a:endParaRPr lang="en-US" sz="1300" dirty="0"/>
          </a:p>
        </p:txBody>
      </p:sp>
      <p:sp>
        <p:nvSpPr>
          <p:cNvPr id="38" name="Text 35"/>
          <p:cNvSpPr txBox="1"/>
          <p:nvPr/>
        </p:nvSpPr>
        <p:spPr>
          <a:xfrm>
            <a:off x="1600200"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Direct-to-BS</a:t>
            </a:r>
            <a:endParaRPr lang="en-US" sz="1400" dirty="0"/>
          </a:p>
        </p:txBody>
      </p:sp>
      <p:sp>
        <p:nvSpPr>
          <p:cNvPr id="39" name="Text 36"/>
          <p:cNvSpPr txBox="1"/>
          <p:nvPr/>
        </p:nvSpPr>
        <p:spPr>
          <a:xfrm>
            <a:off x="1024128"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node closer to the BS than to its CH sends directly.</a:t>
            </a:r>
            <a:endParaRPr lang="en-US" sz="1400" dirty="0"/>
          </a:p>
        </p:txBody>
      </p:sp>
      <p:sp>
        <p:nvSpPr>
          <p:cNvPr id="40" name="Shape 37"/>
          <p:cNvSpPr/>
          <p:nvPr/>
        </p:nvSpPr>
        <p:spPr>
          <a:xfrm>
            <a:off x="4416552"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4617720" y="38862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4617720"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I5</a:t>
            </a:r>
            <a:endParaRPr lang="en-US" sz="1300" dirty="0"/>
          </a:p>
        </p:txBody>
      </p:sp>
      <p:sp>
        <p:nvSpPr>
          <p:cNvPr id="43" name="Text 40"/>
          <p:cNvSpPr txBox="1"/>
          <p:nvPr/>
        </p:nvSpPr>
        <p:spPr>
          <a:xfrm>
            <a:off x="5193792"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Energy-gated election</a:t>
            </a:r>
            <a:endParaRPr lang="en-US" sz="1400" dirty="0"/>
          </a:p>
        </p:txBody>
      </p:sp>
      <p:sp>
        <p:nvSpPr>
          <p:cNvPr id="44" name="Text 41"/>
          <p:cNvSpPr txBox="1"/>
          <p:nvPr/>
        </p:nvSpPr>
        <p:spPr>
          <a:xfrm>
            <a:off x="4617720"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Only nodes with ≥ average energy may become CH.</a:t>
            </a:r>
            <a:endParaRPr lang="en-US" sz="1400" dirty="0"/>
          </a:p>
        </p:txBody>
      </p:sp>
      <p:sp>
        <p:nvSpPr>
          <p:cNvPr id="45" name="Shape 42"/>
          <p:cNvSpPr/>
          <p:nvPr/>
        </p:nvSpPr>
        <p:spPr>
          <a:xfrm>
            <a:off x="8010144"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6" name="Shape 43"/>
          <p:cNvSpPr/>
          <p:nvPr/>
        </p:nvSpPr>
        <p:spPr>
          <a:xfrm>
            <a:off x="8211312" y="3886200"/>
            <a:ext cx="457200" cy="457200"/>
          </a:xfrm>
          <a:prstGeom prst="ellipse">
            <a:avLst/>
          </a:prstGeom>
          <a:solidFill>
            <a:srgbClr val="8A2522"/>
          </a:solidFill>
          <a:ln w="12700">
            <a:solidFill>
              <a:srgbClr val="8A2522"/>
            </a:solidFill>
            <a:prstDash val="solid"/>
          </a:ln>
        </p:spPr>
      </p:sp>
      <p:sp>
        <p:nvSpPr>
          <p:cNvPr id="47" name="Text 44"/>
          <p:cNvSpPr txBox="1"/>
          <p:nvPr/>
        </p:nvSpPr>
        <p:spPr>
          <a:xfrm>
            <a:off x="8211312" y="388620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fix</a:t>
            </a:r>
            <a:endParaRPr lang="en-US" sz="1000" dirty="0"/>
          </a:p>
        </p:txBody>
      </p:sp>
      <p:sp>
        <p:nvSpPr>
          <p:cNvPr id="48" name="Text 45"/>
          <p:cNvSpPr txBox="1"/>
          <p:nvPr/>
        </p:nvSpPr>
        <p:spPr>
          <a:xfrm>
            <a:off x="8787384"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Relative low-energy test</a:t>
            </a:r>
            <a:endParaRPr lang="en-US" sz="1400" dirty="0"/>
          </a:p>
        </p:txBody>
      </p:sp>
      <p:sp>
        <p:nvSpPr>
          <p:cNvPr id="49" name="Text 46"/>
          <p:cNvSpPr txBox="1"/>
          <p:nvPr/>
        </p:nvSpPr>
        <p:spPr>
          <a:xfrm>
            <a:off x="8211312"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5% of the live average, not of E0 → backup works again.</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Protecting the Cluster Head</a:t>
            </a:r>
            <a:pPr indent="0" marL="0">
              <a:buNone/>
            </a:pPr>
            <a:r>
              <a:rPr lang="en-US" sz="2100" dirty="0">
                <a:solidFill>
                  <a:srgbClr val="8A2522"/>
                </a:solidFill>
                <a:latin typeface="Arial" pitchFamily="34" charset="0"/>
                <a:ea typeface="Arial" pitchFamily="34" charset="-122"/>
                <a:cs typeface="Arial" pitchFamily="34" charset="-120"/>
              </a:rPr>
              <a:t>  –  Before and after failure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45</a:t>
            </a:r>
            <a:endParaRPr lang="en-US" sz="1000" dirty="0"/>
          </a:p>
        </p:txBody>
      </p:sp>
      <p:sp>
        <p:nvSpPr>
          <p:cNvPr id="20" name="Shape 17"/>
          <p:cNvSpPr/>
          <p:nvPr/>
        </p:nvSpPr>
        <p:spPr>
          <a:xfrm>
            <a:off x="82296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Prevention (new, I2)</a:t>
            </a:r>
            <a:endParaRPr lang="en-US" sz="1500" dirty="0"/>
          </a:p>
        </p:txBody>
      </p:sp>
      <p:sp>
        <p:nvSpPr>
          <p:cNvPr id="24" name="Text 21"/>
          <p:cNvSpPr txBox="1"/>
          <p:nvPr/>
        </p:nvSpPr>
        <p:spPr>
          <a:xfrm>
            <a:off x="102412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Before the data phase the CH compares its energy with this round's workload: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members × (Rx + Agg) + Tx to next hop.</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If it cannot finish, it hands the role to its strongest member while still alive — no packets lost.</a:t>
            </a:r>
            <a:endParaRPr lang="en-US" sz="1450" dirty="0"/>
          </a:p>
        </p:txBody>
      </p:sp>
      <p:sp>
        <p:nvSpPr>
          <p:cNvPr id="25" name="Shape 22"/>
          <p:cNvSpPr/>
          <p:nvPr/>
        </p:nvSpPr>
        <p:spPr>
          <a:xfrm>
            <a:off x="626364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6464808"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646480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704088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Repair (v5, fixed)</a:t>
            </a:r>
            <a:endParaRPr lang="en-US" sz="1500" dirty="0"/>
          </a:p>
        </p:txBody>
      </p:sp>
      <p:sp>
        <p:nvSpPr>
          <p:cNvPr id="29" name="Text 26"/>
          <p:cNvSpPr txBox="1"/>
          <p:nvPr/>
        </p:nvSpPr>
        <p:spPr>
          <a:xfrm>
            <a:off x="646480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If a CH still dies unexpectedly, the backup is promoted and members are reconnected in the same round. The relative threshold made this work late in the run.</a:t>
            </a:r>
            <a:endParaRPr lang="en-US" sz="1450" dirty="0"/>
          </a:p>
        </p:txBody>
      </p:sp>
      <p:sp>
        <p:nvSpPr>
          <p:cNvPr id="30" name="Text 27"/>
          <p:cNvSpPr txBox="1"/>
          <p:nvPr/>
        </p:nvSpPr>
        <p:spPr>
          <a:xfrm>
            <a:off x="118872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26</a:t>
            </a:r>
            <a:endParaRPr lang="en-US" sz="4000" dirty="0"/>
          </a:p>
        </p:txBody>
      </p:sp>
      <p:sp>
        <p:nvSpPr>
          <p:cNvPr id="31" name="Text 28"/>
          <p:cNvSpPr txBox="1"/>
          <p:nvPr/>
        </p:nvSpPr>
        <p:spPr>
          <a:xfrm>
            <a:off x="118872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proactive handovers (center BS)</a:t>
            </a:r>
            <a:endParaRPr lang="en-US" sz="1350" dirty="0"/>
          </a:p>
        </p:txBody>
      </p:sp>
      <p:sp>
        <p:nvSpPr>
          <p:cNvPr id="32" name="Text 29"/>
          <p:cNvSpPr txBox="1"/>
          <p:nvPr/>
        </p:nvSpPr>
        <p:spPr>
          <a:xfrm>
            <a:off x="662940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18 / 11</a:t>
            </a:r>
            <a:endParaRPr lang="en-US" sz="4000" dirty="0"/>
          </a:p>
        </p:txBody>
      </p:sp>
      <p:sp>
        <p:nvSpPr>
          <p:cNvPr id="33" name="Text 30"/>
          <p:cNvSpPr txBox="1"/>
          <p:nvPr/>
        </p:nvSpPr>
        <p:spPr>
          <a:xfrm>
            <a:off x="662940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 / rejected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 Energy-Aware Relay</a:t>
            </a:r>
            <a:pPr indent="0" marL="0">
              <a:buNone/>
            </a:pPr>
            <a:r>
              <a:rPr lang="en-US" sz="2100" dirty="0">
                <a:solidFill>
                  <a:srgbClr val="8A2522"/>
                </a:solidFill>
                <a:latin typeface="Arial" pitchFamily="34" charset="0"/>
                <a:ea typeface="Arial" pitchFamily="34" charset="-122"/>
                <a:cs typeface="Arial" pitchFamily="34" charset="-120"/>
              </a:rPr>
              <a:t>  –  Relay only when it pays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46</a:t>
            </a:r>
            <a:endParaRPr lang="en-US" sz="1000" dirty="0"/>
          </a:p>
        </p:txBody>
      </p:sp>
      <p:sp>
        <p:nvSpPr>
          <p:cNvPr id="20" name="Shape 17"/>
          <p:cNvSpPr/>
          <p:nvPr/>
        </p:nvSpPr>
        <p:spPr>
          <a:xfrm>
            <a:off x="822960" y="1463040"/>
            <a:ext cx="10607040" cy="1188720"/>
          </a:xfrm>
          <a:prstGeom prst="roundRect">
            <a:avLst>
              <a:gd name="adj" fmla="val 9231"/>
            </a:avLst>
          </a:prstGeom>
          <a:solidFill>
            <a:srgbClr val="FFFFFF"/>
          </a:solidFill>
          <a:ln w="12700">
            <a:solidFill>
              <a:srgbClr val="D6D3C7"/>
            </a:solidFill>
            <a:prstDash val="solid"/>
          </a:ln>
        </p:spPr>
      </p:sp>
      <p:sp>
        <p:nvSpPr>
          <p:cNvPr id="21" name="Text 18"/>
          <p:cNvSpPr txBox="1"/>
          <p:nvPr/>
        </p:nvSpPr>
        <p:spPr>
          <a:xfrm>
            <a:off x="1005840" y="1463040"/>
            <a:ext cx="10241280" cy="1188720"/>
          </a:xfrm>
          <a:prstGeom prst="rect">
            <a:avLst/>
          </a:prstGeom>
          <a:noFill/>
          <a:ln/>
        </p:spPr>
        <p:txBody>
          <a:bodyPr wrap="square" lIns="0" tIns="0" rIns="0" bIns="0" rtlCol="0" anchor="ctr"/>
          <a:lstStyle/>
          <a:p>
            <a:pPr algn="ctr" indent="0" marL="0">
              <a:buNone/>
            </a:pPr>
            <a:r>
              <a:rPr lang="en-US" sz="2000" b="1" dirty="0">
                <a:solidFill>
                  <a:srgbClr val="8A2522"/>
                </a:solidFill>
                <a:latin typeface="Courier New" pitchFamily="34" charset="0"/>
                <a:ea typeface="Courier New" pitchFamily="34" charset="-122"/>
                <a:cs typeface="Courier New" pitchFamily="34" charset="-120"/>
              </a:rPr>
              <a:t>relay via CHj  if   Tx(CH → CHj) + Rx + Agg at CHj  &lt;  Tx(CH → BS)</a:t>
            </a:r>
            <a:endParaRPr lang="en-US" sz="2000" dirty="0"/>
          </a:p>
        </p:txBody>
      </p:sp>
      <p:sp>
        <p:nvSpPr>
          <p:cNvPr id="22" name="Shape 19"/>
          <p:cNvSpPr/>
          <p:nvPr/>
        </p:nvSpPr>
        <p:spPr>
          <a:xfrm>
            <a:off x="82296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4"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5" name="Text 22"/>
          <p:cNvSpPr txBox="1"/>
          <p:nvPr/>
        </p:nvSpPr>
        <p:spPr>
          <a:xfrm>
            <a:off x="160020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at the center</a:t>
            </a:r>
            <a:endParaRPr lang="en-US" sz="1500" dirty="0"/>
          </a:p>
        </p:txBody>
      </p:sp>
      <p:sp>
        <p:nvSpPr>
          <p:cNvPr id="26" name="Text 23"/>
          <p:cNvSpPr txBox="1"/>
          <p:nvPr/>
        </p:nvSpPr>
        <p:spPr>
          <a:xfrm>
            <a:off x="102412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Every CH is ≤ ~50 m from the BS (d² region). A relay never saves energy → 0 relays → identical to v8.</a:t>
            </a:r>
            <a:endParaRPr lang="en-US" sz="1500" dirty="0"/>
          </a:p>
        </p:txBody>
      </p:sp>
      <p:sp>
        <p:nvSpPr>
          <p:cNvPr id="27" name="Shape 24"/>
          <p:cNvSpPr/>
          <p:nvPr/>
        </p:nvSpPr>
        <p:spPr>
          <a:xfrm>
            <a:off x="626364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6464808" y="3108960"/>
            <a:ext cx="457200" cy="457200"/>
          </a:xfrm>
          <a:prstGeom prst="ellipse">
            <a:avLst/>
          </a:prstGeom>
          <a:solidFill>
            <a:srgbClr val="8A2522"/>
          </a:solidFill>
          <a:ln w="12700">
            <a:solidFill>
              <a:srgbClr val="8A2522"/>
            </a:solidFill>
            <a:prstDash val="solid"/>
          </a:ln>
        </p:spPr>
      </p:sp>
      <p:sp>
        <p:nvSpPr>
          <p:cNvPr id="29" name="Text 26"/>
          <p:cNvSpPr txBox="1"/>
          <p:nvPr/>
        </p:nvSpPr>
        <p:spPr>
          <a:xfrm>
            <a:off x="646480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30" name="Text 27"/>
          <p:cNvSpPr txBox="1"/>
          <p:nvPr/>
        </p:nvSpPr>
        <p:spPr>
          <a:xfrm>
            <a:off x="704088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far away (50, −100)</a:t>
            </a:r>
            <a:endParaRPr lang="en-US" sz="1500" dirty="0"/>
          </a:p>
        </p:txBody>
      </p:sp>
      <p:sp>
        <p:nvSpPr>
          <p:cNvPr id="31" name="Text 28"/>
          <p:cNvSpPr txBox="1"/>
          <p:nvPr/>
        </p:nvSpPr>
        <p:spPr>
          <a:xfrm>
            <a:off x="646480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CH → BS links are 100–200 m (d⁴ region). Short CH hops are much cheaper → the CHs form a chain on their own (4,710 relays). The path is rebuilt every round, so a replacement CH takes its predecessor's place.</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Flowchart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47</a:t>
            </a:r>
            <a:endParaRPr lang="en-US" sz="1000" dirty="0"/>
          </a:p>
        </p:txBody>
      </p:sp>
      <p:pic>
        <p:nvPicPr>
          <p:cNvPr id="20" name="Image 0" descr="img/v8_chain_flowchart_slide.png">    </p:cNvPr>
          <p:cNvPicPr>
            <a:picLocks noChangeAspect="1"/>
          </p:cNvPicPr>
          <p:nvPr/>
        </p:nvPicPr>
        <p:blipFill>
          <a:blip r:embed="rId1"/>
          <a:stretch>
            <a:fillRect/>
          </a:stretch>
        </p:blipFill>
        <p:spPr>
          <a:xfrm>
            <a:off x="3390219" y="1188720"/>
            <a:ext cx="5381082" cy="4983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Network structure in round 1</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48</a:t>
            </a:r>
            <a:endParaRPr lang="en-US" sz="1000" dirty="0"/>
          </a:p>
        </p:txBody>
      </p:sp>
      <p:pic>
        <p:nvPicPr>
          <p:cNvPr id="20" name="Image 0" descr="img/v8_chain_topology.png">    </p:cNvPr>
          <p:cNvPicPr>
            <a:picLocks noChangeAspect="1"/>
          </p:cNvPicPr>
          <p:nvPr/>
        </p:nvPicPr>
        <p:blipFill>
          <a:blip r:embed="rId1"/>
          <a:stretch>
            <a:fillRect/>
          </a:stretch>
        </p:blipFill>
        <p:spPr>
          <a:xfrm>
            <a:off x="1475902" y="1188720"/>
            <a:ext cx="9209717" cy="4983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07</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Results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Center vs. far BS · ablation · robustness · comparison</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50</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3203*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v7.1 Multihop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2711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822960" y="4224528"/>
            <a:ext cx="5486400" cy="274320"/>
          </a:xfrm>
          <a:prstGeom prst="rect">
            <a:avLst/>
          </a:prstGeom>
          <a:noFill/>
          <a:ln/>
        </p:spPr>
        <p:txBody>
          <a:bodyPr wrap="square" lIns="0" tIns="0" rIns="0" bIns="0" rtlCol="0" anchor="ctr"/>
          <a:lstStyle/>
          <a:p>
            <a:pPr indent="0" marL="0">
              <a:buNone/>
            </a:pPr>
            <a:r>
              <a:rPr lang="en-US" sz="1000" i="1" dirty="0">
                <a:solidFill>
                  <a:srgbClr val="6B6B6B"/>
                </a:solidFill>
                <a:latin typeface="Arial" pitchFamily="34" charset="0"/>
                <a:ea typeface="Arial" pitchFamily="34" charset="-122"/>
                <a:cs typeface="Arial" pitchFamily="34" charset="-120"/>
              </a:rPr>
              <a:t>* inflated by silent nodes</a:t>
            </a:r>
            <a:endParaRPr lang="en-US" sz="1000" dirty="0"/>
          </a:p>
        </p:txBody>
      </p:sp>
      <p:sp>
        <p:nvSpPr>
          <p:cNvPr id="22" name="Text 18"/>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+69%</a:t>
            </a:r>
            <a:endParaRPr lang="en-US" sz="4400" dirty="0"/>
          </a:p>
        </p:txBody>
      </p:sp>
      <p:sp>
        <p:nvSpPr>
          <p:cNvPr id="23" name="Text 19"/>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than v7 (1551 → 2621)</a:t>
            </a:r>
            <a:endParaRPr lang="en-US" sz="1350" dirty="0"/>
          </a:p>
        </p:txBody>
      </p:sp>
      <p:sp>
        <p:nvSpPr>
          <p:cNvPr id="24" name="Text 20"/>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99.27%</a:t>
            </a:r>
            <a:endParaRPr lang="en-US" sz="4400" dirty="0"/>
          </a:p>
        </p:txBody>
      </p:sp>
      <p:sp>
        <p:nvSpPr>
          <p:cNvPr id="25" name="Text 21"/>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 best of all protocols with FND &gt; 2000</a:t>
            </a:r>
            <a:endParaRPr lang="en-US" sz="1350" dirty="0"/>
          </a:p>
        </p:txBody>
      </p:sp>
      <p:sp>
        <p:nvSpPr>
          <p:cNvPr id="26" name="Text 22"/>
          <p:cNvSpPr txBox="1"/>
          <p:nvPr/>
        </p:nvSpPr>
        <p:spPr>
          <a:xfrm>
            <a:off x="822960" y="4617720"/>
            <a:ext cx="566928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+33%</a:t>
            </a:r>
            <a:endParaRPr lang="en-US" sz="4000" dirty="0"/>
          </a:p>
        </p:txBody>
      </p:sp>
      <p:sp>
        <p:nvSpPr>
          <p:cNvPr id="27" name="Text 23"/>
          <p:cNvSpPr txBox="1"/>
          <p:nvPr/>
        </p:nvSpPr>
        <p:spPr>
          <a:xfrm>
            <a:off x="822960" y="5349240"/>
            <a:ext cx="566928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more packets delivered than v5b with the same 50 J (201,505 → 268,610)</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Far BS (50, −100)</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51</a:t>
            </a:r>
            <a:endParaRPr lang="en-US" sz="1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 (chain)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(chain +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 (direct)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1471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1646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+36%</a:t>
            </a:r>
            <a:endParaRPr lang="en-US" sz="4400" dirty="0"/>
          </a:p>
        </p:txBody>
      </p:sp>
      <p:sp>
        <p:nvSpPr>
          <p:cNvPr id="22" name="Text 18"/>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FND vs v7 (1266 → 1716)</a:t>
            </a:r>
            <a:endParaRPr lang="en-US" sz="1350" dirty="0"/>
          </a:p>
        </p:txBody>
      </p:sp>
      <p:sp>
        <p:nvSpPr>
          <p:cNvPr id="23" name="Text 19"/>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+0.93 pp</a:t>
            </a:r>
            <a:endParaRPr lang="en-US" sz="4400" dirty="0"/>
          </a:p>
        </p:txBody>
      </p:sp>
      <p:sp>
        <p:nvSpPr>
          <p:cNvPr id="24" name="Text 20"/>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vs v7 (98.14% → 99.07%)</a:t>
            </a:r>
            <a:endParaRPr lang="en-US" sz="1350" dirty="0"/>
          </a:p>
        </p:txBody>
      </p:sp>
      <p:sp>
        <p:nvSpPr>
          <p:cNvPr id="25" name="Shape 21"/>
          <p:cNvSpPr/>
          <p:nvPr/>
        </p:nvSpPr>
        <p:spPr>
          <a:xfrm>
            <a:off x="822960" y="3931920"/>
            <a:ext cx="5669280" cy="1920240"/>
          </a:xfrm>
          <a:prstGeom prst="roundRect">
            <a:avLst>
              <a:gd name="adj" fmla="val 571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2"/>
          <p:cNvSpPr txBox="1"/>
          <p:nvPr/>
        </p:nvSpPr>
        <p:spPr>
          <a:xfrm>
            <a:off x="1024128" y="4069080"/>
            <a:ext cx="5285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Honest reading</a:t>
            </a:r>
            <a:endParaRPr lang="en-US" sz="1500" dirty="0"/>
          </a:p>
        </p:txBody>
      </p:sp>
      <p:sp>
        <p:nvSpPr>
          <p:cNvPr id="27" name="Text 23"/>
          <p:cNvSpPr txBox="1"/>
          <p:nvPr/>
        </p:nvSpPr>
        <p:spPr>
          <a:xfrm>
            <a:off x="1024128" y="4663440"/>
            <a:ext cx="5266944" cy="105156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HND and LND are within 1% of v7 (1886 / 1956 vs 1891 / 1976) — equal, not better. v8-Chain wins on first death and reliability.</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52</a:t>
            </a:r>
            <a:endParaRPr lang="en-US" sz="1000" dirty="0"/>
          </a:p>
        </p:txBody>
      </p:sp>
      <p:pic>
        <p:nvPicPr>
          <p:cNvPr id="20" name="Image 0" descr="img/snap_center.png">    </p:cNvPr>
          <p:cNvPicPr>
            <a:picLocks noChangeAspect="1"/>
          </p:cNvPicPr>
          <p:nvPr/>
        </p:nvPicPr>
        <p:blipFill>
          <a:blip r:embed="rId1"/>
          <a:stretch>
            <a:fillRect/>
          </a:stretch>
        </p:blipFill>
        <p:spPr>
          <a:xfrm>
            <a:off x="640080" y="1741879"/>
            <a:ext cx="10881360" cy="3099922"/>
          </a:xfrm>
          <a:prstGeom prst="rect">
            <a:avLst/>
          </a:prstGeom>
        </p:spPr>
      </p:pic>
      <p:sp>
        <p:nvSpPr>
          <p:cNvPr id="21" name="Shape 17"/>
          <p:cNvSpPr/>
          <p:nvPr/>
        </p:nvSpPr>
        <p:spPr>
          <a:xfrm>
            <a:off x="822960" y="5257800"/>
            <a:ext cx="10607040" cy="685800"/>
          </a:xfrm>
          <a:prstGeom prst="roundRect">
            <a:avLst>
              <a:gd name="adj" fmla="val 16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39496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Batteries drain evenly: all 100 nodes are still alive at round 2621, and the last one dies 135 rounds later.</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Far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53</a:t>
            </a:r>
            <a:endParaRPr lang="en-US" sz="1000" dirty="0"/>
          </a:p>
        </p:txBody>
      </p:sp>
      <p:pic>
        <p:nvPicPr>
          <p:cNvPr id="20" name="Image 0" descr="img/snap_far.png">    </p:cNvPr>
          <p:cNvPicPr>
            <a:picLocks noChangeAspect="1"/>
          </p:cNvPicPr>
          <p:nvPr/>
        </p:nvPicPr>
        <p:blipFill>
          <a:blip r:embed="rId1"/>
          <a:stretch>
            <a:fillRect/>
          </a:stretch>
        </p:blipFill>
        <p:spPr>
          <a:xfrm>
            <a:off x="640080" y="1664793"/>
            <a:ext cx="10881360" cy="398561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Center vs. Far BS</a:t>
            </a:r>
            <a:pPr indent="0" marL="0">
              <a:buNone/>
            </a:pPr>
            <a:r>
              <a:rPr lang="en-US" sz="2100" dirty="0">
                <a:solidFill>
                  <a:srgbClr val="8A2522"/>
                </a:solidFill>
                <a:latin typeface="Arial" pitchFamily="34" charset="0"/>
                <a:ea typeface="Arial" pitchFamily="34" charset="-122"/>
                <a:cs typeface="Arial" pitchFamily="34" charset="-120"/>
              </a:rPr>
              <a:t>  –  Same code, only the BS moves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54</a:t>
            </a:r>
            <a:endParaRPr lang="en-US" sz="1000" dirty="0"/>
          </a:p>
        </p:txBody>
      </p:sp>
      <p:graphicFrame>
        <p:nvGraphicFramePr>
          <p:cNvPr id="19" name="Chart 0" descr=""/>
          <p:cNvGraphicFramePr/>
          <p:nvPr/>
        </p:nvGraphicFramePr>
        <p:xfrm>
          <a:off x="640080" y="1234440"/>
          <a:ext cx="539496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Chart 1" descr=""/>
          <p:cNvGraphicFramePr/>
          <p:nvPr/>
        </p:nvGraphicFramePr>
        <p:xfrm>
          <a:off x="6126480" y="1234440"/>
          <a:ext cx="5394960" cy="48463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Ablation</a:t>
            </a:r>
            <a:pPr indent="0" marL="0">
              <a:buNone/>
            </a:pPr>
            <a:r>
              <a:rPr lang="en-US" sz="2100" dirty="0">
                <a:solidFill>
                  <a:srgbClr val="8A2522"/>
                </a:solidFill>
                <a:latin typeface="Arial" pitchFamily="34" charset="0"/>
                <a:ea typeface="Arial" pitchFamily="34" charset="-122"/>
                <a:cs typeface="Arial" pitchFamily="34" charset="-120"/>
              </a:rPr>
              <a:t>  –  Which mechanism matters?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55</a:t>
            </a:r>
            <a:endParaRPr lang="en-US" sz="1000" dirty="0"/>
          </a:p>
        </p:txBody>
      </p:sp>
      <p:graphicFrame>
        <p:nvGraphicFramePr>
          <p:cNvPr id="20" name="Chart 0" descr=""/>
          <p:cNvGraphicFramePr/>
          <p:nvPr/>
        </p:nvGraphicFramePr>
        <p:xfrm>
          <a:off x="640080" y="1234440"/>
          <a:ext cx="60350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6949440" y="146304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7150608" y="160020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I4 Direct-to-BS</a:t>
            </a:r>
            <a:endParaRPr lang="en-US" sz="1500" dirty="0"/>
          </a:p>
        </p:txBody>
      </p:sp>
      <p:sp>
        <p:nvSpPr>
          <p:cNvPr id="23" name="Text 19"/>
          <p:cNvSpPr txBox="1"/>
          <p:nvPr/>
        </p:nvSpPr>
        <p:spPr>
          <a:xfrm>
            <a:off x="7150608" y="219456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Largest effect: FND 2621 → 1821 without it.</a:t>
            </a:r>
            <a:endParaRPr lang="en-US" sz="1400" dirty="0"/>
          </a:p>
        </p:txBody>
      </p:sp>
      <p:sp>
        <p:nvSpPr>
          <p:cNvPr id="24" name="Shape 20"/>
          <p:cNvSpPr/>
          <p:nvPr/>
        </p:nvSpPr>
        <p:spPr>
          <a:xfrm>
            <a:off x="6949440" y="297180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7150608" y="310896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I5 Energy gate</a:t>
            </a:r>
            <a:endParaRPr lang="en-US" sz="1500" dirty="0"/>
          </a:p>
        </p:txBody>
      </p:sp>
      <p:sp>
        <p:nvSpPr>
          <p:cNvPr id="26" name="Text 22"/>
          <p:cNvSpPr txBox="1"/>
          <p:nvPr/>
        </p:nvSpPr>
        <p:spPr>
          <a:xfrm>
            <a:off x="7150608" y="370332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Second: FND 2171 without it.</a:t>
            </a:r>
            <a:endParaRPr lang="en-US" sz="1400" dirty="0"/>
          </a:p>
        </p:txBody>
      </p:sp>
      <p:sp>
        <p:nvSpPr>
          <p:cNvPr id="27" name="Shape 23"/>
          <p:cNvSpPr/>
          <p:nvPr/>
        </p:nvSpPr>
        <p:spPr>
          <a:xfrm>
            <a:off x="6949440" y="448056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7150608" y="461772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I2 / I1 / I3</a:t>
            </a:r>
            <a:endParaRPr lang="en-US" sz="1500" dirty="0"/>
          </a:p>
        </p:txBody>
      </p:sp>
      <p:sp>
        <p:nvSpPr>
          <p:cNvPr id="29" name="Text 25"/>
          <p:cNvSpPr txBox="1"/>
          <p:nvPr/>
        </p:nvSpPr>
        <p:spPr>
          <a:xfrm>
            <a:off x="7150608" y="521208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I2 adds PDR (+0.24 pp); I1 &amp; I3 are safety nets.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Robustness</a:t>
            </a:r>
            <a:pPr indent="0" marL="0">
              <a:buNone/>
            </a:pPr>
            <a:r>
              <a:rPr lang="en-US" sz="2100" dirty="0">
                <a:solidFill>
                  <a:srgbClr val="8A2522"/>
                </a:solidFill>
                <a:latin typeface="Arial" pitchFamily="34" charset="0"/>
                <a:ea typeface="Arial" pitchFamily="34" charset="-122"/>
                <a:cs typeface="Arial" pitchFamily="34" charset="-120"/>
              </a:rPr>
              <a:t>  –  8 random topologies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56</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463040"/>
                <a:gridCol w="1005840"/>
                <a:gridCol w="1097280"/>
                <a:gridCol w="1097280"/>
                <a:gridCol w="1097280"/>
                <a:gridCol w="1188720"/>
              </a:tblGrid>
              <a:tr h="59436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1688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2720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2765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1932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1995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Shape 17"/>
          <p:cNvSpPr/>
          <p:nvPr/>
        </p:nvSpPr>
        <p:spPr>
          <a:xfrm>
            <a:off x="8046720" y="1463040"/>
            <a:ext cx="3383280" cy="4389120"/>
          </a:xfrm>
          <a:prstGeom prst="roundRect">
            <a:avLst>
              <a:gd name="adj" fmla="val 32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47888" y="1600200"/>
            <a:ext cx="2999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Consistent</a:t>
            </a:r>
            <a:endParaRPr lang="en-US" sz="1500" dirty="0"/>
          </a:p>
        </p:txBody>
      </p:sp>
      <p:sp>
        <p:nvSpPr>
          <p:cNvPr id="23" name="Text 19"/>
          <p:cNvSpPr txBox="1"/>
          <p:nvPr/>
        </p:nvSpPr>
        <p:spPr>
          <a:xfrm>
            <a:off x="8247888" y="2194560"/>
            <a:ext cx="298094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ranking holds in every topology.</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At the far BS, v8-Chain matched or beat v7's LND (1976) in 6 of 8 topologies.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Best of each family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57</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v8-Chain: latest first death of all.</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PEGASIS keeps a longer LND (3504 — single chain, short hops) but its first node dies ~1300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 improved version.</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Reliability (PDR)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58</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LEACH, PEGASIS, HEED and SH-LEACH+ deliver 0.1–0.5 pp more — but their first node dies 1,200–2,000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Among protocols whose first node lives past round 2000, v8-Chain has the highest PDR.</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Key Findings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59</a:t>
            </a:r>
            <a:endParaRPr lang="en-US" sz="1000" dirty="0"/>
          </a:p>
        </p:txBody>
      </p:sp>
      <p:sp>
        <p:nvSpPr>
          <p:cNvPr id="19" name="Shape 17"/>
          <p:cNvSpPr/>
          <p:nvPr/>
        </p:nvSpPr>
        <p:spPr>
          <a:xfrm>
            <a:off x="822960" y="1481328"/>
            <a:ext cx="566928" cy="566928"/>
          </a:xfrm>
          <a:prstGeom prst="ellipse">
            <a:avLst/>
          </a:prstGeom>
          <a:solidFill>
            <a:srgbClr val="8A2522"/>
          </a:solidFill>
          <a:ln w="12700">
            <a:solidFill>
              <a:srgbClr val="8A2522"/>
            </a:solidFill>
            <a:prstDash val="solid"/>
          </a:ln>
        </p:spPr>
      </p:sp>
      <p:sp>
        <p:nvSpPr>
          <p:cNvPr id="20" name="Text 18"/>
          <p:cNvSpPr txBox="1"/>
          <p:nvPr/>
        </p:nvSpPr>
        <p:spPr>
          <a:xfrm>
            <a:off x="822960" y="1481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1" name="Text 19"/>
          <p:cNvSpPr txBox="1"/>
          <p:nvPr/>
        </p:nvSpPr>
        <p:spPr>
          <a:xfrm>
            <a:off x="1600200" y="1371600"/>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Architecture beats tuning  </a:t>
            </a:r>
            <a:pPr indent="0" marL="0">
              <a:buNone/>
            </a:pPr>
            <a:r>
              <a:rPr lang="en-US" sz="1500" dirty="0">
                <a:solidFill>
                  <a:srgbClr val="323232"/>
                </a:solidFill>
                <a:latin typeface="Arial" pitchFamily="34" charset="0"/>
                <a:ea typeface="Arial" pitchFamily="34" charset="-122"/>
                <a:cs typeface="Arial" pitchFamily="34" charset="-120"/>
              </a:rPr>
              <a:t>v3 (single-pass score + reuse) and v8 (CH protection + relief) produced the two largest gains; tuning intervals alone did not.</a:t>
            </a:r>
            <a:endParaRPr lang="en-US" sz="1500" dirty="0"/>
          </a:p>
        </p:txBody>
      </p:sp>
      <p:sp>
        <p:nvSpPr>
          <p:cNvPr id="22" name="Shape 20"/>
          <p:cNvSpPr/>
          <p:nvPr/>
        </p:nvSpPr>
        <p:spPr>
          <a:xfrm>
            <a:off x="822960" y="2423160"/>
            <a:ext cx="566928" cy="566928"/>
          </a:xfrm>
          <a:prstGeom prst="ellipse">
            <a:avLst/>
          </a:prstGeom>
          <a:solidFill>
            <a:srgbClr val="8A2522"/>
          </a:solidFill>
          <a:ln w="12700">
            <a:solidFill>
              <a:srgbClr val="8A2522"/>
            </a:solidFill>
            <a:prstDash val="solid"/>
          </a:ln>
        </p:spPr>
      </p:sp>
      <p:sp>
        <p:nvSpPr>
          <p:cNvPr id="23" name="Text 21"/>
          <p:cNvSpPr txBox="1"/>
          <p:nvPr/>
        </p:nvSpPr>
        <p:spPr>
          <a:xfrm>
            <a:off x="82296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4" name="Text 22"/>
          <p:cNvSpPr txBox="1"/>
          <p:nvPr/>
        </p:nvSpPr>
        <p:spPr>
          <a:xfrm>
            <a:off x="1600200" y="2313432"/>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 then repair  </a:t>
            </a:r>
            <a:pPr indent="0" marL="0">
              <a:buNone/>
            </a:pPr>
            <a:r>
              <a:rPr lang="en-US" sz="1500" dirty="0">
                <a:solidFill>
                  <a:srgbClr val="323232"/>
                </a:solidFill>
                <a:latin typeface="Arial" pitchFamily="34" charset="0"/>
                <a:ea typeface="Arial" pitchFamily="34" charset="-122"/>
                <a:cs typeface="Arial" pitchFamily="34" charset="-120"/>
              </a:rPr>
              <a:t>Handing over before a CH dies (I2) plus backup failover after it keeps clusters alive and packets flowing.</a:t>
            </a:r>
            <a:endParaRPr lang="en-US" sz="1500" dirty="0"/>
          </a:p>
        </p:txBody>
      </p:sp>
      <p:sp>
        <p:nvSpPr>
          <p:cNvPr id="25" name="Shape 23"/>
          <p:cNvSpPr/>
          <p:nvPr/>
        </p:nvSpPr>
        <p:spPr>
          <a:xfrm>
            <a:off x="822960" y="3364992"/>
            <a:ext cx="566928" cy="566928"/>
          </a:xfrm>
          <a:prstGeom prst="ellipse">
            <a:avLst/>
          </a:prstGeom>
          <a:solidFill>
            <a:srgbClr val="8A2522"/>
          </a:solidFill>
          <a:ln w="12700">
            <a:solidFill>
              <a:srgbClr val="8A2522"/>
            </a:solidFill>
            <a:prstDash val="solid"/>
          </a:ln>
        </p:spPr>
      </p:sp>
      <p:sp>
        <p:nvSpPr>
          <p:cNvPr id="26" name="Text 24"/>
          <p:cNvSpPr txBox="1"/>
          <p:nvPr/>
        </p:nvSpPr>
        <p:spPr>
          <a:xfrm>
            <a:off x="822960" y="336499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7" name="Text 25"/>
          <p:cNvSpPr txBox="1"/>
          <p:nvPr/>
        </p:nvSpPr>
        <p:spPr>
          <a:xfrm>
            <a:off x="1600200" y="3255264"/>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Not every packet needs a CH  </a:t>
            </a:r>
            <a:pPr indent="0" marL="0">
              <a:buNone/>
            </a:pPr>
            <a:r>
              <a:rPr lang="en-US" sz="1500" dirty="0">
                <a:solidFill>
                  <a:srgbClr val="323232"/>
                </a:solidFill>
                <a:latin typeface="Arial" pitchFamily="34" charset="0"/>
                <a:ea typeface="Arial" pitchFamily="34" charset="-122"/>
                <a:cs typeface="Arial" pitchFamily="34" charset="-120"/>
              </a:rPr>
              <a:t>Direct-to-BS for nodes near the sink is the single largest lifetime contributor.</a:t>
            </a:r>
            <a:endParaRPr lang="en-US" sz="1500" dirty="0"/>
          </a:p>
        </p:txBody>
      </p:sp>
      <p:sp>
        <p:nvSpPr>
          <p:cNvPr id="28" name="Shape 26"/>
          <p:cNvSpPr/>
          <p:nvPr/>
        </p:nvSpPr>
        <p:spPr>
          <a:xfrm>
            <a:off x="822960" y="4306824"/>
            <a:ext cx="566928" cy="566928"/>
          </a:xfrm>
          <a:prstGeom prst="ellipse">
            <a:avLst/>
          </a:prstGeom>
          <a:solidFill>
            <a:srgbClr val="8A2522"/>
          </a:solidFill>
          <a:ln w="12700">
            <a:solidFill>
              <a:srgbClr val="8A2522"/>
            </a:solidFill>
            <a:prstDash val="solid"/>
          </a:ln>
        </p:spPr>
      </p:sp>
      <p:sp>
        <p:nvSpPr>
          <p:cNvPr id="29" name="Text 27"/>
          <p:cNvSpPr txBox="1"/>
          <p:nvPr/>
        </p:nvSpPr>
        <p:spPr>
          <a:xfrm>
            <a:off x="822960" y="430682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0" name="Text 28"/>
          <p:cNvSpPr txBox="1"/>
          <p:nvPr/>
        </p:nvSpPr>
        <p:spPr>
          <a:xfrm>
            <a:off x="1600200" y="4197096"/>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Relay by energy, not by rule  </a:t>
            </a:r>
            <a:pPr indent="0" marL="0">
              <a:buNone/>
            </a:pPr>
            <a:r>
              <a:rPr lang="en-US" sz="1500" dirty="0">
                <a:solidFill>
                  <a:srgbClr val="323232"/>
                </a:solidFill>
                <a:latin typeface="Arial" pitchFamily="34" charset="0"/>
                <a:ea typeface="Arial" pitchFamily="34" charset="-122"/>
                <a:cs typeface="Arial" pitchFamily="34" charset="-120"/>
              </a:rPr>
              <a:t>A per-CH energy decision beats a fixed chain: 0 relays at the center, a chain at the far BS.</a:t>
            </a:r>
            <a:endParaRPr lang="en-US" sz="1500" dirty="0"/>
          </a:p>
        </p:txBody>
      </p:sp>
      <p:sp>
        <p:nvSpPr>
          <p:cNvPr id="31" name="Shape 29"/>
          <p:cNvSpPr/>
          <p:nvPr/>
        </p:nvSpPr>
        <p:spPr>
          <a:xfrm>
            <a:off x="822960" y="5248656"/>
            <a:ext cx="566928" cy="566928"/>
          </a:xfrm>
          <a:prstGeom prst="ellipse">
            <a:avLst/>
          </a:prstGeom>
          <a:solidFill>
            <a:srgbClr val="8A2522"/>
          </a:solidFill>
          <a:ln w="12700">
            <a:solidFill>
              <a:srgbClr val="8A2522"/>
            </a:solidFill>
            <a:prstDash val="solid"/>
          </a:ln>
        </p:spPr>
      </p:sp>
      <p:sp>
        <p:nvSpPr>
          <p:cNvPr id="32" name="Text 30"/>
          <p:cNvSpPr txBox="1"/>
          <p:nvPr/>
        </p:nvSpPr>
        <p:spPr>
          <a:xfrm>
            <a:off x="822960" y="524865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3" name="Text 31"/>
          <p:cNvSpPr txBox="1"/>
          <p:nvPr/>
        </p:nvSpPr>
        <p:spPr>
          <a:xfrm>
            <a:off x="1600200" y="5138928"/>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 LND with delivery  </a:t>
            </a:r>
            <a:pPr indent="0" marL="0">
              <a:buNone/>
            </a:pPr>
            <a:r>
              <a:rPr lang="en-US" sz="1500" dirty="0">
                <a:solidFill>
                  <a:srgbClr val="323232"/>
                </a:solidFill>
                <a:latin typeface="Arial" pitchFamily="34" charset="0"/>
                <a:ea typeface="Arial" pitchFamily="34" charset="-122"/>
                <a:cs typeface="Arial" pitchFamily="34" charset="-120"/>
              </a:rPr>
              <a:t>A long LND can hide silent nodes (v5b); FND, PDR and delivered packets expose it.</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Recommendations</a:t>
            </a:r>
            <a:pPr indent="0" marL="0">
              <a:buNone/>
            </a:pPr>
            <a:r>
              <a:rPr lang="en-US" sz="2100" dirty="0">
                <a:solidFill>
                  <a:srgbClr val="8A2522"/>
                </a:solidFill>
                <a:latin typeface="Arial" pitchFamily="34" charset="0"/>
                <a:ea typeface="Arial" pitchFamily="34" charset="-122"/>
                <a:cs typeface="Arial" pitchFamily="34" charset="-120"/>
              </a:rPr>
              <a:t>  –  Which configuration, when?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60</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3017520"/>
                <a:gridCol w="3017520"/>
                <a:gridCol w="4572000"/>
              </a:tblGrid>
              <a:tr h="73152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Deployment</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Recommended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Why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inside / near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Latest FND; PDR 99.27%; behaves as v8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far from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Best far-BS FND &amp; PDR; relay forms automatically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Simplest good option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v7.1 or v5-exp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PDR ≈ 98.3–98.5% without extra logic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Judging "lifetime"</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Use FND + PDR + delivered packets</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LND alone can be misleading</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Limitations &amp; Future Work</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61</a:t>
            </a:r>
            <a:endParaRPr lang="en-US" sz="1000" dirty="0"/>
          </a:p>
        </p:txBody>
      </p:sp>
      <p:sp>
        <p:nvSpPr>
          <p:cNvPr id="19" name="Shape 17"/>
          <p:cNvSpPr/>
          <p:nvPr/>
        </p:nvSpPr>
        <p:spPr>
          <a:xfrm>
            <a:off x="822960" y="1463040"/>
            <a:ext cx="5166360" cy="4389120"/>
          </a:xfrm>
          <a:prstGeom prst="roundRect">
            <a:avLst>
              <a:gd name="adj" fmla="val 25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Limitations</a:t>
            </a:r>
            <a:endParaRPr lang="en-US" sz="1500" dirty="0"/>
          </a:p>
        </p:txBody>
      </p:sp>
      <p:sp>
        <p:nvSpPr>
          <p:cNvPr id="21" name="Text 19"/>
          <p:cNvSpPr txBox="1"/>
          <p:nvPr/>
        </p:nvSpPr>
        <p:spPr>
          <a:xfrm>
            <a:off x="102412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Simulation only (ns-3, 100 nodes, analytical radio)</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Two BS positions, one field size, 8 topologies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Direct-to-BS gain depends on the sink being near</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Single CH deaths from energy depletion; no simultaneous or malicious failures</a:t>
            </a:r>
            <a:endParaRPr lang="en-US" sz="1500" dirty="0"/>
          </a:p>
        </p:txBody>
      </p:sp>
      <p:sp>
        <p:nvSpPr>
          <p:cNvPr id="22" name="Shape 20"/>
          <p:cNvSpPr/>
          <p:nvPr/>
        </p:nvSpPr>
        <p:spPr>
          <a:xfrm>
            <a:off x="6263640" y="1463040"/>
            <a:ext cx="5166360" cy="4389120"/>
          </a:xfrm>
          <a:prstGeom prst="roundRect">
            <a:avLst>
              <a:gd name="adj" fmla="val 25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Future work</a:t>
            </a:r>
            <a:endParaRPr lang="en-US" sz="1500" dirty="0"/>
          </a:p>
        </p:txBody>
      </p:sp>
      <p:sp>
        <p:nvSpPr>
          <p:cNvPr id="24" name="Text 22"/>
          <p:cNvSpPr txBox="1"/>
          <p:nvPr/>
        </p:nvSpPr>
        <p:spPr>
          <a:xfrm>
            <a:off x="646480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Hardware / SDR testbed validation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Sweep BS positions, field sizes and node counts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Compare the greedy relay rule with an optimal minimum-energy tree</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Evaluate together with the hybrid-cryptography layer under attack</a:t>
            </a:r>
            <a:endParaRPr lang="en-US" sz="15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Conclusion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62</a:t>
            </a:r>
            <a:endParaRPr lang="en-US" sz="1000" dirty="0"/>
          </a:p>
        </p:txBody>
      </p:sp>
      <p:sp>
        <p:nvSpPr>
          <p:cNvPr id="19" name="Text 17"/>
          <p:cNvSpPr txBox="1"/>
          <p:nvPr/>
        </p:nvSpPr>
        <p:spPr>
          <a:xfrm>
            <a:off x="822960" y="1463040"/>
            <a:ext cx="6035040" cy="4389120"/>
          </a:xfrm>
          <a:prstGeom prst="rect">
            <a:avLst/>
          </a:prstGeom>
          <a:noFill/>
          <a:ln/>
        </p:spPr>
        <p:txBody>
          <a:bodyPr wrap="square" lIns="635" tIns="635" rIns="635" bIns="635" rtlCol="0" anchor="t"/>
          <a:lstStyle/>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Five existing protocols were reproduced fairly in one environment; two published hybrids were corrected.</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An original protocol was evolved one mechanism at a time, from v1 to v8-Chain.</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v8-Chain protects cluster heads before and after failure, lets nodes near the sink bypass their CH, restricts the CH role to strong nodes, and relays only when it saves energy.</a:t>
            </a:r>
            <a:endParaRPr lang="en-US" sz="1600" dirty="0"/>
          </a:p>
        </p:txBody>
      </p:sp>
      <p:sp>
        <p:nvSpPr>
          <p:cNvPr id="20" name="Shape 18"/>
          <p:cNvSpPr/>
          <p:nvPr/>
        </p:nvSpPr>
        <p:spPr>
          <a:xfrm>
            <a:off x="7223760" y="1463040"/>
            <a:ext cx="4206240" cy="4389120"/>
          </a:xfrm>
          <a:prstGeom prst="roundRect">
            <a:avLst>
              <a:gd name="adj" fmla="val 2609"/>
            </a:avLst>
          </a:prstGeom>
          <a:solidFill>
            <a:srgbClr val="8A2522"/>
          </a:solidFill>
          <a:ln w="12700">
            <a:solidFill>
              <a:srgbClr val="8A2522"/>
            </a:solidFill>
            <a:prstDash val="solid"/>
          </a:ln>
        </p:spPr>
      </p:sp>
      <p:sp>
        <p:nvSpPr>
          <p:cNvPr id="21" name="Text 19"/>
          <p:cNvSpPr txBox="1"/>
          <p:nvPr/>
        </p:nvSpPr>
        <p:spPr>
          <a:xfrm>
            <a:off x="7498080" y="1645920"/>
            <a:ext cx="3657600" cy="4023360"/>
          </a:xfrm>
          <a:prstGeom prst="rect">
            <a:avLst/>
          </a:prstGeom>
          <a:noFill/>
          <a:ln/>
        </p:spPr>
        <p:txBody>
          <a:bodyPr wrap="square" lIns="0" tIns="0" rIns="0" bIns="0" rtlCol="0" anchor="ctr"/>
          <a:lstStyle/>
          <a:p>
            <a:pPr indent="0" marL="0">
              <a:spcAft>
                <a:spcPts val="400"/>
              </a:spcAft>
              <a:buNone/>
            </a:pPr>
            <a:r>
              <a:rPr lang="en-US" sz="2400" b="1" dirty="0">
                <a:solidFill>
                  <a:srgbClr val="FFFFFF"/>
                </a:solidFill>
                <a:latin typeface="Arial" pitchFamily="34" charset="0"/>
                <a:ea typeface="Arial" pitchFamily="34" charset="-122"/>
                <a:cs typeface="Arial" pitchFamily="34" charset="-120"/>
              </a:rPr>
              <a:t>v8-Chain</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Center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2621 · PDR 99.27%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Far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1716 · PDR 99.07%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i="1" dirty="0">
                <a:solidFill>
                  <a:srgbClr val="FFFFFF"/>
                </a:solidFill>
                <a:latin typeface="Arial" pitchFamily="34" charset="0"/>
                <a:ea typeface="Arial" pitchFamily="34" charset="-122"/>
                <a:cs typeface="Arial" pitchFamily="34" charset="-120"/>
              </a:rPr>
              <a:t>One configuration for both deployments.</a:t>
            </a:r>
            <a:endParaRPr 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(1/2)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63</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[1]  W. R. Heinzelman, A. Chandrakasan and H. Balakrishnan, “Energy-Efficient Communication Protocol for Wireless Microsensor Networks,” Proc. HICSS, 2000.</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[2]  O. Younis and S. Fahmy, “HEED: A Hybrid, Energy-Efficient, Distributed Clustering Approach for Ad Hoc Sensor Networks,” IEEE Trans. Mobile Computing, 2004.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[3]  S. Lindsey and C. S. Raghavendra, “PEGASIS: Power-Efficient Gathering in Sensor Information Systems,” Proc. IEEE Aerospace Conference,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[4]  Shrestha, Kim, Jung and Lee, “The Improved Energy Efficient LEACH Protocol Technology of WSNs,” IJIBC, 2015.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[5]  A. Razaque, M. Mudigulam, K. Gavini, F. Amsaad, M. Abdulgader and P. Krishna, “H-LEACH: Hybrid-Low Energy Adaptive Clustering Hierarchy for Wireless Sensor Networks,” Proc. IEEE LISAT, 2016.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[6]  Kaur, Kour and Singh, “EECH-HEED: An Adaptive Hybrid Clustering Protocol for Energy Efficient Soil Monitoring,” Scientific Reports, 2025.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[7]  Subedi, Acharya, Lee and Lee, “Two-Level Clustering Algorithm for Cluster Head Selection in Randomly Deployed WSNs,” Telecom (MDPI), 2024.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[8]  Juwaied and Jackowska-Strumillo, “DL-HEED: A Deep Learning Approach to Energy-Efficient Clustering in Heterogeneous WSNs,” Applied Sciences (MDPI), 2025.</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(2/2)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64</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[9]  El-Sayed, Abd-Elgaber and Refaay, “An Intelligent RL Enhanced Improved LEACH Protocol for Prolonging WSN Lifetime,” Scientific Reports, 2026.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[10]  J. Jassbi and S. Moridi, “Fault Tolerance and Energy Efficient Clustering Algorithm in Wireless Sensor Networks: FTEC,” Wireless Personal Communications, 2019. doi:10.1007/s11277-019-06281-6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[11]  R. Pachlor, D. Shrimankar, K. K. Nagwanshi and M. Paliwal, “Cluster-Head Rotation Approaches in Sensor Networks: A Review,” arXiv:2206.08892, 2022.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[12]  C. Li, M. Ye, G. Chen and J. Wu, “An Energy-Efficient Unequal Clustering Mechanism for Wireless Sensor Networks,” Proc. IEEE MASS, 2005.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[13]  V. Chauhan and S. Soni, “Energy Aware Unequal Clustering Algorithm with Multi-hop Routing via Low Degree Relay Nodes for Wireless Sensor Networks,” J. Ambient Intelligence and Humanized Computing, vol. 12, pp. 2469–2482, 2021. doi:10.1007/s12652-020-02385-1</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[14]  W. B. Heinzelman, A. P. Chandrakasan and H. Balakrishnan, “An Application-Specific Protocol Architecture for Wireless Microsensor Networks,” IEEE Trans. Wireless Communications,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[15]  ns-3 Network Simulator, release 3.41, https://www.nsnam.org</a:t>
            </a:r>
            <a:endParaRPr lang="en-US" sz="12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2103120"/>
            <a:ext cx="10515600" cy="1280160"/>
          </a:xfrm>
          <a:prstGeom prst="rect">
            <a:avLst/>
          </a:prstGeom>
          <a:noFill/>
          <a:ln/>
        </p:spPr>
        <p:txBody>
          <a:bodyPr wrap="square" lIns="0" tIns="0" rIns="0" bIns="0" rtlCol="0" anchor="ctr"/>
          <a:lstStyle/>
          <a:p>
            <a:pPr algn="ctr" indent="0" marL="0">
              <a:buNone/>
            </a:pPr>
            <a:r>
              <a:rPr lang="en-US" sz="5400" b="1" dirty="0">
                <a:solidFill>
                  <a:srgbClr val="8A2522"/>
                </a:solidFill>
                <a:latin typeface="Arial" pitchFamily="34" charset="0"/>
                <a:ea typeface="Arial" pitchFamily="34" charset="-122"/>
                <a:cs typeface="Arial" pitchFamily="34" charset="-120"/>
              </a:rPr>
              <a:t>Thank you</a:t>
            </a:r>
            <a:endParaRPr lang="en-US" sz="5400" dirty="0"/>
          </a:p>
        </p:txBody>
      </p:sp>
      <p:sp>
        <p:nvSpPr>
          <p:cNvPr id="54" name="Text 52"/>
          <p:cNvSpPr txBox="1"/>
          <p:nvPr/>
        </p:nvSpPr>
        <p:spPr>
          <a:xfrm>
            <a:off x="822960" y="3383280"/>
            <a:ext cx="10515600" cy="731520"/>
          </a:xfrm>
          <a:prstGeom prst="rect">
            <a:avLst/>
          </a:prstGeom>
          <a:noFill/>
          <a:ln/>
        </p:spPr>
        <p:txBody>
          <a:bodyPr wrap="square" lIns="0" tIns="0" rIns="0" bIns="0" rtlCol="0" anchor="ctr"/>
          <a:lstStyle/>
          <a:p>
            <a:pPr algn="ctr" indent="0" marL="0">
              <a:buNone/>
            </a:pPr>
            <a:r>
              <a:rPr lang="en-US" sz="2400" dirty="0">
                <a:solidFill>
                  <a:srgbClr val="323232"/>
                </a:solidFill>
                <a:latin typeface="Arial" pitchFamily="34" charset="0"/>
                <a:ea typeface="Arial" pitchFamily="34" charset="-122"/>
                <a:cs typeface="Arial" pitchFamily="34" charset="-120"/>
              </a:rPr>
              <a:t>Questions &amp; Discussion</a:t>
            </a:r>
            <a:endParaRPr lang="en-US" sz="2400" dirty="0"/>
          </a:p>
        </p:txBody>
      </p:sp>
      <p:sp>
        <p:nvSpPr>
          <p:cNvPr id="55" name="Text 53"/>
          <p:cNvSpPr txBox="1"/>
          <p:nvPr/>
        </p:nvSpPr>
        <p:spPr>
          <a:xfrm>
            <a:off x="822960" y="4389120"/>
            <a:ext cx="10515600" cy="457200"/>
          </a:xfrm>
          <a:prstGeom prst="rect">
            <a:avLst/>
          </a:prstGeom>
          <a:noFill/>
          <a:ln/>
        </p:spPr>
        <p:txBody>
          <a:bodyPr wrap="square" lIns="0" tIns="0" rIns="0" bIns="0" rtlCol="0" anchor="ctr"/>
          <a:lstStyle/>
          <a:p>
            <a:pPr algn="ctr" indent="0" marL="0">
              <a:buNone/>
            </a:pPr>
            <a:r>
              <a:rPr lang="en-US" sz="1600" b="1" dirty="0">
                <a:solidFill>
                  <a:srgbClr val="8A2522"/>
                </a:solidFill>
                <a:latin typeface="Arial" pitchFamily="34" charset="0"/>
                <a:ea typeface="Arial" pitchFamily="34" charset="-122"/>
                <a:cs typeface="Arial" pitchFamily="34" charset="-120"/>
              </a:rPr>
              <a:t>Eng. Rahma Khaled Oshba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Energy-Efficient Secure Clustering in WSNs — Thesis Defense</dc:title>
  <dc:subject>PptxGenJS Presentation</dc:subject>
  <dc:creator>Rahma Khaled Oshba</dc:creator>
  <cp:lastModifiedBy>Rahma Khaled Oshba</cp:lastModifiedBy>
  <cp:revision>1</cp:revision>
  <dcterms:created xsi:type="dcterms:W3CDTF">2026-09-24T16:17:33Z</dcterms:created>
  <dcterms:modified xsi:type="dcterms:W3CDTF">2026-09-24T16:17:33Z</dcterms:modified>
</cp:coreProperties>
</file>