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1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12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3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4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8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19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charts/chart20.xml" ContentType="application/vnd.openxmlformats-officedocument.drawingml.chart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charts/chart21.xml" ContentType="application/vnd.openxmlformats-officedocument.drawingml.chart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notesMasterIdLst>
    <p:notesMasterId r:id="rId9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notesMaster" Target="notesMasters/notesMaster1.xml"/><Relationship Id="rId92" Type="http://schemas.openxmlformats.org/officeDocument/2006/relationships/presProps" Target="presProps.xml"/><Relationship Id="rId93" Type="http://schemas.openxmlformats.org/officeDocument/2006/relationships/viewProps" Target="viewProps.xml"/><Relationship Id="rId94" Type="http://schemas.openxmlformats.org/officeDocument/2006/relationships/theme" Target="theme/theme1.xml"/><Relationship Id="rId9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99.65</c:v>
                </c:pt>
                <c:pt idx="2">
                  <c:v>99.67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658</c:v>
                </c:pt>
                <c:pt idx="2">
                  <c:v>738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1197</c:v>
                </c:pt>
                <c:pt idx="2">
                  <c:v>1157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1875</c:v>
                </c:pt>
                <c:pt idx="2">
                  <c:v>1969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350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99.49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1277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1384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1543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99.62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1335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1410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334</c:v>
                </c:pt>
                <c:pt idx="2">
                  <c:v>658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334</c:v>
                </c:pt>
                <c:pt idx="1">
                  <c:v>1645</c:v>
                </c:pt>
                <c:pt idx="2">
                  <c:v>1513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1521</c:v>
                </c:pt>
                <c:pt idx="2">
                  <c:v>1521</c:v>
                </c:pt>
                <c:pt idx="3">
                  <c:v>1466</c:v>
                </c:pt>
                <c:pt idx="4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2446</c:v>
                </c:pt>
                <c:pt idx="1">
                  <c:v>2451</c:v>
                </c:pt>
                <c:pt idx="2">
                  <c:v>2430</c:v>
                </c:pt>
                <c:pt idx="3">
                  <c:v>2446</c:v>
                </c:pt>
                <c:pt idx="4">
                  <c:v>2171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2381</c:v>
                </c:pt>
                <c:pt idx="2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1406</c:v>
                </c:pt>
                <c:pt idx="1">
                  <c:v>1586</c:v>
                </c:pt>
                <c:pt idx="2">
                  <c:v>1626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529</c:v>
                </c:pt>
                <c:pt idx="1">
                  <c:v>528</c:v>
                </c:pt>
                <c:pt idx="2">
                  <c:v>2001</c:v>
                </c:pt>
                <c:pt idx="3">
                  <c:v>2158</c:v>
                </c:pt>
                <c:pt idx="4">
                  <c:v>2116</c:v>
                </c:pt>
                <c:pt idx="5">
                  <c:v>1996</c:v>
                </c:pt>
                <c:pt idx="6">
                  <c:v>1996</c:v>
                </c:pt>
                <c:pt idx="7">
                  <c:v>1913</c:v>
                </c:pt>
                <c:pt idx="8">
                  <c:v>1906</c:v>
                </c:pt>
                <c:pt idx="9">
                  <c:v>1896</c:v>
                </c:pt>
                <c:pt idx="10">
                  <c:v>2536</c:v>
                </c:pt>
                <c:pt idx="11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1218</c:v>
                </c:pt>
                <c:pt idx="1">
                  <c:v>1285</c:v>
                </c:pt>
                <c:pt idx="2">
                  <c:v>2203</c:v>
                </c:pt>
                <c:pt idx="3">
                  <c:v>2416</c:v>
                </c:pt>
                <c:pt idx="4">
                  <c:v>2356</c:v>
                </c:pt>
                <c:pt idx="5">
                  <c:v>2081</c:v>
                </c:pt>
                <c:pt idx="6">
                  <c:v>2116</c:v>
                </c:pt>
                <c:pt idx="7">
                  <c:v>2025</c:v>
                </c:pt>
                <c:pt idx="8">
                  <c:v>2011</c:v>
                </c:pt>
                <c:pt idx="9">
                  <c:v>2011</c:v>
                </c:pt>
                <c:pt idx="10">
                  <c:v>2566</c:v>
                </c:pt>
                <c:pt idx="11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99.76</c:v>
                </c:pt>
                <c:pt idx="1">
                  <c:v>99.77</c:v>
                </c:pt>
                <c:pt idx="2">
                  <c:v>98.35</c:v>
                </c:pt>
                <c:pt idx="3">
                  <c:v>97.07</c:v>
                </c:pt>
                <c:pt idx="4">
                  <c:v>98.44</c:v>
                </c:pt>
                <c:pt idx="5">
                  <c:v>98.95</c:v>
                </c:pt>
                <c:pt idx="6">
                  <c:v>98.62</c:v>
                </c:pt>
                <c:pt idx="7">
                  <c:v>98.51</c:v>
                </c:pt>
                <c:pt idx="8">
                  <c:v>98.91</c:v>
                </c:pt>
                <c:pt idx="9">
                  <c:v>99.08</c:v>
                </c:pt>
                <c:pt idx="10">
                  <c:v>99.72</c:v>
                </c:pt>
                <c:pt idx="11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1335</c:v>
                </c:pt>
                <c:pt idx="6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1197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1384</c:v>
                </c:pt>
                <c:pt idx="6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1875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1766</c:v>
                </c:pt>
                <c:pt idx="6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99.65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99.62</c:v>
                </c:pt>
                <c:pt idx="6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given per bit, so a 2000-bit packet costs 2000 times the per-bit value. Receiving: 2000 × 50 nJ = 100 µJ at any distance. Sending: electronics (50 nJ/bit) plus the amplifier, which grows with d² below d0 and with d⁴ above it. d0 = √(ε_fs/ε_mp) = √(10/0.0013) ≈ 87.7 m is where the two amplifier formulas give the same cost. Over 10 m sending (102 µJ) costs about the same as receiving (100 µJ); at 100 m it costs 360 µJ.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is per bit, so each cost = number of bits × cost per bit (2000 bits for data, 200 bits for control). Member: 2000 × (50 nJ + 10 pJ × 15²) ≈ 0.10 mJ. CH: receive 20 × 2000 × 50 nJ = 2 mJ, fuse 21 × 2000 × 5 nJ = 0.21 mJ (20 members + its own reading), send to the BS ≈ 0.15 mJ, control messages ≈ 0.25 mJ → ≈ 2.6 mJ, about 26 times a member. A 0.5 J (500 mJ) battery lasts 5000 rounds as a member only but about 190 rounds as a CH only — so the CH role must rotate.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 of the proposed protocol: sensors form clusters, the node with the most energy and neighbours (in its LEACH turn) leads, members send short hops, the CH fuses and sends one packet — directly, or through a nearer CH only if that is cheaper (v8-Chain).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6-1.png"/><Relationship Id="rId3" Type="http://schemas.openxmlformats.org/officeDocument/2006/relationships/image" Target="../media/image-6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image" Target="../media/image-69-4.png"/><Relationship Id="rId5" Type="http://schemas.openxmlformats.org/officeDocument/2006/relationships/image" Target="../media/image-6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70-1.png"/><Relationship Id="rId3" Type="http://schemas.openxmlformats.org/officeDocument/2006/relationships/image" Target="../media/image-7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image" Target="../media/image-83-5.png"/><Relationship Id="rId6" Type="http://schemas.openxmlformats.org/officeDocument/2006/relationships/image" Target="../media/image-8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a crossover distance d0,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92231"/>
            <a:ext cx="5943600" cy="3130537"/>
          </a:xfrm>
          <a:prstGeom prst="rect">
            <a:avLst/>
          </a:prstGeom>
        </p:spPr>
      </p:pic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4526280"/>
          <a:ext cx="5943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2000-bit packet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calculated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(any distance)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 × 50 nJ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10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10²)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50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50²)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100 m (&gt; d0 → d⁴)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+ 0.0013 pJ × 100⁴)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 µJ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548640" y="6053328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77240" y="605332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per bit (× k bits).  Short links: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98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286000"/>
                <a:gridCol w="22860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 in one 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calculated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2000-bit packet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15²)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packets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× 2000 bit × 50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fuse 21 readings (20 + its own)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× 2000 bit × 5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 to the BS (≈ 50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× (50 nJ + 10 pJ × 50²)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control: advertise, 20 joins, TDMA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200-bit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0.25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control message received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200-bit message (no reading)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 × 50 nJ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412480" y="1417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240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 (2.6 ÷ 0.1)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32461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 vs 190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069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0.5 J battery lasts as a member only (500 ÷ 0.1 mJ) vs as a CH only (500 ÷ 2.6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3949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53949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(658).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658)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658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350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1277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(219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1543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(1277 → 1335): fixed rotation in zone 2 (7.6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(219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1277 → 1335 (+4.5%) with the BS at the centre, 970 → 1410 (+45.4%)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 → 1335 (+4.5%)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pic>
        <p:nvPicPr>
          <p:cNvPr id="3" name="Image 0" descr="/home/user/Routing-Protocols/thesis-final/build/fig/v8_con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13316"/>
            <a:ext cx="11430000" cy="6185647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1513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1521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+392.5%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+49 %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320 → 334.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(1513, PDR 97.07%):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99.72%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2171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(2446).  Far BS: +16 % FND (1406 → 1626)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97.07%); backup, handover and re-join bring it back (v8-Chain 99.72%).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+77%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2401 – 2481 (mean 2448)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(+65 % to +272 %).  Far BS: v8-Chain is the best (1626).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1406, close to EECH-HEED+ (1410); v8-Chain reaches 1626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+15 % over the best other protocol (EECH-HEED+), +65 %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1406 → 1626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99.72%;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2401 – 2481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2401 – 2481);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2566: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2401 – 2481)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89</Slides>
  <Notes>89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2026-09-26T15:26:51Z</dcterms:created>
  <dcterms:modified xsi:type="dcterms:W3CDTF">2026-09-26T15:26:51Z</dcterms:modified>
</cp:coreProperties>
</file>