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7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8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9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0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1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12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charts/chart13.xml" ContentType="application/vnd.openxmlformats-officedocument.drawingml.chart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14.xml" ContentType="application/vnd.openxmlformats-officedocument.drawingml.chart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17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18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19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charts/chart20.xml" ContentType="application/vnd.openxmlformats-officedocument.drawingml.chart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charts/chart21.xml" ContentType="application/vnd.openxmlformats-officedocument.drawingml.chart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</p:sldIdLst>
  <p:notesMasterIdLst>
    <p:notesMasterId r:id="rId9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99.68</c:v>
                </c:pt>
                <c:pt idx="2">
                  <c:v>99.74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634</c:v>
                </c:pt>
                <c:pt idx="2">
                  <c:v>743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1216</c:v>
                </c:pt>
                <c:pt idx="2">
                  <c:v>1154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1883</c:v>
                </c:pt>
                <c:pt idx="2">
                  <c:v>1960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C9C8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1383</c:v>
                </c:pt>
                <c:pt idx="1">
                  <c:v>634</c:v>
                </c:pt>
                <c:pt idx="2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988</c:v>
                </c:pt>
                <c:pt idx="1">
                  <c:v>330</c:v>
                </c:pt>
                <c:pt idx="2">
                  <c:v>1374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99.74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1311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1382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1545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99.51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1480</c:v>
                </c:pt>
                <c:pt idx="1">
                  <c:v>1473</c:v>
                </c:pt>
                <c:pt idx="2">
                  <c:v>1368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1388</c:v>
                </c:pt>
                <c:pt idx="1">
                  <c:v>1219</c:v>
                </c:pt>
                <c:pt idx="2">
                  <c:v>1412</c:v>
                </c:pt>
                <c:pt idx="3">
                  <c:v>988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322</c:v>
                </c:pt>
                <c:pt idx="1">
                  <c:v>338</c:v>
                </c:pt>
                <c:pt idx="2">
                  <c:v>634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338</c:v>
                </c:pt>
                <c:pt idx="1">
                  <c:v>1645</c:v>
                </c:pt>
                <c:pt idx="2">
                  <c:v>1438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1415</c:v>
                </c:pt>
                <c:pt idx="2">
                  <c:v>1415</c:v>
                </c:pt>
                <c:pt idx="3">
                  <c:v>1471</c:v>
                </c:pt>
                <c:pt idx="4">
                  <c:v>1421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2501</c:v>
                </c:pt>
                <c:pt idx="1">
                  <c:v>2501</c:v>
                </c:pt>
                <c:pt idx="2">
                  <c:v>2496</c:v>
                </c:pt>
                <c:pt idx="3">
                  <c:v>2501</c:v>
                </c:pt>
                <c:pt idx="4">
                  <c:v>2106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2501</c:v>
                </c:pt>
                <c:pt idx="1">
                  <c:v>2436</c:v>
                </c:pt>
                <c:pt idx="2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1441</c:v>
                </c:pt>
                <c:pt idx="1">
                  <c:v>1636</c:v>
                </c:pt>
                <c:pt idx="2">
                  <c:v>1671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322</c:v>
                </c:pt>
                <c:pt idx="1">
                  <c:v>338</c:v>
                </c:pt>
                <c:pt idx="2">
                  <c:v>1645</c:v>
                </c:pt>
                <c:pt idx="3">
                  <c:v>1438</c:v>
                </c:pt>
                <c:pt idx="4">
                  <c:v>1438</c:v>
                </c:pt>
                <c:pt idx="5">
                  <c:v>1645</c:v>
                </c:pt>
                <c:pt idx="6">
                  <c:v>1645</c:v>
                </c:pt>
                <c:pt idx="7">
                  <c:v>1415</c:v>
                </c:pt>
                <c:pt idx="8">
                  <c:v>1415</c:v>
                </c:pt>
                <c:pt idx="9">
                  <c:v>1471</c:v>
                </c:pt>
                <c:pt idx="10">
                  <c:v>2501</c:v>
                </c:pt>
                <c:pt idx="11">
                  <c:v>2501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530</c:v>
                </c:pt>
                <c:pt idx="1">
                  <c:v>528</c:v>
                </c:pt>
                <c:pt idx="2">
                  <c:v>2011</c:v>
                </c:pt>
                <c:pt idx="3">
                  <c:v>2206</c:v>
                </c:pt>
                <c:pt idx="4">
                  <c:v>2131</c:v>
                </c:pt>
                <c:pt idx="5">
                  <c:v>2006</c:v>
                </c:pt>
                <c:pt idx="6">
                  <c:v>2011</c:v>
                </c:pt>
                <c:pt idx="7">
                  <c:v>1916</c:v>
                </c:pt>
                <c:pt idx="8">
                  <c:v>1911</c:v>
                </c:pt>
                <c:pt idx="9">
                  <c:v>1916</c:v>
                </c:pt>
                <c:pt idx="10">
                  <c:v>2589</c:v>
                </c:pt>
                <c:pt idx="11">
                  <c:v>2589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1217</c:v>
                </c:pt>
                <c:pt idx="1">
                  <c:v>1276</c:v>
                </c:pt>
                <c:pt idx="2">
                  <c:v>2205</c:v>
                </c:pt>
                <c:pt idx="3">
                  <c:v>2476</c:v>
                </c:pt>
                <c:pt idx="4">
                  <c:v>2401</c:v>
                </c:pt>
                <c:pt idx="5">
                  <c:v>2101</c:v>
                </c:pt>
                <c:pt idx="6">
                  <c:v>2106</c:v>
                </c:pt>
                <c:pt idx="7">
                  <c:v>2016</c:v>
                </c:pt>
                <c:pt idx="8">
                  <c:v>2001</c:v>
                </c:pt>
                <c:pt idx="9">
                  <c:v>2006</c:v>
                </c:pt>
                <c:pt idx="10">
                  <c:v>2636</c:v>
                </c:pt>
                <c:pt idx="11">
                  <c:v>2631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322</c:v>
                </c:pt>
                <c:pt idx="1">
                  <c:v>338</c:v>
                </c:pt>
                <c:pt idx="2">
                  <c:v>1645</c:v>
                </c:pt>
                <c:pt idx="3">
                  <c:v>1438</c:v>
                </c:pt>
                <c:pt idx="4">
                  <c:v>1438</c:v>
                </c:pt>
                <c:pt idx="5">
                  <c:v>1645</c:v>
                </c:pt>
                <c:pt idx="6">
                  <c:v>1645</c:v>
                </c:pt>
                <c:pt idx="7">
                  <c:v>1415</c:v>
                </c:pt>
                <c:pt idx="8">
                  <c:v>1415</c:v>
                </c:pt>
                <c:pt idx="9">
                  <c:v>1471</c:v>
                </c:pt>
                <c:pt idx="10">
                  <c:v>2501</c:v>
                </c:pt>
                <c:pt idx="11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99.75</c:v>
                </c:pt>
                <c:pt idx="1">
                  <c:v>99.64</c:v>
                </c:pt>
                <c:pt idx="2">
                  <c:v>98.21</c:v>
                </c:pt>
                <c:pt idx="3">
                  <c:v>95.91</c:v>
                </c:pt>
                <c:pt idx="4">
                  <c:v>98.44</c:v>
                </c:pt>
                <c:pt idx="5">
                  <c:v>98.82</c:v>
                </c:pt>
                <c:pt idx="6">
                  <c:v>98.56</c:v>
                </c:pt>
                <c:pt idx="7">
                  <c:v>98.75</c:v>
                </c:pt>
                <c:pt idx="8">
                  <c:v>99.1</c:v>
                </c:pt>
                <c:pt idx="9">
                  <c:v>99.07</c:v>
                </c:pt>
                <c:pt idx="10">
                  <c:v>99.65</c:v>
                </c:pt>
                <c:pt idx="11">
                  <c:v>99.64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634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1368</c:v>
                </c:pt>
                <c:pt idx="6">
                  <c:v>2501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1216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1385</c:v>
                </c:pt>
                <c:pt idx="6">
                  <c:v>2589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1883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1767</c:v>
                </c:pt>
                <c:pt idx="6">
                  <c:v>2636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99.68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99.51</c:v>
                </c:pt>
                <c:pt idx="6">
                  <c:v>99.65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rotation and CH protection matter. FND measures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6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65-1.png"/><Relationship Id="rId3" Type="http://schemas.openxmlformats.org/officeDocument/2006/relationships/image" Target="../media/image-6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6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image" Target="../media/image-69-1.png"/><Relationship Id="rId3" Type="http://schemas.openxmlformats.org/officeDocument/2006/relationships/image" Target="../media/image-6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1" Type="http://schemas.openxmlformats.org/officeDocument/2006/relationships/image" Target="../media/image-7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image" Target="../media/image-7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image" Target="../media/image-82-5.png"/><Relationship Id="rId6" Type="http://schemas.openxmlformats.org/officeDocument/2006/relationships/image" Target="../media/image-8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image" Target="../media/image-84-5.png"/><Relationship Id="rId6" Type="http://schemas.openxmlformats.org/officeDocument/2006/relationships/image" Target="../media/image-8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  (+ v8-Chain for a far base station)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≈ 88 m,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33" y="1508760"/>
            <a:ext cx="4152774" cy="1965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046611"/>
            <a:ext cx="5943600" cy="3130537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links: the electronics dominate —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one round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+ fuse 21 + send to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Receiving one control message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bits ×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417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node could live as a member only (0.5 J ÷ 0.1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754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ns-3 for the first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experiment is a C++ file in scratch/ and runs with ./ns3 run · NetAnim is started from its own folder</a:t>
            </a:r>
            <a:endParaRPr lang="en-US" sz="1600" dirty="0"/>
          </a:p>
        </p:txBody>
      </p:sp>
      <p:pic>
        <p:nvPicPr>
          <p:cNvPr id="5" name="Image 0" descr="/home/user/Routing-Protocols/figures/ns3_screens/run_temp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7410" y="1417320"/>
            <a:ext cx="7766699" cy="2377440"/>
          </a:xfrm>
          <a:prstGeom prst="rect">
            <a:avLst/>
          </a:prstGeom>
        </p:spPr>
      </p:pic>
      <p:pic>
        <p:nvPicPr>
          <p:cNvPr id="6" name="Image 1" descr="/home/user/Routing-Protocols/figures/ns3_screens/netanim_c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3977640"/>
            <a:ext cx="10617200" cy="914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check that ns-3.41 builds and runs (scratch-simulator).  Step 2: open NetAnim to watch the XML trace.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1 — WSN-Day3: 3 sensors → 1 sink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IEEE 802.15.4 (lr-wpan) MAC · every data frame asks for an ACK · 5 packets per sensor</a:t>
            </a:r>
            <a:endParaRPr lang="en-US" sz="1600" dirty="0"/>
          </a:p>
        </p:txBody>
      </p:sp>
      <p:pic>
        <p:nvPicPr>
          <p:cNvPr id="5" name="Image 0" descr="/home/user/Routing-Protocols/figures/ns3_screens/day3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4004"/>
            <a:ext cx="5486400" cy="3198593"/>
          </a:xfrm>
          <a:prstGeom prst="rect">
            <a:avLst/>
          </a:prstGeom>
        </p:spPr>
      </p:pic>
      <p:pic>
        <p:nvPicPr>
          <p:cNvPr id="6" name="Image 1" descr="/home/user/Routing-Protocols/figures/ns3_screens/day3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170" y="1371600"/>
            <a:ext cx="5292460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line: a sensor sends → the sink receives (LQI 255) → the MAC confirms SUCCESS (ACK received).  Result: 15 / 15, PDR 100 %.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— energy model + long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wsn_first_packet · 3 sensors + sink · 100 J each · one 50-byte packet every 10 s · 1000 s</a:t>
            </a:r>
            <a:endParaRPr lang="en-US" sz="1600" dirty="0"/>
          </a:p>
        </p:txBody>
      </p:sp>
      <p:pic>
        <p:nvPicPr>
          <p:cNvPr id="5" name="Image 0" descr="/home/user/Routing-Protocols/figures/ns3_screens/first_packet_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5543"/>
            <a:ext cx="5486400" cy="4295513"/>
          </a:xfrm>
          <a:prstGeom prst="rect">
            <a:avLst/>
          </a:prstGeom>
        </p:spPr>
      </p:pic>
      <p:pic>
        <p:nvPicPr>
          <p:cNvPr id="6" name="Image 1" descr="/home/user/Routing-Protocols/figures/ns3_screens/first_packet_ener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167" y="1371600"/>
            <a:ext cx="3842465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/ 300 packets delivered, but every node used ≈ 62.6 J —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packets moving to the sink · right: remaining energy of every node over time (Stats → Counter Tables)</a:t>
            </a:r>
            <a:endParaRPr lang="en-US" sz="1600" dirty="0"/>
          </a:p>
        </p:txBody>
      </p:sp>
      <p:pic>
        <p:nvPicPr>
          <p:cNvPr id="5" name="Image 0" descr="/home/user/Routing-Protocols/figures/ns3_screens/first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7524"/>
            <a:ext cx="6035040" cy="3691552"/>
          </a:xfrm>
          <a:prstGeom prst="rect">
            <a:avLst/>
          </a:prstGeom>
        </p:spPr>
      </p:pic>
      <p:pic>
        <p:nvPicPr>
          <p:cNvPr id="6" name="Image 1" descr="/home/user/Routing-Protocols/figures/ns3_screens/netanim_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17214"/>
            <a:ext cx="4846320" cy="36521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each node drops step by step (100 → 99.37 → 98.75 J …) — the same numbers the code prints.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 (wsn-day3-3-0.pcap): data frame (31 bytes) → ACK (5 bytes), for every packet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ay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104" y="1325880"/>
            <a:ext cx="5244353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37160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0x0001 → destination 0x0004 (the sink)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ACK comes ≈ 0.2 ms later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“LwMesh” is only a Wireshark guess: Analyze → Enabled Protocols → untick LWM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FCS is valid (checksums enabled in the code)</a:t>
            </a:r>
            <a:endParaRPr lang="en-US" sz="1500" dirty="0"/>
          </a:p>
        </p:txBody>
      </p:sp>
      <p:pic>
        <p:nvPicPr>
          <p:cNvPr id="7" name="Image 1" descr="/home/user/Routing-Protocols/thesis-final/build/fig/k2_frame_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914" y="4343400"/>
            <a:ext cx="5451693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1 byte by byte: 9 header bytes + 20 payload bytes + 2 FCS bytes = 31 bytes.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terminal output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is printed: member → CH (TDMA slot), CH fuses 4 readings, CH → sink</a:t>
            </a:r>
            <a:endParaRPr lang="en-US" sz="1600" dirty="0"/>
          </a:p>
        </p:txBody>
      </p:sp>
      <p:pic>
        <p:nvPicPr>
          <p:cNvPr id="5" name="Image 0" descr="/home/user/Routing-Protocols/figures/ns3_screens/demo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844" y="1371600"/>
            <a:ext cx="5069991" cy="4343400"/>
          </a:xfrm>
          <a:prstGeom prst="rect">
            <a:avLst/>
          </a:prstGeom>
        </p:spPr>
      </p:pic>
      <p:pic>
        <p:nvPicPr>
          <p:cNvPr id="6" name="Image 1" descr="/home/user/Routing-Protocols/figures/ns3_screens/demo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73098"/>
            <a:ext cx="5486400" cy="37404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readings, PDR 100 %, but only 18 packets reach the sink (instead of 72) — that is the saving of clustering.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CH / sink traffic (demo-clustered-wsn-12-0.pcap): 51-byte data frames, each answered by a 5-byte ACK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2259"/>
            <a:ext cx="6583680" cy="3807802"/>
          </a:xfrm>
          <a:prstGeom prst="rect">
            <a:avLst/>
          </a:prstGeom>
        </p:spPr>
      </p:pic>
      <p:pic>
        <p:nvPicPr>
          <p:cNvPr id="6" name="Image 1" descr="/home/user/Routing-Protocols/thesis-final/build/fig/k1_pack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653673"/>
            <a:ext cx="4297680" cy="18249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frame: 9-byte header + 40-byte reading + 2-byte FCS = 51 bytes; the ACK proves it arrived.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with an epoch: a node that served waits until everybody has served (set G).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energy decides who leads; the probability doubles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leader, in turn,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equations of the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578470"/>
            <a:ext cx="8686800" cy="9578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718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9" name="Image 1" descr="/home/user/Routing-Protocols/thesis-final/build/fig/eq_h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67681"/>
            <a:ext cx="8686800" cy="779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572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PEGASIS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651760" y="45720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12" name="Image 2" descr="/home/user/Routing-Protocols/thesis-final/build/fig/eq_pegasi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753" y="4663440"/>
            <a:ext cx="776913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(634).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634)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base station far away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codes with the BS at (50, −100)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463040"/>
                <a:gridCol w="155448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centre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of 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−47.9%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3566160"/>
          <a:ext cx="6766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3611880"/>
            <a:ext cx="402336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818120" y="3840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398221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549640" y="3840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818120" y="45262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and HEED lose 29 % and 48 %: every CH sends far (d⁴).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its FND (1374): only one leader talks to the BS.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 with an epoch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setup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1035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1383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988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neighbours, iterative election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734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634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330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99.68%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chain, one leader to the BS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links, delay, single leader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1616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1324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1374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99.42%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</a:t>
            </a:r>
            <a:endParaRPr lang="en-US" sz="1700" dirty="0"/>
          </a:p>
        </p:txBody>
      </p:sp>
      <p:pic>
        <p:nvPicPr>
          <p:cNvPr id="7" name="Image 0" descr="/home/user/Routing-Protocols/thesis-final/build/fig/eq_sh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489238"/>
            <a:ext cx="7726680" cy="12734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energy-based probability + energy gate</a:t>
            </a:r>
            <a:endParaRPr lang="en-US" sz="1700" dirty="0"/>
          </a:p>
        </p:txBody>
      </p:sp>
      <p:pic>
        <p:nvPicPr>
          <p:cNvPr id="10" name="Image 1" descr="/home/user/Routing-Protocols/thesis-final/build/fig/eq_hl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367109"/>
            <a:ext cx="7726680" cy="8095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6634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relays between CHs, adaptive sensing</a:t>
            </a:r>
            <a:endParaRPr lang="en-US" sz="1700" dirty="0"/>
          </a:p>
        </p:txBody>
      </p:sp>
      <p:pic>
        <p:nvPicPr>
          <p:cNvPr id="13" name="Image 2" descr="/home/user/Routing-Protocols/thesis-final/build/fig/eq_e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5056411"/>
            <a:ext cx="7726680" cy="72281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1311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(221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1545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(1311 → 1368): fixed rotation in zone 2 (7.5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1" name="Image 3" descr="/home/user/Routing-Protocols/thesis-final/build/fig/eq_fix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0507"/>
            <a:ext cx="4754880" cy="6080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583680" y="28803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3" name="Image 4" descr="/home/user/Routing-Protocols/thesis-final/build/fig/eq_fix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298278"/>
            <a:ext cx="4754880" cy="4900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583680" y="43891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5" name="Image 5" descr="/home/user/Routing-Protocols/thesis-final/build/fig/eq_fix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757464"/>
            <a:ext cx="4754880" cy="58919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residual energy + round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counter r never resets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grow to 100 per round: every node sends alone to the BS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restarts every 1/C_prob = 10 rounds (one line of code)</a:t>
            </a:r>
            <a:endParaRPr lang="en-US" sz="15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647 → 1480 (+128.7%) with the BS at the centre, 390 → 1388 (+255.9%)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an energy-based probability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only if E &gt; network average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energy → nobody is above average → no CH (deadlock)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G-set → bursts of up to 59 CHs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 average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G-set restored</a:t>
            </a:r>
            <a:endParaRPr lang="en-US" sz="15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1384 → 1473 (+6.4%) with the BS at the centre, 1121 → 1219 (+8.7%)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EECH-HEED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 near the BS, energy × degree far away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 between CHs, adaptive sensing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of 1 round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border nodes are CH every other round (221 times)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rotation fixed at the paper's 10 % (10 rounds)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× degree kept as a weight</a:t>
            </a:r>
            <a:endParaRPr lang="en-US" sz="15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1311 → 1368 (+4.3%) with the BS at the centre, 932 → 1412 (+51.5%)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hybrids compared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our fixes · centre and far BS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194560"/>
                <a:gridCol w="2103120"/>
                <a:gridCol w="13716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before → 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never resets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restarts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 → 1480 (+128.7%)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 + no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average +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 → 1473 (+6.4%)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of 1 round in zone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10-round rotation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 → 1368 (+4.3%)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4251960"/>
          <a:ext cx="7315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425196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366760" y="4480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462229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098280" y="4480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hybrid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66760" y="51663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SH-LEACH+ (1480).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EECH-HEED+ (1412).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gain: SH-LEACH (+129 %).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322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1438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1415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+386.7%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+52 %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322 → 338.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7097" y="1417320"/>
            <a:ext cx="4629647" cy="777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3258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LEACH rotation × energy × neighbours, in one step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(1438, PDR 95.91%): the CH is overloaded and its members are orphaned when it dies.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99.65%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2106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= v8 + energy-aware relay (for a far BS)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669"/>
            <a:ext cx="10789920" cy="5291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the relay is never cheaper, so v8-Chain = v8 (2501).  Far BS: +16 % FND (1441 → 1671) → use v8-Chain only when the BS is far.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95.91%); backup, handover and re-join bring it back (v8-Chain 99.64%).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· the relay box is added only in v8-Chain (far BS)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relay in action (v8-Chain)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centre: no relay is cheaper, all CHs send directly · far BS: CHs relay towards the BS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 (BS at the centre)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+81%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2471 – 2531 (mean 2500)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1005840"/>
                <a:gridCol w="1005840"/>
                <a:gridCol w="1005840"/>
                <a:gridCol w="1188720"/>
                <a:gridCol w="137160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FND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(far 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v8 has the latest first death (+69 % to +294 %).  Far BS: v8-Chain is the best (1671).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 —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(50, −100): grey = centre, orange / blue = far</a:t>
            </a:r>
            <a:endParaRPr lang="en-US" sz="1600" dirty="0"/>
          </a:p>
        </p:txBody>
      </p:sp>
      <p:pic>
        <p:nvPicPr>
          <p:cNvPr id="5" name="Image 0" descr="/home/user/Routing-Protocols/thesis-final/build/fig/far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29" y="1325880"/>
            <a:ext cx="10997862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v8 alone reaches 1441, close to EECH-HEED+ (1412); v8-Chain reaches 1671 — the best of all.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 BS — ranking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with the BS at (50, −100)</a:t>
            </a:r>
            <a:endParaRPr lang="en-US" sz="1600" dirty="0"/>
          </a:p>
        </p:txBody>
      </p:sp>
      <p:pic>
        <p:nvPicPr>
          <p:cNvPr id="5" name="Image 0" descr="/home/user/Routing-Protocols/thesis-final/build/fig/far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7276"/>
            <a:ext cx="6766560" cy="3043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v8-Chain 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far BS every CH → BS packet costs d⁴.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lets a CH hand its packet to a CH nearer the BS when that is cheaper.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+16 % over v8, +18 % over the best other protocol (EECH-HEED+), +69 % over LEACH.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main protocol · v8-Chain = v8 + relay, used only when the BS is far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latest first death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 with the BS at the centre — highest of all protocols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v8-Chain: for a far BS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energy-aware relay: 1441 → 1671 (+16 %) when the BS is far; no change at the centre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99.65%; no round without CHs; members never orphaned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2471 – 2531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random deployment 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 tested (v8 FND 2471 – 2531); uneven or clustered layouts not tested.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2636: v8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with a far BS (best of all)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built step by step: single-pass election, cluster reuse, CH protection, direct-to-BS and energy gate — the main protocol.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adds an energy-aware relay: same as v8 at the centre, +16 % when the BS is far.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on 8 random topologies (v8 FND 2471 – 2531) and better than every other protocol with the BS far away.</a:t>
            </a:r>
            <a:endParaRPr lang="en-US" sz="16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88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2026-09-26T03:43:11Z</dcterms:created>
  <dcterms:modified xsi:type="dcterms:W3CDTF">2026-09-26T03:43:11Z</dcterms:modified>
</cp:coreProperties>
</file>