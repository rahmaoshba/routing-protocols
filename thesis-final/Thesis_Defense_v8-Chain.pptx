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7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8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9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0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1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2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13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17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8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9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20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21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99.68</c:v>
                </c:pt>
                <c:pt idx="2">
                  <c:v>99.74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634</c:v>
                </c:pt>
                <c:pt idx="2">
                  <c:v>743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1216</c:v>
                </c:pt>
                <c:pt idx="2">
                  <c:v>1154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1883</c:v>
                </c:pt>
                <c:pt idx="2">
                  <c:v>1960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330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99.74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1311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1382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1545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99.51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1368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1412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322</c:v>
                </c:pt>
                <c:pt idx="1">
                  <c:v>338</c:v>
                </c:pt>
                <c:pt idx="2">
                  <c:v>634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338</c:v>
                </c:pt>
                <c:pt idx="1">
                  <c:v>1645</c:v>
                </c:pt>
                <c:pt idx="2">
                  <c:v>1438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1415</c:v>
                </c:pt>
                <c:pt idx="2">
                  <c:v>1415</c:v>
                </c:pt>
                <c:pt idx="3">
                  <c:v>1471</c:v>
                </c:pt>
                <c:pt idx="4">
                  <c:v>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2501</c:v>
                </c:pt>
                <c:pt idx="1">
                  <c:v>2501</c:v>
                </c:pt>
                <c:pt idx="2">
                  <c:v>2496</c:v>
                </c:pt>
                <c:pt idx="3">
                  <c:v>2501</c:v>
                </c:pt>
                <c:pt idx="4">
                  <c:v>2106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2501</c:v>
                </c:pt>
                <c:pt idx="1">
                  <c:v>2436</c:v>
                </c:pt>
                <c:pt idx="2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1636</c:v>
                </c:pt>
                <c:pt idx="2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530</c:v>
                </c:pt>
                <c:pt idx="1">
                  <c:v>528</c:v>
                </c:pt>
                <c:pt idx="2">
                  <c:v>2011</c:v>
                </c:pt>
                <c:pt idx="3">
                  <c:v>2206</c:v>
                </c:pt>
                <c:pt idx="4">
                  <c:v>2131</c:v>
                </c:pt>
                <c:pt idx="5">
                  <c:v>2006</c:v>
                </c:pt>
                <c:pt idx="6">
                  <c:v>2011</c:v>
                </c:pt>
                <c:pt idx="7">
                  <c:v>1916</c:v>
                </c:pt>
                <c:pt idx="8">
                  <c:v>1911</c:v>
                </c:pt>
                <c:pt idx="9">
                  <c:v>1916</c:v>
                </c:pt>
                <c:pt idx="10">
                  <c:v>2589</c:v>
                </c:pt>
                <c:pt idx="11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1217</c:v>
                </c:pt>
                <c:pt idx="1">
                  <c:v>1276</c:v>
                </c:pt>
                <c:pt idx="2">
                  <c:v>2205</c:v>
                </c:pt>
                <c:pt idx="3">
                  <c:v>2476</c:v>
                </c:pt>
                <c:pt idx="4">
                  <c:v>2401</c:v>
                </c:pt>
                <c:pt idx="5">
                  <c:v>2101</c:v>
                </c:pt>
                <c:pt idx="6">
                  <c:v>2106</c:v>
                </c:pt>
                <c:pt idx="7">
                  <c:v>2016</c:v>
                </c:pt>
                <c:pt idx="8">
                  <c:v>2001</c:v>
                </c:pt>
                <c:pt idx="9">
                  <c:v>2006</c:v>
                </c:pt>
                <c:pt idx="10">
                  <c:v>2636</c:v>
                </c:pt>
                <c:pt idx="11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99.75</c:v>
                </c:pt>
                <c:pt idx="1">
                  <c:v>99.64</c:v>
                </c:pt>
                <c:pt idx="2">
                  <c:v>98.21</c:v>
                </c:pt>
                <c:pt idx="3">
                  <c:v>95.91</c:v>
                </c:pt>
                <c:pt idx="4">
                  <c:v>98.44</c:v>
                </c:pt>
                <c:pt idx="5">
                  <c:v>98.82</c:v>
                </c:pt>
                <c:pt idx="6">
                  <c:v>98.56</c:v>
                </c:pt>
                <c:pt idx="7">
                  <c:v>98.75</c:v>
                </c:pt>
                <c:pt idx="8">
                  <c:v>99.1</c:v>
                </c:pt>
                <c:pt idx="9">
                  <c:v>99.07</c:v>
                </c:pt>
                <c:pt idx="10">
                  <c:v>99.65</c:v>
                </c:pt>
                <c:pt idx="11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1368</c:v>
                </c:pt>
                <c:pt idx="6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1216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1385</c:v>
                </c:pt>
                <c:pt idx="6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1883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1767</c:v>
                </c:pt>
                <c:pt idx="6">
                  <c:v>2636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99.68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99.51</c:v>
                </c:pt>
                <c:pt idx="6">
                  <c:v>99.65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5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0-1.png"/><Relationship Id="rId3" Type="http://schemas.openxmlformats.org/officeDocument/2006/relationships/image" Target="../media/image-6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image" Target="../media/image-63-3.png"/><Relationship Id="rId4" Type="http://schemas.openxmlformats.org/officeDocument/2006/relationships/image" Target="../media/image-63-4.png"/><Relationship Id="rId5" Type="http://schemas.openxmlformats.org/officeDocument/2006/relationships/image" Target="../media/image-6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64-1.png"/><Relationship Id="rId3" Type="http://schemas.openxmlformats.org/officeDocument/2006/relationships/image" Target="../media/image-6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6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image" Target="../media/image-77-4.png"/><Relationship Id="rId5" Type="http://schemas.openxmlformats.org/officeDocument/2006/relationships/image" Target="../media/image-77-5.png"/><Relationship Id="rId6" Type="http://schemas.openxmlformats.org/officeDocument/2006/relationships/image" Target="../media/image-7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security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cost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6" name="Shape 37"/>
          <p:cNvSpPr/>
          <p:nvPr/>
        </p:nvSpPr>
        <p:spPr>
          <a:xfrm>
            <a:off x="8970264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198864" y="41148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256532"/>
            <a:ext cx="283464" cy="28346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930384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9198864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51" name="Text 41"/>
          <p:cNvSpPr txBox="1"/>
          <p:nvPr/>
        </p:nvSpPr>
        <p:spPr>
          <a:xfrm>
            <a:off x="10799064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experiments — real IEEE 802.15.4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WSN-Day3: 3 sensors → sink with ACKs · wsn_first_packet: + energy model + NetAnim</a:t>
            </a:r>
            <a:endParaRPr lang="en-US" sz="1600" dirty="0"/>
          </a:p>
        </p:txBody>
      </p:sp>
      <p:pic>
        <p:nvPicPr>
          <p:cNvPr id="5" name="Image 0" descr="/home/user/Routing-Protocols/figures/ns3_screens/first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36101"/>
            <a:ext cx="4480560" cy="3460118"/>
          </a:xfrm>
          <a:prstGeom prst="rect">
            <a:avLst/>
          </a:prstGeom>
        </p:spPr>
      </p:pic>
      <p:pic>
        <p:nvPicPr>
          <p:cNvPr id="6" name="Image 1" descr="/home/user/Routing-Protocols/figures/ns3_screens/first_netan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08519"/>
            <a:ext cx="6400800" cy="391528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how packets, ACKs and the energy model work — and that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sink: 72 data frames + 72 ACKs (IEEE 802.15.4)</a:t>
            </a:r>
            <a:endParaRPr lang="en-US" sz="1600" dirty="0"/>
          </a:p>
        </p:txBody>
      </p:sp>
      <p:pic>
        <p:nvPicPr>
          <p:cNvPr id="5" name="Image 0" descr="/home/user/Routing-Protocols/thesis-final/build/fig/k1_packe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5067" y="1325880"/>
            <a:ext cx="10551386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 (51 bytes = 40-byte reading + header + FCS) is answered by a 5-byte ACK.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(634).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634)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−47.9%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330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99.68%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1311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(221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1545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(1311 → 1368): fixed rotation in zone 2 (7.5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(221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1311 → 1368 (+4.3%) with the BS at the centre, 932 → 1412 (+51.5%)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 → 1368 (+4.3%)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(1412).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Estimate the cost of adding security.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1438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1415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+52 %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322 → 338.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(1438, PDR 95.91%):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99.65%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2106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(2501).  Far BS: +16 % FND (1441 → 1671)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95.91%); backup, handover and re-join bring it back (v8-Chain 99.64%).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+81%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2471 – 2531 (mean 2500)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(+69 % to +294 %).  Far BS: v8-Chain is the best (1671).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1441, close to EECH-HEED+ (1412); v8-Chain reaches 1671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+18 % over the best other protocol (EECH-HEED+), +69 %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1441 → 1671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99.65%;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2471 – 2531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security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hybrid cryptography is expected to cost on top of v8 / v8-Chain</a:t>
            </a:r>
            <a:endParaRPr lang="en-US" sz="18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cryptography — the plan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Public-key once for keys, fast symmetric encryption for every message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Deployment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 key agreement once per node → shared keys with the BS / cluster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Every message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encryption + 8-byte integrity code (MIC), as in IEEE 802.15.4 security [17]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 fusion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decrypts, fuses and re-encrypts one packet to the BS</a:t>
            </a:r>
            <a:endParaRPr lang="en-US" sz="14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Assumption used in the experiment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bits per frame (auxiliary header + MIC)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bits (data and control)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energy (sender and receiver)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 (same order as E_DA; assumed)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 key setup per node,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mJ (order reported for 8-bit sensor MCUs [16])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cost of security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= v8, far BS = v8-Chain, run with the security overhead switched on (-DSEC_BITS, -DSEC_NJ_PER_BIT, -DSEC_SETUP_MJ)</a:t>
            </a:r>
            <a:endParaRPr lang="en-US" sz="1600" dirty="0"/>
          </a:p>
        </p:txBody>
      </p:sp>
      <p:pic>
        <p:nvPicPr>
          <p:cNvPr id="5" name="Image 0" descr="/home/user/Routing-Protocols/thesis-final/build/fig/s1_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6673"/>
            <a:ext cx="7406640" cy="329041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38160" y="1371600"/>
            <a:ext cx="3474720" cy="44805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3667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098280" y="160020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366760" y="2286000"/>
            <a:ext cx="3017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drops by about 9 % – 19 %.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everything on: 2031 rounds — still +47 % over LEACH and +37 % over SH-LEACH+ without any security.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stays above 99 %.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affordable: the lifetime saved by the protocol pays for the protection.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only estimated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costs are assumed values; attacks and key management are not simulated.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2636: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hybrid cryptography is expected to cost 9 – 19 % of lifetime — still longer than every unsecured baseline.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 A. S. Wander, N. Gura, H. Eberle, V. Gupta, S. C. Shantz, "Energy Analysis of Public-Key Cryptography for Wireless Sensor Networks," Proc. IEEE PerCom,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 IEEE Std 802.15.4-2020, "IEEE Standard for Low-Rate Wireless Networks," 2020.</a:t>
            </a:r>
            <a:endParaRPr lang="en-US" sz="13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2026-09-26T03:03:49Z</dcterms:created>
  <dcterms:modified xsi:type="dcterms:W3CDTF">2026-09-26T03:03:49Z</dcterms:modified>
</cp:coreProperties>
</file>