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6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7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8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9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charts/chart10.xml" ContentType="application/vnd.openxmlformats-officedocument.drawingml.chart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1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12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15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16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charts/chart17.xml" ContentType="application/vnd.openxmlformats-officedocument.drawingml.chart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8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19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932</c:v>
                </c:pt>
                <c:pt idx="1">
                  <c:v>1312</c:v>
                </c:pt>
                <c:pt idx="2">
                  <c:v>1578</c:v>
                </c:pt>
                <c:pt idx="3">
                  <c:v>2082</c:v>
                </c:pt>
                <c:pt idx="4">
                  <c:v>2192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ORIGINAL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1035</c:v>
                </c:pt>
                <c:pt idx="1">
                  <c:v>1327</c:v>
                </c:pt>
                <c:pt idx="2">
                  <c:v>1616</c:v>
                </c:pt>
                <c:pt idx="3">
                  <c:v>2017</c:v>
                </c:pt>
                <c:pt idx="4">
                  <c:v>2186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HEED+fair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</c:v>
                </c:pt>
                <c:pt idx="1">
                  <c:v>99.68</c:v>
                </c:pt>
                <c:pt idx="2">
                  <c:v>99.74</c:v>
                </c:pt>
                <c:pt idx="3">
                  <c:v>99.42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634</c:v>
                </c:pt>
                <c:pt idx="2">
                  <c:v>743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1216</c:v>
                </c:pt>
                <c:pt idx="2">
                  <c:v>1154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1883</c:v>
                </c:pt>
                <c:pt idx="2">
                  <c:v>1960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583</c:v>
                </c:pt>
                <c:pt idx="1">
                  <c:v>1157</c:v>
                </c:pt>
                <c:pt idx="2">
                  <c:v>1954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689</c:v>
                </c:pt>
                <c:pt idx="1">
                  <c:v>1207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EECH-HEED: paper vs code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1250</c:v>
                </c:pt>
                <c:pt idx="1">
                  <c:v>1650</c:v>
                </c:pt>
                <c:pt idx="2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</c:v>
                </c:pt>
                <c:pt idx="1">
                  <c:v>1954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98.58</c:v>
                </c:pt>
                <c:pt idx="1">
                  <c:v>99.3</c:v>
                </c:pt>
                <c:pt idx="2">
                  <c:v>99.74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1384</c:v>
                </c:pt>
                <c:pt idx="2">
                  <c:v>1311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702</c:v>
                </c:pt>
                <c:pt idx="1">
                  <c:v>1419</c:v>
                </c:pt>
                <c:pt idx="2">
                  <c:v>1382</c:v>
                </c:pt>
                <c:pt idx="3">
                  <c:v>1586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721</c:v>
                </c:pt>
                <c:pt idx="1">
                  <c:v>1434</c:v>
                </c:pt>
                <c:pt idx="2">
                  <c:v>1545</c:v>
                </c:pt>
                <c:pt idx="3">
                  <c:v>1842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99.21</c:v>
                </c:pt>
                <c:pt idx="1">
                  <c:v>99.36</c:v>
                </c:pt>
                <c:pt idx="2">
                  <c:v>99.51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322</c:v>
                </c:pt>
                <c:pt idx="1">
                  <c:v>338</c:v>
                </c:pt>
                <c:pt idx="2">
                  <c:v>634</c:v>
                </c:pt>
                <c:pt idx="3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v2</c:v>
                  </c:pt>
                  <c:pt idx="1">
                    <c:v>v3 (reuse 5)</c:v>
                  </c:pt>
                  <c:pt idx="2">
                    <c:v>v4 (reuse 15)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338</c:v>
                </c:pt>
                <c:pt idx="1">
                  <c:v>1645</c:v>
                </c:pt>
                <c:pt idx="2">
                  <c:v>1438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v5b</c:v>
                  </c:pt>
                  <c:pt idx="1">
                    <c:v>v6 chain</c:v>
                  </c:pt>
                  <c:pt idx="2">
                    <c:v>v7 chain + backup</c:v>
                  </c:pt>
                  <c:pt idx="3">
                    <c:v>v7.1 multihop tree</c:v>
                  </c:pt>
                  <c:pt idx="4">
                    <c:v>v7.2 (int 10)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1645</c:v>
                </c:pt>
                <c:pt idx="1">
                  <c:v>1415</c:v>
                </c:pt>
                <c:pt idx="2">
                  <c:v>1415</c:v>
                </c:pt>
                <c:pt idx="3">
                  <c:v>1471</c:v>
                </c:pt>
                <c:pt idx="4">
                  <c:v>1421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2501</c:v>
                </c:pt>
                <c:pt idx="1">
                  <c:v>2501</c:v>
                </c:pt>
                <c:pt idx="2">
                  <c:v>2496</c:v>
                </c:pt>
                <c:pt idx="3">
                  <c:v>2501</c:v>
                </c:pt>
                <c:pt idx="4">
                  <c:v>2106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2501</c:v>
                </c:pt>
                <c:pt idx="1">
                  <c:v>2436</c:v>
                </c:pt>
                <c:pt idx="2">
                  <c:v>2501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1441</c:v>
                </c:pt>
                <c:pt idx="1">
                  <c:v>1636</c:v>
                </c:pt>
                <c:pt idx="2">
                  <c:v>1671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322</c:v>
                </c:pt>
                <c:pt idx="1">
                  <c:v>338</c:v>
                </c:pt>
                <c:pt idx="2">
                  <c:v>1645</c:v>
                </c:pt>
                <c:pt idx="3">
                  <c:v>1438</c:v>
                </c:pt>
                <c:pt idx="4">
                  <c:v>1438</c:v>
                </c:pt>
                <c:pt idx="5">
                  <c:v>1645</c:v>
                </c:pt>
                <c:pt idx="6">
                  <c:v>1645</c:v>
                </c:pt>
                <c:pt idx="7">
                  <c:v>1415</c:v>
                </c:pt>
                <c:pt idx="8">
                  <c:v>1415</c:v>
                </c:pt>
                <c:pt idx="9">
                  <c:v>1471</c:v>
                </c:pt>
                <c:pt idx="10">
                  <c:v>2501</c:v>
                </c:pt>
                <c:pt idx="11">
                  <c:v>2501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530</c:v>
                </c:pt>
                <c:pt idx="1">
                  <c:v>528</c:v>
                </c:pt>
                <c:pt idx="2">
                  <c:v>2011</c:v>
                </c:pt>
                <c:pt idx="3">
                  <c:v>2206</c:v>
                </c:pt>
                <c:pt idx="4">
                  <c:v>2131</c:v>
                </c:pt>
                <c:pt idx="5">
                  <c:v>2006</c:v>
                </c:pt>
                <c:pt idx="6">
                  <c:v>2011</c:v>
                </c:pt>
                <c:pt idx="7">
                  <c:v>1916</c:v>
                </c:pt>
                <c:pt idx="8">
                  <c:v>1911</c:v>
                </c:pt>
                <c:pt idx="9">
                  <c:v>1916</c:v>
                </c:pt>
                <c:pt idx="10">
                  <c:v>2589</c:v>
                </c:pt>
                <c:pt idx="11">
                  <c:v>2589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1217</c:v>
                </c:pt>
                <c:pt idx="1">
                  <c:v>1276</c:v>
                </c:pt>
                <c:pt idx="2">
                  <c:v>2205</c:v>
                </c:pt>
                <c:pt idx="3">
                  <c:v>2476</c:v>
                </c:pt>
                <c:pt idx="4">
                  <c:v>2401</c:v>
                </c:pt>
                <c:pt idx="5">
                  <c:v>2101</c:v>
                </c:pt>
                <c:pt idx="6">
                  <c:v>2106</c:v>
                </c:pt>
                <c:pt idx="7">
                  <c:v>2016</c:v>
                </c:pt>
                <c:pt idx="8">
                  <c:v>2001</c:v>
                </c:pt>
                <c:pt idx="9">
                  <c:v>2006</c:v>
                </c:pt>
                <c:pt idx="10">
                  <c:v>2636</c:v>
                </c:pt>
                <c:pt idx="11">
                  <c:v>2631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322</c:v>
                </c:pt>
                <c:pt idx="1">
                  <c:v>338</c:v>
                </c:pt>
                <c:pt idx="2">
                  <c:v>1645</c:v>
                </c:pt>
                <c:pt idx="3">
                  <c:v>1438</c:v>
                </c:pt>
                <c:pt idx="4">
                  <c:v>1438</c:v>
                </c:pt>
                <c:pt idx="5">
                  <c:v>1645</c:v>
                </c:pt>
                <c:pt idx="6">
                  <c:v>1645</c:v>
                </c:pt>
                <c:pt idx="7">
                  <c:v>1415</c:v>
                </c:pt>
                <c:pt idx="8">
                  <c:v>1415</c:v>
                </c:pt>
                <c:pt idx="9">
                  <c:v>1471</c:v>
                </c:pt>
                <c:pt idx="10">
                  <c:v>2501</c:v>
                </c:pt>
                <c:pt idx="11">
                  <c:v>2501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99.75</c:v>
                </c:pt>
                <c:pt idx="1">
                  <c:v>99.64</c:v>
                </c:pt>
                <c:pt idx="2">
                  <c:v>98.21</c:v>
                </c:pt>
                <c:pt idx="3">
                  <c:v>95.91</c:v>
                </c:pt>
                <c:pt idx="4">
                  <c:v>98.44</c:v>
                </c:pt>
                <c:pt idx="5">
                  <c:v>98.82</c:v>
                </c:pt>
                <c:pt idx="6">
                  <c:v>98.56</c:v>
                </c:pt>
                <c:pt idx="7">
                  <c:v>98.75</c:v>
                </c:pt>
                <c:pt idx="8">
                  <c:v>99.1</c:v>
                </c:pt>
                <c:pt idx="9">
                  <c:v>99.07</c:v>
                </c:pt>
                <c:pt idx="10">
                  <c:v>99.65</c:v>
                </c:pt>
                <c:pt idx="11">
                  <c:v>99.64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PDR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v8-Chain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634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1368</c:v>
                </c:pt>
                <c:pt idx="6">
                  <c:v>2501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v8-Chain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1216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1385</c:v>
                </c:pt>
                <c:pt idx="6">
                  <c:v>2589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v8-Chain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1883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1767</c:v>
                </c:pt>
                <c:pt idx="6">
                  <c:v>2631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v8-Chain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99.68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99.51</c:v>
                </c:pt>
                <c:pt idx="6">
                  <c:v>99.64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WSN is a set of small battery-powered sensors that measure something and send it by radio to a base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rotation and CH protection matter. FND measures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image" Target="../media/image-5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5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5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image" Target="../media/image-57-1.png"/><Relationship Id="rId3" Type="http://schemas.openxmlformats.org/officeDocument/2006/relationships/image" Target="../media/image-5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image" Target="../media/image-6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image" Target="../media/image-73-3.png"/><Relationship Id="rId4" Type="http://schemas.openxmlformats.org/officeDocument/2006/relationships/image" Target="../media/image-73-4.png"/><Relationship Id="rId5" Type="http://schemas.openxmlformats.org/officeDocument/2006/relationships/image" Target="../media/image-73-5.png"/><Relationship Id="rId6" Type="http://schemas.openxmlformats.org/officeDocument/2006/relationships/image" Target="../media/image-7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LEACH, HEED and PEGASIS to a new clustering protocol: v8-Chain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876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6459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7876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5968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first experiments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model, ns-3, demo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84648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6459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7876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23176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991856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6459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596" y="17876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30384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protocols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· H-LEACH · EECH-HEED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799064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256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literature review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2377440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355848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114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25653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315968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5184648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0" name="Shape 32"/>
          <p:cNvSpPr/>
          <p:nvPr/>
        </p:nvSpPr>
        <p:spPr>
          <a:xfrm>
            <a:off x="6163056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114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388" y="425653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23176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security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cost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7991856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46" name="Shape 37"/>
          <p:cNvSpPr/>
          <p:nvPr/>
        </p:nvSpPr>
        <p:spPr>
          <a:xfrm>
            <a:off x="8970264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9198864" y="411480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0596" y="4256532"/>
            <a:ext cx="283464" cy="28346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9930384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50" name="Text 40"/>
          <p:cNvSpPr txBox="1"/>
          <p:nvPr/>
        </p:nvSpPr>
        <p:spPr>
          <a:xfrm>
            <a:off x="9198864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summary</a:t>
            </a:r>
            <a:endParaRPr lang="en-US" sz="1400" dirty="0"/>
          </a:p>
        </p:txBody>
      </p:sp>
      <p:sp>
        <p:nvSpPr>
          <p:cNvPr id="51" name="Text 41"/>
          <p:cNvSpPr txBox="1"/>
          <p:nvPr/>
        </p:nvSpPr>
        <p:spPr>
          <a:xfrm>
            <a:off x="10799064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wireless sensor network is — and why energy is its main problem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Wireless Sensor Network (WSN)?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battery-powered sensors that measure and report by radio</a:t>
            </a:r>
            <a:endParaRPr lang="en-US" sz="1600" dirty="0"/>
          </a:p>
        </p:txBody>
      </p:sp>
      <p:pic>
        <p:nvPicPr>
          <p:cNvPr id="5" name="Image 0" descr="/home/user/Routing-Protocols/thesis-final/build/fig/b1_w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4037"/>
            <a:ext cx="7315200" cy="3138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0" y="15544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are spread over a field (soil, forest, building, body …).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sensor measures (temperature, humidity, motion …) and sends its reading by radio.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readings reach a sink / base station (BS), then the user over the Internet.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9834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51320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14600" y="4983480"/>
            <a:ext cx="594360" cy="5943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190" y="513207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7296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89120" y="498348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710" y="513207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4748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263640" y="4983480"/>
            <a:ext cx="594360" cy="5943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513207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2200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138160" y="49834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5132070"/>
            <a:ext cx="297180" cy="2971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79652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012680" y="4983480"/>
            <a:ext cx="594360" cy="594360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270" y="5132070"/>
            <a:ext cx="297180" cy="2971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6710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640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sensor node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cheap and limited — the battery decides how long it lives</a:t>
            </a:r>
            <a:endParaRPr lang="en-US" sz="1600" dirty="0"/>
          </a:p>
        </p:txBody>
      </p:sp>
      <p:pic>
        <p:nvPicPr>
          <p:cNvPr id="5" name="Image 0" descr="/home/user/Routing-Protocols/thesis-final/build/fig/b2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3616"/>
            <a:ext cx="6949440" cy="2476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453085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battery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cannot be replaced or recharged in the field.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389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45308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radio range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metres; far nodes cannot reach the BS cheaply.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4672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3891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453085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CPU and memory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algorithms (and heavy cryptography) are costly.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59893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communication uses most of the energy — even listening costs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problem: energy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lifetime = how long the sensors keep working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more the farther it goes: cost grows with d² and, beyond ≈ 88 m, with d⁴.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sensor sends directly to a far BS, the far sensors die very early.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sensors die, parts of the field are no longer monitored.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463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1463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Dies — round of the first death (stability period). Main metric.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49440" y="2606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606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606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Nodes Die — average lifetime.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3749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749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749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 Dies — total lifetime.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4892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 — delivered ÷ generated readings.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60350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119372"/>
            <a:ext cx="283464" cy="28346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9776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studied in this thesis: clustering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634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sensors so that most transmissions are short.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clustering?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send a short hop to a cluster head (CH); the CH sends one packet to the BS</a:t>
            </a:r>
            <a:endParaRPr lang="en-US" sz="1600" dirty="0"/>
          </a:p>
        </p:txBody>
      </p:sp>
      <p:pic>
        <p:nvPicPr>
          <p:cNvPr id="5" name="Image 0" descr="/home/user/Routing-Protocols/thesis-final/build/fig/b3_clust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614" y="1371600"/>
            <a:ext cx="9818292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(CH) = the leader of a group.  Member = a normal sensor.  Fusion = the CH merges all readings into one packet.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clustering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steady state → the CH role rotates in the next round</a:t>
            </a:r>
            <a:endParaRPr lang="en-US" sz="1600" dirty="0"/>
          </a:p>
        </p:txBody>
      </p:sp>
      <p:pic>
        <p:nvPicPr>
          <p:cNvPr id="5" name="Image 0" descr="/home/user/Routing-Protocols/thesis-final/build/fig/b4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90" y="1371600"/>
            <a:ext cx="1059374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CHs, CHs advertise, members join the nearest CH, CH sends a TDMA schedule.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sends in its own time slot (TDMA) — no collisions.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7532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BS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fuses members + its own reading and sends one packet to the BS.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= one full cycle.  Epoch = the rounds needed so that every node serves as CH once.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problems of clustering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protocol in this thesis tries to solve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becomes CH?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or badly placed CH dies early.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rotation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works harder, so the role must rotate.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overhead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Electing CHs every round costs messages and energy.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failure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 dies, its members lose their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233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16509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base station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links become very expensive (d⁴).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233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16509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messages can be read or forged — protection costs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model &amp; first experiments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is calculated, the tools, and the first ns-3 runs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energy is calculated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 (Heinzelman et al.) — used by every paper we compare with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937760" cy="2103120"/>
          </a:xfrm>
          <a:prstGeom prst="roundRect">
            <a:avLst>
              <a:gd name="adj" fmla="val 3478"/>
            </a:avLst>
          </a:prstGeom>
          <a:solidFill>
            <a:srgbClr val="F4F4F0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0876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F1F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E_tx(k,d) = k·E_elec + k·ε_fs·d²   (d &lt; d0)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F1F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E_tx(k,d) = k·E_elec + k·ε_mp·d⁴   (d ≥ d0)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F1F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E_rx(k)   = k·E_elec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F1F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 = √(ε_fs / ε_mp) ≈ 87.7 m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in the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data / 200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electronics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short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long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 at the 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home/user/Routing-Protocols/thesis-final/build/fig/e1_energy_dis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046611"/>
            <a:ext cx="5943600" cy="313053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links: the electronics dominate — receiving is not free.  Long links (&gt; d0): the cost explodes.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why the CH is the one that dies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nodes, 0.5 J each (50 J in total), one 2000-bit reading per node per round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one round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(15 m from its 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0.10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with 20 members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20 + fuse 21 + send to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2.6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Receiving one control message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bits ×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417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26×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240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spends about 26 times more than a member in the same round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 node could live as a member only (0.5 J ÷ 0.1 mJ)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4754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754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protocol competes on one question: how to rotate the CH role fairly and make it cheaper.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(VMware) · ns-3.41 (C++) · NetAnim · Wireshark · Python</a:t>
            </a:r>
            <a:endParaRPr lang="en-US" sz="1600" dirty="0"/>
          </a:p>
        </p:txBody>
      </p:sp>
      <p:pic>
        <p:nvPicPr>
          <p:cNvPr id="5" name="Image 0" descr="/home/user/Routing-Protocols/figures/ns3_screens/vm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89"/>
            <a:ext cx="5486400" cy="2877503"/>
          </a:xfrm>
          <a:prstGeom prst="rect">
            <a:avLst/>
          </a:prstGeom>
        </p:spPr>
      </p:pic>
      <p:pic>
        <p:nvPicPr>
          <p:cNvPr id="6" name="Image 1" descr="/home/user/Routing-Protocols/figures/ns3_screens/vm_ubunt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6802"/>
            <a:ext cx="5394960" cy="28272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ns-3.41 built from source inside an Ubuntu virtual machine; results processed in Python.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experiments — real IEEE 802.15.4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WSN-Day3: 3 sensors → sink with ACKs · wsn_first_packet: + energy model + NetAnim</a:t>
            </a:r>
            <a:endParaRPr lang="en-US" sz="1600" dirty="0"/>
          </a:p>
        </p:txBody>
      </p:sp>
      <p:pic>
        <p:nvPicPr>
          <p:cNvPr id="5" name="Image 0" descr="/home/user/Routing-Protocols/figures/ns3_screens/first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6101"/>
            <a:ext cx="4480560" cy="3460118"/>
          </a:xfrm>
          <a:prstGeom prst="rect">
            <a:avLst/>
          </a:prstGeom>
        </p:spPr>
      </p:pic>
      <p:pic>
        <p:nvPicPr>
          <p:cNvPr id="6" name="Image 1" descr="/home/user/Routing-Protocols/figures/ns3_screens/first_netan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08519"/>
            <a:ext cx="6400800" cy="391528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Learned: how packets, ACKs and the energy model work — and that the radio spends energy even when it only listens.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clustering with real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sensors · 3 clusters · 1 sink · CH rotates every round · TDMA · fusion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6 — red = CH (CH1, CH4, CH9) · colours = clusters · gold = sink with 72 readings</a:t>
            </a:r>
            <a:endParaRPr lang="en-US" sz="1600" dirty="0"/>
          </a:p>
        </p:txBody>
      </p:sp>
      <p:pic>
        <p:nvPicPr>
          <p:cNvPr id="5" name="Image 0" descr="/home/user/Routing-Protocols/figures/ns3_screens/demo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8669" y="1371600"/>
            <a:ext cx="8244182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shows its remaining energy (16.3 J of 20 J); the CH role moved to a new node every round.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the sink: 72 data frames + 72 ACKs (IEEE 802.15.4)</a:t>
            </a:r>
            <a:endParaRPr lang="en-US" sz="1600" dirty="0"/>
          </a:p>
        </p:txBody>
      </p:sp>
      <p:pic>
        <p:nvPicPr>
          <p:cNvPr id="5" name="Image 0" descr="/home/user/Routing-Protocols/thesis-final/build/fig/k1_packe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067" y="1325880"/>
            <a:ext cx="10551386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frame (51 bytes = 40-byte reading + header + FCS) is answered by a 5-byte ACK.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 — paper → our ORIGINAL code → our EDITED code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papers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P / (1 − P·(r mod 1/P)) if n ∈ 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CHs may be badly placed.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CH_prob = C_prob·E_res/E_max, doubled every iteration; members join the lowest-cost 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data fused along the chain; one leader (i mod N) talks to the BS.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delay, long chain links, single leader.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each paper in its own settings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prove that our code reproduces the paper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017520"/>
                <a:gridCol w="29260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−100)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(50, 175)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150)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/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bits × 5 frames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two-slope, d0 = 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changed in the algorithms; only the paper's own parameters are used.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settings as each paper; FND / HND / LND in rounds</a:t>
            </a:r>
            <a:endParaRPr lang="en-US" sz="1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23774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 / 1384 / 2259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within 1 % (LEACH) and every PEGASIS value within 3.5 % → the code reproduces the papers.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(grey) vs our ORIGINAL code (blue)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one unified environment for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algorithms; only the environment changes, so the comparison is fair</a:t>
            </a:r>
            <a:endParaRPr lang="en-US" sz="1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32320" y="1371600"/>
            <a:ext cx="44805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609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26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0020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node positions (same seed)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heard by every node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+ TDMA messages are charged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reading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without a CH sends directly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lasts until the last node dies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values? They are the standard settings of the LEACH literature and the standard radio model.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+ fairness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death: LEACH (1383).  Earliest: HEED (634).  Longest last node: PEGASIS (3504).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in two environments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926080"/>
                <a:gridCol w="265176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vs our ORIGINAL vs our EDITED</a:t>
            </a:r>
            <a:endParaRPr lang="en-US" sz="1600" dirty="0"/>
          </a:p>
        </p:txBody>
      </p:sp>
      <p:pic>
        <p:nvPicPr>
          <p:cNvPr id="5" name="Image 0" descr="/home/user/Routing-Protocols/thesis-final/build/fig/p1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3615"/>
            <a:ext cx="11064240" cy="366228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 ↑ (FND 1035 → 1383)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10× cheaper: 10 pJ instead of 100 pJ.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(≤ 70 m) instead of 100 – 150 m away.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savings are bigger than the setup messages we added.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 ↓ (FND 734 → 634)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1 election then 5 data packets; unified: 1 election for 1 packet.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round, each heard by ~20 neighbours.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 instead of 2 J per node.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 FND ↓, LND ↑ (1616 → 1324)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4× bigger → one greedy chain link of 91.5 m (&gt; d0, cost d⁴).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73 on that link died first.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radio + central BS → the last nodes live very long.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did not change — only the environment. That is why a fair comparison needs one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 — paper → ORIGINAL → EDITED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a LEACH + HEED hybrid?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work, and the three papers, combine the strengths of both protocols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random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 with epoch and G-set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the nearest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TDMA + fusion at the 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834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7419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HEED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 energy decides who leads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connectivity (node degree / cost)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well-spread cluster heads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3"/>
          <p:cNvSpPr/>
          <p:nvPr/>
        </p:nvSpPr>
        <p:spPr>
          <a:xfrm>
            <a:off x="8961120" y="1371600"/>
            <a:ext cx="2651760" cy="4297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897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452" y="17419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921240" y="16002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194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speed and rotation with HEED's energy awareness — without HEED's negotiation.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(2015), H-LEACH (2016) and EECH-HEED (2025) follow this idea — and so does our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adds energy (HEED idea) to LEACH-style rotation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743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37160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C·(E/E_max)·(C·r) / (1 + CH_cho mod 1/C)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13716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round number + CH counter.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17520"/>
            <a:ext cx="2743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301752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t(n) = e0 / (1 − e0·(r mod round(1/e0))),  e0 = P·E/E_max;  CH only if E &gt; E_avg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301752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a personal, energy-based probability + an energy gate.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66344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663440"/>
            <a:ext cx="2743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466344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 1 (near BS): HEED.  Zone 2: P = (E/E_max)(D/D_max).  T = LEACH × α × β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0" y="466344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multi-hop between CHs, adaptive sensing.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the hybrids in their own settings</a:t>
            </a:r>
            <a:endParaRPr lang="en-US" sz="3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near BS + 70 far; 14 advanced 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1.5 J (≈ 56 J 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 (not stated)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bits, E_DA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100 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C_prob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setup messages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sensing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 / 583 / 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 / 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4312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value not reachable*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4000-bit packets use up the 50 J before round 2500.  EECH-HEED depends on the sensor signal the paper does not give (sensing OFF → FND 420).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in each paper's settings (EECH-HEED also vs its paper)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65836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7315200" y="1280160"/>
          <a:ext cx="43891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hybrids in the unified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as in the papers</a:t>
            </a:r>
            <a:endParaRPr lang="en-US" sz="1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beats LEACH (1383); SH-LEACH dies after only 647 rounds.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what went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unified environment each hybrid shows a design flaw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37160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647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37160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up to 100 CHs per round: every node sends alone to the BS.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20040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3489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83464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1384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83464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average" with equal energy → no CH in round 1 (deadlock); no G-set → bursts of up to 59 CHs.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6344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81203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297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1311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749040" y="42976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1/P ≈ 1 round → the same border nodes are CH every other round (221 times).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add energy to LEACH but break its rotation.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in numbers — cluster heads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= paper algorithm (EDITED) · blue = after our fix (IMPROVED)</a:t>
            </a:r>
            <a:endParaRPr lang="en-US" sz="1600" dirty="0"/>
          </a:p>
        </p:txBody>
      </p:sp>
      <p:pic>
        <p:nvPicPr>
          <p:cNvPr id="5" name="Image 0" descr="/home/user/Routing-Protocols/thesis-final/build/fig/h1_hybrid_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5963"/>
            <a:ext cx="11064240" cy="31489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reaches 100 CHs (every node alone); H-LEACH and EECH-HEED elect too many CHs, too often.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— our fixes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two lines of code per protocol; nothing else changed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9921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((r − 1) mod 1/C) + 1 : the counter restarts every 10 rounds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08960"/>
            <a:ext cx="9921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947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E_avg" → "E ≥ E_avg"  +  LEACH G-set restored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177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75945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617720"/>
            <a:ext cx="9921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035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uses the paper's 10 % for the period and the G-set; Eq. 5 becomes a weight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energy alone is not enough — the rotation (epoch / G-set) must be kept.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 + our fix</a:t>
            </a:r>
            <a:endParaRPr lang="en-US" sz="16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SH-LEACH+ (1480) and H-LEACH+ (1473) beat LEACH (1383).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 vs IMPROVED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hybrid, every version</a:t>
            </a:r>
            <a:endParaRPr lang="en-US" sz="16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828800"/>
                <a:gridCol w="182880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→ 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(grey) · EDITED (orange) · IMPROVED (blue)</a:t>
            </a:r>
            <a:endParaRPr lang="en-US" sz="1600" dirty="0"/>
          </a:p>
        </p:txBody>
      </p:sp>
      <p:pic>
        <p:nvPicPr>
          <p:cNvPr id="5" name="Image 0" descr="/home/user/Routing-Protocols/thesis-final/build/fig/h2_hybrid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8749"/>
            <a:ext cx="11064240" cy="357202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(484 → 647): cheaper radio (10 vs 100 pJ).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1480, ×2.3): the counter restarts, so CHs stay few instead of reaching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(1078 → 1384): packet 2000 instead of 4000 bits (half the energy per message).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1473): no deadlock, no CH bursts (8.6 → 5.3 CHs per round).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EDIT: LND 3783 → 1545 because sensing is OFF (every node sends every round) and 50 J instead of 56 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(1311 → 1368): fixed rotation in zone 2 (7.5 → 2.9 CHs per round).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→ EDITED = environment only.  EDITED → IMPROVED = our one-line fix only.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&amp; literature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research is going (2024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papers (studied, not re-implemented)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training data or unpublished models — used to compare ideas</a:t>
            </a:r>
            <a:endParaRPr lang="en-US" sz="16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377440"/>
                <a:gridCol w="32004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(energy, density, distance)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+784 % lifetime vs 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earlier than ILEACH (524 vs 936); learning cost not 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inside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+60 % vs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data; heavy on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LEACH with a distance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longer lifetime than LEACH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CH-failure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 + multi-hop +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1250, PDR 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breaks in zone 2 (fixed by 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election adapts well, but does not always delay the first node death.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 — summary</a:t>
            </a:r>
            <a:endParaRPr lang="en-US" sz="32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377440"/>
                <a:gridCol w="2194560"/>
                <a:gridCol w="2651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limitation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our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[1]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T(n),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T(r) +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LEACH-C [2]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knowledge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[3]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energy +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every 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× degree (single pass)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[4]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leader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delay, long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idea (only if cheaper)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 [5]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× energy × 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count grows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lesson: keep rotation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 [6]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+ E &gt; E_avg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deadlock, no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gate (I5)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[7]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zones, T·α·β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collapse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between 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[8] / DL-HEED [9]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+ degree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[11] · Pachlor [12]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 · 2022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 · rotation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CH · handover (I2)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EEUC [13] · Chauhan [14]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 · 2021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unequal clusters, relays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hot-spot lesson, relay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protocol combines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51206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cheap single-pass CH election (energy + connectivity)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relaying between CHs only when it saves energy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they are never compared in the same environment.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6002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286000"/>
            <a:ext cx="4846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Reproduce all protocols fairly (ORIGINAL → EDITED).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Fix the flaws of the hybrids (IMPROVED).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a new protocol step by step (v1 → v8-Chain).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Estimate the cost of adding security.</a:t>
            </a:r>
            <a:endParaRPr lang="en-US" sz="16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 — one change per version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protocol was built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version changes one thing, so its effect can be measured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election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322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04872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338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803904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4670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0098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 + reuse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02936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45736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00016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15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1438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99048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v6/v7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chain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1415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00032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4283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– I5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799064" y="2852928"/>
            <a:ext cx="420624" cy="42062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4186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029614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big jumps: v3 (no negotiation + cluster reuse) and v8 (direct-to-BS + energy gate).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election + LEACH nearest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rotation-fairness penalty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Single-pass score + 5-round cluster reuse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+386.7%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interval 5 →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backup CH (interval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+ cluster repair, interval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is the first big jump: ×4.9 over v2 (no negotiation + cluster reuse).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energy-aware backup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CH-to-CH 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+ backup + chain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multihop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 + I1–I5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+ energy-aware CH relay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second big jump: +52 % over v5b (I1 – I5).  v8-Chain keeps it and adds the far-BS gain.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– v2: starting from HEED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= HEED election + LEACH nearest-CH join · v2 = + fairness penalty cost × (1 + 0.1·timesServed)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3716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66760" y="16002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2286000"/>
            <a:ext cx="3749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only 322 → 338.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negotiation of HEED, paid every round, is the real problem — not fairness.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remove the iterative negotiation.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– v4: single-pass election + cluster reuse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jump of the whole study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4F4F0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371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T(r) × (E/E0) × (1 + deg/deg_max)   =   rotation × energy × neighbours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37744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675120" y="237744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5452" y="274777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6060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×4.9 longer first-node life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903720" y="329184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are kept for 5 rounds, so setup is paid once per 5 rounds.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rounds is worse (1438, PDR 95.91%): the CH is overloaded and its members are orphaned when it dies.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reuse clusters for 5 rounds — but protect the members when the CH dies.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v5: backup 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member replaces a dead CH (v5b: only if it has ≥ 5 % of E0)</a:t>
            </a:r>
            <a:endParaRPr lang="en-US" sz="16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(int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37160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002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28600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protects the data (PDR ↑) but does not delay the first death.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5 is the best again.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becomes the base of v8.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protection improves reliability; lifetime needs something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 – v7: chaining the cluster heads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forward to each other towards the BS (idea from PEGASIS)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not better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near the BS carry everybody's traffic and die first (the "hot spot" of EEUC [13]).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BS at the centre, forced relaying costs more than it saves.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relay only when it really saves energy.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v8: five improvements on top of v5b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Epoch fix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epoch when nobody is eligible → no round without CHs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 Handover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that cannot finish the round hands over before it dies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 Re-join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a dead CH join the nearest alive CH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not farther from the BS than from its CH sends directly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3936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become CH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400" dirty="0"/>
          </a:p>
        </p:txBody>
      </p:sp>
      <p:sp>
        <p:nvSpPr>
          <p:cNvPr id="30" name="Text 23"/>
          <p:cNvSpPr txBox="1"/>
          <p:nvPr/>
        </p:nvSpPr>
        <p:spPr>
          <a:xfrm>
            <a:off x="8138160" y="4434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(v5b 1645) · PDR 99.65%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improvement switched off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37160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00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make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28600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I4: 1766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I5: 2106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zero-CH rounds, no lost members, stable PDR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v8-Chain: energy-aware relay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another CH only if it is cheaper than going straight to the BS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4F0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3716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relay via CH j  only if   Tx(c → j) + Rx(j) + E_DA(j)  &lt;  Tx(c → BS)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21792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5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1792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nothing to gain, nothing lost (2501).  Far BS: +16 % FND (1441 → 1671).</a:t>
            </a:r>
            <a:endParaRPr lang="en-US" sz="15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lifetime of all versions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· unified environment, BS at the centre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first node death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jumps: v3 and v8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packet delivery ratio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of every version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without protection loses data (v4 95.91%); backup, handover and re-join bring it back (v8-Chain 99.64%).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v8-Chain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at any time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2588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in action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relays appear only where they save energy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940" y="1325880"/>
            <a:ext cx="4544040" cy="502920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705" y="1325880"/>
            <a:ext cx="29976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comparison — network lifetime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 of every family,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before the first node dies — the latest of all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+81%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663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+69%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5486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hybrid (SH-LEACH+ 1480); +81% vs LEACH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Alive nodes and energy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(blue) keeps every node alive longest, then all die together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5863"/>
            <a:ext cx="5486400" cy="2837793"/>
          </a:xfrm>
          <a:prstGeom prst="rect">
            <a:avLst/>
          </a:prstGeom>
        </p:spPr>
      </p:pic>
      <p:pic>
        <p:nvPicPr>
          <p:cNvPr id="6" name="Image 1" descr="/home/user/Routing-Protocols/thesis-final/build/fig/f10_energy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59082"/>
            <a:ext cx="5486400" cy="2871357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and robustness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85369"/>
            <a:ext cx="5212080" cy="235574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topologies: FND 2471 – 2531 (mean 2500)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deliver &gt; 99 % of readings; they differ in lifetime.  The v8-Chain result is not luck of one layout.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1188720"/>
                <a:gridCol w="1188720"/>
                <a:gridCol w="1188720"/>
                <a:gridCol w="128016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 FND gain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hybrid, 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has the latest first node death of every protocol: from +69 % (SH-LEACH+) to +294 % (HEED).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version we chose — and why: v8-Chain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first death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 — highest of all protocols and versions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any BS position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as v8 at the centre, +16 % when the BS is far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99.64%; no round without CHs; members never orphaned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topologies: FND 2471 – 2531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and distributed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score, local decisions, no training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justified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kept only if the ablation shows it helps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security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hybrid cryptography is expected to cost on top of v8-Chain</a:t>
            </a:r>
            <a:endParaRPr lang="en-US" sz="1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cryptography — the plan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Public-key once for keys, fast symmetric encryption for every message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Deployment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 key agreement once per node → shared keys with the BS / cluster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Every message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encryption + 8-byte integrity code (MIC), as in IEEE 802.15.4 security [17]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CH fusion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decrypts, fuses and re-encrypts one packet to the BS</a:t>
            </a:r>
            <a:endParaRPr lang="en-US" sz="14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6424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 used in the experiment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bits per frame (auxiliary header + MIC)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 bits (data and control)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energy (sender and receiver)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 (same order as E_DA; assumed)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 key setup per node, once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mJ (order reported for 8-bit sensor MCUs [16])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cost of security on v8-Chain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code run with the security overhead switched on (-DSEC_BITS, -DSEC_NJ_PER_BIT, -DSEC_SETUP_MJ)</a:t>
            </a:r>
            <a:endParaRPr lang="en-US" sz="1600" dirty="0"/>
          </a:p>
        </p:txBody>
      </p:sp>
      <p:pic>
        <p:nvPicPr>
          <p:cNvPr id="5" name="Image 0" descr="/home/user/Routing-Protocols/thesis-final/build/fig/s1_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6673"/>
            <a:ext cx="7406640" cy="329041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38160" y="1371600"/>
            <a:ext cx="3474720" cy="44805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3667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160020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2286000"/>
            <a:ext cx="3017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drops by about 9 % – 19 %.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everything on: 2031 rounds — still +47 % over LEACH and +37 % over SH-LEACH+ without any security.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stays above 99 %.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affordable on v8-Chain: the lifetime saved by the protocol pays for the protection.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summary and 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runs use the first-order radio model: no collisions, retransmissions or fading (the demo shows packet level on a small scale).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equal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size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× 100 m and 100 nodes; larger networks not tested.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only estimated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costs are assumed values; attacks and key management are not simulated.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paper details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settings (packet size, sensor signal) had to be assumed and documented.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3504 vs 2631: v8-Chain is designed for the first death, not the last.</a:t>
            </a:r>
            <a:endParaRPr lang="en-US" sz="12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before the first node dies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+69%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fixed hybrid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99.64%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protocols reproduced and validated against their papers, then compared in one fair environment.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Flaws found and fixed in three hybrids: all of them had broken LEACH's rotation.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built step by step: single-pass election, cluster reuse, CH protection, direct-to-BS, energy gate and energy-aware relay.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hybrid cryptography is expected to cost 9 – 19 % of lifetime — v8-Chain still outlives every unsecured baseline.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3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 A. S. Wander, N. Gura, H. Eberle, V. Gupta, S. C. Shantz, "Energy Analysis of Public-Key Cryptography for Wireless Sensor Networks," Proc. IEEE PerCom,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 IEEE Std 802.15.4-2020, "IEEE Standard for Low-Rate Wireless Networks," 2020.</a:t>
            </a:r>
            <a:endParaRPr lang="en-US" sz="13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28016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087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thanks to my supervisors Dr. Hesham ElZouka, Dr. Amani Saad and Dr. Khaled Saada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github.com/RahmaOshba/WSNs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2026-09-25T00:01:33Z</dcterms:created>
  <dcterms:modified xsi:type="dcterms:W3CDTF">2026-09-25T00:01:33Z</dcterms:modified>
</cp:coreProperties>
</file>