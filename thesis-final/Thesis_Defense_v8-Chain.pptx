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1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2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charts/chart3.xml" ContentType="application/vnd.openxmlformats-officedocument.drawingml.chart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4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charts/chart7.xml" ContentType="application/vnd.openxmlformats-officedocument.drawingml.chart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charts/chart8.xml" ContentType="application/vnd.openxmlformats-officedocument.drawingml.chart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charts/chart9.xml" ContentType="application/vnd.openxmlformats-officedocument.drawingml.chart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</p:sldIdLst>
  <p:notesMasterIdLst>
    <p:notesMasterId r:id="rId5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notesMaster" Target="notesMasters/notesMaster1.xml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C9A09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LEACH</c:v>
                  </c:pt>
                  <c:pt idx="1">
                    <c:v>HEED</c:v>
                  </c:pt>
                  <c:pt idx="2">
                    <c:v>HEED*</c:v>
                  </c:pt>
                  <c:pt idx="3">
                    <c:v>PEGASIS</c:v>
                  </c:pt>
                  <c:pt idx="4">
                    <c:v>SH-LEACH</c:v>
                  </c:pt>
                  <c:pt idx="5">
                    <c:v>H-LEACH</c:v>
                  </c:pt>
                  <c:pt idx="6">
                    <c:v>EECH-HEED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1409</c:v>
                </c:pt>
                <c:pt idx="1">
                  <c:v>323</c:v>
                </c:pt>
                <c:pt idx="2">
                  <c:v>338</c:v>
                </c:pt>
                <c:pt idx="3">
                  <c:v>1324</c:v>
                </c:pt>
                <c:pt idx="4">
                  <c:v>1440</c:v>
                </c:pt>
                <c:pt idx="5">
                  <c:v>2177</c:v>
                </c:pt>
                <c:pt idx="6">
                  <c:v>1653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HND</c:v>
                </c:pt>
              </c:strCache>
            </c:strRef>
          </c:tx>
          <c:spPr>
            <a:solidFill>
              <a:srgbClr val="8A252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LEACH</c:v>
                  </c:pt>
                  <c:pt idx="1">
                    <c:v>HEED</c:v>
                  </c:pt>
                  <c:pt idx="2">
                    <c:v>HEED*</c:v>
                  </c:pt>
                  <c:pt idx="3">
                    <c:v>PEGASIS</c:v>
                  </c:pt>
                  <c:pt idx="4">
                    <c:v>SH-LEACH</c:v>
                  </c:pt>
                  <c:pt idx="5">
                    <c:v>H-LEACH</c:v>
                  </c:pt>
                  <c:pt idx="6">
                    <c:v>EECH-HEED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1626</c:v>
                </c:pt>
                <c:pt idx="1">
                  <c:v>570</c:v>
                </c:pt>
                <c:pt idx="2">
                  <c:v>549</c:v>
                </c:pt>
                <c:pt idx="3">
                  <c:v>2353</c:v>
                </c:pt>
                <c:pt idx="4">
                  <c:v>1584</c:v>
                </c:pt>
                <c:pt idx="5">
                  <c:v>2255</c:v>
                </c:pt>
                <c:pt idx="6">
                  <c:v>2134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LND</c:v>
                </c:pt>
              </c:strCache>
            </c:strRef>
          </c:tx>
          <c:spPr>
            <a:solidFill>
              <a:srgbClr val="32323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LEACH</c:v>
                  </c:pt>
                  <c:pt idx="1">
                    <c:v>HEED</c:v>
                  </c:pt>
                  <c:pt idx="2">
                    <c:v>HEED*</c:v>
                  </c:pt>
                  <c:pt idx="3">
                    <c:v>PEGASIS</c:v>
                  </c:pt>
                  <c:pt idx="4">
                    <c:v>SH-LEACH</c:v>
                  </c:pt>
                  <c:pt idx="5">
                    <c:v>H-LEACH</c:v>
                  </c:pt>
                  <c:pt idx="6">
                    <c:v>EECH-HEED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1962</c:v>
                </c:pt>
                <c:pt idx="1">
                  <c:v>1362</c:v>
                </c:pt>
                <c:pt idx="2">
                  <c:v>1502</c:v>
                </c:pt>
                <c:pt idx="3">
                  <c:v>2887</c:v>
                </c:pt>
                <c:pt idx="4">
                  <c:v>1604</c:v>
                </c:pt>
                <c:pt idx="5">
                  <c:v>2305</c:v>
                </c:pt>
                <c:pt idx="6">
                  <c:v>2184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333333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4444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3E0D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EDEDE5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444444"/>
              </a:solidFill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solidFill>
      <a:srgbClr val="EDEDE5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Paper-exact</c:v>
                </c:pt>
              </c:strCache>
            </c:strRef>
          </c:tx>
          <c:spPr>
            <a:solidFill>
              <a:srgbClr val="9E9E9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  <c:pt idx="3">
                    <c:v>H-LEACH</c:v>
                  </c:pt>
                  <c:pt idx="4">
                    <c:v>SH-LEACH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1321</c:v>
                </c:pt>
                <c:pt idx="1">
                  <c:v>1996</c:v>
                </c:pt>
                <c:pt idx="2">
                  <c:v>2167</c:v>
                </c:pt>
                <c:pt idx="3">
                  <c:v>1210</c:v>
                </c:pt>
                <c:pt idx="4">
                  <c:v>884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Unified</c:v>
                </c:pt>
              </c:strCache>
            </c:strRef>
          </c:tx>
          <c:spPr>
            <a:solidFill>
              <a:srgbClr val="8A252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  <c:pt idx="3">
                    <c:v>H-LEACH</c:v>
                  </c:pt>
                  <c:pt idx="4">
                    <c:v>SH-LEACH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1962</c:v>
                </c:pt>
                <c:pt idx="1">
                  <c:v>1362</c:v>
                </c:pt>
                <c:pt idx="2">
                  <c:v>2887</c:v>
                </c:pt>
                <c:pt idx="3">
                  <c:v>2305</c:v>
                </c:pt>
                <c:pt idx="4">
                  <c:v>1604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3E0D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EDEDE5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solidFill>
      <a:srgbClr val="EDEDE5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C9A09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  <c:pt idx="3">
                    <c:v>v4</c:v>
                  </c:pt>
                  <c:pt idx="4">
                    <c:v>v5</c:v>
                  </c:pt>
                  <c:pt idx="5">
                    <c:v>v5-exp (5)</c:v>
                  </c:pt>
                  <c:pt idx="6">
                    <c:v>v5-exp (10)</c:v>
                  </c:pt>
                  <c:pt idx="7">
                    <c:v>v6 (Center)</c:v>
                  </c:pt>
                  <c:pt idx="8">
                    <c:v>v7 (Center)</c:v>
                  </c:pt>
                  <c:pt idx="9">
                    <c:v>v7.1 (5)</c:v>
                  </c:pt>
                  <c:pt idx="10">
                    <c:v>v7.2 (10)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330</c:v>
                </c:pt>
                <c:pt idx="1">
                  <c:v>345</c:v>
                </c:pt>
                <c:pt idx="2">
                  <c:v>1730</c:v>
                </c:pt>
                <c:pt idx="3">
                  <c:v>1513</c:v>
                </c:pt>
                <c:pt idx="4">
                  <c:v>1513</c:v>
                </c:pt>
                <c:pt idx="5">
                  <c:v>1730</c:v>
                </c:pt>
                <c:pt idx="6">
                  <c:v>1621</c:v>
                </c:pt>
                <c:pt idx="7">
                  <c:v>1551</c:v>
                </c:pt>
                <c:pt idx="8">
                  <c:v>1551</c:v>
                </c:pt>
                <c:pt idx="9">
                  <c:v>1491</c:v>
                </c:pt>
                <c:pt idx="10">
                  <c:v>1381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HND</c:v>
                </c:pt>
              </c:strCache>
            </c:strRef>
          </c:tx>
          <c:spPr>
            <a:solidFill>
              <a:srgbClr val="8A252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  <c:pt idx="3">
                    <c:v>v4</c:v>
                  </c:pt>
                  <c:pt idx="4">
                    <c:v>v5</c:v>
                  </c:pt>
                  <c:pt idx="5">
                    <c:v>v5-exp (5)</c:v>
                  </c:pt>
                  <c:pt idx="6">
                    <c:v>v5-exp (10)</c:v>
                  </c:pt>
                  <c:pt idx="7">
                    <c:v>v6 (Center)</c:v>
                  </c:pt>
                  <c:pt idx="8">
                    <c:v>v7 (Center)</c:v>
                  </c:pt>
                  <c:pt idx="9">
                    <c:v>v7.1 (5)</c:v>
                  </c:pt>
                  <c:pt idx="10">
                    <c:v>v7.2 (10)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557</c:v>
                </c:pt>
                <c:pt idx="1">
                  <c:v>534</c:v>
                </c:pt>
                <c:pt idx="2">
                  <c:v>2081</c:v>
                </c:pt>
                <c:pt idx="3">
                  <c:v>2219</c:v>
                </c:pt>
                <c:pt idx="4">
                  <c:v>2127</c:v>
                </c:pt>
                <c:pt idx="5">
                  <c:v>2086</c:v>
                </c:pt>
                <c:pt idx="6">
                  <c:v>2141</c:v>
                </c:pt>
                <c:pt idx="7">
                  <c:v>1981</c:v>
                </c:pt>
                <c:pt idx="8">
                  <c:v>1976</c:v>
                </c:pt>
                <c:pt idx="9">
                  <c:v>1991</c:v>
                </c:pt>
                <c:pt idx="10">
                  <c:v>2071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LND</c:v>
                </c:pt>
              </c:strCache>
            </c:strRef>
          </c:tx>
          <c:spPr>
            <a:solidFill>
              <a:srgbClr val="32323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  <c:pt idx="3">
                    <c:v>v4</c:v>
                  </c:pt>
                  <c:pt idx="4">
                    <c:v>v5</c:v>
                  </c:pt>
                  <c:pt idx="5">
                    <c:v>v5-exp (5)</c:v>
                  </c:pt>
                  <c:pt idx="6">
                    <c:v>v5-exp (10)</c:v>
                  </c:pt>
                  <c:pt idx="7">
                    <c:v>v6 (Center)</c:v>
                  </c:pt>
                  <c:pt idx="8">
                    <c:v>v7 (Center)</c:v>
                  </c:pt>
                  <c:pt idx="9">
                    <c:v>v7.1 (5)</c:v>
                  </c:pt>
                  <c:pt idx="10">
                    <c:v>v7.2 (10)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1318</c:v>
                </c:pt>
                <c:pt idx="1">
                  <c:v>1393</c:v>
                </c:pt>
                <c:pt idx="2">
                  <c:v>2703</c:v>
                </c:pt>
                <c:pt idx="3">
                  <c:v>2521</c:v>
                </c:pt>
                <c:pt idx="4">
                  <c:v>2416</c:v>
                </c:pt>
                <c:pt idx="5">
                  <c:v>2156</c:v>
                </c:pt>
                <c:pt idx="6">
                  <c:v>2291</c:v>
                </c:pt>
                <c:pt idx="7">
                  <c:v>2106</c:v>
                </c:pt>
                <c:pt idx="8">
                  <c:v>2066</c:v>
                </c:pt>
                <c:pt idx="9">
                  <c:v>2086</c:v>
                </c:pt>
                <c:pt idx="10">
                  <c:v>2241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333333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4444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3E0D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EDEDE5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444444"/>
              </a:solidFill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solidFill>
      <a:srgbClr val="EDEDE5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8A2522"/>
                </a:solidFill>
                <a:latin typeface="Arial"/>
              </a:defRPr>
            </a:pPr>
            <a:r>
              <a:rPr sz="1300" b="0" i="0" u="none" strike="noStrike">
                <a:solidFill>
                  <a:srgbClr val="8A2522"/>
                </a:solidFill>
                <a:latin typeface="Arial"/>
              </a:rPr>
              <a:t>PDR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PDR (%)</c:v>
                </c:pt>
              </c:strCache>
            </c:strRef>
          </c:tx>
          <c:spPr>
            <a:solidFill>
              <a:srgbClr val="8A2522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  <c:pt idx="3">
                    <c:v>v4</c:v>
                  </c:pt>
                  <c:pt idx="4">
                    <c:v>v5</c:v>
                  </c:pt>
                  <c:pt idx="5">
                    <c:v>v5-exp (5)</c:v>
                  </c:pt>
                  <c:pt idx="6">
                    <c:v>v5-exp (10)</c:v>
                  </c:pt>
                  <c:pt idx="7">
                    <c:v>v6 (Center)</c:v>
                  </c:pt>
                  <c:pt idx="8">
                    <c:v>v7 (Center)</c:v>
                  </c:pt>
                  <c:pt idx="9">
                    <c:v>v7.1 (5)</c:v>
                  </c:pt>
                  <c:pt idx="10">
                    <c:v>v7.2 (10)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99.74</c:v>
                </c:pt>
                <c:pt idx="1">
                  <c:v>99.79</c:v>
                </c:pt>
                <c:pt idx="2">
                  <c:v>97.72</c:v>
                </c:pt>
                <c:pt idx="3">
                  <c:v>94.67</c:v>
                </c:pt>
                <c:pt idx="4">
                  <c:v>97.05</c:v>
                </c:pt>
                <c:pt idx="5">
                  <c:v>98.27</c:v>
                </c:pt>
                <c:pt idx="6">
                  <c:v>97.94</c:v>
                </c:pt>
                <c:pt idx="7">
                  <c:v>97.49</c:v>
                </c:pt>
                <c:pt idx="8">
                  <c:v>98.43</c:v>
                </c:pt>
                <c:pt idx="9">
                  <c:v>98.49</c:v>
                </c:pt>
                <c:pt idx="10">
                  <c:v>97.88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4444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94"/>
        </c:scaling>
        <c:delete val="0"/>
        <c:axPos val="l"/>
        <c:majorGridlines>
          <c:spPr>
            <a:ln w="9525" cap="flat">
              <a:solidFill>
                <a:srgbClr val="E3E0D6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EDEDE5"/>
        </a:solidFill>
        <a:ln>
          <a:noFill/>
        </a:ln>
        <a:effectLst/>
      </c:spPr>
    </c:plotArea>
    <c:plotVisOnly val="1"/>
    <c:dispBlanksAs val="span"/>
  </c:chart>
  <c:spPr>
    <a:solidFill>
      <a:srgbClr val="EDEDE5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8A2522"/>
                </a:solidFill>
                <a:latin typeface="Arial"/>
              </a:defRPr>
            </a:pPr>
            <a:r>
              <a:rPr sz="1300" b="0" i="0" u="none" strike="noStrike">
                <a:solidFill>
                  <a:srgbClr val="8A2522"/>
                </a:solidFill>
                <a:latin typeface="Arial"/>
              </a:rPr>
              <a:t>BS at center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C9A09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v6</c:v>
                  </c:pt>
                  <c:pt idx="1">
                    <c:v>v7</c:v>
                  </c:pt>
                  <c:pt idx="2">
                    <c:v>v8</c:v>
                  </c:pt>
                  <c:pt idx="3">
                    <c:v>v8-Chain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1551</c:v>
                </c:pt>
                <c:pt idx="1">
                  <c:v>1551</c:v>
                </c:pt>
                <c:pt idx="2">
                  <c:v>2621</c:v>
                </c:pt>
                <c:pt idx="3">
                  <c:v>2621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HND</c:v>
                </c:pt>
              </c:strCache>
            </c:strRef>
          </c:tx>
          <c:spPr>
            <a:solidFill>
              <a:srgbClr val="8A252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v6</c:v>
                  </c:pt>
                  <c:pt idx="1">
                    <c:v>v7</c:v>
                  </c:pt>
                  <c:pt idx="2">
                    <c:v>v8</c:v>
                  </c:pt>
                  <c:pt idx="3">
                    <c:v>v8-Chain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1981</c:v>
                </c:pt>
                <c:pt idx="1">
                  <c:v>1976</c:v>
                </c:pt>
                <c:pt idx="2">
                  <c:v>2711</c:v>
                </c:pt>
                <c:pt idx="3">
                  <c:v>2711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LND</c:v>
                </c:pt>
              </c:strCache>
            </c:strRef>
          </c:tx>
          <c:spPr>
            <a:solidFill>
              <a:srgbClr val="32323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v6</c:v>
                  </c:pt>
                  <c:pt idx="1">
                    <c:v>v7</c:v>
                  </c:pt>
                  <c:pt idx="2">
                    <c:v>v8</c:v>
                  </c:pt>
                  <c:pt idx="3">
                    <c:v>v8-Chain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2106</c:v>
                </c:pt>
                <c:pt idx="1">
                  <c:v>2066</c:v>
                </c:pt>
                <c:pt idx="2">
                  <c:v>2761</c:v>
                </c:pt>
                <c:pt idx="3">
                  <c:v>2756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333333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4444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3E0D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EDEDE5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444444"/>
              </a:solidFill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solidFill>
      <a:srgbClr val="EDEDE5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8A2522"/>
                </a:solidFill>
                <a:latin typeface="Arial"/>
              </a:defRPr>
            </a:pPr>
            <a:r>
              <a:rPr sz="1300" b="0" i="0" u="none" strike="noStrike">
                <a:solidFill>
                  <a:srgbClr val="8A2522"/>
                </a:solidFill>
                <a:latin typeface="Arial"/>
              </a:rPr>
              <a:t>Far BS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C9A09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v6</c:v>
                  </c:pt>
                  <c:pt idx="1">
                    <c:v>v7</c:v>
                  </c:pt>
                  <c:pt idx="2">
                    <c:v>v8</c:v>
                  </c:pt>
                  <c:pt idx="3">
                    <c:v>v8-Chain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1266</c:v>
                </c:pt>
                <c:pt idx="1">
                  <c:v>1266</c:v>
                </c:pt>
                <c:pt idx="2">
                  <c:v>1471</c:v>
                </c:pt>
                <c:pt idx="3">
                  <c:v>1716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HND</c:v>
                </c:pt>
              </c:strCache>
            </c:strRef>
          </c:tx>
          <c:spPr>
            <a:solidFill>
              <a:srgbClr val="8A252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v6</c:v>
                  </c:pt>
                  <c:pt idx="1">
                    <c:v>v7</c:v>
                  </c:pt>
                  <c:pt idx="2">
                    <c:v>v8</c:v>
                  </c:pt>
                  <c:pt idx="3">
                    <c:v>v8-Chain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1910</c:v>
                </c:pt>
                <c:pt idx="1">
                  <c:v>1891</c:v>
                </c:pt>
                <c:pt idx="2">
                  <c:v>1646</c:v>
                </c:pt>
                <c:pt idx="3">
                  <c:v>1886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LND</c:v>
                </c:pt>
              </c:strCache>
            </c:strRef>
          </c:tx>
          <c:spPr>
            <a:solidFill>
              <a:srgbClr val="32323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v6</c:v>
                  </c:pt>
                  <c:pt idx="1">
                    <c:v>v7</c:v>
                  </c:pt>
                  <c:pt idx="2">
                    <c:v>v8</c:v>
                  </c:pt>
                  <c:pt idx="3">
                    <c:v>v8-Chain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2031</c:v>
                </c:pt>
                <c:pt idx="1">
                  <c:v>1976</c:v>
                </c:pt>
                <c:pt idx="2">
                  <c:v>1716</c:v>
                </c:pt>
                <c:pt idx="3">
                  <c:v>1956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333333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4444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3E0D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EDEDE5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444444"/>
              </a:solidFill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solidFill>
      <a:srgbClr val="EDEDE5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8A2522"/>
                </a:solidFill>
                <a:latin typeface="Arial"/>
              </a:defRPr>
            </a:pPr>
            <a:r>
              <a:rPr sz="1300" b="0" i="0" u="none" strike="noStrike">
                <a:solidFill>
                  <a:srgbClr val="8A2522"/>
                </a:solidFill>
                <a:latin typeface="Arial"/>
              </a:rPr>
              <a:t>FND (rounds)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8A252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v8 (full)</c:v>
                  </c:pt>
                  <c:pt idx="1">
                    <c:v>v8 − I1</c:v>
                  </c:pt>
                  <c:pt idx="2">
                    <c:v>v8 − I2</c:v>
                  </c:pt>
                  <c:pt idx="3">
                    <c:v>v8 − I3</c:v>
                  </c:pt>
                  <c:pt idx="4">
                    <c:v>v8 − I4</c:v>
                  </c:pt>
                  <c:pt idx="5">
                    <c:v>v8 − I5</c:v>
                  </c:pt>
                  <c:pt idx="6">
                    <c:v>Threshold fix only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2621</c:v>
                </c:pt>
                <c:pt idx="1">
                  <c:v>2621</c:v>
                </c:pt>
                <c:pt idx="2">
                  <c:v>2585</c:v>
                </c:pt>
                <c:pt idx="3">
                  <c:v>2621</c:v>
                </c:pt>
                <c:pt idx="4">
                  <c:v>1821</c:v>
                </c:pt>
                <c:pt idx="5">
                  <c:v>2171</c:v>
                </c:pt>
                <c:pt idx="6">
                  <c:v>1730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0"/>
          <c:min val="0"/>
        </c:scaling>
        <c:delete val="0"/>
        <c:axPos val="b"/>
        <c:majorGridlines>
          <c:spPr>
            <a:ln w="9525" cap="flat">
              <a:solidFill>
                <a:srgbClr val="E3E0D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EDEDE5"/>
        </a:solidFill>
        <a:ln>
          <a:noFill/>
        </a:ln>
        <a:effectLst/>
      </c:spPr>
    </c:plotArea>
    <c:plotVisOnly val="1"/>
    <c:dispBlanksAs val="span"/>
  </c:chart>
  <c:spPr>
    <a:solidFill>
      <a:srgbClr val="EDEDE5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C9A09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  <c:pt idx="3">
                    <c:v>SH-LEACH+</c:v>
                  </c:pt>
                  <c:pt idx="4">
                    <c:v>H-LEACH+</c:v>
                  </c:pt>
                  <c:pt idx="5">
                    <c:v>v3</c:v>
                  </c:pt>
                  <c:pt idx="6">
                    <c:v>v7</c:v>
                  </c:pt>
                  <c:pt idx="7">
                    <c:v>v7.1</c:v>
                  </c:pt>
                  <c:pt idx="8">
                    <c:v>v8-Chain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1409</c:v>
                </c:pt>
                <c:pt idx="1">
                  <c:v>323</c:v>
                </c:pt>
                <c:pt idx="2">
                  <c:v>1324</c:v>
                </c:pt>
                <c:pt idx="3">
                  <c:v>1247</c:v>
                </c:pt>
                <c:pt idx="4">
                  <c:v>2347</c:v>
                </c:pt>
                <c:pt idx="5">
                  <c:v>1730</c:v>
                </c:pt>
                <c:pt idx="6">
                  <c:v>1551</c:v>
                </c:pt>
                <c:pt idx="7">
                  <c:v>1491</c:v>
                </c:pt>
                <c:pt idx="8">
                  <c:v>2621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HND</c:v>
                </c:pt>
              </c:strCache>
            </c:strRef>
          </c:tx>
          <c:spPr>
            <a:solidFill>
              <a:srgbClr val="8A252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  <c:pt idx="3">
                    <c:v>SH-LEACH+</c:v>
                  </c:pt>
                  <c:pt idx="4">
                    <c:v>H-LEACH+</c:v>
                  </c:pt>
                  <c:pt idx="5">
                    <c:v>v3</c:v>
                  </c:pt>
                  <c:pt idx="6">
                    <c:v>v7</c:v>
                  </c:pt>
                  <c:pt idx="7">
                    <c:v>v7.1</c:v>
                  </c:pt>
                  <c:pt idx="8">
                    <c:v>v8-Chain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1626</c:v>
                </c:pt>
                <c:pt idx="1">
                  <c:v>570</c:v>
                </c:pt>
                <c:pt idx="2">
                  <c:v>2353</c:v>
                </c:pt>
                <c:pt idx="3">
                  <c:v>1600</c:v>
                </c:pt>
                <c:pt idx="4">
                  <c:v>2449</c:v>
                </c:pt>
                <c:pt idx="5">
                  <c:v>2081</c:v>
                </c:pt>
                <c:pt idx="6">
                  <c:v>1976</c:v>
                </c:pt>
                <c:pt idx="7">
                  <c:v>1991</c:v>
                </c:pt>
                <c:pt idx="8">
                  <c:v>2711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LND</c:v>
                </c:pt>
              </c:strCache>
            </c:strRef>
          </c:tx>
          <c:spPr>
            <a:solidFill>
              <a:srgbClr val="32323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  <c:pt idx="3">
                    <c:v>SH-LEACH+</c:v>
                  </c:pt>
                  <c:pt idx="4">
                    <c:v>H-LEACH+</c:v>
                  </c:pt>
                  <c:pt idx="5">
                    <c:v>v3</c:v>
                  </c:pt>
                  <c:pt idx="6">
                    <c:v>v7</c:v>
                  </c:pt>
                  <c:pt idx="7">
                    <c:v>v7.1</c:v>
                  </c:pt>
                  <c:pt idx="8">
                    <c:v>v8-Chain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1962</c:v>
                </c:pt>
                <c:pt idx="1">
                  <c:v>1362</c:v>
                </c:pt>
                <c:pt idx="2">
                  <c:v>2887</c:v>
                </c:pt>
                <c:pt idx="3">
                  <c:v>1649</c:v>
                </c:pt>
                <c:pt idx="4">
                  <c:v>2499</c:v>
                </c:pt>
                <c:pt idx="5">
                  <c:v>2703</c:v>
                </c:pt>
                <c:pt idx="6">
                  <c:v>2066</c:v>
                </c:pt>
                <c:pt idx="7">
                  <c:v>2086</c:v>
                </c:pt>
                <c:pt idx="8">
                  <c:v>2756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333333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4444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3E0D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EDEDE5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444444"/>
              </a:solidFill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solidFill>
      <a:srgbClr val="EDEDE5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PDR (%)</c:v>
                </c:pt>
              </c:strCache>
            </c:strRef>
          </c:tx>
          <c:spPr>
            <a:solidFill>
              <a:srgbClr val="8A2522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  <c:pt idx="3">
                    <c:v>SH-LEACH+</c:v>
                  </c:pt>
                  <c:pt idx="4">
                    <c:v>H-LEACH+</c:v>
                  </c:pt>
                  <c:pt idx="5">
                    <c:v>v3</c:v>
                  </c:pt>
                  <c:pt idx="6">
                    <c:v>v7</c:v>
                  </c:pt>
                  <c:pt idx="7">
                    <c:v>v7.1</c:v>
                  </c:pt>
                  <c:pt idx="8">
                    <c:v>v8-Chain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98.37</c:v>
                </c:pt>
                <c:pt idx="1">
                  <c:v>99.69</c:v>
                </c:pt>
                <c:pt idx="2">
                  <c:v>98.67</c:v>
                </c:pt>
                <c:pt idx="3">
                  <c:v>99.79</c:v>
                </c:pt>
                <c:pt idx="4">
                  <c:v>97.33</c:v>
                </c:pt>
                <c:pt idx="5">
                  <c:v>97.72</c:v>
                </c:pt>
                <c:pt idx="6">
                  <c:v>98.43</c:v>
                </c:pt>
                <c:pt idx="7">
                  <c:v>98.49</c:v>
                </c:pt>
                <c:pt idx="8">
                  <c:v>99.27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4444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96"/>
        </c:scaling>
        <c:delete val="0"/>
        <c:axPos val="l"/>
        <c:majorGridlines>
          <c:spPr>
            <a:ln w="9525" cap="flat">
              <a:solidFill>
                <a:srgbClr val="E3E0D6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EDEDE5"/>
        </a:solidFill>
        <a:ln>
          <a:noFill/>
        </a:ln>
        <a:effectLst/>
      </c:spPr>
    </c:plotArea>
    <c:plotVisOnly val="1"/>
    <c:dispBlanksAs val="span"/>
  </c:chart>
  <c:spPr>
    <a:solidFill>
      <a:srgbClr val="EDEDE5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Seven parts: background, related work, methodology, reproduction of existing protocols, the evolution of the proposed protocol, the final v8-Chain design, and the results.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 definition figure from the background presentation.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Clustering = dominant energy-saving architecture. The CH does the heavy work, so choosing and rotating CHs well is the core problem of this thesis.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d0 = sqrt(Efs/Emp) = 87.7 m. Beyond d0 cost grows with d^4 — this is why a far BS makes CH relaying worthwhile.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LEACH is simple and cheap but blind to energy; HEED picks better CHs but pays an iterative negotiation every round.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pillars. None of the reviewed works combines all four.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published protocol was first reproduced in its own paper's settings (to validate our code), then moved to the unified environment (to compare fairly).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results in the comparison use exactly these settings.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FND is the most important metric for coverage: the moment a node dies, a part of the field is no longer monitored.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Before relying on the analytical model, a small scenario was run with real PHY/MAC layers in ns-3.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Paper numbers cannot be compared with each other directly — every paper used different settings.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 every protocol runs in the same environment, so differences come from the algorithms.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lesson became a mechanism in the proposed protocol.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v1 combined HEED CH selection with LEACH joining; v2 added a rotation-fairness penalty. Both kept HEED's per-round negotiation — so lifetime stayed short.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decisive step. The score keeps HEED's intelligence but in one shot, and clusters are reused for 5 rounds.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Chain: CHs sorted by distance to BS, the closest is the gateway. v7 lets the promoted backup take the dead CH's place in the chain.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CH forwards to the nearest CH strictly closer to the BS: no single gateway.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None of v3–v7.2 beat v3 on LND while also keeping PDR high: there was room for a better design.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v5b refused to use any node below 5% of E0 (0.025 J). Late in the run every node is below that, so nodes stayed alive but silent.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I1–I5 can each be switched off at compile time — that is how the ablation was measured.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lines of defence. v5 only had the second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single rule makes the protocol adapt to the BS position with no parameter.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Grey: inherited from LEACH/HEED/v3/v5. Green: new in v8. Orange: new in v8-Chain.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simulation state (seed 12345), not an illustration.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v8-Chain = v8 at the center (no relays). The big gains vs. v7: +1070 rounds FND and +0.84 pp PDR.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Direct-only v8 loses at a far BS; the energy-aware relay closes the gap to the v7 chain and keeps v8's FND and PDR advantage.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Leave-one-out: each row disables ONE mechanism (center BS).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Seeds 12345, 1, 7, 42, 99, 2024, 31337, 555.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235440" y="249174"/>
            <a:ext cx="864108" cy="432054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099548" y="345186"/>
            <a:ext cx="864108" cy="336042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63656" y="345186"/>
            <a:ext cx="720090" cy="672084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99548" y="681228"/>
            <a:ext cx="432054" cy="72009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0531602" y="1017270"/>
            <a:ext cx="1152144" cy="384048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531602" y="1401318"/>
            <a:ext cx="912114" cy="432054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1443716" y="1017270"/>
            <a:ext cx="240030" cy="816102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9859518" y="681228"/>
            <a:ext cx="240030" cy="528066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859518" y="1209294"/>
            <a:ext cx="672084" cy="192024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63656" y="345186"/>
            <a:ext cx="864108" cy="48006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1683746" y="393192"/>
            <a:ext cx="144018" cy="624078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1059668" y="1833372"/>
            <a:ext cx="384048" cy="528066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059668" y="2361438"/>
            <a:ext cx="816102" cy="336042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443716" y="1833372"/>
            <a:ext cx="432054" cy="864108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531602" y="1401318"/>
            <a:ext cx="528066" cy="9601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94292" y="208026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058400" y="640080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922508" y="30403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642598" y="976122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490454" y="1360170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402568" y="1792224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818370" y="1168146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786616" y="352044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018520" y="2320290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834622" y="2656332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274320" y="6382512"/>
            <a:ext cx="493776" cy="246888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8096" y="6382512"/>
            <a:ext cx="493776" cy="192024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1261872" y="6190488"/>
            <a:ext cx="411480" cy="384048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768096" y="5971032"/>
            <a:ext cx="246888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14984" y="5971032"/>
            <a:ext cx="658368" cy="219456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1014984" y="5724144"/>
            <a:ext cx="521208" cy="246888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536192" y="5724144"/>
            <a:ext cx="137160" cy="466344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30936" y="6080760"/>
            <a:ext cx="137160" cy="301752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630936" y="5971032"/>
            <a:ext cx="384048" cy="109728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1261872" y="6547104"/>
            <a:ext cx="493776" cy="27432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673352" y="6190488"/>
            <a:ext cx="82296" cy="356616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316736" y="5422392"/>
            <a:ext cx="219456" cy="301752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1316736" y="5230368"/>
            <a:ext cx="466344" cy="192024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1536192" y="5230368"/>
            <a:ext cx="246888" cy="493776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1014984" y="5422392"/>
            <a:ext cx="301752" cy="5486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33172" y="6588252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26948" y="6341364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220724" y="65333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632204" y="6149340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973836" y="5929884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495044" y="5682996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89788" y="6039612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714500" y="6505956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275588" y="5381244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741932" y="5189220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22960" y="1417320"/>
            <a:ext cx="8595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Wireless Sensor Networks Using Hybrid Cryptography</a:t>
            </a:r>
            <a:endParaRPr lang="en-US" sz="3600" dirty="0"/>
          </a:p>
        </p:txBody>
      </p:sp>
      <p:sp>
        <p:nvSpPr>
          <p:cNvPr id="54" name="Text 52"/>
          <p:cNvSpPr txBox="1"/>
          <p:nvPr/>
        </p:nvSpPr>
        <p:spPr>
          <a:xfrm>
            <a:off x="822960" y="3246120"/>
            <a:ext cx="8595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comparative simulation study: LEACH / HEED / PEGASIS family vs. the proposed hybrid protocol (v1 → v8-Chain)</a:t>
            </a:r>
            <a:endParaRPr lang="en-US" sz="1700" dirty="0"/>
          </a:p>
        </p:txBody>
      </p:sp>
      <p:sp>
        <p:nvSpPr>
          <p:cNvPr id="55" name="Text 53"/>
          <p:cNvSpPr txBox="1"/>
          <p:nvPr/>
        </p:nvSpPr>
        <p:spPr>
          <a:xfrm>
            <a:off x="2011680" y="434340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Presented by: </a:t>
            </a:r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Rahma Khaled Oshba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Supervised by: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Dr. Hesham ElZouka  ·  Dr. Amani Saad  ·  Dr. Khaled Saada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Master's Thesis Defense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22960" y="1463040"/>
            <a:ext cx="50292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05840" y="1463040"/>
            <a:ext cx="822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600" dirty="0"/>
          </a:p>
        </p:txBody>
      </p:sp>
      <p:sp>
        <p:nvSpPr>
          <p:cNvPr id="22" name="Text 19"/>
          <p:cNvSpPr txBox="1"/>
          <p:nvPr/>
        </p:nvSpPr>
        <p:spPr>
          <a:xfrm>
            <a:off x="1874520" y="146304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Background: WSNs &amp; clustering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822960" y="2560320"/>
            <a:ext cx="50292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005840" y="2560320"/>
            <a:ext cx="822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600" dirty="0"/>
          </a:p>
        </p:txBody>
      </p:sp>
      <p:sp>
        <p:nvSpPr>
          <p:cNvPr id="25" name="Text 22"/>
          <p:cNvSpPr txBox="1"/>
          <p:nvPr/>
        </p:nvSpPr>
        <p:spPr>
          <a:xfrm>
            <a:off x="1874520" y="256032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Related work &amp; research gap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822960" y="3657600"/>
            <a:ext cx="50292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05840" y="3657600"/>
            <a:ext cx="822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600" dirty="0"/>
          </a:p>
        </p:txBody>
      </p:sp>
      <p:sp>
        <p:nvSpPr>
          <p:cNvPr id="28" name="Text 25"/>
          <p:cNvSpPr txBox="1"/>
          <p:nvPr/>
        </p:nvSpPr>
        <p:spPr>
          <a:xfrm>
            <a:off x="1874520" y="365760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Methodology &amp; simulation environment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822960" y="4754880"/>
            <a:ext cx="50292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005840" y="4754880"/>
            <a:ext cx="822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600" dirty="0"/>
          </a:p>
        </p:txBody>
      </p:sp>
      <p:sp>
        <p:nvSpPr>
          <p:cNvPr id="31" name="Text 28"/>
          <p:cNvSpPr txBox="1"/>
          <p:nvPr/>
        </p:nvSpPr>
        <p:spPr>
          <a:xfrm>
            <a:off x="1874520" y="475488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Reproducing existing protocols</a:t>
            </a:r>
            <a:endParaRPr lang="en-US" sz="1600" dirty="0"/>
          </a:p>
        </p:txBody>
      </p:sp>
      <p:sp>
        <p:nvSpPr>
          <p:cNvPr id="32" name="Shape 29"/>
          <p:cNvSpPr/>
          <p:nvPr/>
        </p:nvSpPr>
        <p:spPr>
          <a:xfrm>
            <a:off x="6217920" y="1463040"/>
            <a:ext cx="50292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400800" y="1463040"/>
            <a:ext cx="822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600" dirty="0"/>
          </a:p>
        </p:txBody>
      </p:sp>
      <p:sp>
        <p:nvSpPr>
          <p:cNvPr id="34" name="Text 31"/>
          <p:cNvSpPr txBox="1"/>
          <p:nvPr/>
        </p:nvSpPr>
        <p:spPr>
          <a:xfrm>
            <a:off x="7269480" y="146304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protocol: v1 → v7.2</a:t>
            </a:r>
            <a:endParaRPr lang="en-US" sz="1600" dirty="0"/>
          </a:p>
        </p:txBody>
      </p:sp>
      <p:sp>
        <p:nvSpPr>
          <p:cNvPr id="35" name="Shape 32"/>
          <p:cNvSpPr/>
          <p:nvPr/>
        </p:nvSpPr>
        <p:spPr>
          <a:xfrm>
            <a:off x="6217920" y="2560320"/>
            <a:ext cx="50292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400800" y="2560320"/>
            <a:ext cx="822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2600" dirty="0"/>
          </a:p>
        </p:txBody>
      </p:sp>
      <p:sp>
        <p:nvSpPr>
          <p:cNvPr id="37" name="Text 34"/>
          <p:cNvSpPr txBox="1"/>
          <p:nvPr/>
        </p:nvSpPr>
        <p:spPr>
          <a:xfrm>
            <a:off x="7269480" y="256032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design: v8-Chain</a:t>
            </a:r>
            <a:endParaRPr lang="en-US" sz="1600" dirty="0"/>
          </a:p>
        </p:txBody>
      </p:sp>
      <p:sp>
        <p:nvSpPr>
          <p:cNvPr id="38" name="Shape 35"/>
          <p:cNvSpPr/>
          <p:nvPr/>
        </p:nvSpPr>
        <p:spPr>
          <a:xfrm>
            <a:off x="6217920" y="3657600"/>
            <a:ext cx="50292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00800" y="3657600"/>
            <a:ext cx="822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2600" dirty="0"/>
          </a:p>
        </p:txBody>
      </p:sp>
      <p:sp>
        <p:nvSpPr>
          <p:cNvPr id="40" name="Text 37"/>
          <p:cNvSpPr txBox="1"/>
          <p:nvPr/>
        </p:nvSpPr>
        <p:spPr>
          <a:xfrm>
            <a:off x="7269480" y="365760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Results, findings &amp; conclusion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336042"/>
            <a:ext cx="1110996" cy="55549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9706356" y="459486"/>
            <a:ext cx="1110996" cy="43205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17352" y="459486"/>
            <a:ext cx="925830" cy="86410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06356" y="891540"/>
            <a:ext cx="555498" cy="925830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0261854" y="1323594"/>
            <a:ext cx="1481328" cy="49377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261854" y="1817370"/>
            <a:ext cx="1172718" cy="55549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1434572" y="1323594"/>
            <a:ext cx="308610" cy="104927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9397746" y="891540"/>
            <a:ext cx="308610" cy="67894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97746" y="1570482"/>
            <a:ext cx="864108" cy="24688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817352" y="459486"/>
            <a:ext cx="1110996" cy="6172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1743182" y="521208"/>
            <a:ext cx="185166" cy="80238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0940796" y="2372868"/>
            <a:ext cx="493776" cy="67894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940796" y="3051810"/>
            <a:ext cx="1049274" cy="43205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434572" y="2372868"/>
            <a:ext cx="555498" cy="111099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261854" y="1817370"/>
            <a:ext cx="678942" cy="1234440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54212" y="29489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65208" y="85039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76204" y="418338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702034" y="128244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20706" y="177622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393424" y="2331720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356598" y="152933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887200" y="480060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899648" y="301066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948922" y="344271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548640" y="6163056"/>
            <a:ext cx="592531" cy="29626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141171" y="6163056"/>
            <a:ext cx="592531" cy="230429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1733702" y="5932627"/>
            <a:ext cx="493776" cy="46085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1141171" y="5669280"/>
            <a:ext cx="296266" cy="49377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437437" y="5669280"/>
            <a:ext cx="790042" cy="263347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1437437" y="5373014"/>
            <a:ext cx="625450" cy="29626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062886" y="5373014"/>
            <a:ext cx="164592" cy="559613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76579" y="5800954"/>
            <a:ext cx="164592" cy="36210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976579" y="5669280"/>
            <a:ext cx="460858" cy="13167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1733702" y="6360566"/>
            <a:ext cx="592531" cy="3291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227478" y="5932627"/>
            <a:ext cx="98755" cy="427939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799539" y="5010912"/>
            <a:ext cx="263347" cy="36210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1799539" y="4780483"/>
            <a:ext cx="559613" cy="230429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2062886" y="4780483"/>
            <a:ext cx="296266" cy="592531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1437437" y="5010912"/>
            <a:ext cx="362102" cy="65836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7492" y="641817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100023" y="6121908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692554" y="6352337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186330" y="5891479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396289" y="562813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021738" y="533186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935431" y="575980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285086" y="6319418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758391" y="496976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318004" y="4739335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22960" y="160020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E7C9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800" dirty="0"/>
          </a:p>
        </p:txBody>
      </p:sp>
      <p:sp>
        <p:nvSpPr>
          <p:cNvPr id="54" name="Text 52"/>
          <p:cNvSpPr txBox="1"/>
          <p:nvPr/>
        </p:nvSpPr>
        <p:spPr>
          <a:xfrm>
            <a:off x="822960" y="292608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Background</a:t>
            </a:r>
            <a:endParaRPr lang="en-US" sz="4000" dirty="0"/>
          </a:p>
        </p:txBody>
      </p:sp>
      <p:sp>
        <p:nvSpPr>
          <p:cNvPr id="55" name="Text 53"/>
          <p:cNvSpPr txBox="1"/>
          <p:nvPr/>
        </p:nvSpPr>
        <p:spPr>
          <a:xfrm>
            <a:off x="822960" y="388620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3E3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Wireless sensor networks, clustering, and why energy decides everything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Wireless Sensor Networks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Definition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20" name="Image 0" descr="img/bg_defini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47800"/>
            <a:ext cx="6766560" cy="451104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680960" y="1463040"/>
            <a:ext cx="3840480" cy="4572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a WSN?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Many small, battery-powered sensor nodes sense the environment and send data wirelessly to a base station (sink).</a:t>
            </a:r>
            <a:endParaRPr lang="en-US" sz="1400" dirty="0"/>
          </a:p>
          <a:p>
            <a:pPr indent="0" marL="0">
              <a:spcBef>
                <a:spcPts val="800"/>
              </a:spcBef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constraints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Limited, usually non-rechargeable battery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Limited processing and memory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Radio communication is the main energy consumer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WSN Components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Node, network &amp; data flow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pic>
        <p:nvPicPr>
          <p:cNvPr id="19" name="Image 0" descr="img/bg_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86840"/>
            <a:ext cx="6949440" cy="4632960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7863840" y="1417320"/>
            <a:ext cx="365760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8065008" y="1554480"/>
            <a:ext cx="3273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 node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065008" y="2148840"/>
            <a:ext cx="32552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Sensing unit, processor, transceiver and a power unit (battery).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7863840" y="2971800"/>
            <a:ext cx="365760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8065008" y="3108960"/>
            <a:ext cx="3273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station (sink)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8065008" y="3703320"/>
            <a:ext cx="32552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Collects the data and connects the network to users / the Internet.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7863840" y="4526280"/>
            <a:ext cx="365760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7" name="Text 24"/>
          <p:cNvSpPr txBox="1"/>
          <p:nvPr/>
        </p:nvSpPr>
        <p:spPr>
          <a:xfrm>
            <a:off x="8065008" y="4663440"/>
            <a:ext cx="3273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flow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8065008" y="5257800"/>
            <a:ext cx="32552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 → cluster → sink → user, over single- or multi-hop links.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Clustering in WSNs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Why cluster heads?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22960" y="1508760"/>
            <a:ext cx="33649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96112" y="1563624"/>
            <a:ext cx="321868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Members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 short-range data to their CH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4226357" y="2002536"/>
            <a:ext cx="179222" cy="201168"/>
          </a:xfrm>
          <a:prstGeom prst="rightArrow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43984" y="1508760"/>
            <a:ext cx="33649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517136" y="1563624"/>
            <a:ext cx="321868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 Head (CH)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receives, aggregates into one packet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7847381" y="2002536"/>
            <a:ext cx="179222" cy="201168"/>
          </a:xfrm>
          <a:prstGeom prst="rightArrow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8065008" y="1508760"/>
            <a:ext cx="33649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138160" y="1563624"/>
            <a:ext cx="321868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Station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receives one packet per cluster</a:t>
            </a:r>
            <a:endParaRPr lang="en-US" sz="1500" dirty="0"/>
          </a:p>
        </p:txBody>
      </p:sp>
      <p:sp>
        <p:nvSpPr>
          <p:cNvPr id="28" name="Shape 25"/>
          <p:cNvSpPr/>
          <p:nvPr/>
        </p:nvSpPr>
        <p:spPr>
          <a:xfrm>
            <a:off x="822960" y="3063240"/>
            <a:ext cx="338328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1024128" y="3246120"/>
            <a:ext cx="457200" cy="457200"/>
          </a:xfrm>
          <a:prstGeom prst="ellipse">
            <a:avLst/>
          </a:prstGeom>
          <a:solidFill>
            <a:srgbClr val="4E7D3A"/>
          </a:solidFill>
          <a:ln w="12700">
            <a:solidFill>
              <a:srgbClr val="4E7D3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024128" y="3246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1600200" y="32004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Benefits</a:t>
            </a:r>
            <a:endParaRPr lang="en-US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3794760"/>
            <a:ext cx="2980944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Fewer long-range transmissions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Data aggregation removes redundancy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Scales to many nodes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4434840" y="3063240"/>
            <a:ext cx="338328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636008" y="3246120"/>
            <a:ext cx="457200" cy="457200"/>
          </a:xfrm>
          <a:prstGeom prst="ellipse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636008" y="3246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5212080" y="32004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catch</a:t>
            </a:r>
            <a:endParaRPr lang="en-US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4636008" y="3794760"/>
            <a:ext cx="2980944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CHs spend far more energy (receive + aggregate + long transmission)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 badly chosen or over-used CH dies early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8046720" y="3063240"/>
            <a:ext cx="338328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8247888" y="3246120"/>
            <a:ext cx="457200" cy="457200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247888" y="3246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8823960" y="32004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Therefore</a:t>
            </a:r>
            <a:endParaRPr lang="en-US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8247888" y="3794760"/>
            <a:ext cx="2980944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 selection, CH rotation and what happens when a CH fails decide the network lifetime.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Radio Energy Model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First-order, two-slope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22960" y="1463040"/>
            <a:ext cx="585216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51560" y="1600200"/>
            <a:ext cx="54864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8A25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Transmit k bits over distance d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3232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E_TX = E_elec·k + E_fs·k·d²        d &lt; d0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3232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E_TX = E_elec·k + E_mp·k·d⁴        d ≥ d0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3232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E_RX = E_elec·k    E_DA per bit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8A25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d0 = √(E_fs / E_mp) ≈ 87.7 m</a:t>
            </a:r>
            <a:endParaRPr lang="en-US" sz="1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40880" y="1463040"/>
          <a:ext cx="4389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377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Parameter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E_elec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nJ/bit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E_fs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pJ/bit/m²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E_mp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0.0013 pJ/bit/m⁴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E_DA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nJ/bit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Packet / control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2000 / 200 bits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</a:tbl>
          </a:graphicData>
        </a:graphic>
      </p:graphicFrame>
      <p:sp>
        <p:nvSpPr>
          <p:cNvPr id="23" name="Shape 19"/>
          <p:cNvSpPr/>
          <p:nvPr/>
        </p:nvSpPr>
        <p:spPr>
          <a:xfrm>
            <a:off x="822960" y="4114800"/>
            <a:ext cx="1060704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1024128" y="4251960"/>
            <a:ext cx="10222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means</a:t>
            </a:r>
            <a:endParaRPr lang="en-US" sz="1500" dirty="0"/>
          </a:p>
        </p:txBody>
      </p:sp>
      <p:sp>
        <p:nvSpPr>
          <p:cNvPr id="25" name="Text 21"/>
          <p:cNvSpPr txBox="1"/>
          <p:nvPr/>
        </p:nvSpPr>
        <p:spPr>
          <a:xfrm>
            <a:off x="1024128" y="4846320"/>
            <a:ext cx="102047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 distances are cheap; long ones are very expensive (d² then d⁴). Every protocol in this study tries to (1) keep member→CH links short, (2) send as few long-range packets as possible, and (3) spread the expensive CH role fairly.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Problem &amp; Objectives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22960" y="1417320"/>
            <a:ext cx="10607040" cy="1234440"/>
          </a:xfrm>
          <a:prstGeom prst="roundRect">
            <a:avLst>
              <a:gd name="adj" fmla="val 8889"/>
            </a:avLst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97280" y="1463040"/>
            <a:ext cx="10058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can CH selection, cluster maintenance and inter-cluster routing be designed together so that a WSN lives longer and delivers more data — without heavy control overhead?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822960" y="2926080"/>
            <a:ext cx="2514600" cy="29718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1024128" y="3108960"/>
            <a:ext cx="457200" cy="457200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24128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600200" y="30632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Reproduce fairly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024128" y="3657600"/>
            <a:ext cx="211226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Rebuild LEACH, HEED, PEGASIS and two LEACH+HEED hybrids in one unified ns-3 environment.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3538728" y="2926080"/>
            <a:ext cx="2514600" cy="29718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739896" y="3108960"/>
            <a:ext cx="457200" cy="457200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739896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4315968" y="30632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Diagnose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3739896" y="3657600"/>
            <a:ext cx="211226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why each protocol wins or loses — including flaws in the published algorithms.</a:t>
            </a:r>
            <a:endParaRPr lang="en-US" sz="1450" dirty="0"/>
          </a:p>
        </p:txBody>
      </p:sp>
      <p:sp>
        <p:nvSpPr>
          <p:cNvPr id="31" name="Shape 29"/>
          <p:cNvSpPr/>
          <p:nvPr/>
        </p:nvSpPr>
        <p:spPr>
          <a:xfrm>
            <a:off x="6254496" y="2926080"/>
            <a:ext cx="2514600" cy="29718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455664" y="3108960"/>
            <a:ext cx="457200" cy="457200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55664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31736" y="30632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6455664" y="3657600"/>
            <a:ext cx="211226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Evolve an original hybrid protocol one mechanism at a time (v1 → v8-Chain).</a:t>
            </a:r>
            <a:endParaRPr lang="en-US" sz="1450" dirty="0"/>
          </a:p>
        </p:txBody>
      </p:sp>
      <p:sp>
        <p:nvSpPr>
          <p:cNvPr id="36" name="Shape 34"/>
          <p:cNvSpPr/>
          <p:nvPr/>
        </p:nvSpPr>
        <p:spPr>
          <a:xfrm>
            <a:off x="8970264" y="2926080"/>
            <a:ext cx="2514600" cy="29718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9171432" y="3108960"/>
            <a:ext cx="457200" cy="457200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171432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9747504" y="30632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9171432" y="3657600"/>
            <a:ext cx="211226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 FND, HND, LND, PDR at two BS placements and 8 random topologies.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336042"/>
            <a:ext cx="1110996" cy="55549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9706356" y="459486"/>
            <a:ext cx="1110996" cy="43205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17352" y="459486"/>
            <a:ext cx="925830" cy="86410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06356" y="891540"/>
            <a:ext cx="555498" cy="925830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0261854" y="1323594"/>
            <a:ext cx="1481328" cy="49377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261854" y="1817370"/>
            <a:ext cx="1172718" cy="55549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1434572" y="1323594"/>
            <a:ext cx="308610" cy="104927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9397746" y="891540"/>
            <a:ext cx="308610" cy="67894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97746" y="1570482"/>
            <a:ext cx="864108" cy="24688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817352" y="459486"/>
            <a:ext cx="1110996" cy="6172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1743182" y="521208"/>
            <a:ext cx="185166" cy="80238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0940796" y="2372868"/>
            <a:ext cx="493776" cy="67894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940796" y="3051810"/>
            <a:ext cx="1049274" cy="43205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434572" y="2372868"/>
            <a:ext cx="555498" cy="111099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261854" y="1817370"/>
            <a:ext cx="678942" cy="1234440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54212" y="29489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65208" y="85039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76204" y="418338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702034" y="128244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20706" y="177622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393424" y="2331720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356598" y="152933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887200" y="480060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899648" y="301066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948922" y="344271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548640" y="6163056"/>
            <a:ext cx="592531" cy="29626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141171" y="6163056"/>
            <a:ext cx="592531" cy="230429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1733702" y="5932627"/>
            <a:ext cx="493776" cy="46085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1141171" y="5669280"/>
            <a:ext cx="296266" cy="49377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437437" y="5669280"/>
            <a:ext cx="790042" cy="263347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1437437" y="5373014"/>
            <a:ext cx="625450" cy="29626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062886" y="5373014"/>
            <a:ext cx="164592" cy="559613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76579" y="5800954"/>
            <a:ext cx="164592" cy="36210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976579" y="5669280"/>
            <a:ext cx="460858" cy="13167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1733702" y="6360566"/>
            <a:ext cx="592531" cy="3291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227478" y="5932627"/>
            <a:ext cx="98755" cy="427939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799539" y="5010912"/>
            <a:ext cx="263347" cy="36210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1799539" y="4780483"/>
            <a:ext cx="559613" cy="230429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2062886" y="4780483"/>
            <a:ext cx="296266" cy="592531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1437437" y="5010912"/>
            <a:ext cx="362102" cy="65836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7492" y="641817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100023" y="6121908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692554" y="6352337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186330" y="5891479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396289" y="562813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021738" y="533186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935431" y="575980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285086" y="6319418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758391" y="496976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318004" y="4739335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22960" y="160020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E7C9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800" dirty="0"/>
          </a:p>
        </p:txBody>
      </p:sp>
      <p:sp>
        <p:nvSpPr>
          <p:cNvPr id="54" name="Text 52"/>
          <p:cNvSpPr txBox="1"/>
          <p:nvPr/>
        </p:nvSpPr>
        <p:spPr>
          <a:xfrm>
            <a:off x="822960" y="292608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Related Work</a:t>
            </a:r>
            <a:endParaRPr lang="en-US" sz="4000" dirty="0"/>
          </a:p>
        </p:txBody>
      </p:sp>
      <p:sp>
        <p:nvSpPr>
          <p:cNvPr id="55" name="Text 53"/>
          <p:cNvSpPr txBox="1"/>
          <p:nvPr/>
        </p:nvSpPr>
        <p:spPr>
          <a:xfrm>
            <a:off x="822960" y="388620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3E3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LEACH · HEED · PEGASIS · literature hybrids · recent work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LEACH vs. HEED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Two foundations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463040"/>
          <a:ext cx="667512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286000"/>
                <a:gridCol w="265176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LEACH (2000)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HEED (2004)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Main idea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Probabilistic CH rotation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Energy + communication-cost CH selection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 selection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Random, threshold T(n)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Iterative, probability ∝ residual energy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Energy awareness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 none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residual energy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Overhead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 (several rounds of messages)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Strength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Simple, balanced rotation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Better-informed CHs, high PDR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Weakness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Weak CHs may be elected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Overhead shortens lifetime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Shape 17"/>
          <p:cNvSpPr/>
          <p:nvPr/>
        </p:nvSpPr>
        <p:spPr>
          <a:xfrm>
            <a:off x="7818120" y="1463040"/>
            <a:ext cx="3611880" cy="4343400"/>
          </a:xfrm>
          <a:prstGeom prst="roundRect">
            <a:avLst>
              <a:gd name="adj" fmla="val 3038"/>
            </a:avLst>
          </a:prstGeom>
          <a:solidFill>
            <a:srgbClr val="F6E3E1"/>
          </a:solidFill>
          <a:ln w="12700">
            <a:solidFill>
              <a:srgbClr val="C9A09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2" name="Text 18"/>
          <p:cNvSpPr txBox="1"/>
          <p:nvPr/>
        </p:nvSpPr>
        <p:spPr>
          <a:xfrm>
            <a:off x="8019288" y="1600200"/>
            <a:ext cx="3227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insight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8019288" y="2194560"/>
            <a:ext cx="3209544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 LEACH's lightweight rotation with HEED's energy- and connectivity-aware CH quality — without HEED's per-round negotiation cost.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the starting point (v1) of the proposed protocol.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Cluster-based vs. Chain-based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LEACH &amp; PEGASIS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pic>
        <p:nvPicPr>
          <p:cNvPr id="19" name="Image 0" descr="img/bg_leach_pegas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47800"/>
            <a:ext cx="6766560" cy="4511040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7680960" y="1417320"/>
            <a:ext cx="384048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7882128" y="1554480"/>
            <a:ext cx="3456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PEGASIS (2002)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7882128" y="2148840"/>
            <a:ext cx="3438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Greedy chain through all nodes; one leader per round sends to the BS. Very long lifetime, but long delay and one chain = single point of failure.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7680960" y="3749040"/>
            <a:ext cx="3840480" cy="2148840"/>
          </a:xfrm>
          <a:prstGeom prst="roundRect">
            <a:avLst>
              <a:gd name="adj" fmla="val 5106"/>
            </a:avLst>
          </a:prstGeom>
          <a:solidFill>
            <a:srgbClr val="F6E3E1"/>
          </a:solidFill>
          <a:ln w="12700">
            <a:solidFill>
              <a:srgbClr val="C9A09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7882128" y="3886200"/>
            <a:ext cx="3456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Relevance to this work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7882128" y="4480560"/>
            <a:ext cx="3438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chain idea inspired the CH-to-CH relay (v6/v7) and, finally, the energy-aware relay of v8-Chain — used only when it saves energy.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Literature Hybrids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SH-LEACH &amp; H-LEACH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22960" y="1463040"/>
            <a:ext cx="516636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1024128" y="1600200"/>
            <a:ext cx="4782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SH-LEACH (2015)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194560"/>
            <a:ext cx="4764024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LEACH + HEED-style probability doubling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Targets a later first node death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Flaw found: the formula applies ONE doubling instead of HEED's iterative doubling.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263640" y="1463040"/>
            <a:ext cx="516636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6464808" y="1600200"/>
            <a:ext cx="4782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H-LEACH (2016)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464808" y="2194560"/>
            <a:ext cx="4764024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Energy-gated election: only nodes with energy &gt; average may become CH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Flaw found: with equal initial energy no node is strictly above average → no CH is ever elected (deadlock).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822960" y="4800600"/>
            <a:ext cx="10607040" cy="1097280"/>
          </a:xfrm>
          <a:prstGeom prst="roundRect">
            <a:avLst>
              <a:gd name="adj" fmla="val 10000"/>
            </a:avLst>
          </a:prstGeom>
          <a:solidFill>
            <a:srgbClr val="F6E3E1"/>
          </a:solidFill>
          <a:ln w="12700">
            <a:solidFill>
              <a:srgbClr val="C9A09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1024128" y="4937760"/>
            <a:ext cx="10222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they show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024128" y="5532120"/>
            <a:ext cx="102047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Fusing LEACH and HEED helps CH selection — but neither handles cluster reuse, CH failure or inter-cluster relaying.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Recent Related Work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2024 – 2026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463040"/>
          <a:ext cx="106070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645920"/>
                <a:gridCol w="3383280"/>
                <a:gridCol w="3200400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Paper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Protocol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Main idea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 w.r.t. this work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Kaur et al., 2025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EECH-HEED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HEED + EECH zones + adaptive threshold sensing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LEACH+HEED; no reuse or failure recovery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Juwaied &amp; Jackowska-Strumillo, 2025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DL-HEED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Graph neural network replaces HEED's CH formula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Training/inference cost; no reuse or relay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Subedi et al., 2024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TLC-LEACH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Two-level grid clustering, angular boundary fix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failure recovery; no energy × connectivity score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El-Sayed et al., 2026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RL-ILEACH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Q-learning inside ILEACH CH selection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PDR gain not significant; no relay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Razaque 2016 / Shrestha 2015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H-LEACH / SH-LEACH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Direct LEACH + HEED fusion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reuse, failover or relay — the gap targeted here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Gap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What is still missing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22960" y="1554480"/>
            <a:ext cx="251460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1024128" y="1737360"/>
            <a:ext cx="457200" cy="457200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24128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600200" y="16916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Energy-aware CH selection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1024128" y="2286000"/>
            <a:ext cx="211226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 × connectivity score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3538728" y="1554480"/>
            <a:ext cx="251460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3739896" y="1737360"/>
            <a:ext cx="457200" cy="457200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739896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315968" y="16916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Multi-round cluster reuse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3739896" y="2286000"/>
            <a:ext cx="211226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 setup overhead</a:t>
            </a:r>
            <a:endParaRPr lang="en-US" sz="1600" dirty="0"/>
          </a:p>
        </p:txBody>
      </p:sp>
      <p:sp>
        <p:nvSpPr>
          <p:cNvPr id="30" name="Shape 27"/>
          <p:cNvSpPr/>
          <p:nvPr/>
        </p:nvSpPr>
        <p:spPr>
          <a:xfrm>
            <a:off x="6254496" y="1554480"/>
            <a:ext cx="251460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455664" y="1737360"/>
            <a:ext cx="457200" cy="457200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455664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7031736" y="16916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 failure recovery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6455664" y="2286000"/>
            <a:ext cx="211226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CH + repair (and prevention)</a:t>
            </a:r>
            <a:endParaRPr lang="en-US" sz="1600" dirty="0"/>
          </a:p>
        </p:txBody>
      </p:sp>
      <p:sp>
        <p:nvSpPr>
          <p:cNvPr id="35" name="Shape 32"/>
          <p:cNvSpPr/>
          <p:nvPr/>
        </p:nvSpPr>
        <p:spPr>
          <a:xfrm>
            <a:off x="8970264" y="1554480"/>
            <a:ext cx="251460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9171432" y="1737360"/>
            <a:ext cx="457200" cy="457200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9171432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9747504" y="16916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Adaptive inter-cluster relay</a:t>
            </a:r>
            <a:endParaRPr lang="en-US" sz="1500" dirty="0"/>
          </a:p>
        </p:txBody>
      </p:sp>
      <p:sp>
        <p:nvSpPr>
          <p:cNvPr id="39" name="Text 36"/>
          <p:cNvSpPr txBox="1"/>
          <p:nvPr/>
        </p:nvSpPr>
        <p:spPr>
          <a:xfrm>
            <a:off x="9171432" y="2286000"/>
            <a:ext cx="211226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CH-to-CH only when it saves energy</a:t>
            </a:r>
            <a:endParaRPr lang="en-US" sz="1600" dirty="0"/>
          </a:p>
        </p:txBody>
      </p:sp>
      <p:sp>
        <p:nvSpPr>
          <p:cNvPr id="40" name="Shape 37"/>
          <p:cNvSpPr/>
          <p:nvPr/>
        </p:nvSpPr>
        <p:spPr>
          <a:xfrm>
            <a:off x="822960" y="4343400"/>
            <a:ext cx="10607040" cy="1463040"/>
          </a:xfrm>
          <a:prstGeom prst="roundRect">
            <a:avLst>
              <a:gd name="adj" fmla="val 7500"/>
            </a:avLst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1097280" y="4389120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direction: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integrated hybrid clustering &amp; routing protocol that combines all four pillars — evaluated step by step against the reproduced baselines.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336042"/>
            <a:ext cx="1110996" cy="55549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9706356" y="459486"/>
            <a:ext cx="1110996" cy="43205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17352" y="459486"/>
            <a:ext cx="925830" cy="86410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06356" y="891540"/>
            <a:ext cx="555498" cy="925830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0261854" y="1323594"/>
            <a:ext cx="1481328" cy="49377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261854" y="1817370"/>
            <a:ext cx="1172718" cy="55549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1434572" y="1323594"/>
            <a:ext cx="308610" cy="104927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9397746" y="891540"/>
            <a:ext cx="308610" cy="67894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97746" y="1570482"/>
            <a:ext cx="864108" cy="24688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817352" y="459486"/>
            <a:ext cx="1110996" cy="6172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1743182" y="521208"/>
            <a:ext cx="185166" cy="80238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0940796" y="2372868"/>
            <a:ext cx="493776" cy="67894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940796" y="3051810"/>
            <a:ext cx="1049274" cy="43205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434572" y="2372868"/>
            <a:ext cx="555498" cy="111099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261854" y="1817370"/>
            <a:ext cx="678942" cy="1234440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54212" y="29489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65208" y="85039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76204" y="418338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702034" y="128244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20706" y="177622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393424" y="2331720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356598" y="152933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887200" y="480060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899648" y="301066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948922" y="344271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548640" y="6163056"/>
            <a:ext cx="592531" cy="29626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141171" y="6163056"/>
            <a:ext cx="592531" cy="230429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1733702" y="5932627"/>
            <a:ext cx="493776" cy="46085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1141171" y="5669280"/>
            <a:ext cx="296266" cy="49377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437437" y="5669280"/>
            <a:ext cx="790042" cy="263347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1437437" y="5373014"/>
            <a:ext cx="625450" cy="29626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062886" y="5373014"/>
            <a:ext cx="164592" cy="559613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76579" y="5800954"/>
            <a:ext cx="164592" cy="36210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976579" y="5669280"/>
            <a:ext cx="460858" cy="13167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1733702" y="6360566"/>
            <a:ext cx="592531" cy="3291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227478" y="5932627"/>
            <a:ext cx="98755" cy="427939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799539" y="5010912"/>
            <a:ext cx="263347" cy="36210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1799539" y="4780483"/>
            <a:ext cx="559613" cy="230429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2062886" y="4780483"/>
            <a:ext cx="296266" cy="592531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1437437" y="5010912"/>
            <a:ext cx="362102" cy="65836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7492" y="641817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100023" y="6121908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692554" y="6352337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186330" y="5891479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396289" y="562813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021738" y="533186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935431" y="575980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285086" y="6319418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758391" y="496976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318004" y="4739335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22960" y="160020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E7C9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800" dirty="0"/>
          </a:p>
        </p:txBody>
      </p:sp>
      <p:sp>
        <p:nvSpPr>
          <p:cNvPr id="54" name="Text 52"/>
          <p:cNvSpPr txBox="1"/>
          <p:nvPr/>
        </p:nvSpPr>
        <p:spPr>
          <a:xfrm>
            <a:off x="822960" y="292608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Methodology</a:t>
            </a:r>
            <a:endParaRPr lang="en-US" sz="4000" dirty="0"/>
          </a:p>
        </p:txBody>
      </p:sp>
      <p:sp>
        <p:nvSpPr>
          <p:cNvPr id="55" name="Text 53"/>
          <p:cNvSpPr txBox="1"/>
          <p:nvPr/>
        </p:nvSpPr>
        <p:spPr>
          <a:xfrm>
            <a:off x="822960" y="388620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3E3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Reproduce → unify → modify → design → test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Workflow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22960" y="1600200"/>
            <a:ext cx="1280160" cy="141732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96112" y="1655064"/>
            <a:ext cx="113385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Literature review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2144268" y="2208276"/>
            <a:ext cx="192024" cy="201168"/>
          </a:xfrm>
          <a:prstGeom prst="rightArrow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377440" y="1600200"/>
            <a:ext cx="1280160" cy="141732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450592" y="1655064"/>
            <a:ext cx="113385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 reconstruction</a:t>
            </a:r>
            <a:endParaRPr lang="en-US" sz="2200" dirty="0"/>
          </a:p>
        </p:txBody>
      </p:sp>
      <p:sp>
        <p:nvSpPr>
          <p:cNvPr id="25" name="Shape 22"/>
          <p:cNvSpPr/>
          <p:nvPr/>
        </p:nvSpPr>
        <p:spPr>
          <a:xfrm>
            <a:off x="3698748" y="2208276"/>
            <a:ext cx="192024" cy="201168"/>
          </a:xfrm>
          <a:prstGeom prst="rightArrow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931920" y="1600200"/>
            <a:ext cx="1280160" cy="141732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005072" y="1655064"/>
            <a:ext cx="113385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environment</a:t>
            </a:r>
            <a:endParaRPr lang="en-US" sz="2200" dirty="0"/>
          </a:p>
        </p:txBody>
      </p:sp>
      <p:sp>
        <p:nvSpPr>
          <p:cNvPr id="28" name="Shape 25"/>
          <p:cNvSpPr/>
          <p:nvPr/>
        </p:nvSpPr>
        <p:spPr>
          <a:xfrm>
            <a:off x="5253228" y="2208276"/>
            <a:ext cx="192024" cy="201168"/>
          </a:xfrm>
          <a:prstGeom prst="rightArrow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486400" y="1600200"/>
            <a:ext cx="1280160" cy="141732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559552" y="1655064"/>
            <a:ext cx="113385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Targeted fixes</a:t>
            </a:r>
            <a:endParaRPr lang="en-US" sz="2200" dirty="0"/>
          </a:p>
        </p:txBody>
      </p:sp>
      <p:sp>
        <p:nvSpPr>
          <p:cNvPr id="31" name="Shape 28"/>
          <p:cNvSpPr/>
          <p:nvPr/>
        </p:nvSpPr>
        <p:spPr>
          <a:xfrm>
            <a:off x="6807708" y="2208276"/>
            <a:ext cx="192024" cy="201168"/>
          </a:xfrm>
          <a:prstGeom prst="rightArrow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7040880" y="1600200"/>
            <a:ext cx="1280160" cy="141732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114032" y="1655064"/>
            <a:ext cx="113385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protocol</a:t>
            </a:r>
            <a:endParaRPr lang="en-US" sz="2200" dirty="0"/>
          </a:p>
        </p:txBody>
      </p:sp>
      <p:sp>
        <p:nvSpPr>
          <p:cNvPr id="34" name="Shape 31"/>
          <p:cNvSpPr/>
          <p:nvPr/>
        </p:nvSpPr>
        <p:spPr>
          <a:xfrm>
            <a:off x="8362188" y="2208276"/>
            <a:ext cx="192024" cy="201168"/>
          </a:xfrm>
          <a:prstGeom prst="rightArrow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595360" y="1600200"/>
            <a:ext cx="1280160" cy="141732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68512" y="1655064"/>
            <a:ext cx="113385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20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Controlled experiments</a:t>
            </a:r>
            <a:endParaRPr lang="en-US" sz="2200" dirty="0"/>
          </a:p>
        </p:txBody>
      </p:sp>
      <p:sp>
        <p:nvSpPr>
          <p:cNvPr id="37" name="Shape 34"/>
          <p:cNvSpPr/>
          <p:nvPr/>
        </p:nvSpPr>
        <p:spPr>
          <a:xfrm>
            <a:off x="9916668" y="2208276"/>
            <a:ext cx="192024" cy="201168"/>
          </a:xfrm>
          <a:prstGeom prst="rightArrow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10149840" y="1600200"/>
            <a:ext cx="1280160" cy="141732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10222992" y="1655064"/>
            <a:ext cx="113385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20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</a:t>
            </a:r>
            <a:endParaRPr lang="en-US" sz="2200" dirty="0"/>
          </a:p>
        </p:txBody>
      </p:sp>
      <p:sp>
        <p:nvSpPr>
          <p:cNvPr id="40" name="Shape 37"/>
          <p:cNvSpPr/>
          <p:nvPr/>
        </p:nvSpPr>
        <p:spPr>
          <a:xfrm>
            <a:off x="822960" y="3383280"/>
            <a:ext cx="5166360" cy="246888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1024128" y="3520440"/>
            <a:ext cx="4782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Two-step reproduction</a:t>
            </a:r>
            <a:endParaRPr lang="en-US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1024128" y="4114800"/>
            <a:ext cx="476402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 — paper-exact: our code with each paper's own field, radio, BS and packet size → validates the implementation.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 — unified: the same code in one common environment → protocols become directly comparable.</a:t>
            </a:r>
            <a:endParaRPr lang="en-US" sz="1500" dirty="0"/>
          </a:p>
        </p:txBody>
      </p:sp>
      <p:sp>
        <p:nvSpPr>
          <p:cNvPr id="43" name="Shape 40"/>
          <p:cNvSpPr/>
          <p:nvPr/>
        </p:nvSpPr>
        <p:spPr>
          <a:xfrm>
            <a:off x="6263640" y="3383280"/>
            <a:ext cx="5166360" cy="246888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44" name="Text 41"/>
          <p:cNvSpPr txBox="1"/>
          <p:nvPr/>
        </p:nvSpPr>
        <p:spPr>
          <a:xfrm>
            <a:off x="6464808" y="3520440"/>
            <a:ext cx="4782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change per version</a:t>
            </a:r>
            <a:endParaRPr lang="en-US" sz="1500" dirty="0"/>
          </a:p>
        </p:txBody>
      </p:sp>
      <p:sp>
        <p:nvSpPr>
          <p:cNvPr id="45" name="Text 42"/>
          <p:cNvSpPr txBox="1"/>
          <p:nvPr/>
        </p:nvSpPr>
        <p:spPr>
          <a:xfrm>
            <a:off x="6464808" y="4114800"/>
            <a:ext cx="476402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proposed protocol was developed version by version, changing ONE mechanism each time, so every gain or loss can be attributed to its cause.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Simulation Environment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417320"/>
          <a:ext cx="65836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2062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Parameter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Network size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nodes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Field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× 100 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Initial energy E0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 J / node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Packet size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2000 bits (control 200 bits)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rate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 kbps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BS position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(50, 50) center; far scenario (50, −100)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Communication range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Radio model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First-order, two-slope (d² / d⁴)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d0 = √(E_fs/E_mp)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87.7 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Random seed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12345 (robustness: 8 seeds)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Simulator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ns-3.41, C++ (analytical energy model)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</a:tbl>
          </a:graphicData>
        </a:graphic>
      </p:graphicFrame>
      <p:sp>
        <p:nvSpPr>
          <p:cNvPr id="21" name="Text 17"/>
          <p:cNvSpPr txBox="1"/>
          <p:nvPr/>
        </p:nvSpPr>
        <p:spPr>
          <a:xfrm>
            <a:off x="7955280" y="155448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endParaRPr lang="en-US" sz="3600" dirty="0"/>
          </a:p>
        </p:txBody>
      </p:sp>
      <p:sp>
        <p:nvSpPr>
          <p:cNvPr id="22" name="Text 18"/>
          <p:cNvSpPr txBox="1"/>
          <p:nvPr/>
        </p:nvSpPr>
        <p:spPr>
          <a:xfrm>
            <a:off x="7955280" y="228600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 nodes in a 100 × 100 m field</a:t>
            </a:r>
            <a:endParaRPr lang="en-US" sz="1350" dirty="0"/>
          </a:p>
        </p:txBody>
      </p:sp>
      <p:sp>
        <p:nvSpPr>
          <p:cNvPr id="23" name="Text 19"/>
          <p:cNvSpPr txBox="1"/>
          <p:nvPr/>
        </p:nvSpPr>
        <p:spPr>
          <a:xfrm>
            <a:off x="7955280" y="292608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 J</a:t>
            </a:r>
            <a:endParaRPr lang="en-US" sz="3600" dirty="0"/>
          </a:p>
        </p:txBody>
      </p:sp>
      <p:sp>
        <p:nvSpPr>
          <p:cNvPr id="24" name="Text 20"/>
          <p:cNvSpPr txBox="1"/>
          <p:nvPr/>
        </p:nvSpPr>
        <p:spPr>
          <a:xfrm>
            <a:off x="7955280" y="365760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 energy per node</a:t>
            </a:r>
            <a:endParaRPr lang="en-US" sz="1350" dirty="0"/>
          </a:p>
        </p:txBody>
      </p:sp>
      <p:sp>
        <p:nvSpPr>
          <p:cNvPr id="25" name="Text 21"/>
          <p:cNvSpPr txBox="1"/>
          <p:nvPr/>
        </p:nvSpPr>
        <p:spPr>
          <a:xfrm>
            <a:off x="7955280" y="429768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600" dirty="0"/>
          </a:p>
        </p:txBody>
      </p:sp>
      <p:sp>
        <p:nvSpPr>
          <p:cNvPr id="26" name="Text 22"/>
          <p:cNvSpPr txBox="1"/>
          <p:nvPr/>
        </p:nvSpPr>
        <p:spPr>
          <a:xfrm>
            <a:off x="7955280" y="502920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BS positions: center (50,50) and far (50, −100)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Metrics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22960" y="1508760"/>
            <a:ext cx="2514600" cy="329184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2960" y="164592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FND</a:t>
            </a:r>
            <a:endParaRPr lang="en-US" sz="3800" dirty="0"/>
          </a:p>
        </p:txBody>
      </p:sp>
      <p:sp>
        <p:nvSpPr>
          <p:cNvPr id="22" name="Text 19"/>
          <p:cNvSpPr txBox="1"/>
          <p:nvPr/>
        </p:nvSpPr>
        <p:spPr>
          <a:xfrm>
            <a:off x="960120" y="25146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Node Dead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005840" y="3017520"/>
            <a:ext cx="2148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when the first node dies — load balance &amp; coverage stability.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3538728" y="1508760"/>
            <a:ext cx="2514600" cy="329184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538728" y="164592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HND</a:t>
            </a:r>
            <a:endParaRPr lang="en-US" sz="3800" dirty="0"/>
          </a:p>
        </p:txBody>
      </p:sp>
      <p:sp>
        <p:nvSpPr>
          <p:cNvPr id="26" name="Text 23"/>
          <p:cNvSpPr txBox="1"/>
          <p:nvPr/>
        </p:nvSpPr>
        <p:spPr>
          <a:xfrm>
            <a:off x="3675888" y="25146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Half Nodes Dead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3721608" y="3017520"/>
            <a:ext cx="2148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when 50% of nodes are dead — useful network lifetime.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6254496" y="1508760"/>
            <a:ext cx="2514600" cy="329184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254496" y="164592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LND</a:t>
            </a:r>
            <a:endParaRPr lang="en-US" sz="3800" dirty="0"/>
          </a:p>
        </p:txBody>
      </p:sp>
      <p:sp>
        <p:nvSpPr>
          <p:cNvPr id="30" name="Text 27"/>
          <p:cNvSpPr txBox="1"/>
          <p:nvPr/>
        </p:nvSpPr>
        <p:spPr>
          <a:xfrm>
            <a:off x="6391656" y="25146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Node Dead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437376" y="3017520"/>
            <a:ext cx="2148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when the last node dies — total lifetime (can be inflated by silent nodes).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8970264" y="1508760"/>
            <a:ext cx="2514600" cy="329184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970264" y="164592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PDR</a:t>
            </a:r>
            <a:endParaRPr lang="en-US" sz="3800" dirty="0"/>
          </a:p>
        </p:txBody>
      </p:sp>
      <p:sp>
        <p:nvSpPr>
          <p:cNvPr id="34" name="Text 31"/>
          <p:cNvSpPr txBox="1"/>
          <p:nvPr/>
        </p:nvSpPr>
        <p:spPr>
          <a:xfrm>
            <a:off x="9107424" y="25146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Packet Delivery Ratio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9153144" y="3017520"/>
            <a:ext cx="2148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Delivered ÷ generated packets over the whole lifetime — reliability.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822960" y="5029200"/>
            <a:ext cx="106070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37" name="Text 34"/>
          <p:cNvSpPr txBox="1"/>
          <p:nvPr/>
        </p:nvSpPr>
        <p:spPr>
          <a:xfrm>
            <a:off x="1024128" y="5166360"/>
            <a:ext cx="10222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Also reported: total delivered packets — it exposes "alive but silent" nodes that make LND look better than the network really is.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Full IEEE 802.15.4 stack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" y="1554480"/>
            <a:ext cx="539496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IEEE 802.15.4 (LR-WPAN) PHY + MAC, log-distance path loss, per-state energy source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nodes (3 sensors + 1 sink), 20 × 20 m, 50-byte packet every 10 s, 1000 s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Confirms the energy accounting and delivery logic used by the analytical model</a:t>
            </a:r>
            <a:endParaRPr lang="en-US" sz="15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1554480"/>
          <a:ext cx="49377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74320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Result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Packets sent / received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 / 300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PDR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Throughput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 bit/s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Energy per sensor / sink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62.64 J / 62.64 J (of 100 J)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Lifetime (1000 s run)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reached — all nodes alive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336042"/>
            <a:ext cx="1110996" cy="55549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9706356" y="459486"/>
            <a:ext cx="1110996" cy="43205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17352" y="459486"/>
            <a:ext cx="925830" cy="86410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06356" y="891540"/>
            <a:ext cx="555498" cy="925830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0261854" y="1323594"/>
            <a:ext cx="1481328" cy="49377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261854" y="1817370"/>
            <a:ext cx="1172718" cy="55549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1434572" y="1323594"/>
            <a:ext cx="308610" cy="104927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9397746" y="891540"/>
            <a:ext cx="308610" cy="67894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97746" y="1570482"/>
            <a:ext cx="864108" cy="24688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817352" y="459486"/>
            <a:ext cx="1110996" cy="6172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1743182" y="521208"/>
            <a:ext cx="185166" cy="80238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0940796" y="2372868"/>
            <a:ext cx="493776" cy="67894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940796" y="3051810"/>
            <a:ext cx="1049274" cy="43205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434572" y="2372868"/>
            <a:ext cx="555498" cy="111099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261854" y="1817370"/>
            <a:ext cx="678942" cy="1234440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54212" y="29489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65208" y="85039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76204" y="418338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702034" y="128244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20706" y="177622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393424" y="2331720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356598" y="152933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887200" y="480060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899648" y="301066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948922" y="344271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548640" y="6163056"/>
            <a:ext cx="592531" cy="29626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141171" y="6163056"/>
            <a:ext cx="592531" cy="230429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1733702" y="5932627"/>
            <a:ext cx="493776" cy="46085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1141171" y="5669280"/>
            <a:ext cx="296266" cy="49377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437437" y="5669280"/>
            <a:ext cx="790042" cy="263347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1437437" y="5373014"/>
            <a:ext cx="625450" cy="29626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062886" y="5373014"/>
            <a:ext cx="164592" cy="559613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76579" y="5800954"/>
            <a:ext cx="164592" cy="36210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976579" y="5669280"/>
            <a:ext cx="460858" cy="13167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1733702" y="6360566"/>
            <a:ext cx="592531" cy="3291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227478" y="5932627"/>
            <a:ext cx="98755" cy="427939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799539" y="5010912"/>
            <a:ext cx="263347" cy="36210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1799539" y="4780483"/>
            <a:ext cx="559613" cy="230429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2062886" y="4780483"/>
            <a:ext cx="296266" cy="592531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1437437" y="5010912"/>
            <a:ext cx="362102" cy="65836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7492" y="641817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100023" y="6121908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692554" y="6352337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186330" y="5891479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396289" y="562813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021738" y="533186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935431" y="575980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285086" y="6319418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758391" y="496976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318004" y="4739335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22960" y="160020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E7C9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800" dirty="0"/>
          </a:p>
        </p:txBody>
      </p:sp>
      <p:sp>
        <p:nvSpPr>
          <p:cNvPr id="54" name="Text 52"/>
          <p:cNvSpPr txBox="1"/>
          <p:nvPr/>
        </p:nvSpPr>
        <p:spPr>
          <a:xfrm>
            <a:off x="822960" y="292608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Reproducing Existing Protocols</a:t>
            </a:r>
            <a:endParaRPr lang="en-US" sz="4000" dirty="0"/>
          </a:p>
        </p:txBody>
      </p:sp>
      <p:sp>
        <p:nvSpPr>
          <p:cNvPr id="55" name="Text 53"/>
          <p:cNvSpPr txBox="1"/>
          <p:nvPr/>
        </p:nvSpPr>
        <p:spPr>
          <a:xfrm>
            <a:off x="822960" y="388620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3E3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Published → paper-exact → unified → improved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Published vs. Our Reproduction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Step 1: paper-exact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463040"/>
          <a:ext cx="69494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371600"/>
                <a:gridCol w="1005840"/>
                <a:gridCol w="1005840"/>
                <a:gridCol w="1005840"/>
                <a:gridCol w="10058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Protocol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Published LND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Our FND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Our HND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Our LND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Our PDR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LEACH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98.02%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graph only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1996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99.97%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PEGASIS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2192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1614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2167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97.75%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SH-LEACH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graph only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747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99.53%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H-LEACH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≈4312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94.75%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EECH-HEED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2200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90.43%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Shape 17"/>
          <p:cNvSpPr/>
          <p:nvPr/>
        </p:nvSpPr>
        <p:spPr>
          <a:xfrm>
            <a:off x="8092440" y="1463040"/>
            <a:ext cx="3337560" cy="4389120"/>
          </a:xfrm>
          <a:prstGeom prst="roundRect">
            <a:avLst>
              <a:gd name="adj" fmla="val 3288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2" name="Text 18"/>
          <p:cNvSpPr txBox="1"/>
          <p:nvPr/>
        </p:nvSpPr>
        <p:spPr>
          <a:xfrm>
            <a:off x="8293608" y="1600200"/>
            <a:ext cx="2953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Findings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8293608" y="2194560"/>
            <a:ext cx="2935224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PEGASIS matched its paper within 2.3%.</a:t>
            </a:r>
            <a:endParaRPr lang="en-US" sz="14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LEACH matches the paper's own Fig. 3.</a:t>
            </a:r>
            <a:endParaRPr lang="en-US" sz="14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H-LEACH needed a fallback just to run (its gate deadlocks).</a:t>
            </a:r>
            <a:endParaRPr lang="en-US" sz="14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EECH-HEED is lower than published because its adaptive sensing was not yet implemented.</a:t>
            </a:r>
            <a:endParaRPr lang="en-US" sz="14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Environment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Step 2: same field, radio and BS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417320"/>
          <a:ext cx="49377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777240"/>
                <a:gridCol w="777240"/>
                <a:gridCol w="777240"/>
                <a:gridCol w="8686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Protocol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PDR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LEACH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98.37%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99.69%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HEED (fairness)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338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99.67%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PEGASIS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2353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2887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98.67%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SH-LEACH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99.17%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H-LEACH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2177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2305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97.33%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EECH-HEED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2134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2184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91.68%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1" name="Chart 0" descr=""/>
          <p:cNvGraphicFramePr/>
          <p:nvPr/>
        </p:nvGraphicFramePr>
        <p:xfrm>
          <a:off x="5943600" y="1325880"/>
          <a:ext cx="55778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the Numbers Change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Paper-exact vs. unified LND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000" dirty="0"/>
          </a:p>
        </p:txBody>
      </p:sp>
      <p:graphicFrame>
        <p:nvGraphicFramePr>
          <p:cNvPr id="19" name="Chart 0" descr=""/>
          <p:cNvGraphicFramePr/>
          <p:nvPr/>
        </p:nvGraphicFramePr>
        <p:xfrm>
          <a:off x="731520" y="1325880"/>
          <a:ext cx="658368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Shape 17"/>
          <p:cNvSpPr/>
          <p:nvPr/>
        </p:nvSpPr>
        <p:spPr>
          <a:xfrm>
            <a:off x="7589520" y="1463040"/>
            <a:ext cx="3840480" cy="438912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7790688" y="1600200"/>
            <a:ext cx="3456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causes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7790688" y="2194560"/>
            <a:ext cx="3438144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Field size (50×50 → 100×100 m)</a:t>
            </a:r>
            <a:endParaRPr lang="en-US" sz="14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BS position (far → center)</a:t>
            </a:r>
            <a:endParaRPr lang="en-US" sz="14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Radio model (single-term → two-slope)</a:t>
            </a:r>
            <a:endParaRPr lang="en-US" sz="14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Packet size and initial energy (HEED: 2 J → 0.5 J)</a:t>
            </a:r>
            <a:endParaRPr lang="en-US" sz="1450" dirty="0"/>
          </a:p>
          <a:p>
            <a:pPr indent="0" marL="0">
              <a:spcAft>
                <a:spcPts val="400"/>
              </a:spcAft>
              <a:buNone/>
            </a:pPr>
            <a:endParaRPr lang="en-US" sz="14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algorithm is identical in both bars — only the environment changed.</a:t>
            </a:r>
            <a:endParaRPr lang="en-US" sz="14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Improving the Literature Hybrids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Targeted fixes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0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463040"/>
          <a:ext cx="60350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188720"/>
                <a:gridCol w="868680"/>
                <a:gridCol w="868680"/>
                <a:gridCol w="868680"/>
                <a:gridCol w="8686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Protocol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Stage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PDR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SH-LEACH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Edited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99.17%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SH-LEACH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Improved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1247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99.79%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H-LEACH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Edited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2177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2305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97.33%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H-LEACH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Improved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2347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2449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2499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97.33%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7132320" y="1463040"/>
            <a:ext cx="429768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7333488" y="1600200"/>
            <a:ext cx="3913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SH-LEACH fix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7333488" y="2194560"/>
            <a:ext cx="38953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True iterative HEED doubling + Cprob 0.10 → 0.03: HND/LND/PDR up, FND −13% (fewer, larger clusters).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7132320" y="3703320"/>
            <a:ext cx="429768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7333488" y="3840480"/>
            <a:ext cx="3913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H-LEACH fix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7333488" y="4434840"/>
            <a:ext cx="38953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 gate relaxed from 1.0× to 0.8× the average: the energy-weighted rule finally decides → FND/HND/LND +7.8–8.6%, no PDR cost.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822960" y="3703320"/>
            <a:ext cx="603504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7" name="Text 24"/>
          <p:cNvSpPr txBox="1"/>
          <p:nvPr/>
        </p:nvSpPr>
        <p:spPr>
          <a:xfrm>
            <a:off x="1024128" y="3840480"/>
            <a:ext cx="5650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Context: EECH-HEED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1024128" y="4434840"/>
            <a:ext cx="56327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Adding its adaptive threshold sensing gives the longest raw lifetime (LND 3808) — because nodes transmit less often, not because of better clustering. Kept as context, not as a direct peer.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Lessons Carried Forward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22960" y="1645920"/>
            <a:ext cx="1965960" cy="292608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1024128" y="1828800"/>
            <a:ext cx="457200" cy="457200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241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600200" y="17830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 selection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024128" y="2377440"/>
            <a:ext cx="156362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Better CH choice alone is not enough.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2971800" y="1645920"/>
            <a:ext cx="1965960" cy="292608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3172968" y="1828800"/>
            <a:ext cx="457200" cy="457200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17296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3749040" y="17830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overhead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3172968" y="2377440"/>
            <a:ext cx="156362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Re-clustering every round wastes energy.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5120640" y="1645920"/>
            <a:ext cx="1965960" cy="292608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5321808" y="1828800"/>
            <a:ext cx="457200" cy="457200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32180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5897880" y="17830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 reuse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321808" y="2377440"/>
            <a:ext cx="156362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Longer reuse saves energy but risks stale clusters.</a:t>
            </a:r>
            <a:endParaRPr lang="en-US" sz="1500" dirty="0"/>
          </a:p>
        </p:txBody>
      </p:sp>
      <p:sp>
        <p:nvSpPr>
          <p:cNvPr id="35" name="Shape 32"/>
          <p:cNvSpPr/>
          <p:nvPr/>
        </p:nvSpPr>
        <p:spPr>
          <a:xfrm>
            <a:off x="7269480" y="1645920"/>
            <a:ext cx="1965960" cy="292608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7470648" y="1828800"/>
            <a:ext cx="457200" cy="457200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747064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8046720" y="17830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 failure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7470648" y="2377440"/>
            <a:ext cx="156362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dead CH strands its whole cluster.</a:t>
            </a:r>
            <a:endParaRPr lang="en-US" sz="1500" dirty="0"/>
          </a:p>
        </p:txBody>
      </p:sp>
      <p:sp>
        <p:nvSpPr>
          <p:cNvPr id="40" name="Shape 37"/>
          <p:cNvSpPr/>
          <p:nvPr/>
        </p:nvSpPr>
        <p:spPr>
          <a:xfrm>
            <a:off x="9418320" y="1645920"/>
            <a:ext cx="1965960" cy="292608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9619488" y="1828800"/>
            <a:ext cx="457200" cy="457200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961948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10195560" y="17830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Inter-cluster routing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9619488" y="2377440"/>
            <a:ext cx="156362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CH → BS is costly when the BS is far.</a:t>
            </a:r>
            <a:endParaRPr lang="en-US" sz="1500" dirty="0"/>
          </a:p>
        </p:txBody>
      </p:sp>
      <p:sp>
        <p:nvSpPr>
          <p:cNvPr id="45" name="Text 42"/>
          <p:cNvSpPr txBox="1"/>
          <p:nvPr/>
        </p:nvSpPr>
        <p:spPr>
          <a:xfrm>
            <a:off x="822960" y="493776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These observations drove every version of the proposed protocol.</a:t>
            </a:r>
            <a:endParaRPr lang="en-US" sz="17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336042"/>
            <a:ext cx="1110996" cy="55549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9706356" y="459486"/>
            <a:ext cx="1110996" cy="43205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17352" y="459486"/>
            <a:ext cx="925830" cy="86410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06356" y="891540"/>
            <a:ext cx="555498" cy="925830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0261854" y="1323594"/>
            <a:ext cx="1481328" cy="49377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261854" y="1817370"/>
            <a:ext cx="1172718" cy="55549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1434572" y="1323594"/>
            <a:ext cx="308610" cy="104927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9397746" y="891540"/>
            <a:ext cx="308610" cy="67894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97746" y="1570482"/>
            <a:ext cx="864108" cy="24688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817352" y="459486"/>
            <a:ext cx="1110996" cy="6172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1743182" y="521208"/>
            <a:ext cx="185166" cy="80238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0940796" y="2372868"/>
            <a:ext cx="493776" cy="67894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940796" y="3051810"/>
            <a:ext cx="1049274" cy="43205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434572" y="2372868"/>
            <a:ext cx="555498" cy="111099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261854" y="1817370"/>
            <a:ext cx="678942" cy="1234440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54212" y="29489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65208" y="85039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76204" y="418338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702034" y="128244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20706" y="177622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393424" y="2331720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356598" y="152933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887200" y="480060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899648" y="301066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948922" y="344271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548640" y="6163056"/>
            <a:ext cx="592531" cy="29626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141171" y="6163056"/>
            <a:ext cx="592531" cy="230429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1733702" y="5932627"/>
            <a:ext cx="493776" cy="46085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1141171" y="5669280"/>
            <a:ext cx="296266" cy="49377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437437" y="5669280"/>
            <a:ext cx="790042" cy="263347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1437437" y="5373014"/>
            <a:ext cx="625450" cy="29626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062886" y="5373014"/>
            <a:ext cx="164592" cy="559613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76579" y="5800954"/>
            <a:ext cx="164592" cy="36210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976579" y="5669280"/>
            <a:ext cx="460858" cy="13167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1733702" y="6360566"/>
            <a:ext cx="592531" cy="3291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227478" y="5932627"/>
            <a:ext cx="98755" cy="427939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799539" y="5010912"/>
            <a:ext cx="263347" cy="36210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1799539" y="4780483"/>
            <a:ext cx="559613" cy="230429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2062886" y="4780483"/>
            <a:ext cx="296266" cy="592531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1437437" y="5010912"/>
            <a:ext cx="362102" cy="65836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7492" y="641817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100023" y="6121908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692554" y="6352337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186330" y="5891479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396289" y="562813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021738" y="533186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935431" y="575980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285086" y="6319418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758391" y="496976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318004" y="4739335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22960" y="160020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E7C9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800" dirty="0"/>
          </a:p>
        </p:txBody>
      </p:sp>
      <p:sp>
        <p:nvSpPr>
          <p:cNvPr id="54" name="Text 52"/>
          <p:cNvSpPr txBox="1"/>
          <p:nvPr/>
        </p:nvSpPr>
        <p:spPr>
          <a:xfrm>
            <a:off x="822960" y="292608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Protocol: v1 → v7.2</a:t>
            </a:r>
            <a:endParaRPr lang="en-US" sz="4000" dirty="0"/>
          </a:p>
        </p:txBody>
      </p:sp>
      <p:sp>
        <p:nvSpPr>
          <p:cNvPr id="55" name="Text 53"/>
          <p:cNvSpPr txBox="1"/>
          <p:nvPr/>
        </p:nvSpPr>
        <p:spPr>
          <a:xfrm>
            <a:off x="822960" y="388620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3E3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mechanism per version, measured every time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Evolution Roadmap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417320" y="3246120"/>
            <a:ext cx="9372600" cy="0"/>
          </a:xfrm>
          <a:prstGeom prst="line">
            <a:avLst/>
          </a:prstGeom>
          <a:noFill/>
          <a:ln w="38100">
            <a:solidFill>
              <a:srgbClr val="8A252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16152" y="3044952"/>
            <a:ext cx="402336" cy="4023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8A252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77240" y="214884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v1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16002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HEED CH + LEACH join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257552" y="3044952"/>
            <a:ext cx="402336" cy="4023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8A252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818640" y="36118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772920" y="40233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Rotation fairness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298952" y="3044952"/>
            <a:ext cx="402336" cy="4023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8A252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860040" y="214884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v3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2814320" y="16002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Single-pass score + reuse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340352" y="3044952"/>
            <a:ext cx="402336" cy="4023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8A252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901440" y="36118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v4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3855720" y="40233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Interval 15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381752" y="3044952"/>
            <a:ext cx="402336" cy="4023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8A252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942840" y="214884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v5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4897120" y="16002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CH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23152" y="3044952"/>
            <a:ext cx="402336" cy="4023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8A252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984240" y="36118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v6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5938520" y="40233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CH-to-CH chain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7464552" y="3044952"/>
            <a:ext cx="402336" cy="4023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8A2522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025640" y="214884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v7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6979920" y="16002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Chain + repair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8505952" y="3044952"/>
            <a:ext cx="402336" cy="4023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8A2522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067040" y="36118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v7.1/2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8021320" y="40233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Multihop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9547352" y="3044952"/>
            <a:ext cx="402336" cy="402336"/>
          </a:xfrm>
          <a:prstGeom prst="ellipse">
            <a:avLst/>
          </a:prstGeom>
          <a:solidFill>
            <a:srgbClr val="8A2522"/>
          </a:solidFill>
          <a:ln w="25400">
            <a:solidFill>
              <a:srgbClr val="8A2522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108440" y="214884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v8</a:t>
            </a:r>
            <a:endParaRPr lang="en-US" sz="1500" dirty="0"/>
          </a:p>
        </p:txBody>
      </p:sp>
      <p:sp>
        <p:nvSpPr>
          <p:cNvPr id="46" name="Text 44"/>
          <p:cNvSpPr txBox="1"/>
          <p:nvPr/>
        </p:nvSpPr>
        <p:spPr>
          <a:xfrm>
            <a:off x="9062720" y="16002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Proactive + direct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0588752" y="3044952"/>
            <a:ext cx="402336" cy="402336"/>
          </a:xfrm>
          <a:prstGeom prst="ellipse">
            <a:avLst/>
          </a:prstGeom>
          <a:solidFill>
            <a:srgbClr val="8A2522"/>
          </a:solidFill>
          <a:ln w="25400">
            <a:solidFill>
              <a:srgbClr val="8A2522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0149840" y="36118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v8-Chain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10104120" y="40233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Energy-aware relay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822960" y="4892040"/>
            <a:ext cx="106070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51" name="Text 49"/>
          <p:cNvSpPr txBox="1"/>
          <p:nvPr/>
        </p:nvSpPr>
        <p:spPr>
          <a:xfrm>
            <a:off x="1024128" y="5029200"/>
            <a:ext cx="10222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Selection  →  reuse  →  recovery  →  relay  →  prevention + adaptive relay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v1 → v2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Hybrid foundation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22960" y="1508760"/>
            <a:ext cx="2459736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96112" y="1563624"/>
            <a:ext cx="231343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Residual energy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3321101" y="1842516"/>
            <a:ext cx="179222" cy="201168"/>
          </a:xfrm>
          <a:prstGeom prst="rightArrow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538728" y="1508760"/>
            <a:ext cx="2459736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611880" y="1563624"/>
            <a:ext cx="231343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HEED-style CH selection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6036869" y="1842516"/>
            <a:ext cx="179222" cy="201168"/>
          </a:xfrm>
          <a:prstGeom prst="rightArrow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254496" y="1508760"/>
            <a:ext cx="2459736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327648" y="1563624"/>
            <a:ext cx="231343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LEACH nearest-CH join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8752637" y="1842516"/>
            <a:ext cx="179222" cy="201168"/>
          </a:xfrm>
          <a:prstGeom prst="rightArrow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970264" y="1508760"/>
            <a:ext cx="2459736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043416" y="1563624"/>
            <a:ext cx="231343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 → BS</a:t>
            </a:r>
            <a:endParaRPr lang="en-US" sz="14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743200"/>
          <a:ext cx="106070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5120640"/>
                <a:gridCol w="1097280"/>
                <a:gridCol w="1097280"/>
                <a:gridCol w="1097280"/>
                <a:gridCol w="10972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Idea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PDR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HEED-style CH selection + LEACH clustering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557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1318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99.74%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rotation-fairness penalty (λ = 0.1)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99.79%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Shape 28"/>
          <p:cNvSpPr/>
          <p:nvPr/>
        </p:nvSpPr>
        <p:spPr>
          <a:xfrm>
            <a:off x="822960" y="4023360"/>
            <a:ext cx="10607040" cy="1828800"/>
          </a:xfrm>
          <a:prstGeom prst="roundRect">
            <a:avLst>
              <a:gd name="adj" fmla="val 6000"/>
            </a:avLst>
          </a:prstGeom>
          <a:solidFill>
            <a:srgbClr val="F6E3E1"/>
          </a:solidFill>
          <a:ln w="12700">
            <a:solidFill>
              <a:srgbClr val="C9A09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33" name="Text 29"/>
          <p:cNvSpPr txBox="1"/>
          <p:nvPr/>
        </p:nvSpPr>
        <p:spPr>
          <a:xfrm>
            <a:off x="1024128" y="4160520"/>
            <a:ext cx="10222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Diagnosis</a:t>
            </a:r>
            <a:endParaRPr lang="en-US" sz="1500" dirty="0"/>
          </a:p>
        </p:txBody>
      </p:sp>
      <p:sp>
        <p:nvSpPr>
          <p:cNvPr id="34" name="Text 30"/>
          <p:cNvSpPr txBox="1"/>
          <p:nvPr/>
        </p:nvSpPr>
        <p:spPr>
          <a:xfrm>
            <a:off x="1024128" y="4754880"/>
            <a:ext cx="102047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PDR but very early first death: the iterative HEED negotiation is paid in full EVERY round, whether or not the topology changed. The overhead — not the CH quality — was the root cause.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v3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Root-cause redesign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22960" y="1463040"/>
            <a:ext cx="65836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05840" y="1508760"/>
            <a:ext cx="6309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8A25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 = (E / E0) × (1 + degree / maxDegree)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8A25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P(CH) = min(1, T(r) × score)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822960" y="3063240"/>
            <a:ext cx="6583680" cy="2011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pass — no iterative negotiation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CHs recomputed only once every 5 rounds (setup interval)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LEACH threshold T(r) and epoch keep the rotation fair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7955280" y="146304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+94%</a:t>
            </a:r>
            <a:endParaRPr lang="en-US" sz="4800" dirty="0"/>
          </a:p>
        </p:txBody>
      </p:sp>
      <p:sp>
        <p:nvSpPr>
          <p:cNvPr id="24" name="Text 21"/>
          <p:cNvSpPr txBox="1"/>
          <p:nvPr/>
        </p:nvSpPr>
        <p:spPr>
          <a:xfrm>
            <a:off x="7955280" y="219456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LND vs v2 (1393 → 2703)</a:t>
            </a:r>
            <a:endParaRPr lang="en-US" sz="1350" dirty="0"/>
          </a:p>
        </p:txBody>
      </p:sp>
      <p:sp>
        <p:nvSpPr>
          <p:cNvPr id="25" name="Text 22"/>
          <p:cNvSpPr txBox="1"/>
          <p:nvPr/>
        </p:nvSpPr>
        <p:spPr>
          <a:xfrm>
            <a:off x="7955280" y="30175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×5</a:t>
            </a:r>
            <a:endParaRPr lang="en-US" sz="4800" dirty="0"/>
          </a:p>
        </p:txBody>
      </p:sp>
      <p:sp>
        <p:nvSpPr>
          <p:cNvPr id="26" name="Text 23"/>
          <p:cNvSpPr txBox="1"/>
          <p:nvPr/>
        </p:nvSpPr>
        <p:spPr>
          <a:xfrm>
            <a:off x="7955280" y="374904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later first node death (345 → 1730)</a:t>
            </a:r>
            <a:endParaRPr lang="en-US" sz="135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5074920"/>
          <a:ext cx="65836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  <a:gridCol w="16459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PDR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2703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97.72%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v4 &amp; v5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Reuse interval and backup CH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0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463040"/>
          <a:ext cx="676656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743200"/>
                <a:gridCol w="777240"/>
                <a:gridCol w="777240"/>
                <a:gridCol w="777240"/>
                <a:gridCol w="7772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Change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PDR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Interval 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2703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97.72%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Interval 5 → 15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2219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2521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94.67%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Backup CH failover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2127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2416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97.05%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v5-exp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Interval 5 + backup + cluster repair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2156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98.27%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v5-exp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Interval 10 + backup + cluster repair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2291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97.94%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7863840" y="1463040"/>
            <a:ext cx="356616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8065008" y="1600200"/>
            <a:ext cx="3182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v4: longer reuse hurts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065008" y="2194560"/>
            <a:ext cx="31638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CH that dies mid-interval strands its cluster for longer → PDR 97.72% → 94.67%.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7863840" y="3749040"/>
            <a:ext cx="356616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8065008" y="3886200"/>
            <a:ext cx="3182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v5: backup CH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8065008" y="4480560"/>
            <a:ext cx="31638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highest-energy member is pre-designated at setup (zero extra messages) and promoted when the CH dies → PDR back to 97%+.</a:t>
            </a: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v6 &amp; v7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CH-to-CH chain + repair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22960" y="1463040"/>
            <a:ext cx="1060704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96112" y="1517904"/>
            <a:ext cx="914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CH₁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1931670" y="1728216"/>
            <a:ext cx="224028" cy="201168"/>
          </a:xfrm>
          <a:prstGeom prst="rightArrow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203704" y="1463040"/>
            <a:ext cx="1060704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276856" y="1517904"/>
            <a:ext cx="914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CH₂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3312414" y="1728216"/>
            <a:ext cx="224028" cy="201168"/>
          </a:xfrm>
          <a:prstGeom prst="rightArrow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584448" y="1463040"/>
            <a:ext cx="1060704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657600" y="1517904"/>
            <a:ext cx="914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CH₃</a:t>
            </a:r>
            <a:endParaRPr lang="en-US" sz="1500" dirty="0"/>
          </a:p>
        </p:txBody>
      </p:sp>
      <p:sp>
        <p:nvSpPr>
          <p:cNvPr id="28" name="Shape 25"/>
          <p:cNvSpPr/>
          <p:nvPr/>
        </p:nvSpPr>
        <p:spPr>
          <a:xfrm>
            <a:off x="4693158" y="1728216"/>
            <a:ext cx="224028" cy="201168"/>
          </a:xfrm>
          <a:prstGeom prst="rightArrow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965192" y="1463040"/>
            <a:ext cx="1060704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038344" y="1517904"/>
            <a:ext cx="914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Gateway CH</a:t>
            </a:r>
            <a:endParaRPr lang="en-US" sz="1500" dirty="0"/>
          </a:p>
        </p:txBody>
      </p:sp>
      <p:sp>
        <p:nvSpPr>
          <p:cNvPr id="31" name="Shape 28"/>
          <p:cNvSpPr/>
          <p:nvPr/>
        </p:nvSpPr>
        <p:spPr>
          <a:xfrm>
            <a:off x="6073902" y="1728216"/>
            <a:ext cx="224028" cy="201168"/>
          </a:xfrm>
          <a:prstGeom prst="rightArrow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345936" y="1463040"/>
            <a:ext cx="1060704" cy="731520"/>
          </a:xfrm>
          <a:prstGeom prst="roundRect">
            <a:avLst>
              <a:gd name="adj" fmla="val 12500"/>
            </a:avLst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419088" y="1517904"/>
            <a:ext cx="914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BS</a:t>
            </a:r>
            <a:endParaRPr lang="en-US" sz="15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514600"/>
          <a:ext cx="658368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097280"/>
                <a:gridCol w="1097280"/>
                <a:gridCol w="1097280"/>
                <a:gridCol w="10972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PDR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Center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1981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97.49%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v7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Center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98.43%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1910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97.08%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v7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98.14%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Shape 31"/>
          <p:cNvSpPr/>
          <p:nvPr/>
        </p:nvSpPr>
        <p:spPr>
          <a:xfrm>
            <a:off x="7726680" y="1463040"/>
            <a:ext cx="370332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36" name="Text 32"/>
          <p:cNvSpPr txBox="1"/>
          <p:nvPr/>
        </p:nvSpPr>
        <p:spPr>
          <a:xfrm>
            <a:off x="7927848" y="1600200"/>
            <a:ext cx="3319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+ chain repair</a:t>
            </a:r>
            <a:endParaRPr lang="en-US" sz="1500" dirty="0"/>
          </a:p>
        </p:txBody>
      </p:sp>
      <p:sp>
        <p:nvSpPr>
          <p:cNvPr id="37" name="Text 33"/>
          <p:cNvSpPr txBox="1"/>
          <p:nvPr/>
        </p:nvSpPr>
        <p:spPr>
          <a:xfrm>
            <a:off x="7927848" y="2194560"/>
            <a:ext cx="33009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Recovery validated: 16/16 repairs (center) and 21/21 (far BS) via backup promotion.</a:t>
            </a:r>
            <a:endParaRPr lang="en-US" sz="1400" dirty="0"/>
          </a:p>
        </p:txBody>
      </p:sp>
      <p:sp>
        <p:nvSpPr>
          <p:cNvPr id="38" name="Shape 34"/>
          <p:cNvSpPr/>
          <p:nvPr/>
        </p:nvSpPr>
        <p:spPr>
          <a:xfrm>
            <a:off x="7726680" y="3749040"/>
            <a:ext cx="3703320" cy="2103120"/>
          </a:xfrm>
          <a:prstGeom prst="roundRect">
            <a:avLst>
              <a:gd name="adj" fmla="val 5217"/>
            </a:avLst>
          </a:prstGeom>
          <a:solidFill>
            <a:srgbClr val="F6E3E1"/>
          </a:solidFill>
          <a:ln w="12700">
            <a:solidFill>
              <a:srgbClr val="C9A09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39" name="Text 35"/>
          <p:cNvSpPr txBox="1"/>
          <p:nvPr/>
        </p:nvSpPr>
        <p:spPr>
          <a:xfrm>
            <a:off x="7927848" y="3886200"/>
            <a:ext cx="3319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Observation</a:t>
            </a:r>
            <a:endParaRPr lang="en-US" sz="1500" dirty="0"/>
          </a:p>
        </p:txBody>
      </p:sp>
      <p:sp>
        <p:nvSpPr>
          <p:cNvPr id="40" name="Text 36"/>
          <p:cNvSpPr txBox="1"/>
          <p:nvPr/>
        </p:nvSpPr>
        <p:spPr>
          <a:xfrm>
            <a:off x="7927848" y="4480560"/>
            <a:ext cx="33009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chain raises PDR, but an always-on chain adds relay cost when the BS is near. A fixed topology is not ideal everywhere.</a:t>
            </a:r>
            <a:endParaRPr lang="en-US" sz="1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v7.1 &amp; v7.2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Multihop routing tree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0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463040"/>
          <a:ext cx="54864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011680"/>
                <a:gridCol w="201168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v7.1 (interval 5)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v7.2 (interval 10)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FND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1381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HND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1991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2071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LND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PDR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98.49%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97.88%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Shape 17"/>
          <p:cNvSpPr/>
          <p:nvPr/>
        </p:nvSpPr>
        <p:spPr>
          <a:xfrm>
            <a:off x="6583680" y="1463040"/>
            <a:ext cx="484632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2" name="Text 18"/>
          <p:cNvSpPr txBox="1"/>
          <p:nvPr/>
        </p:nvSpPr>
        <p:spPr>
          <a:xfrm>
            <a:off x="6784848" y="1600200"/>
            <a:ext cx="4462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Multihop tree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6784848" y="2194560"/>
            <a:ext cx="44439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Removes the single-gateway bottleneck → highest PDR of v1–v7 (98.49%), at a small FND cost.</a:t>
            </a:r>
            <a:endParaRPr lang="en-US" sz="1450" dirty="0"/>
          </a:p>
        </p:txBody>
      </p:sp>
      <p:sp>
        <p:nvSpPr>
          <p:cNvPr id="24" name="Shape 20"/>
          <p:cNvSpPr/>
          <p:nvPr/>
        </p:nvSpPr>
        <p:spPr>
          <a:xfrm>
            <a:off x="6583680" y="3657600"/>
            <a:ext cx="484632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5" name="Text 21"/>
          <p:cNvSpPr txBox="1"/>
          <p:nvPr/>
        </p:nvSpPr>
        <p:spPr>
          <a:xfrm>
            <a:off x="6784848" y="3794760"/>
            <a:ext cx="4462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Interval again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6784848" y="4389120"/>
            <a:ext cx="444398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Interval 10 gives more LND but less PDR — confirming that setup frequency is a separate lever from selection or topology.</a:t>
            </a:r>
            <a:endParaRPr lang="en-US" sz="14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v1 → v7.2 at a Glance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Center BS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1000" dirty="0"/>
          </a:p>
        </p:txBody>
      </p:sp>
      <p:graphicFrame>
        <p:nvGraphicFramePr>
          <p:cNvPr id="19" name="Chart 0" descr=""/>
          <p:cNvGraphicFramePr/>
          <p:nvPr/>
        </p:nvGraphicFramePr>
        <p:xfrm>
          <a:off x="640080" y="1234440"/>
          <a:ext cx="1088136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v1–v7.2 Stood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10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640080" y="1234440"/>
          <a:ext cx="694944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Shape 17"/>
          <p:cNvSpPr/>
          <p:nvPr/>
        </p:nvSpPr>
        <p:spPr>
          <a:xfrm>
            <a:off x="7863840" y="1463040"/>
            <a:ext cx="3566160" cy="438912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2" name="Text 18"/>
          <p:cNvSpPr txBox="1"/>
          <p:nvPr/>
        </p:nvSpPr>
        <p:spPr>
          <a:xfrm>
            <a:off x="8065008" y="1600200"/>
            <a:ext cx="3182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Trade-offs so far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8065008" y="2194560"/>
            <a:ext cx="3163824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v3: best LND, lower PDR</a:t>
            </a:r>
            <a:endParaRPr lang="en-US" sz="14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v1/v2: best PDR, very short life</a:t>
            </a:r>
            <a:endParaRPr lang="en-US" sz="14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v7 / v7.1: best balance, but FND ≤ 1551</a:t>
            </a:r>
            <a:endParaRPr lang="en-US" sz="1450" dirty="0"/>
          </a:p>
          <a:p>
            <a:pPr indent="0" marL="0">
              <a:spcAft>
                <a:spcPts val="400"/>
              </a:spcAft>
              <a:buNone/>
            </a:pPr>
            <a:endParaRPr lang="en-US" sz="14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 for the final design: later first death AND higher PDR at the same time.</a:t>
            </a:r>
            <a:endParaRPr lang="en-US" sz="14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336042"/>
            <a:ext cx="1110996" cy="55549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9706356" y="459486"/>
            <a:ext cx="1110996" cy="43205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17352" y="459486"/>
            <a:ext cx="925830" cy="86410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06356" y="891540"/>
            <a:ext cx="555498" cy="925830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0261854" y="1323594"/>
            <a:ext cx="1481328" cy="49377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261854" y="1817370"/>
            <a:ext cx="1172718" cy="55549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1434572" y="1323594"/>
            <a:ext cx="308610" cy="104927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9397746" y="891540"/>
            <a:ext cx="308610" cy="67894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97746" y="1570482"/>
            <a:ext cx="864108" cy="24688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817352" y="459486"/>
            <a:ext cx="1110996" cy="6172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1743182" y="521208"/>
            <a:ext cx="185166" cy="80238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0940796" y="2372868"/>
            <a:ext cx="493776" cy="67894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940796" y="3051810"/>
            <a:ext cx="1049274" cy="43205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434572" y="2372868"/>
            <a:ext cx="555498" cy="111099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261854" y="1817370"/>
            <a:ext cx="678942" cy="1234440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54212" y="29489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65208" y="85039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76204" y="418338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702034" y="128244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20706" y="177622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393424" y="2331720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356598" y="152933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887200" y="480060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899648" y="301066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948922" y="344271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548640" y="6163056"/>
            <a:ext cx="592531" cy="29626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141171" y="6163056"/>
            <a:ext cx="592531" cy="230429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1733702" y="5932627"/>
            <a:ext cx="493776" cy="46085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1141171" y="5669280"/>
            <a:ext cx="296266" cy="49377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437437" y="5669280"/>
            <a:ext cx="790042" cy="263347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1437437" y="5373014"/>
            <a:ext cx="625450" cy="29626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062886" y="5373014"/>
            <a:ext cx="164592" cy="559613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76579" y="5800954"/>
            <a:ext cx="164592" cy="36210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976579" y="5669280"/>
            <a:ext cx="460858" cy="13167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1733702" y="6360566"/>
            <a:ext cx="592531" cy="3291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227478" y="5932627"/>
            <a:ext cx="98755" cy="427939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799539" y="5010912"/>
            <a:ext cx="263347" cy="36210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1799539" y="4780483"/>
            <a:ext cx="559613" cy="230429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2062886" y="4780483"/>
            <a:ext cx="296266" cy="592531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1437437" y="5010912"/>
            <a:ext cx="362102" cy="65836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7492" y="641817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100023" y="6121908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692554" y="6352337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186330" y="5891479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396289" y="562813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021738" y="533186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935431" y="575980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285086" y="6319418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758391" y="496976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318004" y="4739335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22960" y="160020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E7C9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8800" dirty="0"/>
          </a:p>
        </p:txBody>
      </p:sp>
      <p:sp>
        <p:nvSpPr>
          <p:cNvPr id="54" name="Text 52"/>
          <p:cNvSpPr txBox="1"/>
          <p:nvPr/>
        </p:nvSpPr>
        <p:spPr>
          <a:xfrm>
            <a:off x="822960" y="292608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Design: v8-Chain</a:t>
            </a:r>
            <a:endParaRPr lang="en-US" sz="4000" dirty="0"/>
          </a:p>
        </p:txBody>
      </p:sp>
      <p:sp>
        <p:nvSpPr>
          <p:cNvPr id="55" name="Text 53"/>
          <p:cNvSpPr txBox="1"/>
          <p:nvPr/>
        </p:nvSpPr>
        <p:spPr>
          <a:xfrm>
            <a:off x="822960" y="388620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3E3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Prevent CH death, relieve the CHs, relay only when it pays</a:t>
            </a:r>
            <a:endParaRPr lang="en-US" sz="1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Found in v5b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Energy-Aware Repair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" y="146304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3203</a:t>
            </a:r>
            <a:endParaRPr lang="en-US" sz="44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" y="219456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LND of v5b — looks like the best…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4480560" y="146304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</a:t>
            </a:r>
            <a:endParaRPr lang="en-US" sz="4400" dirty="0"/>
          </a:p>
        </p:txBody>
      </p:sp>
      <p:sp>
        <p:nvSpPr>
          <p:cNvPr id="23" name="Text 20"/>
          <p:cNvSpPr txBox="1"/>
          <p:nvPr/>
        </p:nvSpPr>
        <p:spPr>
          <a:xfrm>
            <a:off x="4480560" y="219456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packets delivered in its last 1038 rounds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8138160" y="146304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/ 20</a:t>
            </a:r>
            <a:endParaRPr lang="en-US" sz="4400" dirty="0"/>
          </a:p>
        </p:txBody>
      </p:sp>
      <p:sp>
        <p:nvSpPr>
          <p:cNvPr id="25" name="Text 22"/>
          <p:cNvSpPr txBox="1"/>
          <p:nvPr/>
        </p:nvSpPr>
        <p:spPr>
          <a:xfrm>
            <a:off x="8138160" y="219456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promotions succeeded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822960" y="3291840"/>
            <a:ext cx="5166360" cy="256032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7" name="Text 24"/>
          <p:cNvSpPr txBox="1"/>
          <p:nvPr/>
        </p:nvSpPr>
        <p:spPr>
          <a:xfrm>
            <a:off x="1024128" y="3429000"/>
            <a:ext cx="4782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1: silent survivors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1024128" y="4023360"/>
            <a:ext cx="476402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fixed threshold left weak members unclustered: they stopped sending, so they did not die → an inflated LND with almost no data delivered.</a:t>
            </a:r>
            <a:endParaRPr lang="en-US" sz="1450" dirty="0"/>
          </a:p>
        </p:txBody>
      </p:sp>
      <p:sp>
        <p:nvSpPr>
          <p:cNvPr id="29" name="Shape 26"/>
          <p:cNvSpPr/>
          <p:nvPr/>
        </p:nvSpPr>
        <p:spPr>
          <a:xfrm>
            <a:off x="6263640" y="3291840"/>
            <a:ext cx="5166360" cy="256032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464808" y="3429000"/>
            <a:ext cx="4782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2: zero-CH rounds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6464808" y="4023360"/>
            <a:ext cx="476402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every alive node had already been CH in the epoch, nobody was eligible: 998 rounds ran with NO cluster head (e.g., rounds 196–200 with all 100 nodes alive).</a:t>
            </a:r>
            <a:endParaRPr lang="en-US" sz="14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v8 Mechanisms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22960" y="1463040"/>
            <a:ext cx="338328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1024128" y="1645920"/>
            <a:ext cx="457200" cy="457200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24128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I1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1600200" y="16002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Epoch-exhaustion fix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024128" y="2194560"/>
            <a:ext cx="29809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epoch starts when nobody is eligible → never zero CHs.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416552" y="1463040"/>
            <a:ext cx="338328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617720" y="1645920"/>
            <a:ext cx="457200" cy="457200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61772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I2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5193792" y="16002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Proactive CH handover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617720" y="2194560"/>
            <a:ext cx="29809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CH that cannot afford this round hands over to its strongest member BEFORE dying.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8010144" y="1463040"/>
            <a:ext cx="338328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8211312" y="1645920"/>
            <a:ext cx="457200" cy="457200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11312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I3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8787384" y="16002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Orphan re-join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8211312" y="2194560"/>
            <a:ext cx="29809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Members of a dead CH join the nearest surviving CH.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822960" y="3703320"/>
            <a:ext cx="338328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1024128" y="3886200"/>
            <a:ext cx="457200" cy="457200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24128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I4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1600200" y="384048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Direct-to-BS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1024128" y="4434840"/>
            <a:ext cx="29809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node closer to the BS than to its CH sends directly.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4416552" y="3703320"/>
            <a:ext cx="338328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4617720" y="3886200"/>
            <a:ext cx="457200" cy="457200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461772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I5</a:t>
            </a:r>
            <a:endParaRPr lang="en-US" sz="1300" dirty="0"/>
          </a:p>
        </p:txBody>
      </p:sp>
      <p:sp>
        <p:nvSpPr>
          <p:cNvPr id="43" name="Text 40"/>
          <p:cNvSpPr txBox="1"/>
          <p:nvPr/>
        </p:nvSpPr>
        <p:spPr>
          <a:xfrm>
            <a:off x="5193792" y="384048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Energy-gated election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4617720" y="4434840"/>
            <a:ext cx="29809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nodes with ≥ average energy may become CH.</a:t>
            </a:r>
            <a:endParaRPr lang="en-US" sz="1400" dirty="0"/>
          </a:p>
        </p:txBody>
      </p:sp>
      <p:sp>
        <p:nvSpPr>
          <p:cNvPr id="45" name="Shape 42"/>
          <p:cNvSpPr/>
          <p:nvPr/>
        </p:nvSpPr>
        <p:spPr>
          <a:xfrm>
            <a:off x="8010144" y="3703320"/>
            <a:ext cx="338328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8211312" y="3886200"/>
            <a:ext cx="457200" cy="457200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8211312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</a:t>
            </a:r>
            <a:endParaRPr lang="en-US" sz="1000" dirty="0"/>
          </a:p>
        </p:txBody>
      </p:sp>
      <p:sp>
        <p:nvSpPr>
          <p:cNvPr id="48" name="Text 45"/>
          <p:cNvSpPr txBox="1"/>
          <p:nvPr/>
        </p:nvSpPr>
        <p:spPr>
          <a:xfrm>
            <a:off x="8787384" y="384048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Relative low-energy test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8211312" y="4434840"/>
            <a:ext cx="29809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5% of the live average, not of E0 → backup works again.</a:t>
            </a:r>
            <a:endParaRPr lang="en-US" sz="14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Protecting the Cluster Head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Before and after failure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22960" y="1463040"/>
            <a:ext cx="516636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1024128" y="1645920"/>
            <a:ext cx="457200" cy="457200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24128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600200" y="160020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Prevention (new, I2)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1024128" y="2194560"/>
            <a:ext cx="476402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the data phase the CH compares its energy with this round's workload:</a:t>
            </a:r>
            <a:endParaRPr lang="en-US" sz="14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members × (Rx + Agg) + Tx to next hop.</a:t>
            </a:r>
            <a:endParaRPr lang="en-US" sz="14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it cannot finish, it hands the role to its strongest member while still alive — no packets lost.</a:t>
            </a:r>
            <a:endParaRPr lang="en-US" sz="1450" dirty="0"/>
          </a:p>
        </p:txBody>
      </p:sp>
      <p:sp>
        <p:nvSpPr>
          <p:cNvPr id="25" name="Shape 22"/>
          <p:cNvSpPr/>
          <p:nvPr/>
        </p:nvSpPr>
        <p:spPr>
          <a:xfrm>
            <a:off x="6263640" y="1463040"/>
            <a:ext cx="516636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464808" y="1645920"/>
            <a:ext cx="457200" cy="457200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464808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040880" y="160020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Repair (v5, fixed)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6464808" y="2194560"/>
            <a:ext cx="476402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 CH still dies unexpectedly, the backup is promoted and members are reconnected in the same round. The relative threshold made this work late in the run.</a:t>
            </a:r>
            <a:endParaRPr lang="en-US" sz="1450" dirty="0"/>
          </a:p>
        </p:txBody>
      </p:sp>
      <p:sp>
        <p:nvSpPr>
          <p:cNvPr id="30" name="Text 27"/>
          <p:cNvSpPr txBox="1"/>
          <p:nvPr/>
        </p:nvSpPr>
        <p:spPr>
          <a:xfrm>
            <a:off x="1188720" y="475488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4000" dirty="0"/>
          </a:p>
        </p:txBody>
      </p:sp>
      <p:sp>
        <p:nvSpPr>
          <p:cNvPr id="31" name="Text 28"/>
          <p:cNvSpPr txBox="1"/>
          <p:nvPr/>
        </p:nvSpPr>
        <p:spPr>
          <a:xfrm>
            <a:off x="1188720" y="548640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proactive handovers (center BS)</a:t>
            </a:r>
            <a:endParaRPr lang="en-US" sz="1350" dirty="0"/>
          </a:p>
        </p:txBody>
      </p:sp>
      <p:sp>
        <p:nvSpPr>
          <p:cNvPr id="32" name="Text 29"/>
          <p:cNvSpPr txBox="1"/>
          <p:nvPr/>
        </p:nvSpPr>
        <p:spPr>
          <a:xfrm>
            <a:off x="6629400" y="475488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11</a:t>
            </a:r>
            <a:endParaRPr lang="en-US" sz="4000" dirty="0"/>
          </a:p>
        </p:txBody>
      </p:sp>
      <p:sp>
        <p:nvSpPr>
          <p:cNvPr id="33" name="Text 30"/>
          <p:cNvSpPr txBox="1"/>
          <p:nvPr/>
        </p:nvSpPr>
        <p:spPr>
          <a:xfrm>
            <a:off x="6629400" y="548640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promotions succeeded / rejected</a:t>
            </a:r>
            <a:endParaRPr lang="en-US" sz="13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v8-Chain: Energy-Aware Relay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Relay only when it pays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22960" y="1463040"/>
            <a:ext cx="106070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05840" y="1463040"/>
            <a:ext cx="10241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A25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relay via CHj  if   Tx(CH → CHj) + Rx + Agg at CHj  &lt;  Tx(CH → BS)</a:t>
            </a:r>
            <a:endParaRPr lang="en-US" sz="2000" dirty="0"/>
          </a:p>
        </p:txBody>
      </p:sp>
      <p:sp>
        <p:nvSpPr>
          <p:cNvPr id="22" name="Shape 19"/>
          <p:cNvSpPr/>
          <p:nvPr/>
        </p:nvSpPr>
        <p:spPr>
          <a:xfrm>
            <a:off x="822960" y="2926080"/>
            <a:ext cx="5166360" cy="292608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1024128" y="3108960"/>
            <a:ext cx="457200" cy="457200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024128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1600200" y="306324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BS at the center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3657600"/>
            <a:ext cx="476402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CH is ≤ ~50 m from the BS (d² region). A relay never saves energy → 0 relays → identical to v8.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6263640" y="2926080"/>
            <a:ext cx="5166360" cy="292608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6464808" y="3108960"/>
            <a:ext cx="457200" cy="457200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464808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7040880" y="306324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BS far away (50, −100)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6464808" y="3657600"/>
            <a:ext cx="476402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 → BS links are 100–200 m (d⁴ region). Short CH hops are much cheaper → the CHs form a chain on their own (4,710 relays). The path is rebuilt every round, so a replacement CH takes its predecessor's place.</a:t>
            </a:r>
            <a:endParaRPr lang="en-US" sz="15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v8-Chain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Flowchart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000" dirty="0"/>
          </a:p>
        </p:txBody>
      </p:sp>
      <p:pic>
        <p:nvPicPr>
          <p:cNvPr id="20" name="Image 0" descr="img/v8_chain_flowchart_sl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90219" y="1188720"/>
            <a:ext cx="5381082" cy="498348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v8-Chain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Network structure in round 1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1000" dirty="0"/>
          </a:p>
        </p:txBody>
      </p:sp>
      <p:pic>
        <p:nvPicPr>
          <p:cNvPr id="20" name="Image 0" descr="img/v8_chain_topolog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75902" y="1188720"/>
            <a:ext cx="9209717" cy="498348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336042"/>
            <a:ext cx="1110996" cy="55549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9706356" y="459486"/>
            <a:ext cx="1110996" cy="43205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17352" y="459486"/>
            <a:ext cx="925830" cy="86410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06356" y="891540"/>
            <a:ext cx="555498" cy="925830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0261854" y="1323594"/>
            <a:ext cx="1481328" cy="49377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261854" y="1817370"/>
            <a:ext cx="1172718" cy="55549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1434572" y="1323594"/>
            <a:ext cx="308610" cy="104927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9397746" y="891540"/>
            <a:ext cx="308610" cy="67894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97746" y="1570482"/>
            <a:ext cx="864108" cy="24688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817352" y="459486"/>
            <a:ext cx="1110996" cy="6172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1743182" y="521208"/>
            <a:ext cx="185166" cy="80238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0940796" y="2372868"/>
            <a:ext cx="493776" cy="67894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940796" y="3051810"/>
            <a:ext cx="1049274" cy="43205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434572" y="2372868"/>
            <a:ext cx="555498" cy="111099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261854" y="1817370"/>
            <a:ext cx="678942" cy="1234440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54212" y="29489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65208" y="85039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76204" y="418338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702034" y="128244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20706" y="177622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393424" y="2331720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356598" y="152933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887200" y="480060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899648" y="301066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948922" y="344271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548640" y="6163056"/>
            <a:ext cx="592531" cy="29626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141171" y="6163056"/>
            <a:ext cx="592531" cy="230429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1733702" y="5932627"/>
            <a:ext cx="493776" cy="46085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1141171" y="5669280"/>
            <a:ext cx="296266" cy="49377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437437" y="5669280"/>
            <a:ext cx="790042" cy="263347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1437437" y="5373014"/>
            <a:ext cx="625450" cy="29626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062886" y="5373014"/>
            <a:ext cx="164592" cy="559613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76579" y="5800954"/>
            <a:ext cx="164592" cy="36210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976579" y="5669280"/>
            <a:ext cx="460858" cy="13167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1733702" y="6360566"/>
            <a:ext cx="592531" cy="3291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227478" y="5932627"/>
            <a:ext cx="98755" cy="427939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799539" y="5010912"/>
            <a:ext cx="263347" cy="36210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1799539" y="4780483"/>
            <a:ext cx="559613" cy="230429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2062886" y="4780483"/>
            <a:ext cx="296266" cy="592531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1437437" y="5010912"/>
            <a:ext cx="362102" cy="65836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7492" y="641817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100023" y="6121908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692554" y="6352337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186330" y="5891479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396289" y="562813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021738" y="533186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935431" y="575980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285086" y="6319418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758391" y="496976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318004" y="4739335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22960" y="160020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E7C9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8800" dirty="0"/>
          </a:p>
        </p:txBody>
      </p:sp>
      <p:sp>
        <p:nvSpPr>
          <p:cNvPr id="54" name="Text 52"/>
          <p:cNvSpPr txBox="1"/>
          <p:nvPr/>
        </p:nvSpPr>
        <p:spPr>
          <a:xfrm>
            <a:off x="822960" y="292608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</a:t>
            </a:r>
            <a:endParaRPr lang="en-US" sz="4000" dirty="0"/>
          </a:p>
        </p:txBody>
      </p:sp>
      <p:sp>
        <p:nvSpPr>
          <p:cNvPr id="55" name="Text 53"/>
          <p:cNvSpPr txBox="1"/>
          <p:nvPr/>
        </p:nvSpPr>
        <p:spPr>
          <a:xfrm>
            <a:off x="822960" y="388620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3E3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Center vs. far BS · ablation · robustness · comparison</a:t>
            </a:r>
            <a:endParaRPr lang="en-US" sz="18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BS at the field center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1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463040"/>
          <a:ext cx="566928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960120"/>
                <a:gridCol w="960120"/>
                <a:gridCol w="960120"/>
                <a:gridCol w="9601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Protocol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PDR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2703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97.72%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v5b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3203*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97.31%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v7 (Center)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98.43%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v7.1 Multihop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1991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98.49%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v8-Chain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2621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2711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2756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99.27%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</a:tr>
            </a:tbl>
          </a:graphicData>
        </a:graphic>
      </p:graphicFrame>
      <p:sp>
        <p:nvSpPr>
          <p:cNvPr id="21" name="Text 17"/>
          <p:cNvSpPr txBox="1"/>
          <p:nvPr/>
        </p:nvSpPr>
        <p:spPr>
          <a:xfrm>
            <a:off x="822960" y="4224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inflated by silent nodes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6949440" y="146304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+69%</a:t>
            </a:r>
            <a:endParaRPr lang="en-US" sz="4400" dirty="0"/>
          </a:p>
        </p:txBody>
      </p:sp>
      <p:sp>
        <p:nvSpPr>
          <p:cNvPr id="23" name="Text 19"/>
          <p:cNvSpPr txBox="1"/>
          <p:nvPr/>
        </p:nvSpPr>
        <p:spPr>
          <a:xfrm>
            <a:off x="6949440" y="219456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later first node death than v7 (1551 → 2621)</a:t>
            </a:r>
            <a:endParaRPr lang="en-US" sz="1350" dirty="0"/>
          </a:p>
        </p:txBody>
      </p:sp>
      <p:sp>
        <p:nvSpPr>
          <p:cNvPr id="24" name="Text 20"/>
          <p:cNvSpPr txBox="1"/>
          <p:nvPr/>
        </p:nvSpPr>
        <p:spPr>
          <a:xfrm>
            <a:off x="6949440" y="301752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99.27%</a:t>
            </a:r>
            <a:endParaRPr lang="en-US" sz="4400" dirty="0"/>
          </a:p>
        </p:txBody>
      </p:sp>
      <p:sp>
        <p:nvSpPr>
          <p:cNvPr id="25" name="Text 21"/>
          <p:cNvSpPr txBox="1"/>
          <p:nvPr/>
        </p:nvSpPr>
        <p:spPr>
          <a:xfrm>
            <a:off x="6949440" y="374904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PDR — highest among long-lived protocols</a:t>
            </a:r>
            <a:endParaRPr lang="en-US" sz="1350" dirty="0"/>
          </a:p>
        </p:txBody>
      </p:sp>
      <p:sp>
        <p:nvSpPr>
          <p:cNvPr id="26" name="Text 22"/>
          <p:cNvSpPr txBox="1"/>
          <p:nvPr/>
        </p:nvSpPr>
        <p:spPr>
          <a:xfrm>
            <a:off x="822960" y="461772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+33%</a:t>
            </a:r>
            <a:endParaRPr lang="en-US" sz="4000" dirty="0"/>
          </a:p>
        </p:txBody>
      </p:sp>
      <p:sp>
        <p:nvSpPr>
          <p:cNvPr id="27" name="Text 23"/>
          <p:cNvSpPr txBox="1"/>
          <p:nvPr/>
        </p:nvSpPr>
        <p:spPr>
          <a:xfrm>
            <a:off x="822960" y="534924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packets delivered than v5b with the same 50 J (201,505 → 268,610)</a:t>
            </a:r>
            <a:endParaRPr lang="en-US" sz="13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Far BS (50, −100)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1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463040"/>
          <a:ext cx="566928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960120"/>
                <a:gridCol w="960120"/>
                <a:gridCol w="960120"/>
                <a:gridCol w="9601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Protocol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PDR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v6 (chain)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1910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97.08%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v7 (chain + repair)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98.14%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v8 (direct)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98.66%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v8-Chain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99.07%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</a:tr>
            </a:tbl>
          </a:graphicData>
        </a:graphic>
      </p:graphicFrame>
      <p:sp>
        <p:nvSpPr>
          <p:cNvPr id="21" name="Text 17"/>
          <p:cNvSpPr txBox="1"/>
          <p:nvPr/>
        </p:nvSpPr>
        <p:spPr>
          <a:xfrm>
            <a:off x="6949440" y="146304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+36%</a:t>
            </a:r>
            <a:endParaRPr lang="en-US" sz="4400" dirty="0"/>
          </a:p>
        </p:txBody>
      </p:sp>
      <p:sp>
        <p:nvSpPr>
          <p:cNvPr id="22" name="Text 18"/>
          <p:cNvSpPr txBox="1"/>
          <p:nvPr/>
        </p:nvSpPr>
        <p:spPr>
          <a:xfrm>
            <a:off x="6949440" y="219456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FND vs v7 (1266 → 1716)</a:t>
            </a:r>
            <a:endParaRPr lang="en-US" sz="1350" dirty="0"/>
          </a:p>
        </p:txBody>
      </p:sp>
      <p:sp>
        <p:nvSpPr>
          <p:cNvPr id="23" name="Text 19"/>
          <p:cNvSpPr txBox="1"/>
          <p:nvPr/>
        </p:nvSpPr>
        <p:spPr>
          <a:xfrm>
            <a:off x="6949440" y="301752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+0.93 pp</a:t>
            </a:r>
            <a:endParaRPr lang="en-US" sz="4400" dirty="0"/>
          </a:p>
        </p:txBody>
      </p:sp>
      <p:sp>
        <p:nvSpPr>
          <p:cNvPr id="24" name="Text 20"/>
          <p:cNvSpPr txBox="1"/>
          <p:nvPr/>
        </p:nvSpPr>
        <p:spPr>
          <a:xfrm>
            <a:off x="6949440" y="374904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PDR vs v7 (98.14% → 99.07%)</a:t>
            </a:r>
            <a:endParaRPr lang="en-US" sz="1350" dirty="0"/>
          </a:p>
        </p:txBody>
      </p:sp>
      <p:sp>
        <p:nvSpPr>
          <p:cNvPr id="25" name="Shape 21"/>
          <p:cNvSpPr/>
          <p:nvPr/>
        </p:nvSpPr>
        <p:spPr>
          <a:xfrm>
            <a:off x="822960" y="3931920"/>
            <a:ext cx="566928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Text 22"/>
          <p:cNvSpPr txBox="1"/>
          <p:nvPr/>
        </p:nvSpPr>
        <p:spPr>
          <a:xfrm>
            <a:off x="1024128" y="4069080"/>
            <a:ext cx="5285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reading</a:t>
            </a:r>
            <a:endParaRPr lang="en-US" sz="1500" dirty="0"/>
          </a:p>
        </p:txBody>
      </p:sp>
      <p:sp>
        <p:nvSpPr>
          <p:cNvPr id="27" name="Text 23"/>
          <p:cNvSpPr txBox="1"/>
          <p:nvPr/>
        </p:nvSpPr>
        <p:spPr>
          <a:xfrm>
            <a:off x="1024128" y="4663440"/>
            <a:ext cx="52669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HND and LND are within 1% of v7 (1886 / 1956 vs 1891 / 1976) — equal, not better. v8-Chain wins on first death and reliability.</a:t>
            </a:r>
            <a:endParaRPr lang="en-US" sz="14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Center vs. Far BS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Same code, only the BS moves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1000" dirty="0"/>
          </a:p>
        </p:txBody>
      </p:sp>
      <p:graphicFrame>
        <p:nvGraphicFramePr>
          <p:cNvPr id="19" name="Chart 0" descr=""/>
          <p:cNvGraphicFramePr/>
          <p:nvPr/>
        </p:nvGraphicFramePr>
        <p:xfrm>
          <a:off x="640080" y="1234440"/>
          <a:ext cx="539496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0" name="Chart 1" descr=""/>
          <p:cNvGraphicFramePr/>
          <p:nvPr/>
        </p:nvGraphicFramePr>
        <p:xfrm>
          <a:off x="6126480" y="1234440"/>
          <a:ext cx="539496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Ablation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Which mechanism matters?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10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640080" y="1234440"/>
          <a:ext cx="603504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Shape 17"/>
          <p:cNvSpPr/>
          <p:nvPr/>
        </p:nvSpPr>
        <p:spPr>
          <a:xfrm>
            <a:off x="6949440" y="1463040"/>
            <a:ext cx="44805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2" name="Text 18"/>
          <p:cNvSpPr txBox="1"/>
          <p:nvPr/>
        </p:nvSpPr>
        <p:spPr>
          <a:xfrm>
            <a:off x="7150608" y="1600200"/>
            <a:ext cx="4096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I4 Direct-to-BS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7150608" y="2194560"/>
            <a:ext cx="4078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Largest effect: FND 2621 → 1821 without it.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6949440" y="2971800"/>
            <a:ext cx="44805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5" name="Text 21"/>
          <p:cNvSpPr txBox="1"/>
          <p:nvPr/>
        </p:nvSpPr>
        <p:spPr>
          <a:xfrm>
            <a:off x="7150608" y="3108960"/>
            <a:ext cx="4096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I5 Energy gate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7150608" y="3703320"/>
            <a:ext cx="4078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Second: FND 2171 without it.</a:t>
            </a:r>
            <a:endParaRPr lang="en-US" sz="1400" dirty="0"/>
          </a:p>
        </p:txBody>
      </p:sp>
      <p:sp>
        <p:nvSpPr>
          <p:cNvPr id="27" name="Shape 23"/>
          <p:cNvSpPr/>
          <p:nvPr/>
        </p:nvSpPr>
        <p:spPr>
          <a:xfrm>
            <a:off x="6949440" y="4480560"/>
            <a:ext cx="44805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8" name="Text 24"/>
          <p:cNvSpPr txBox="1"/>
          <p:nvPr/>
        </p:nvSpPr>
        <p:spPr>
          <a:xfrm>
            <a:off x="7150608" y="4617720"/>
            <a:ext cx="4096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I2 / I1 / I3</a:t>
            </a:r>
            <a:endParaRPr lang="en-US" sz="1500" dirty="0"/>
          </a:p>
        </p:txBody>
      </p:sp>
      <p:sp>
        <p:nvSpPr>
          <p:cNvPr id="29" name="Text 25"/>
          <p:cNvSpPr txBox="1"/>
          <p:nvPr/>
        </p:nvSpPr>
        <p:spPr>
          <a:xfrm>
            <a:off x="7150608" y="5212080"/>
            <a:ext cx="4078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I2 adds PDR (+0.24 pp); I1 &amp; I3 are safety nets.</a:t>
            </a:r>
            <a:endParaRPr lang="en-US" sz="14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Robustness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8 random topologies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</a:t>
            </a:r>
            <a:endParaRPr lang="en-US" sz="100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463040"/>
          <a:ext cx="69494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097280"/>
                <a:gridCol w="1097280"/>
                <a:gridCol w="1097280"/>
                <a:gridCol w="1188720"/>
              </a:tblGrid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Protocol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 FND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 HND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 LND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 PDR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v5b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Center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1688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2374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97.56%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v8-Chain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Center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2618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2720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99.25%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v5b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1674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97.72%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v8-Chain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1995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99.05%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</a:tr>
            </a:tbl>
          </a:graphicData>
        </a:graphic>
      </p:graphicFrame>
      <p:sp>
        <p:nvSpPr>
          <p:cNvPr id="21" name="Shape 17"/>
          <p:cNvSpPr/>
          <p:nvPr/>
        </p:nvSpPr>
        <p:spPr>
          <a:xfrm>
            <a:off x="8046720" y="1463040"/>
            <a:ext cx="3383280" cy="438912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2" name="Text 18"/>
          <p:cNvSpPr txBox="1"/>
          <p:nvPr/>
        </p:nvSpPr>
        <p:spPr>
          <a:xfrm>
            <a:off x="8247888" y="1600200"/>
            <a:ext cx="2999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Consistent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8247888" y="2194560"/>
            <a:ext cx="2980944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ranking holds in every topology.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the far BS, v8-Chain matched or beat v7's LND (1976) in 6 of 8 topologies.</a:t>
            </a:r>
            <a:endParaRPr lang="en-US" sz="15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Overall Comparison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Best of each family (center BS)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1000" dirty="0"/>
          </a:p>
        </p:txBody>
      </p:sp>
      <p:graphicFrame>
        <p:nvGraphicFramePr>
          <p:cNvPr id="19" name="Chart 0" descr=""/>
          <p:cNvGraphicFramePr/>
          <p:nvPr/>
        </p:nvGraphicFramePr>
        <p:xfrm>
          <a:off x="640080" y="1234440"/>
          <a:ext cx="740664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Shape 17"/>
          <p:cNvSpPr/>
          <p:nvPr/>
        </p:nvSpPr>
        <p:spPr>
          <a:xfrm>
            <a:off x="8229600" y="1463040"/>
            <a:ext cx="3200400" cy="438912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8430768" y="1600200"/>
            <a:ext cx="2816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Reading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430768" y="2194560"/>
            <a:ext cx="2798064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v8-Chain: latest first death of all.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PEGASIS keeps a longer LND (single chain, short hops) but its first node dies ~1300 rounds earlier.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= improved version.</a:t>
            </a:r>
            <a:endParaRPr lang="en-US" sz="14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Overall Comparison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Reliability (PDR)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</a:t>
            </a:r>
            <a:endParaRPr lang="en-US" sz="1000" dirty="0"/>
          </a:p>
        </p:txBody>
      </p:sp>
      <p:graphicFrame>
        <p:nvGraphicFramePr>
          <p:cNvPr id="19" name="Chart 0" descr=""/>
          <p:cNvGraphicFramePr/>
          <p:nvPr/>
        </p:nvGraphicFramePr>
        <p:xfrm>
          <a:off x="640080" y="1234440"/>
          <a:ext cx="740664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Shape 17"/>
          <p:cNvSpPr/>
          <p:nvPr/>
        </p:nvSpPr>
        <p:spPr>
          <a:xfrm>
            <a:off x="8229600" y="1463040"/>
            <a:ext cx="3200400" cy="438912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8430768" y="1600200"/>
            <a:ext cx="2816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Reading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430768" y="2194560"/>
            <a:ext cx="2798064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HEED and SH-LEACH+ deliver slightly more — but their first node dies 1,200–2,300 rounds earlier.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Among long-lived protocols, v8-Chain has the highest PDR.</a:t>
            </a:r>
            <a:endParaRPr lang="en-US" sz="14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Findings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22960" y="1481328"/>
            <a:ext cx="566928" cy="566928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" y="14813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1600200" y="1371600"/>
            <a:ext cx="9784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beats tuning  </a:t>
            </a:r>
            <a:pPr indent="0" marL="0"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v3 (single-pass score + reuse) and v8 (CH protection + relief) produced the two largest gains; tuning intervals alone did not.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822960" y="2423160"/>
            <a:ext cx="566928" cy="566928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2960" y="2423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1600200" y="2313432"/>
            <a:ext cx="9784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Prevent, then repair  </a:t>
            </a:r>
            <a:pPr indent="0" marL="0"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Handing over before a CH dies (I2) plus backup failover after it keeps clusters alive and packets flowing.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822960" y="3364992"/>
            <a:ext cx="566928" cy="566928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22960" y="33649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1600200" y="3255264"/>
            <a:ext cx="9784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every packet needs a CH  </a:t>
            </a:r>
            <a:pPr indent="0" marL="0"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Direct-to-BS for nodes near the sink is the single largest lifetime contributor.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822960" y="4306824"/>
            <a:ext cx="566928" cy="566928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" y="430682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1600200" y="4197096"/>
            <a:ext cx="9784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Relay by energy, not by rule  </a:t>
            </a:r>
            <a:pPr indent="0" marL="0"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per-CH energy decision beats a fixed chain: 0 relays at the center, a chain at the far BS.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822960" y="5248656"/>
            <a:ext cx="566928" cy="566928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2960" y="52486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1600200" y="5138928"/>
            <a:ext cx="9784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LND with delivery  </a:t>
            </a:r>
            <a:pPr indent="0" marL="0"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long LND can hide silent nodes (v5b); FND, PDR and delivered packets expose it.</a:t>
            </a:r>
            <a:endParaRPr lang="en-US" sz="15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Recommendations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Which configuration, when?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</a:t>
            </a:r>
            <a:endParaRPr lang="en-US" sz="10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463040"/>
          <a:ext cx="106070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017520"/>
                <a:gridCol w="4572000"/>
              </a:tblGrid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Deployment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Recommended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Sink inside / near the field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v8-Chain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Latest FND; PDR 99.27%; behaves as v8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Sink far from the field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v8-Chain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Best far-BS FND &amp; PDR; relay forms automatically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Simplest good option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v7.1 or v5-exp (interval 5)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PDR ≈ 98.3–98.5% without extra logic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Judging "lifetime"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 FND + PDR + delivered packets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LND alone can be misleading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Limitations &amp; Future Work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22960" y="1463040"/>
            <a:ext cx="5166360" cy="4389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1024128" y="1600200"/>
            <a:ext cx="4782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Limitations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194560"/>
            <a:ext cx="4764024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Simulation only (ns-3, 100 nodes, analytical radio)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Two BS positions, one field size, 8 topologies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Direct-to-BS gain depends on the sink being near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Single CH deaths from energy depletion; no simultaneous or malicious failures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263640" y="1463040"/>
            <a:ext cx="5166360" cy="4389120"/>
          </a:xfrm>
          <a:prstGeom prst="roundRect">
            <a:avLst>
              <a:gd name="adj" fmla="val 2500"/>
            </a:avLst>
          </a:prstGeom>
          <a:solidFill>
            <a:srgbClr val="F6E3E1"/>
          </a:solidFill>
          <a:ln w="12700">
            <a:solidFill>
              <a:srgbClr val="C9A09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6464808" y="1600200"/>
            <a:ext cx="4782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work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464808" y="2194560"/>
            <a:ext cx="4764024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Hardware / SDR testbed validation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Sweep BS positions, field sizes and node counts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Compare the greedy relay rule with an optimal minimum-energy tree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Evaluate together with the hybrid-cryptography layer under attack</a:t>
            </a:r>
            <a:endParaRPr lang="en-US" sz="15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1463040"/>
            <a:ext cx="6035040" cy="4389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existing protocols were reproduced fairly in one environment; two published hybrids were corrected.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original protocol was evolved one mechanism at a time, from v1 to v8-Chain.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v8-Chain protects cluster heads before and after failure, lets nodes near the sink bypass their CH, restricts the CH role to strong nodes, and relays only when it saves energy.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223760" y="1463040"/>
            <a:ext cx="4206240" cy="4389120"/>
          </a:xfrm>
          <a:prstGeom prst="roundRect">
            <a:avLst>
              <a:gd name="adj" fmla="val 2609"/>
            </a:avLst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498080" y="1645920"/>
            <a:ext cx="36576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v8-Chain</a:t>
            </a:r>
            <a:endParaRPr lang="en-US" sz="2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3E3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Center BS</a:t>
            </a:r>
            <a:endParaRPr lang="en-US" sz="2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FND 2621 · PDR 99.27%</a:t>
            </a:r>
            <a:endParaRPr lang="en-US" sz="2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2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3E3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 BS</a:t>
            </a:r>
            <a:endParaRPr lang="en-US" sz="2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FND 1716 · PDR 99.07%</a:t>
            </a:r>
            <a:endParaRPr lang="en-US" sz="2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2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configuration for both deployments.</a:t>
            </a:r>
            <a:endParaRPr lang="en-US" sz="24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235440" y="249174"/>
            <a:ext cx="864108" cy="432054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099548" y="345186"/>
            <a:ext cx="864108" cy="336042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63656" y="345186"/>
            <a:ext cx="720090" cy="672084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99548" y="681228"/>
            <a:ext cx="432054" cy="72009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0531602" y="1017270"/>
            <a:ext cx="1152144" cy="384048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531602" y="1401318"/>
            <a:ext cx="912114" cy="432054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1443716" y="1017270"/>
            <a:ext cx="240030" cy="816102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9859518" y="681228"/>
            <a:ext cx="240030" cy="528066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859518" y="1209294"/>
            <a:ext cx="672084" cy="192024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63656" y="345186"/>
            <a:ext cx="864108" cy="48006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1683746" y="393192"/>
            <a:ext cx="144018" cy="624078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1059668" y="1833372"/>
            <a:ext cx="384048" cy="528066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059668" y="2361438"/>
            <a:ext cx="816102" cy="336042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443716" y="1833372"/>
            <a:ext cx="432054" cy="864108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531602" y="1401318"/>
            <a:ext cx="528066" cy="9601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94292" y="208026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058400" y="640080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922508" y="30403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642598" y="976122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490454" y="1360170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402568" y="1792224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818370" y="1168146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786616" y="352044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018520" y="2320290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834622" y="2656332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274320" y="6382512"/>
            <a:ext cx="493776" cy="246888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8096" y="6382512"/>
            <a:ext cx="493776" cy="192024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1261872" y="6190488"/>
            <a:ext cx="411480" cy="384048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768096" y="5971032"/>
            <a:ext cx="246888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14984" y="5971032"/>
            <a:ext cx="658368" cy="219456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1014984" y="5724144"/>
            <a:ext cx="521208" cy="246888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536192" y="5724144"/>
            <a:ext cx="137160" cy="466344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30936" y="6080760"/>
            <a:ext cx="137160" cy="301752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630936" y="5971032"/>
            <a:ext cx="384048" cy="109728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1261872" y="6547104"/>
            <a:ext cx="493776" cy="27432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673352" y="6190488"/>
            <a:ext cx="82296" cy="356616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316736" y="5422392"/>
            <a:ext cx="219456" cy="301752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1316736" y="5230368"/>
            <a:ext cx="466344" cy="192024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1536192" y="5230368"/>
            <a:ext cx="246888" cy="493776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1014984" y="5422392"/>
            <a:ext cx="301752" cy="5486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33172" y="6588252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26948" y="6341364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220724" y="65333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632204" y="6149340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973836" y="5929884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495044" y="5682996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89788" y="6039612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714500" y="6505956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275588" y="5381244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741932" y="5189220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22960" y="210312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54" name="Text 52"/>
          <p:cNvSpPr txBox="1"/>
          <p:nvPr/>
        </p:nvSpPr>
        <p:spPr>
          <a:xfrm>
            <a:off x="822960" y="33832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&amp; Discussion</a:t>
            </a:r>
            <a:endParaRPr lang="en-US" sz="2400" dirty="0"/>
          </a:p>
        </p:txBody>
      </p:sp>
      <p:sp>
        <p:nvSpPr>
          <p:cNvPr id="55" name="Text 53"/>
          <p:cNvSpPr txBox="1"/>
          <p:nvPr/>
        </p:nvSpPr>
        <p:spPr>
          <a:xfrm>
            <a:off x="822960" y="43891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Rahma Khaled Oshba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54</Slides>
  <Notes>54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5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Energy-Efficient Secure Clustering in WSNs — Thesis Defense</dc:title>
  <dc:subject>PptxGenJS Presentation</dc:subject>
  <dc:creator>Rahma Khaled Oshba</dc:creator>
  <cp:lastModifiedBy>Rahma Khaled Oshba</cp:lastModifiedBy>
  <cp:revision>1</cp:revision>
  <dcterms:created xsi:type="dcterms:W3CDTF">2026-09-23T21:45:55Z</dcterms:created>
  <dcterms:modified xsi:type="dcterms:W3CDTF">2026-09-23T21:45:55Z</dcterms:modified>
</cp:coreProperties>
</file>