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4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7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8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9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0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1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12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charts/chart13.xml" ContentType="application/vnd.openxmlformats-officedocument.drawingml.chart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charts/chart14.xml" ContentType="application/vnd.openxmlformats-officedocument.drawingml.chart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charts/chart17.xml" ContentType="application/vnd.openxmlformats-officedocument.drawingml.chart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18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19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charts/chart20.xml" ContentType="application/vnd.openxmlformats-officedocument.drawingml.chart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charts/chart21.xml" ContentType="application/vnd.openxmlformats-officedocument.drawingml.chart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</p:sldIdLst>
  <p:notesMasterIdLst>
    <p:notesMasterId r:id="rId9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notesMaster" Target="notesMasters/notesMaster1.xml"/><Relationship Id="rId100" Type="http://schemas.openxmlformats.org/officeDocument/2006/relationships/presProps" Target="presProps.xml"/><Relationship Id="rId101" Type="http://schemas.openxmlformats.org/officeDocument/2006/relationships/viewProps" Target="viewProps.xml"/><Relationship Id="rId102" Type="http://schemas.openxmlformats.org/officeDocument/2006/relationships/theme" Target="theme/theme1.xml"/><Relationship Id="rId10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932</c:v>
                </c:pt>
                <c:pt idx="1">
                  <c:v>1312</c:v>
                </c:pt>
                <c:pt idx="2">
                  <c:v>1578</c:v>
                </c:pt>
                <c:pt idx="3">
                  <c:v>2082</c:v>
                </c:pt>
                <c:pt idx="4">
                  <c:v>2192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ORIGINAL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1035</c:v>
                </c:pt>
                <c:pt idx="1">
                  <c:v>1327</c:v>
                </c:pt>
                <c:pt idx="2">
                  <c:v>1616</c:v>
                </c:pt>
                <c:pt idx="3">
                  <c:v>2017</c:v>
                </c:pt>
                <c:pt idx="4">
                  <c:v>2186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HEED+fair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99.4</c:v>
                </c:pt>
                <c:pt idx="1">
                  <c:v>99.68</c:v>
                </c:pt>
                <c:pt idx="2">
                  <c:v>99.74</c:v>
                </c:pt>
                <c:pt idx="3">
                  <c:v>99.42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1383</c:v>
                </c:pt>
                <c:pt idx="1">
                  <c:v>634</c:v>
                </c:pt>
                <c:pt idx="2">
                  <c:v>743</c:v>
                </c:pt>
                <c:pt idx="3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1586</c:v>
                </c:pt>
                <c:pt idx="1">
                  <c:v>1216</c:v>
                </c:pt>
                <c:pt idx="2">
                  <c:v>1154</c:v>
                </c:pt>
                <c:pt idx="3">
                  <c:v>2352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1842</c:v>
                </c:pt>
                <c:pt idx="1">
                  <c:v>1883</c:v>
                </c:pt>
                <c:pt idx="2">
                  <c:v>1960</c:v>
                </c:pt>
                <c:pt idx="3">
                  <c:v>3504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C9C8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1383</c:v>
                </c:pt>
                <c:pt idx="1">
                  <c:v>634</c:v>
                </c:pt>
                <c:pt idx="2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988</c:v>
                </c:pt>
                <c:pt idx="1">
                  <c:v>330</c:v>
                </c:pt>
                <c:pt idx="2">
                  <c:v>1374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1078</c:v>
                </c:pt>
                <c:pt idx="2">
                  <c:v>1121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583</c:v>
                </c:pt>
                <c:pt idx="1">
                  <c:v>1157</c:v>
                </c:pt>
                <c:pt idx="2">
                  <c:v>1954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689</c:v>
                </c:pt>
                <c:pt idx="1">
                  <c:v>1207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EECH-HEED: paper vs code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1250</c:v>
                </c:pt>
                <c:pt idx="1">
                  <c:v>1650</c:v>
                </c:pt>
                <c:pt idx="2">
                  <c:v>2200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1121</c:v>
                </c:pt>
                <c:pt idx="1">
                  <c:v>1954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98.58</c:v>
                </c:pt>
                <c:pt idx="1">
                  <c:v>99.3</c:v>
                </c:pt>
                <c:pt idx="2">
                  <c:v>99.74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647</c:v>
                </c:pt>
                <c:pt idx="1">
                  <c:v>1384</c:v>
                </c:pt>
                <c:pt idx="2">
                  <c:v>1311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702</c:v>
                </c:pt>
                <c:pt idx="1">
                  <c:v>1419</c:v>
                </c:pt>
                <c:pt idx="2">
                  <c:v>1382</c:v>
                </c:pt>
                <c:pt idx="3">
                  <c:v>1586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721</c:v>
                </c:pt>
                <c:pt idx="1">
                  <c:v>1434</c:v>
                </c:pt>
                <c:pt idx="2">
                  <c:v>1545</c:v>
                </c:pt>
                <c:pt idx="3">
                  <c:v>1842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99.21</c:v>
                </c:pt>
                <c:pt idx="1">
                  <c:v>99.36</c:v>
                </c:pt>
                <c:pt idx="2">
                  <c:v>99.51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1480</c:v>
                </c:pt>
                <c:pt idx="1">
                  <c:v>1473</c:v>
                </c:pt>
                <c:pt idx="2">
                  <c:v>1368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1388</c:v>
                </c:pt>
                <c:pt idx="1">
                  <c:v>1219</c:v>
                </c:pt>
                <c:pt idx="2">
                  <c:v>1412</c:v>
                </c:pt>
                <c:pt idx="3">
                  <c:v>988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v1</c:v>
                  </c:pt>
                  <c:pt idx="1">
                    <c:v>v2</c:v>
                  </c:pt>
                  <c:pt idx="2">
                    <c:v>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322</c:v>
                </c:pt>
                <c:pt idx="1">
                  <c:v>338</c:v>
                </c:pt>
                <c:pt idx="2">
                  <c:v>634</c:v>
                </c:pt>
                <c:pt idx="3">
                  <c:v>1383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v2</c:v>
                  </c:pt>
                  <c:pt idx="1">
                    <c:v>v3 (reuse 5)</c:v>
                  </c:pt>
                  <c:pt idx="2">
                    <c:v>v4 (reuse 15)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338</c:v>
                </c:pt>
                <c:pt idx="1">
                  <c:v>1645</c:v>
                </c:pt>
                <c:pt idx="2">
                  <c:v>1438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v5b</c:v>
                  </c:pt>
                  <c:pt idx="1">
                    <c:v>v6 chain</c:v>
                  </c:pt>
                  <c:pt idx="2">
                    <c:v>v7 chain + backup</c:v>
                  </c:pt>
                  <c:pt idx="3">
                    <c:v>v7.1 multihop tree</c:v>
                  </c:pt>
                  <c:pt idx="4">
                    <c:v>v7.2 (int 10)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1645</c:v>
                </c:pt>
                <c:pt idx="1">
                  <c:v>1415</c:v>
                </c:pt>
                <c:pt idx="2">
                  <c:v>1415</c:v>
                </c:pt>
                <c:pt idx="3">
                  <c:v>1471</c:v>
                </c:pt>
                <c:pt idx="4">
                  <c:v>1421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v8 (full)</c:v>
                  </c:pt>
                  <c:pt idx="1">
                    <c:v>− I1 epoch fix</c:v>
                  </c:pt>
                  <c:pt idx="2">
                    <c:v>− I2 handover</c:v>
                  </c:pt>
                  <c:pt idx="3">
                    <c:v>− I3 re-join</c:v>
                  </c:pt>
                  <c:pt idx="4">
                    <c:v>− I5 energy gate</c:v>
                  </c:pt>
                  <c:pt idx="5">
                    <c:v>− I4 direct-to-BS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2501</c:v>
                </c:pt>
                <c:pt idx="1">
                  <c:v>2501</c:v>
                </c:pt>
                <c:pt idx="2">
                  <c:v>2496</c:v>
                </c:pt>
                <c:pt idx="3">
                  <c:v>2501</c:v>
                </c:pt>
                <c:pt idx="4">
                  <c:v>2106</c:v>
                </c:pt>
                <c:pt idx="5">
                  <c:v>1766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2501</c:v>
                </c:pt>
                <c:pt idx="1">
                  <c:v>2436</c:v>
                </c:pt>
                <c:pt idx="2">
                  <c:v>2501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1441</c:v>
                </c:pt>
                <c:pt idx="1">
                  <c:v>1636</c:v>
                </c:pt>
                <c:pt idx="2">
                  <c:v>1671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322</c:v>
                </c:pt>
                <c:pt idx="1">
                  <c:v>338</c:v>
                </c:pt>
                <c:pt idx="2">
                  <c:v>1645</c:v>
                </c:pt>
                <c:pt idx="3">
                  <c:v>1438</c:v>
                </c:pt>
                <c:pt idx="4">
                  <c:v>1438</c:v>
                </c:pt>
                <c:pt idx="5">
                  <c:v>1645</c:v>
                </c:pt>
                <c:pt idx="6">
                  <c:v>1645</c:v>
                </c:pt>
                <c:pt idx="7">
                  <c:v>1415</c:v>
                </c:pt>
                <c:pt idx="8">
                  <c:v>1415</c:v>
                </c:pt>
                <c:pt idx="9">
                  <c:v>1471</c:v>
                </c:pt>
                <c:pt idx="10">
                  <c:v>2501</c:v>
                </c:pt>
                <c:pt idx="11">
                  <c:v>2501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530</c:v>
                </c:pt>
                <c:pt idx="1">
                  <c:v>528</c:v>
                </c:pt>
                <c:pt idx="2">
                  <c:v>2011</c:v>
                </c:pt>
                <c:pt idx="3">
                  <c:v>2206</c:v>
                </c:pt>
                <c:pt idx="4">
                  <c:v>2131</c:v>
                </c:pt>
                <c:pt idx="5">
                  <c:v>2006</c:v>
                </c:pt>
                <c:pt idx="6">
                  <c:v>2011</c:v>
                </c:pt>
                <c:pt idx="7">
                  <c:v>1916</c:v>
                </c:pt>
                <c:pt idx="8">
                  <c:v>1911</c:v>
                </c:pt>
                <c:pt idx="9">
                  <c:v>1916</c:v>
                </c:pt>
                <c:pt idx="10">
                  <c:v>2589</c:v>
                </c:pt>
                <c:pt idx="11">
                  <c:v>2589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1217</c:v>
                </c:pt>
                <c:pt idx="1">
                  <c:v>1276</c:v>
                </c:pt>
                <c:pt idx="2">
                  <c:v>2205</c:v>
                </c:pt>
                <c:pt idx="3">
                  <c:v>2476</c:v>
                </c:pt>
                <c:pt idx="4">
                  <c:v>2401</c:v>
                </c:pt>
                <c:pt idx="5">
                  <c:v>2101</c:v>
                </c:pt>
                <c:pt idx="6">
                  <c:v>2106</c:v>
                </c:pt>
                <c:pt idx="7">
                  <c:v>2016</c:v>
                </c:pt>
                <c:pt idx="8">
                  <c:v>2001</c:v>
                </c:pt>
                <c:pt idx="9">
                  <c:v>2006</c:v>
                </c:pt>
                <c:pt idx="10">
                  <c:v>2636</c:v>
                </c:pt>
                <c:pt idx="11">
                  <c:v>2631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322</c:v>
                </c:pt>
                <c:pt idx="1">
                  <c:v>338</c:v>
                </c:pt>
                <c:pt idx="2">
                  <c:v>1645</c:v>
                </c:pt>
                <c:pt idx="3">
                  <c:v>1438</c:v>
                </c:pt>
                <c:pt idx="4">
                  <c:v>1438</c:v>
                </c:pt>
                <c:pt idx="5">
                  <c:v>1645</c:v>
                </c:pt>
                <c:pt idx="6">
                  <c:v>1645</c:v>
                </c:pt>
                <c:pt idx="7">
                  <c:v>1415</c:v>
                </c:pt>
                <c:pt idx="8">
                  <c:v>1415</c:v>
                </c:pt>
                <c:pt idx="9">
                  <c:v>1471</c:v>
                </c:pt>
                <c:pt idx="10">
                  <c:v>2501</c:v>
                </c:pt>
                <c:pt idx="11">
                  <c:v>2501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99.75</c:v>
                </c:pt>
                <c:pt idx="1">
                  <c:v>99.64</c:v>
                </c:pt>
                <c:pt idx="2">
                  <c:v>98.21</c:v>
                </c:pt>
                <c:pt idx="3">
                  <c:v>95.91</c:v>
                </c:pt>
                <c:pt idx="4">
                  <c:v>98.44</c:v>
                </c:pt>
                <c:pt idx="5">
                  <c:v>98.82</c:v>
                </c:pt>
                <c:pt idx="6">
                  <c:v>98.56</c:v>
                </c:pt>
                <c:pt idx="7">
                  <c:v>98.75</c:v>
                </c:pt>
                <c:pt idx="8">
                  <c:v>99.1</c:v>
                </c:pt>
                <c:pt idx="9">
                  <c:v>99.07</c:v>
                </c:pt>
                <c:pt idx="10">
                  <c:v>99.65</c:v>
                </c:pt>
                <c:pt idx="11">
                  <c:v>99.64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PDR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1383</c:v>
                </c:pt>
                <c:pt idx="1">
                  <c:v>634</c:v>
                </c:pt>
                <c:pt idx="2">
                  <c:v>1324</c:v>
                </c:pt>
                <c:pt idx="3">
                  <c:v>1480</c:v>
                </c:pt>
                <c:pt idx="4">
                  <c:v>1473</c:v>
                </c:pt>
                <c:pt idx="5">
                  <c:v>1368</c:v>
                </c:pt>
                <c:pt idx="6">
                  <c:v>2501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1586</c:v>
                </c:pt>
                <c:pt idx="1">
                  <c:v>1216</c:v>
                </c:pt>
                <c:pt idx="2">
                  <c:v>2352</c:v>
                </c:pt>
                <c:pt idx="3">
                  <c:v>1542</c:v>
                </c:pt>
                <c:pt idx="4">
                  <c:v>1509</c:v>
                </c:pt>
                <c:pt idx="5">
                  <c:v>1385</c:v>
                </c:pt>
                <c:pt idx="6">
                  <c:v>2589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1842</c:v>
                </c:pt>
                <c:pt idx="1">
                  <c:v>1883</c:v>
                </c:pt>
                <c:pt idx="2">
                  <c:v>3504</c:v>
                </c:pt>
                <c:pt idx="3">
                  <c:v>1558</c:v>
                </c:pt>
                <c:pt idx="4">
                  <c:v>1525</c:v>
                </c:pt>
                <c:pt idx="5">
                  <c:v>1767</c:v>
                </c:pt>
                <c:pt idx="6">
                  <c:v>2636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99.4</c:v>
                </c:pt>
                <c:pt idx="1">
                  <c:v>99.68</c:v>
                </c:pt>
                <c:pt idx="2">
                  <c:v>99.42</c:v>
                </c:pt>
                <c:pt idx="3">
                  <c:v>99.21</c:v>
                </c:pt>
                <c:pt idx="4">
                  <c:v>99.36</c:v>
                </c:pt>
                <c:pt idx="5">
                  <c:v>99.51</c:v>
                </c:pt>
                <c:pt idx="6">
                  <c:v>99.65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WSN is a set of small battery-powered sensors that measure something and send it by radio to a base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rotation and CH protection matter. FND measures exactly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5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6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65-1.png"/><Relationship Id="rId3" Type="http://schemas.openxmlformats.org/officeDocument/2006/relationships/image" Target="../media/image-6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6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image" Target="../media/image-69-1.png"/><Relationship Id="rId3" Type="http://schemas.openxmlformats.org/officeDocument/2006/relationships/image" Target="../media/image-6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1" Type="http://schemas.openxmlformats.org/officeDocument/2006/relationships/image" Target="../media/image-7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image" Target="../media/image-7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image" Target="../media/image-82-5.png"/><Relationship Id="rId6" Type="http://schemas.openxmlformats.org/officeDocument/2006/relationships/image" Target="../media/image-8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image" Target="../media/image-91-3.png"/><Relationship Id="rId4" Type="http://schemas.openxmlformats.org/officeDocument/2006/relationships/image" Target="../media/image-9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image" Target="../media/image-93-3.png"/><Relationship Id="rId4" Type="http://schemas.openxmlformats.org/officeDocument/2006/relationships/image" Target="../media/image-93-4.png"/><Relationship Id="rId5" Type="http://schemas.openxmlformats.org/officeDocument/2006/relationships/image" Target="../media/image-93-5.png"/><Relationship Id="rId6" Type="http://schemas.openxmlformats.org/officeDocument/2006/relationships/image" Target="../media/image-9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Energy-Efficient Secure Clustering in Wireless Sensor Networks Using Hybrid Cryptography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LEACH, HEED and PEGASIS to a new clustering protocol: v8  (+ v8-Chain for a far base station)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983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Dr. Hesham ElZouka · Dr. Amani Saad · Dr. Khaled Saada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876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WSNs and clustering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355848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4448" y="16459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78765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5968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first experiments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model, ns-3, demo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84648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91656" y="16459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17876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23176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protocols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91656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7991856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8970264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98864" y="16459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596" y="178765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30384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protocols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98864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· H-LEACH · EECH-HEED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799064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548640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256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literature review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2377440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3355848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84448" y="41148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25653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315968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protocol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584448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5184648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0" name="Shape 32"/>
          <p:cNvSpPr/>
          <p:nvPr/>
        </p:nvSpPr>
        <p:spPr>
          <a:xfrm>
            <a:off x="6163056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91656" y="41148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388" y="4256532"/>
            <a:ext cx="283464" cy="28346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123176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security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391656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· RSA · ECC — the proposal scheme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7991856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46" name="Shape 37"/>
          <p:cNvSpPr/>
          <p:nvPr/>
        </p:nvSpPr>
        <p:spPr>
          <a:xfrm>
            <a:off x="8970264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9198864" y="411480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0596" y="4256532"/>
            <a:ext cx="283464" cy="283464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9930384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50" name="Text 40"/>
          <p:cNvSpPr txBox="1"/>
          <p:nvPr/>
        </p:nvSpPr>
        <p:spPr>
          <a:xfrm>
            <a:off x="9198864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summary</a:t>
            </a:r>
            <a:endParaRPr lang="en-US" sz="1400" dirty="0"/>
          </a:p>
        </p:txBody>
      </p:sp>
      <p:sp>
        <p:nvSpPr>
          <p:cNvPr id="51" name="Text 41"/>
          <p:cNvSpPr txBox="1"/>
          <p:nvPr/>
        </p:nvSpPr>
        <p:spPr>
          <a:xfrm>
            <a:off x="10799064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wireless sensor network is — and why energy is its main problem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Wireless Sensor Network (WSN)?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battery-powered sensors that measure and report by radio</a:t>
            </a:r>
            <a:endParaRPr lang="en-US" sz="1600" dirty="0"/>
          </a:p>
        </p:txBody>
      </p:sp>
      <p:pic>
        <p:nvPicPr>
          <p:cNvPr id="5" name="Image 0" descr="/home/user/Routing-Protocols/thesis-final/build/fig/b1_ws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4037"/>
            <a:ext cx="7315200" cy="31384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0" y="15544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are spread over a field (soil, forest, building, body …).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sensor measures (temperature, humidity, motion …) and sends its reading by radio.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readings reach a sink / base station (BS), then the user over the Internet.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9834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513207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14600" y="4983480"/>
            <a:ext cx="594360" cy="5943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190" y="513207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7296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89120" y="498348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710" y="513207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4748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263640" y="4983480"/>
            <a:ext cx="594360" cy="59436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2230" y="513207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2200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8138160" y="49834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0" y="5132070"/>
            <a:ext cx="297180" cy="29718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79652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10012680" y="4983480"/>
            <a:ext cx="594360" cy="594360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1270" y="5132070"/>
            <a:ext cx="297180" cy="2971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6710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640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sensor node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cheap and limited — the battery decides how long it lives</a:t>
            </a:r>
            <a:endParaRPr lang="en-US" sz="1600" dirty="0"/>
          </a:p>
        </p:txBody>
      </p:sp>
      <p:pic>
        <p:nvPicPr>
          <p:cNvPr id="5" name="Image 0" descr="/home/user/Routing-Protocols/thesis-final/build/fig/b2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3616"/>
            <a:ext cx="6949440" cy="2476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4389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453085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battery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cannot be replaced or recharged in the field.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4389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45308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radio range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metres; far nodes cannot reach the BS cheaply.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4672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75320" y="43891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453085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684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CPU and memory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27532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algorithms (and heavy cryptography) are costly.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59893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communication uses most of the energy — even listening costs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problem: energy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lifetime = how long the sensors keep working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one bit costs more the farther it goes: cost grows with d² and, beyond ≈ 88 m, with d⁴.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sensor sends directly to a far BS, the far sensors die very early.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sensors die, parts of the field are no longer monitored.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463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86600" y="1463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Dies — round of the first death (stability period). Main metric.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49440" y="2606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6600" y="2606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HND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2606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Nodes Die — average lifetime.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3749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3749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749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Node Dies — total lifetime.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4892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 — delivered ÷ generated readings.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60350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119372"/>
            <a:ext cx="283464" cy="28346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97764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studied in this thesis: clustering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634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 sensors so that most transmissions are short.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clustering?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send a short hop to a cluster head (CH); the CH sends one packet to the BS</a:t>
            </a:r>
            <a:endParaRPr lang="en-US" sz="1600" dirty="0"/>
          </a:p>
        </p:txBody>
      </p:sp>
      <p:pic>
        <p:nvPicPr>
          <p:cNvPr id="5" name="Image 0" descr="/home/user/Routing-Protocols/thesis-final/build/fig/b3_clust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614" y="1371600"/>
            <a:ext cx="9818292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(CH) = the leader of a group.  Member = a normal sensor.  Fusion = the CH merges all readings into one packet.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clustering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steady state → the CH role rotates in the next round</a:t>
            </a:r>
            <a:endParaRPr lang="en-US" sz="1600" dirty="0"/>
          </a:p>
        </p:txBody>
      </p:sp>
      <p:pic>
        <p:nvPicPr>
          <p:cNvPr id="5" name="Image 0" descr="/home/user/Routing-Protocols/thesis-final/build/fig/b4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890" y="1371600"/>
            <a:ext cx="1059374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CHs, CHs advertise, members join the nearest CH, CH sends a TDMA schedule.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sends in its own time slot (TDMA) — no collisions.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7532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BS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fuses members + its own reading and sends one packet to the BS.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= one full cycle.  Epoch = the rounds needed so that every node serves as CH once.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problems of clustering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protocol in this thesis tries to solve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becomes CH?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or badly placed CH dies early.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rotation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works harder, so the role must rotate.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overhead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Electing CHs every round costs messages and energy.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233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1650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failure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CH dies, its members lose their data.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233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16509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base station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→ BS links become very expensive (d⁴).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2336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16509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messages can be read or forged — protection costs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model &amp; first experiments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energy is calculated, the tools, and the first ns-3 runs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energy is calculated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radio model (Heinzelman et al.) — used by every paper we compare with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ener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33" y="1508760"/>
            <a:ext cx="4152774" cy="19659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49377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in the packet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data / 200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electronics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short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long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 pJ/bit/m⁴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 at the 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1" descr="/home/user/Routing-Protocols/thesis-final/build/fig/e1_energy_dist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046611"/>
            <a:ext cx="5943600" cy="3130537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links: the electronics dominate — receiving is not free.  Long links (&gt; d0): the cost explodes.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why the CH is the one that dies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nodes, 0.5 J each (50 J in total), one 2000-bit reading per node per round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one round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(15 m from its CH)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0.10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with 20 members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20 + fuse 21 + send to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2.6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Receiving one control message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bits ×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4173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26×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240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spends about 26 times more than a member in the same round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 node could live as a member only (0.5 J ÷ 0.1 mJ)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4754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754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protocol competes on one question: how to rotate the CH role fairly and make it cheaper.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(VMware) · ns-3.41 (C++) · NetAnim · Wireshark · Python</a:t>
            </a:r>
            <a:endParaRPr lang="en-US" sz="1600" dirty="0"/>
          </a:p>
        </p:txBody>
      </p:sp>
      <p:pic>
        <p:nvPicPr>
          <p:cNvPr id="5" name="Image 0" descr="/home/user/Routing-Protocols/figures/ns3_screens/vm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89"/>
            <a:ext cx="5486400" cy="2877503"/>
          </a:xfrm>
          <a:prstGeom prst="rect">
            <a:avLst/>
          </a:prstGeom>
        </p:spPr>
      </p:pic>
      <p:pic>
        <p:nvPicPr>
          <p:cNvPr id="6" name="Image 1" descr="/home/user/Routing-Protocols/figures/ns3_screens/vm_ubunt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6802"/>
            <a:ext cx="5394960" cy="28272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ns-3.41 built from source inside an Ubuntu virtual machine; results processed in Python.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ns-3 for the first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experiment is a C++ file in scratch/ and runs with ./ns3 run · NetAnim is started from its own folder</a:t>
            </a:r>
            <a:endParaRPr lang="en-US" sz="1600" dirty="0"/>
          </a:p>
        </p:txBody>
      </p:sp>
      <p:pic>
        <p:nvPicPr>
          <p:cNvPr id="5" name="Image 0" descr="/home/user/Routing-Protocols/figures/ns3_screens/run_temp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7410" y="1417320"/>
            <a:ext cx="7766699" cy="2377440"/>
          </a:xfrm>
          <a:prstGeom prst="rect">
            <a:avLst/>
          </a:prstGeom>
        </p:spPr>
      </p:pic>
      <p:pic>
        <p:nvPicPr>
          <p:cNvPr id="6" name="Image 1" descr="/home/user/Routing-Protocols/figures/ns3_screens/netanim_c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3977640"/>
            <a:ext cx="10617200" cy="914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5778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check that ns-3.41 builds and runs (scratch-simulator).  Step 2: open NetAnim to watch the XML trace.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1 — WSN-Day3: 3 sensors → 1 sink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IEEE 802.15.4 (lr-wpan) MAC · every data frame asks for an ACK · 5 packets per sensor</a:t>
            </a:r>
            <a:endParaRPr lang="en-US" sz="1600" dirty="0"/>
          </a:p>
        </p:txBody>
      </p:sp>
      <p:pic>
        <p:nvPicPr>
          <p:cNvPr id="5" name="Image 0" descr="/home/user/Routing-Protocols/figures/ns3_screens/day3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4004"/>
            <a:ext cx="5486400" cy="3198593"/>
          </a:xfrm>
          <a:prstGeom prst="rect">
            <a:avLst/>
          </a:prstGeom>
        </p:spPr>
      </p:pic>
      <p:pic>
        <p:nvPicPr>
          <p:cNvPr id="6" name="Image 1" descr="/home/user/Routing-Protocols/figures/ns3_screens/day3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170" y="1371600"/>
            <a:ext cx="5292460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line: a sensor sends → the sink receives (LQI 255) → the MAC confirms SUCCESS (ACK received).  Result: 15 / 15, PDR 100 %.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— energy model + long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wsn_first_packet · 3 sensors + sink · 100 J each · one 50-byte packet every 10 s · 1000 s</a:t>
            </a:r>
            <a:endParaRPr lang="en-US" sz="1600" dirty="0"/>
          </a:p>
        </p:txBody>
      </p:sp>
      <p:pic>
        <p:nvPicPr>
          <p:cNvPr id="5" name="Image 0" descr="/home/user/Routing-Protocols/figures/ns3_screens/first_packet_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5543"/>
            <a:ext cx="5486400" cy="4295513"/>
          </a:xfrm>
          <a:prstGeom prst="rect">
            <a:avLst/>
          </a:prstGeom>
        </p:spPr>
      </p:pic>
      <p:pic>
        <p:nvPicPr>
          <p:cNvPr id="6" name="Image 1" descr="/home/user/Routing-Protocols/figures/ns3_screens/first_packet_ener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167" y="1371600"/>
            <a:ext cx="3842465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/ 300 packets delivered, but every node used ≈ 62.6 J — the radio spends energy even when it only listens.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packets moving to the sink · right: remaining energy of every node over time (Stats → Counter Tables)</a:t>
            </a:r>
            <a:endParaRPr lang="en-US" sz="1600" dirty="0"/>
          </a:p>
        </p:txBody>
      </p:sp>
      <p:pic>
        <p:nvPicPr>
          <p:cNvPr id="5" name="Image 0" descr="/home/user/Routing-Protocols/figures/ns3_screens/first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7524"/>
            <a:ext cx="6035040" cy="3691552"/>
          </a:xfrm>
          <a:prstGeom prst="rect">
            <a:avLst/>
          </a:prstGeom>
        </p:spPr>
      </p:pic>
      <p:pic>
        <p:nvPicPr>
          <p:cNvPr id="6" name="Image 1" descr="/home/user/Routing-Protocols/figures/ns3_screens/netanim_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17214"/>
            <a:ext cx="4846320" cy="365217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of each node drops step by step (100 → 99.37 → 98.75 J …) — the same numbers the code prints.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the sink (wsn-day3-3-0.pcap): data frame (31 bytes) → ACK (5 bytes), for every packet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ay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104" y="1325880"/>
            <a:ext cx="5244353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92240" y="137160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0x0001 → destination 0x0004 (the sink)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ACK comes ≈ 0.2 ms later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“LwMesh” is only a Wireshark guess: Analyze → Enabled Protocols → untick LWM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FCS is valid (checksums enabled in the code)</a:t>
            </a:r>
            <a:endParaRPr lang="en-US" sz="1500" dirty="0"/>
          </a:p>
        </p:txBody>
      </p:sp>
      <p:pic>
        <p:nvPicPr>
          <p:cNvPr id="7" name="Image 1" descr="/home/user/Routing-Protocols/thesis-final/build/fig/k2_frame_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914" y="4343400"/>
            <a:ext cx="5451693" cy="1463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1 byte by byte: 9 header bytes + 20 payload bytes + 2 FCS bytes = 31 bytes.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clustering with real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sensors · 3 clusters · 1 sink · CH rotates every round · TDMA · fusion</a:t>
            </a:r>
            <a:endParaRPr lang="en-US" sz="1600" dirty="0"/>
          </a:p>
        </p:txBody>
      </p:sp>
      <p:pic>
        <p:nvPicPr>
          <p:cNvPr id="5" name="Image 0" descr="/home/user/Routing-Protocols/thesis-final/build/fig/demo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generated in 6 rounds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the sink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to the sink after fusion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long transmissions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terminal output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 is printed: member → CH (TDMA slot), CH fuses 4 readings, CH → sink</a:t>
            </a:r>
            <a:endParaRPr lang="en-US" sz="1600" dirty="0"/>
          </a:p>
        </p:txBody>
      </p:sp>
      <p:pic>
        <p:nvPicPr>
          <p:cNvPr id="5" name="Image 0" descr="/home/user/Routing-Protocols/figures/ns3_screens/demo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844" y="1371600"/>
            <a:ext cx="5069991" cy="4343400"/>
          </a:xfrm>
          <a:prstGeom prst="rect">
            <a:avLst/>
          </a:prstGeom>
        </p:spPr>
      </p:pic>
      <p:pic>
        <p:nvPicPr>
          <p:cNvPr id="6" name="Image 1" descr="/home/user/Routing-Protocols/figures/ns3_screens/demo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73098"/>
            <a:ext cx="5486400" cy="37404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readings, PDR 100 %, but only 18 packets reach the sink (instead of 72) — that is the saving of clustering.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6 — red = CH (CH1, CH4, CH9) · colours = clusters · gold = sink with 72 readings</a:t>
            </a:r>
            <a:endParaRPr lang="en-US" sz="1600" dirty="0"/>
          </a:p>
        </p:txBody>
      </p:sp>
      <p:pic>
        <p:nvPicPr>
          <p:cNvPr id="5" name="Image 0" descr="/home/user/Routing-Protocols/figures/ns3_screens/demo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8669" y="1371600"/>
            <a:ext cx="8244182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shows its remaining energy (16.3 J of 20 J); the CH role moved to a new node every round.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CH / sink traffic (demo-clustered-wsn-12-0.pcap): 51-byte data frames, each answered by a 5-byte ACK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2259"/>
            <a:ext cx="6583680" cy="3807802"/>
          </a:xfrm>
          <a:prstGeom prst="rect">
            <a:avLst/>
          </a:prstGeom>
        </p:spPr>
      </p:pic>
      <p:pic>
        <p:nvPicPr>
          <p:cNvPr id="6" name="Image 1" descr="/home/user/Routing-Protocols/thesis-final/build/fig/k1_pack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653673"/>
            <a:ext cx="4297680" cy="18249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frame: 9-byte header + 40-byte reading + 2-byte FCS = 51 bytes; the ACK proves it arrived.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 — paper → our ORIGINAL code → our EDITED code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classic papers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(2000) [1]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 with an epoch: a node that served waits until everybody has served (set G).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CHs may be badly placed.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(2004) [3]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energy decides who leads; the probability doubles every iteration; members join the lowest-cost CH.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messages every round.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(2002) [4]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greedy chain; data fused along the chain; one leader, in turn, talks to the BS.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delay, long chain links, single leader.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equations of the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578470"/>
            <a:ext cx="8686800" cy="9578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9718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2651760" y="29718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9" name="Image 1" descr="/home/user/Routing-Protocols/thesis-final/build/fig/eq_he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267681"/>
            <a:ext cx="8686800" cy="779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45720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PEGASIS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651760" y="45720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12" name="Image 2" descr="/home/user/Routing-Protocols/thesis-final/build/fig/eq_pegasi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753" y="4663440"/>
            <a:ext cx="776913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each paper in its own settings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prove that our code reproduces the paper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017520"/>
                <a:gridCol w="29260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−100)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(50, 175)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150)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/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bits × 5 frames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two-slope, d0 = 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changed in the algorithms; only the paper's own parameters are used.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settings as each paper; FND / HND / LND in rounds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94560"/>
                <a:gridCol w="23774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 / 1384 / 2259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 matches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LND within 1 % (LEACH) and every PEGASIS value within 3.5 % → the code reproduces the papers.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(grey) vs our ORIGINAL code (blue)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one unified environment for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algorithms; only the environment changes, so the comparison is fair</a:t>
            </a:r>
            <a:endParaRPr lang="en-US" sz="1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32320" y="1371600"/>
            <a:ext cx="44805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609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26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0020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for everyone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node positions (same seed)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advertisement heard by every node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+ TDMA messages are charged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fuses members + its own reading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node without a CH sends directly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run lasts until the last node dies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values? They are the standard settings of the LEACH literature and the standard radio model.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+ fairness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first death: LEACH (1383).  Earliest: HEED (634).  Longest last node: PEGASIS (3504).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code in two environments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926080"/>
                <a:gridCol w="265176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vs our ORIGINAL vs our EDITED</a:t>
            </a:r>
            <a:endParaRPr lang="en-US" sz="1600" dirty="0"/>
          </a:p>
        </p:txBody>
      </p:sp>
      <p:pic>
        <p:nvPicPr>
          <p:cNvPr id="5" name="Image 0" descr="/home/user/Routing-Protocols/thesis-final/build/fig/p1_bas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3615"/>
            <a:ext cx="11064240" cy="366228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 ↑ (FND 1035 → 1383)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 10× cheaper: 10 pJ instead of 100 pJ.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(≤ 70 m) instead of 100 – 150 m away.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savings are bigger than the setup messages we added.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 ↓ (FND 734 → 634)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1 election then 5 data packets; unified: 1 election for 1 packet.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round, each heard by ~20 neighbours.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J instead of 2 J per node.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 FND ↓, LND ↑ (1616 → 1324)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4× bigger → one greedy chain link of 91.5 m (&gt; d0, cost d⁴).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73 on that link died first.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radio + central BS → the last nodes live very long.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did not change — only the environment. That is why a fair comparison needs one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base station far away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codes with the BS at (50, −100)</a:t>
            </a:r>
            <a:endParaRPr lang="en-US" sz="1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  <a:gridCol w="1463040"/>
                <a:gridCol w="1463040"/>
                <a:gridCol w="155448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centre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of 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−47.9%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3566160"/>
          <a:ext cx="6766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3611880"/>
            <a:ext cx="402336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818120" y="38404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398221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549640" y="3840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818120" y="45262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and HEED lose 29 % and 48 %: every CH sends far (d⁴).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its FND (1374): only one leader talks to the BS.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rotation with an epoch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setup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1035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1383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988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neighbours, iterative election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734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634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330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99.68%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chain, one leader to the BS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chain links, delay, single leader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1616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1324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1374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99.42%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HEED hybrids — paper → ORIGINAL → EDITED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— what is a LEACH + HEED hybrid?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work, and the three papers, combine the strengths of both protocols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random election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rotation with epoch and G-set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the nearest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TDMA + fusion at the 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475488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834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7419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HEED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 energy decides who leads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connectivity (node degree / cost)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well-spread cluster heads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3"/>
          <p:cNvSpPr/>
          <p:nvPr/>
        </p:nvSpPr>
        <p:spPr>
          <a:xfrm>
            <a:off x="8961120" y="1371600"/>
            <a:ext cx="2651760" cy="4297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897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452" y="17419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921240" y="160020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189720" y="2286000"/>
            <a:ext cx="2194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speed and rotation with HEED's energy awareness — without HEED's negotiation.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(2015), H-LEACH (2016) and EECH-HEED (2025) follow this idea — and so does our protocol.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 papers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adds energy (HEED idea) to LEACH-style rotation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round number + CH counter</a:t>
            </a:r>
            <a:endParaRPr lang="en-US" sz="1700" dirty="0"/>
          </a:p>
        </p:txBody>
      </p:sp>
      <p:pic>
        <p:nvPicPr>
          <p:cNvPr id="7" name="Image 0" descr="/home/user/Routing-Protocols/thesis-final/build/fig/eq_sh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489238"/>
            <a:ext cx="7726680" cy="12734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01752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01752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energy-based probability + energy gate</a:t>
            </a:r>
            <a:endParaRPr lang="en-US" sz="1700" dirty="0"/>
          </a:p>
        </p:txBody>
      </p:sp>
      <p:pic>
        <p:nvPicPr>
          <p:cNvPr id="10" name="Image 1" descr="/home/user/Routing-Protocols/thesis-final/build/fig/eq_hle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3367109"/>
            <a:ext cx="7726680" cy="8095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66344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66344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relays between CHs, adaptive sensing</a:t>
            </a:r>
            <a:endParaRPr lang="en-US" sz="1700" dirty="0"/>
          </a:p>
        </p:txBody>
      </p:sp>
      <p:pic>
        <p:nvPicPr>
          <p:cNvPr id="13" name="Image 2" descr="/home/user/Routing-Protocols/thesis-final/build/fig/eq_e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5056411"/>
            <a:ext cx="7726680" cy="72281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the hybrids in their own settings</a:t>
            </a:r>
            <a:endParaRPr lang="en-US" sz="3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near BS + 70 far; 14 advanced 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1.5 J (≈ 56 J 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 (not stated)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bits, E_DA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100 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C_prob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setup messages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sensing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0312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 / 583 / 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 / 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4312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value not reachable*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4000-bit packets use up the 50 J before round 2500.  EECH-HEED depends on the sensor signal the paper does not give (sensing OFF → FND 420).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in each paper's settings (EECH-HEED also vs its paper)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65836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7315200" y="1280160"/>
          <a:ext cx="43891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hybrids in the unified environment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 as in the papers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beats LEACH (1383); SH-LEACH dies after only 647 rounds.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what went wrong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unified environment each hybrid shows a design flaw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37160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647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137160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never reset → the probability keeps growing → up to 100 CHs per round: every node sends alone to the BS.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20040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3489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83464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1384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283464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average" with equal energy → no CH in round 1 (deadlock); no G-set → bursts of up to 59 CHs.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66344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812030"/>
            <a:ext cx="297180" cy="2971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297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1311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749040" y="42976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1/P ≈ 1 round → the same border nodes are CH every other round (221 times).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add energy to LEACH but break its rotation.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(484 → 647): cheaper radio (10 vs 100 pJ).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1480, ×2.3): the counter restarts, so CHs stay few instead of reaching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(1078 → 1384): packet 2000 instead of 4000 bits (half the energy per message).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1473): no deadlock, no CH bursts (8.6 → 5.3 CHs per round).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EDIT: LND 3783 → 1545 because sensing is OFF (every node sends every round) and 50 J instead of 56 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(1311 → 1368): fixed rotation in zone 2 (7.5 → 2.9 CHs per round).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→ EDITED = environment only.  EDITED → IMPROVED = our one-line fix only.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— our fixes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two lines of code per protocol; nothing else changed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→ ((r − 1) mod 1/C) + 1 : the counter restarts every 10 rounds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089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25069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1089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E_avg" → "E ≥ E_avg"  +  LEACH G-set restored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6177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75945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6177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03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uses the paper's 10 % for the period and the G-set; Eq. 5 becomes a weight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583680" y="137160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1" name="Image 3" descr="/home/user/Routing-Protocols/thesis-final/build/fig/eq_fix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0507"/>
            <a:ext cx="4754880" cy="60806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583680" y="28803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3" name="Image 4" descr="/home/user/Routing-Protocols/thesis-final/build/fig/eq_fix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298278"/>
            <a:ext cx="4754880" cy="4900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583680" y="438912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5" name="Image 5" descr="/home/user/Routing-Protocols/thesis-final/build/fig/eq_fix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4757464"/>
            <a:ext cx="4754880" cy="58919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energy alone is not enough — the rotation (epoch / G-set) must be kept.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results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 + our fix</a:t>
            </a:r>
            <a:endParaRPr lang="en-US" sz="16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SH-LEACH+ (1480) and H-LEACH+ (1473) beat LEACH (1383).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flaw in numbers — cluster heads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= paper algorithm (EDITED) · blue = after our fix (IMPROVED)</a:t>
            </a:r>
            <a:endParaRPr lang="en-US" sz="1600" dirty="0"/>
          </a:p>
        </p:txBody>
      </p:sp>
      <p:pic>
        <p:nvPicPr>
          <p:cNvPr id="5" name="Image 0" descr="/home/user/Routing-Protocols/thesis-final/build/fig/h1_hybrid_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5963"/>
            <a:ext cx="11064240" cy="31489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reaches 100 CHs (every node alone); H-LEACH and EECH-HEED elect too many CHs, too often.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 vs IMPROVED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hybrid, every version</a:t>
            </a:r>
            <a:endParaRPr lang="en-US" sz="16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828800"/>
                <a:gridCol w="1828800"/>
                <a:gridCol w="1828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→ 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+128.7%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+119.7%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(grey) · EDITED (orange) · IMPROVED (blue)</a:t>
            </a:r>
            <a:endParaRPr lang="en-US" sz="1600" dirty="0"/>
          </a:p>
        </p:txBody>
      </p:sp>
      <p:pic>
        <p:nvPicPr>
          <p:cNvPr id="5" name="Image 0" descr="/home/user/Routing-Protocols/thesis-final/build/fig/h2_hybrid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8749"/>
            <a:ext cx="11064240" cy="357202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residual energy + round number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counter r never resets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grow to 100 per round: every node sends alone to the BS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restarts every 1/C_prob = 10 rounds (one line of code)</a:t>
            </a:r>
            <a:endParaRPr lang="en-US" sz="15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647 → 1480 (+128.7%) with the BS at the centre, 390 → 1388 (+255.9%)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threshold with an energy-based probability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only if E &gt; network average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energy → nobody is above average → no CH (deadlock)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G-set → bursts of up to 59 CHs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 average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G-set restored</a:t>
            </a:r>
            <a:endParaRPr lang="en-US" sz="15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1384 → 1473 (+6.4%) with the BS at the centre, 1121 → 1219 (+8.7%)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EECH-HEED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zones: HEED near the BS, energy × degree far away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 between CHs, adaptive sensing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of 1 round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border nodes are CH every other round (221 times)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rotation fixed at the paper's 10 % (10 rounds)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× degree kept as a weight</a:t>
            </a:r>
            <a:endParaRPr lang="en-US" sz="15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1311 → 1368 (+4.3%) with the BS at the centre, 932 → 1412 (+51.5%)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hybrids compared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our fixes · centre and far BS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194560"/>
                <a:gridCol w="2103120"/>
                <a:gridCol w="13716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before → after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never resets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restarts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 → 1480 (+128.7%)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 + no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average +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 → 1473 (+6.4%)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of 1 round in zone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10-round rotation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 → 1368 (+4.3%)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4251960"/>
          <a:ext cx="7315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138160" y="425196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366760" y="44805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492" y="462229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098280" y="4480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hybrid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66760" y="51663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SH-LEACH+ (1480).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EECH-HEED+ (1412).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gain: SH-LEACH (+129 %).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work &amp; literature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research is going (2024 – 2026)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papers (studied, not re-implemented)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training data or unpublished models — used to compare ideas</a:t>
            </a:r>
            <a:endParaRPr lang="en-US" sz="16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377440"/>
                <a:gridCol w="32004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2026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 chooses CHs (energy, density, distance)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+784 % lifetime vs 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earlier than ILEACH (524 vs 936); learning cost not 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DL-HEED 2025 [9]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neural network inside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+60 % vs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data; heavy on sensors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 2024 [10]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two-level LEACH with a distance 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longer lifetime than LEACH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CH-failure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2025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zones + multi-hop + adaptive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1250, PDR 95 %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breaks in zone 2 (fixed by 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election adapts well, but does not always delay the first node death.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 — summary</a:t>
            </a:r>
            <a:endParaRPr lang="en-US" sz="3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377440"/>
                <a:gridCol w="2194560"/>
                <a:gridCol w="2651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limitation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our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[1]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T(n), epoch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T(r) +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LEACH-C [2]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(BS)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knowledge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[3]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energy +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 every round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× degree (single pass)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 [4]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leader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delay, long links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idea (only if cheaper)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 [5]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× energy × 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count grows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lesson: keep rotation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 [6]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+ E &gt; E_avg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deadlock, no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gate (I5)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[7]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zones, T·α·β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collapse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between CHs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[8] / DL-HEED [9]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2025–26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+ degree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FTEC [11] · Pachlor [12]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 · 2022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 · rotation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CH · handover (I2)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EEUC [13] · Chauhan [14]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 · 2021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unequal clusters, relays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hot-spot lesson, relay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protocol combines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51206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cheap single-pass CH election (energy + connectivity)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reuse to cut setup overhead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of the CH before and after it fails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relaying between CHs only when it saves energy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they are never compared in the same environment.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09360" y="1371600"/>
            <a:ext cx="530352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9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6002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286000"/>
            <a:ext cx="4846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Reproduce all protocols fairly (ORIGINAL → EDITED).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Fix the flaws of the hybrids (IMPROVED).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a new protocol step by step (v1 → v8-Chain).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Test the hybrid cryptography of the proposal (vs no security and full RSA).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protocol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 — one change per version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protocol was built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version changes one thing, so its effect can be measured alone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789920" cy="0"/>
          </a:xfrm>
          <a:prstGeom prst="line">
            <a:avLst/>
          </a:prstGeom>
          <a:noFill/>
          <a:ln w="381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election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322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04872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90195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338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803904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4670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0098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 + reuse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02936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45736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00016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15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1438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01968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44768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99048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v6/v7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chain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1415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00032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4283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– I5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799064" y="2852928"/>
            <a:ext cx="420624" cy="42062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4186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029614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relay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big jumps: v3 (no negotiation + cluster reuse) and v8 (direct-to-BS + energy gate).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election + LEACH nearest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rotation-fairness penalty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Single-pass score + 5-round cluster reuse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+386.7%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interval 5 →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backup CH (interval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+ cluster repair, interval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is the first big jump: ×4.9 over v2 (no negotiation + cluster reuse).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energy-aware backup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CH-to-CH 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+ backup + chain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99.10%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multihop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 + I1–I5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+ energy-aware CH relay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second big jump: +52 % over v5b (I1 – I5).  v8-Chain keeps it and adds the far-BS gain.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– v2: starting from HEED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= HEED election + LEACH nearest-CH join · v2 = + fairness penalty cost × (1 + 0.1·timesServed)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37160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9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66760" y="16002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2286000"/>
            <a:ext cx="3749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only 322 → 338.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negotiation of HEED, paid every round, is the real problem — not fairness.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remove the iterative negotiation.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 – v4: single-pass election + cluster reuse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jump of the whole study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7097" y="1417320"/>
            <a:ext cx="4629647" cy="777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0" y="13258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LEACH rotation × energy × neighbours, in one step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7744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2377440"/>
            <a:ext cx="49377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452" y="2747772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35240" y="26060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×4.9 longer first-node life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03720" y="3291840"/>
            <a:ext cx="4480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are kept for 5 rounds, so setup is paid once per 5 rounds.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rounds is worse (1438, PDR 95.91%): the CH is overloaded and its members are orphaned when it dies.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reuse clusters for 5 rounds — but protect the members when the CH dies.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v5: backup 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member replaces a dead CH (v5b: only if it has ≥ 5 % of E0)</a:t>
            </a:r>
            <a:endParaRPr lang="en-US" sz="16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 (int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371600"/>
            <a:ext cx="43891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523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83880" y="16002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28600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protects the data (PDR ↑) but does not delay the first death.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5 is the best again.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v5b becomes the base of v8.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protection improves reliability; lifetime needs something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 – v7: chaining the cluster heads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forward to each other towards the BS (idea from PEGASIS)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371600"/>
            <a:ext cx="4023360" cy="43891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not better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near the BS carry everybody's traffic and die first (the "hot spot" of EEUC [13]).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BS at the centre, forced relaying costs more than it saves.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relay only when it really saves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v8: five improvements on top of v5b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Epoch fix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epoch when nobody is eligible → no round without CHs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 Handover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that cannot finish the round hands over before it dies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 Re-join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of a dead CH join the nearest alive CH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not farther from the BS than from its CH sends directly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3936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with E ≥ network average may become CH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13816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400" dirty="0"/>
          </a:p>
        </p:txBody>
      </p:sp>
      <p:sp>
        <p:nvSpPr>
          <p:cNvPr id="30" name="Text 23"/>
          <p:cNvSpPr txBox="1"/>
          <p:nvPr/>
        </p:nvSpPr>
        <p:spPr>
          <a:xfrm>
            <a:off x="8138160" y="44348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(v5b 1645) · PDR 99.65%</a:t>
            </a:r>
            <a:endParaRPr lang="en-US" sz="13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— which improvement matters?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with one improvement switched off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37160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002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and I5 make the gain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28600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I4: 1766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I5: 2106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21040" y="393192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4964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3022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4160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I1, I2, I3 are safety nets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4846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zero-CH rounds, no lost members, stable PDR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 = v8 + energy-aware relay (for a far BS)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forwards through another CH only if it is cheaper than going straight to the BS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95669"/>
            <a:ext cx="10789920" cy="5291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1792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far away (50, −100)</a:t>
            </a:r>
            <a:endParaRPr lang="en-US" sz="15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1792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the relay is never cheaper, so v8-Chain = v8 (2501).  Far BS: +16 % FND (1441 → 1671) → use v8-Chain only when the BS is far.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lifetime of all versions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· unified environment, BS at the centre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first node death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jumps: v3 and v8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packet delivery ratio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of every version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without protection loses data (v4 95.91%); backup, handover and re-join bring it back (v8-Chain 99.64%).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of v8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once every 5 rounds · data every round · fault tolerance · the relay box is added only in v8-Chain (far BS)</a:t>
            </a:r>
            <a:endParaRPr lang="en-US" sz="1600" dirty="0"/>
          </a:p>
        </p:txBody>
      </p:sp>
      <p:pic>
        <p:nvPicPr>
          <p:cNvPr id="5" name="Image 0" descr="/home/user/Routing-Protocols/thesis-final/build/fig/f12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8591" y="1325880"/>
            <a:ext cx="890433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relay in action (v8-Chain)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50 — centre: no relay is cheaper, all CHs send directly · far BS: CHs relay towards the BS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940" y="1325880"/>
            <a:ext cx="4544040" cy="5029200"/>
          </a:xfrm>
          <a:prstGeom prst="rect">
            <a:avLst/>
          </a:prstGeom>
        </p:spPr>
      </p:pic>
      <p:pic>
        <p:nvPicPr>
          <p:cNvPr id="6" name="Image 1" descr="/home/user/Routing-Protocols/thesis-final/build/fig/f11_topology_far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705" y="1325880"/>
            <a:ext cx="299763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comparison — network lifetime (BS at the centre)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 of every family,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73152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 — the latest of all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+81%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LEACH (1383)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663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+69%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5486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the best hybrid (SH-LEACH+ 1480)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Alive nodes and energy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(blue) keeps every node alive longest, then all die together</a:t>
            </a:r>
            <a:endParaRPr lang="en-US" sz="1600" dirty="0"/>
          </a:p>
        </p:txBody>
      </p:sp>
      <p:pic>
        <p:nvPicPr>
          <p:cNvPr id="5" name="Image 0" descr="/home/user/Routing-Protocols/thesis-final/build/fig/f3_alive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5863"/>
            <a:ext cx="5486400" cy="2837793"/>
          </a:xfrm>
          <a:prstGeom prst="rect">
            <a:avLst/>
          </a:prstGeom>
        </p:spPr>
      </p:pic>
      <p:pic>
        <p:nvPicPr>
          <p:cNvPr id="6" name="Image 1" descr="/home/user/Routing-Protocols/thesis-final/build/fig/f10_energy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59082"/>
            <a:ext cx="5486400" cy="2871357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and robustness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/home/user/Routing-Protocols/thesis-final/build/fig/f7_robus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85369"/>
            <a:ext cx="5212080" cy="235574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9224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topologies: FND 2471 – 2531 (mean 2500)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protocols deliver &gt; 99 % of readings; they differ in lifetime.  The v8 result is not luck of one layout.</a:t>
            </a:r>
            <a:endParaRPr lang="en-US" sz="15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comparison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1005840"/>
                <a:gridCol w="1005840"/>
                <a:gridCol w="1005840"/>
                <a:gridCol w="1188720"/>
                <a:gridCol w="1371600"/>
                <a:gridCol w="1554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FND 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(main)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(far 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v8 has the latest first death (+69 % to +294 %).  Far BS: v8-Chain is the best (1671).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BS is far away —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(50, −100): grey = centre, orange / blue = far</a:t>
            </a:r>
            <a:endParaRPr lang="en-US" sz="1600" dirty="0"/>
          </a:p>
        </p:txBody>
      </p:sp>
      <p:pic>
        <p:nvPicPr>
          <p:cNvPr id="5" name="Image 0" descr="/home/user/Routing-Protocols/thesis-final/build/fig/far_f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829" y="1325880"/>
            <a:ext cx="10997862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v8 alone reaches 1441, close to EECH-HEED+ (1412); v8-Chain reaches 1671 — the best of all.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 BS — ranking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death with the BS at (50, −100)</a:t>
            </a:r>
            <a:endParaRPr lang="en-US" sz="1600" dirty="0"/>
          </a:p>
        </p:txBody>
      </p:sp>
      <p:pic>
        <p:nvPicPr>
          <p:cNvPr id="5" name="Image 0" descr="/home/user/Routing-Protocols/thesis-final/build/fig/far_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7276"/>
            <a:ext cx="6766560" cy="3043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37160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v8-Chain here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far BS every CH → BS packet costs d⁴.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lets a CH hand its packet to a CH nearer the BS when that is cheaper.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+16 % over v8, +18 % over the best other protocol (EECH-HEED+), +69 % over LEACH.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version we chose — and why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main protocol · v8-Chain = v8 + relay, used only when the BS is far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latest first death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 with the BS at the centre — highest of all protocols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v8-Chain: for a far BS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energy-aware relay: 1441 → 1671 (+16 %) when the BS is far; no change at the centre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99.65%; no round without CHs; members never orphaned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topologies: FND 2471 – 2531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29768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21081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and distributed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score, local decisions, no training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04672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690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21081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justified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kept only if the ablation shows it helps</a:t>
            </a:r>
            <a:endParaRPr lang="en-US" sz="16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security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 cryptography of the thesis proposal, tested on LEACH, PEGASIS and v8 / v8-Chain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RSA for everything?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of one operation on an 8-bit sensor MCU (ATmega128, Wander et al. [16]) — log scale</a:t>
            </a:r>
            <a:endParaRPr lang="en-US" sz="1600" dirty="0"/>
          </a:p>
        </p:txBody>
      </p:sp>
      <p:pic>
        <p:nvPicPr>
          <p:cNvPr id="5" name="Image 0" descr="/home/user/Routing-Protocols/thesis-final/build/fig/s5_sec_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43907"/>
            <a:ext cx="7589520" cy="26445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12480" y="1371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912 mJ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1945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RSA-decrypt ONE 2000-bit reading — the whole battery is 500 mJ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32461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µJ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069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AES-encrypt the same reading (≈ 90 000× cheaper)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idea: symmetric crypto for every message; public-key crypto only where it is really needed.</a:t>
            </a:r>
            <a:endParaRPr lang="en-US" sz="15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hybrid scheme (thesis proposal)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inside the cluster · public key only between the CH and the sink · the sink authenticates the CHs</a:t>
            </a:r>
            <a:endParaRPr lang="en-US" sz="1600" dirty="0"/>
          </a:p>
        </p:txBody>
      </p:sp>
      <p:pic>
        <p:nvPicPr>
          <p:cNvPr id="5" name="Image 0" descr="/home/user/Routing-Protocols/thesis-final/build/fig/s4_sec_sche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34404"/>
            <a:ext cx="6949440" cy="3091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572000"/>
            <a:ext cx="6949440" cy="1188720"/>
          </a:xfrm>
          <a:prstGeom prst="roundRect">
            <a:avLst>
              <a:gd name="adj" fmla="val 6154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7" name="Image 1" descr="/home/user/Routing-Protocols/thesis-final/build/fig/eq_secu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721352"/>
            <a:ext cx="6675120" cy="8900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726680" y="13258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7955280" y="155448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012" y="1696212"/>
            <a:ext cx="283464" cy="2834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544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→ CH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7955280" y="2240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+ 8-byte MIC (IEEE 802.15.4 security [17]): +104 bits, 5 nJ/bit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7726680" y="283464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955280" y="306324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012" y="3204972"/>
            <a:ext cx="283464" cy="28346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06324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and sink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7955280" y="3749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key (RSA or ECC) to authenticate; the sink replies with credentials / a session key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7726680" y="434340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7955280" y="457200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012" y="4713732"/>
            <a:ext cx="283464" cy="28346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686800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sink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7955280" y="5257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mains-powered, does the heavy private-key work (RSA decrypt / sign)</a:t>
            </a:r>
            <a:endParaRPr lang="en-US" sz="12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Scenarios tested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codes; security switched on with compiler flags (-DSEC_…), all 0 by default</a:t>
            </a:r>
            <a:endParaRPr lang="en-US" sz="16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83464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message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node pays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security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 + MIC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 + MIC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(keys pre-loaded)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+104 bits, 5 nJ/bit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once per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 + MIC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at 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+ 15.4 mJ (RSA) / 22.3 mJ (ECC) once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per new 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 + MIC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time a node becomes 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+ 15.4 / 22.3 mJ per election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 / RSA on CH → sink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 + MIC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packet to the sink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+22.3 mJ (ECC) / 35.7 mJ (RSA) per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ECC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 mJ send + 22.3 mJ receive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RSA-1024 (3 blocks)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 mJ send + 912 mJ receive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on LEACH, PEGASIS and v8 (BS at the centre) and v8-Chain (BS far away), as planned in the proposal.</a:t>
            </a:r>
            <a:endParaRPr lang="en-US" sz="15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FND with security, BS at the centre</a:t>
            </a:r>
            <a:endParaRPr lang="en-US" sz="3200" dirty="0"/>
          </a:p>
        </p:txBody>
      </p:sp>
      <p:pic>
        <p:nvPicPr>
          <p:cNvPr id="4" name="Image 0" descr="/home/user/Routing-Protocols/thesis-final/build/fig/s2_sec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7562"/>
            <a:ext cx="11064240" cy="417715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(public key once): v8 2061 rounds = +49 % over LEACH WITHOUT security, ×2.0 LEACH with the same security.</a:t>
            </a:r>
            <a:endParaRPr lang="en-US" sz="15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FND with security, BS far away</a:t>
            </a:r>
            <a:endParaRPr lang="en-US" sz="3200" dirty="0"/>
          </a:p>
        </p:txBody>
      </p:sp>
      <p:pic>
        <p:nvPicPr>
          <p:cNvPr id="4" name="Image 0" descr="/home/user/Routing-Protocols/thesis-final/build/fig/s2_sec_f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7562"/>
            <a:ext cx="11064240" cy="417715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BS, same hybrid for all: v8-Chain 1331 vs PEGASIS 1199 (+11 %) and LEACH 798 (+67 %).</a:t>
            </a:r>
            <a:endParaRPr lang="en-US" sz="15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Lighter than full RSA: ECC only on CH → sink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use AES · packets to the sink: ECC (≈ 22.3 mJ) or RSA (35.7 mJ) · the sink decrypts</a:t>
            </a:r>
            <a:endParaRPr lang="en-US" sz="160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far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 far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 far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security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 · 99.40%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 · 99.42%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 · 99.64%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 · 99.43%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 · 99.08%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1671 · 99.36%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 once per node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1017 · 99.12%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1141 · 99.32%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 · 99.69%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 · 99.16%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1182 · 99.11%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 · 99.38%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 on CH → sink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 · 96.98%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774 · 97.68%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736 · 96.26%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 · 95.84%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796 · 96.81%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716 · 96.01%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RSA on CH → sink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 · 95.32%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 · 94.46%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 · 96.25%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 · 94.15%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 · 95.94%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 · 95.34%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ECC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23.82%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· 83.29%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· 13.31%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21.85%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· 83.14%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· 14.14%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 · 5.47%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2.88%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 · 6.01%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 · 5.28%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3.38%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 · 4.09%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9768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45262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66801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5262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 lighter than full RSA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2120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sender encrypts; the sink does the decryption → the network works again (PDR ≈ 96 %).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297680" y="429768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45262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466801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45262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70 % shorter life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52120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 mJ on every packet to the sink: v8 736 vs 2001 with ECC once.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046720" y="429768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75320" y="452628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466801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6840" y="45262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packets to the sink wins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275320" y="52120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(1 leader) 774; v8 relays CH → CH to save ECC operations; LEACH 284.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48640" y="60807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60807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use of ECC: once per node for the key agreement — not on every packet.</a:t>
            </a:r>
            <a:endParaRPr lang="en-US" sz="15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 — full public key breaks the network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· % of readings that reach the BS</a:t>
            </a:r>
            <a:endParaRPr lang="en-US" sz="1600" dirty="0"/>
          </a:p>
        </p:txBody>
      </p:sp>
      <p:pic>
        <p:nvPicPr>
          <p:cNvPr id="5" name="Image 0" descr="/home/user/Routing-Protocols/thesis-final/build/fig/s3_sec_pd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3369"/>
            <a:ext cx="11064240" cy="384270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RSA: a CH cannot pay 912 mJ to decrypt one packet, so almost nothing arrives (PDR 3 – 6 %).  The hybrid keeps PDR ≈ 99 %.</a:t>
            </a:r>
            <a:endParaRPr lang="en-US" sz="15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 about security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RSA / ECC is impossible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 with public key: FND 1 – 203 rounds and PDR 3 – 24 %. The proposal was right: RSA is too heavy for the nodes.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key once, not per CH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Authenticating every new CH with RSA/ECC cuts FND by 47 – 71 %. Once per node, then symmetric credentials from the sink: only −18 %.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356616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794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RSA vs ECC on the node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448056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sink doing the private-key work, RSA costs the node 15.4 mJ vs 22.3 mJ for ECDH — ECC still gives smaller keys (160 vs 1024 bits).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72200" y="356616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7947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794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protects best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448056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re-elections (setup every 5 rounds) = fewer authentications. With the recommended hybrid: v8 2061, PEGASIS 1158, LEACH 1019.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AES + MIC for every message, public key once per node, the sink authenticates CHs with symmetric credentials.</a:t>
            </a:r>
            <a:endParaRPr lang="en-US" sz="15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summary and 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energy model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runs use the first-order radio model: no collisions, retransmissions or fading (the demo shows packet level on a small scale).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equal nodes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static nodes with equal energy; no mobility or heterogeneous hardware.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3878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size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× 100 m and 100 nodes; larger networks not tested.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246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3878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as energy cost only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energy from published MCU measurements [16] (AES assumed); attacks are not simulated.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079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paper details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settings (packet size, sensor signal) had to be assumed and documented.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0080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532" y="507949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a longer LND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40080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3504 vs 2636: v8 is designed for the first death, not the last.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+69%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best fixed hybrid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with a far BS (best of all)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protocols reproduced and validated against their papers, then compared in one fair environment.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Flaws found and fixed in three hybrids: all of them had broken LEACH's rotation.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built step by step: single-pass election, cluster reuse, CH protection, direct-to-BS and energy gate — the main protocol.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adds an energy-aware relay: same as v8 at the centre, +16 % when the BS is far.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cryptography (AES + public key once) costs 18 % of lifetime — v8 still beats LEACH without security; full RSA breaks the network.</a:t>
            </a:r>
            <a:endParaRPr lang="en-US" sz="16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W. R. Heinzelman, A. Chandrakasan, H. Balakrishnan, "Energy-Efficient Communication Protocol for Wireless Microsensor Networks," Proc. 33rd Hawaii Int. Conf. System Sciences (HICSS), 2000.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W. B. Heinzelman, A. P. Chandrakasan, H. Balakrishnan, "An Application-Specific Protocol Architecture for Wireless Microsensor Networks," IEEE Trans. Wireless Communications, vol. 1, no. 4,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O. Younis, S. Fahmy, "HEED: A Hybrid, Energy-Efficient, Distributed Clustering Approach for Ad Hoc Sensor Networks," IEEE Trans. Mobile Computing, vol. 3, no. 4, 2004.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S. Lindsey, C. S. Raghavendra, "PEGASIS: Power-Efficient Gathering in Sensor Information Systems," Proc. IEEE Aerospace Conference,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S. Shrestha, Y. M. Kim, K. Jung, J.-Y. Lee, "The Improved Energy Efficient LEACH Protocol Technology of Wireless Sensor Networks," Int. J. Internet, Broadcasting and Communication (IJIBC), vol. 7, no. 1, pp. 30–35, 2015.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A. Razaque, M. Mudigulam, K. Gavini, F. Amsaad, M. Abdulgader, P. Krishna, "H-LEACH: Hybrid-Low Energy Adaptive Clustering Hierarchy for Wireless Sensor Networks," Proc. IEEE LISAT, 2016.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S. Kaur, S. Kour, M. Singh, "EECH-HEED: an adaptive hybrid clustering protocol for energy efficient soil monitoring in heterogeneous wireless sensor networks," Scientific Reports, vol. 15, 35548, 2025.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H. H. El-Sayed, E. M. Abd-Elgaber, S. K. Refaay, "An intelligent reinforcement learning enhanced improved LEACH protocol for prolonging wireless sensor network lifetime," Scientific Reports, 2026.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A. Juwaied, L. Jackowska-Strumillo, "DL-HEED: A Deep Learning Approach to Energy-Efficient Clustering in Heterogeneous Wireless Sensor Networks," Applied Sciences, vol. 15, no. 16, 8996, 2025.</a:t>
            </a:r>
            <a:endParaRPr lang="en-US" sz="135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S. Subedi, S. K. Acharya, J. Lee, S. Lee, "Two-Level Clustering Algorithm for Cluster Head Selection in Randomly Deployed Wireless Sensor Networks," Telecom, vol. 5, no. 3, 27,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J. Jassbi, S. Moridi, "Fault Tolerance and Energy Efficient Clustering Algorithm in Wireless Sensor Networks: FTEC," Wireless Personal Communications, 2019.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R. Pachlor, D. Shrimankar, K. K. Nagwanshi, M. Paliwal, "Cluster-Head Rotation Approaches in Sensor Networks: A Review," arXiv:2206.08892, 2022.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C. Li, M. Ye, G. Chen, J. Wu, "An Energy-Efficient Unequal Clustering Mechanism for Wireless Sensor Networks," Proc. IEEE MASS,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 V. Chauhan, S. Soni, "Energy Aware Unequal Clustering Algorithm with Multi-hop Routing via Low Degree Relay Nodes for Wireless Sensor Networks," J. Ambient Intelligence and Humanized Computing, vol. 12, pp. 2469–2482, 2021.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 ns-3 Network Simulator, release 3.41, https://www.nsnam.org,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 A. S. Wander, N. Gura, H. Eberle, V. Gupta, S. C. Shantz, "Energy Analysis of Public-Key Cryptography for Wireless Sensor Networks," Proc. IEEE PerCom,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 IEEE Std 802.15.4-2020, "IEEE Standard for Low-Rate Wireless Networks," 2020.</a:t>
            </a:r>
            <a:endParaRPr lang="en-US" sz="135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280160"/>
            <a:ext cx="914400" cy="9144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087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611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thanks to my supervisors Dr. Hesham ElZouka, Dr. Amani Saad and Dr. Khaled Saada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papers: GitHub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97</Slides>
  <Notes>97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97</vt:i4>
      </vt:variant>
    </vt:vector>
  </HeadingPairs>
  <TitlesOfParts>
    <vt:vector size="10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</dc:title>
  <dc:subject>PptxGenJS Presentation</dc:subject>
  <dc:creator>Rahma Khaled Oshba</dc:creator>
  <cp:lastModifiedBy>Rahma Khaled Oshba</cp:lastModifiedBy>
  <cp:revision>1</cp:revision>
  <dcterms:created xsi:type="dcterms:W3CDTF">2026-09-26T03:32:36Z</dcterms:created>
  <dcterms:modified xsi:type="dcterms:W3CDTF">2026-09-26T03:32:36Z</dcterms:modified>
</cp:coreProperties>
</file>