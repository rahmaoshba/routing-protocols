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2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3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charts/chart4.xml" ContentType="application/vnd.openxmlformats-officedocument.drawingml.chart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charts/chart5.xml" ContentType="application/vnd.openxmlformats-officedocument.drawingml.chart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charts/chart6.xml" ContentType="application/vnd.openxmlformats-officedocument.drawingml.chart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charts/chart7.xml" ContentType="application/vnd.openxmlformats-officedocument.drawingml.chart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charts/chart10.xml" ContentType="application/vnd.openxmlformats-officedocument.drawingml.chart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charts/chart11.xml" ContentType="application/vnd.openxmlformats-officedocument.drawingml.chart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charts/chart12.xml" ContentType="application/vnd.openxmlformats-officedocument.drawingml.chart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notesMasterIdLst>
    <p:notesMasterId r:id="rId6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notesMaster" Target="notesMasters/notesMaster1.xml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Published</c:v>
                </c:pt>
              </c:strCache>
            </c:strRef>
          </c:tx>
          <c:spPr>
            <a:solidFill>
              <a:srgbClr val="9A9A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1F1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LEACH FND</c:v>
                  </c:pt>
                  <c:pt idx="1">
                    <c:v>LEACH LND</c:v>
                  </c:pt>
                  <c:pt idx="2">
                    <c:v>PEGASIS FND</c:v>
                  </c:pt>
                  <c:pt idx="3">
                    <c:v>PEGASIS HND</c:v>
                  </c:pt>
                  <c:pt idx="4">
                    <c:v>PEGASIS LND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932</c:v>
                </c:pt>
                <c:pt idx="1">
                  <c:v>1312</c:v>
                </c:pt>
                <c:pt idx="2">
                  <c:v>1578</c:v>
                </c:pt>
                <c:pt idx="3">
                  <c:v>2082</c:v>
                </c:pt>
                <c:pt idx="4">
                  <c:v>2192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Our ORIGINAL code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1F1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LEACH FND</c:v>
                  </c:pt>
                  <c:pt idx="1">
                    <c:v>LEACH LND</c:v>
                  </c:pt>
                  <c:pt idx="2">
                    <c:v>PEGASIS FND</c:v>
                  </c:pt>
                  <c:pt idx="3">
                    <c:v>PEGASIS HND</c:v>
                  </c:pt>
                  <c:pt idx="4">
                    <c:v>PEGASIS LND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1035</c:v>
                </c:pt>
                <c:pt idx="1">
                  <c:v>1327</c:v>
                </c:pt>
                <c:pt idx="2">
                  <c:v>1616</c:v>
                </c:pt>
                <c:pt idx="3">
                  <c:v>2017</c:v>
                </c:pt>
                <c:pt idx="4">
                  <c:v>2186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1F1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5E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6E5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F5E5A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5F5E5A"/>
                    </a:solidFill>
                    <a:latin typeface="Arial"/>
                  </a:rPr>
                  <a:t>Rounds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5E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FND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1F1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LEACH</c:v>
                  </c:pt>
                  <c:pt idx="1">
                    <c:v>HEED</c:v>
                  </c:pt>
                  <c:pt idx="2">
                    <c:v>HEED + fairness</c:v>
                  </c:pt>
                  <c:pt idx="3">
                    <c:v>PEGASIS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1383</c:v>
                </c:pt>
                <c:pt idx="1">
                  <c:v>634</c:v>
                </c:pt>
                <c:pt idx="2">
                  <c:v>743</c:v>
                </c:pt>
                <c:pt idx="3">
                  <c:v>1324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HND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1F1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LEACH</c:v>
                  </c:pt>
                  <c:pt idx="1">
                    <c:v>HEED</c:v>
                  </c:pt>
                  <c:pt idx="2">
                    <c:v>HEED + fairness</c:v>
                  </c:pt>
                  <c:pt idx="3">
                    <c:v>PEGASIS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1586</c:v>
                </c:pt>
                <c:pt idx="1">
                  <c:v>1216</c:v>
                </c:pt>
                <c:pt idx="2">
                  <c:v>1154</c:v>
                </c:pt>
                <c:pt idx="3">
                  <c:v>2352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LND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1F1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LEACH</c:v>
                  </c:pt>
                  <c:pt idx="1">
                    <c:v>HEED</c:v>
                  </c:pt>
                  <c:pt idx="2">
                    <c:v>HEED + fairness</c:v>
                  </c:pt>
                  <c:pt idx="3">
                    <c:v>PEGASIS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1842</c:v>
                </c:pt>
                <c:pt idx="1">
                  <c:v>1883</c:v>
                </c:pt>
                <c:pt idx="2">
                  <c:v>1960</c:v>
                </c:pt>
                <c:pt idx="3">
                  <c:v>3504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1F1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5E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6E5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F5E5A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F5E5A"/>
                    </a:solidFill>
                    <a:latin typeface="Arial"/>
                  </a:rPr>
                  <a:t>Rounds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5E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</c:v>
                </c:pt>
              </c:strCache>
            </c:strRef>
          </c:tx>
          <c:spPr>
            <a:solidFill>
              <a:srgbClr val="C9C8C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1F1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SH-LEACH</c:v>
                  </c:pt>
                  <c:pt idx="1">
                    <c:v>H-LEACH</c:v>
                  </c:pt>
                  <c:pt idx="2">
                    <c:v>EECH-HEED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484</c:v>
                </c:pt>
                <c:pt idx="1">
                  <c:v>1078</c:v>
                </c:pt>
                <c:pt idx="2">
                  <c:v>1121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Edited</c:v>
                </c:pt>
              </c:strCache>
            </c:strRef>
          </c:tx>
          <c:spPr>
            <a:solidFill>
              <a:srgbClr val="9A9A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1F1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SH-LEACH</c:v>
                  </c:pt>
                  <c:pt idx="1">
                    <c:v>H-LEACH</c:v>
                  </c:pt>
                  <c:pt idx="2">
                    <c:v>EECH-HEED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647</c:v>
                </c:pt>
                <c:pt idx="1">
                  <c:v>1384</c:v>
                </c:pt>
                <c:pt idx="2">
                  <c:v>1311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1F1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SH-LEACH</c:v>
                  </c:pt>
                  <c:pt idx="1">
                    <c:v>H-LEACH</c:v>
                  </c:pt>
                  <c:pt idx="2">
                    <c:v>EECH-HEED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1480</c:v>
                </c:pt>
                <c:pt idx="1">
                  <c:v>1473</c:v>
                </c:pt>
                <c:pt idx="2">
                  <c:v>1368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1F1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5E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6E5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F5E5A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5F5E5A"/>
                    </a:solidFill>
                    <a:latin typeface="Arial"/>
                  </a:rPr>
                  <a:t>FND (rounds)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5E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FND</c:v>
                </c:pt>
              </c:strCache>
            </c:strRef>
          </c:tx>
          <c:spPr>
            <a:solidFill>
              <a:srgbClr val="9A9A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1F1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9A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9A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v1</c:v>
                  </c:pt>
                  <c:pt idx="1">
                    <c:v>v2</c:v>
                  </c:pt>
                  <c:pt idx="2">
                    <c:v>HEED</c:v>
                  </c:pt>
                  <c:pt idx="3">
                    <c:v>LEACH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322</c:v>
                </c:pt>
                <c:pt idx="1">
                  <c:v>338</c:v>
                </c:pt>
                <c:pt idx="2">
                  <c:v>634</c:v>
                </c:pt>
                <c:pt idx="3">
                  <c:v>1383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1F1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5E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6E5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FND (rounds)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5E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FND</c:v>
                </c:pt>
              </c:strCache>
            </c:strRef>
          </c:tx>
          <c:spPr>
            <a:solidFill>
              <a:srgbClr val="9A9A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1F1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9A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9A9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v2</c:v>
                  </c:pt>
                  <c:pt idx="1">
                    <c:v>v3 (reuse 5)</c:v>
                  </c:pt>
                  <c:pt idx="2">
                    <c:v>v4 (reuse 15)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338</c:v>
                </c:pt>
                <c:pt idx="1">
                  <c:v>1645</c:v>
                </c:pt>
                <c:pt idx="2">
                  <c:v>1438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1F1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5E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6E5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FND (rounds)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5E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FND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1F1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9A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9A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9A9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9A9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v5b</c:v>
                  </c:pt>
                  <c:pt idx="1">
                    <c:v>v6 chain</c:v>
                  </c:pt>
                  <c:pt idx="2">
                    <c:v>v7 chain + backup</c:v>
                  </c:pt>
                  <c:pt idx="3">
                    <c:v>v7.1 multihop tree</c:v>
                  </c:pt>
                  <c:pt idx="4">
                    <c:v>v7.2 (int 10)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1645</c:v>
                </c:pt>
                <c:pt idx="1">
                  <c:v>1415</c:v>
                </c:pt>
                <c:pt idx="2">
                  <c:v>1415</c:v>
                </c:pt>
                <c:pt idx="3">
                  <c:v>1471</c:v>
                </c:pt>
                <c:pt idx="4">
                  <c:v>1421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1F1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5E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0"/>
          <c:min val="0"/>
        </c:scaling>
        <c:delete val="0"/>
        <c:axPos val="l"/>
        <c:majorGridlines>
          <c:spPr>
            <a:ln w="9525" cap="flat">
              <a:solidFill>
                <a:srgbClr val="E6E5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FND (rounds)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5E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FND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1F1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v8 (full)</c:v>
                  </c:pt>
                  <c:pt idx="1">
                    <c:v>− I1 epoch fix</c:v>
                  </c:pt>
                  <c:pt idx="2">
                    <c:v>− I2 handover</c:v>
                  </c:pt>
                  <c:pt idx="3">
                    <c:v>− I3 re-join</c:v>
                  </c:pt>
                  <c:pt idx="4">
                    <c:v>− I5 energy gate</c:v>
                  </c:pt>
                  <c:pt idx="5">
                    <c:v>− I4 direct-to-BS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2501</c:v>
                </c:pt>
                <c:pt idx="1">
                  <c:v>2501</c:v>
                </c:pt>
                <c:pt idx="2">
                  <c:v>2496</c:v>
                </c:pt>
                <c:pt idx="3">
                  <c:v>2501</c:v>
                </c:pt>
                <c:pt idx="4">
                  <c:v>2106</c:v>
                </c:pt>
                <c:pt idx="5">
                  <c:v>1766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1F1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5E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0"/>
          <c:min val="0"/>
        </c:scaling>
        <c:delete val="0"/>
        <c:axPos val="b"/>
        <c:majorGridlines>
          <c:spPr>
            <a:ln w="9525" cap="flat">
              <a:solidFill>
                <a:srgbClr val="E6E5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5E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FND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1F1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Direct (v8)</c:v>
                  </c:pt>
                  <c:pt idx="1">
                    <c:v>Ordered chain</c:v>
                  </c:pt>
                  <c:pt idx="2">
                    <c:v>Energy-aware relay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2501</c:v>
                </c:pt>
                <c:pt idx="1">
                  <c:v>2436</c:v>
                </c:pt>
                <c:pt idx="2">
                  <c:v>2501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1F1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5E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0"/>
          <c:min val="0"/>
        </c:scaling>
        <c:delete val="0"/>
        <c:axPos val="l"/>
        <c:majorGridlines>
          <c:spPr>
            <a:ln w="9525" cap="flat">
              <a:solidFill>
                <a:srgbClr val="E6E5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5E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FND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1F1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Direct (v8)</c:v>
                  </c:pt>
                  <c:pt idx="1">
                    <c:v>Ordered chain</c:v>
                  </c:pt>
                  <c:pt idx="2">
                    <c:v>Energy-aware relay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1441</c:v>
                </c:pt>
                <c:pt idx="1">
                  <c:v>1636</c:v>
                </c:pt>
                <c:pt idx="2">
                  <c:v>1671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1F1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5E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0"/>
          <c:min val="0"/>
        </c:scaling>
        <c:delete val="0"/>
        <c:axPos val="l"/>
        <c:majorGridlines>
          <c:spPr>
            <a:ln w="9525" cap="flat">
              <a:solidFill>
                <a:srgbClr val="E6E5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5E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FND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1F1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v1</c:v>
                  </c:pt>
                  <c:pt idx="1">
                    <c:v>v2</c:v>
                  </c:pt>
                  <c:pt idx="2">
                    <c:v>v3</c:v>
                  </c:pt>
                  <c:pt idx="3">
                    <c:v>v4</c:v>
                  </c:pt>
                  <c:pt idx="4">
                    <c:v>v5</c:v>
                  </c:pt>
                  <c:pt idx="5">
                    <c:v>v5-exp</c:v>
                  </c:pt>
                  <c:pt idx="6">
                    <c:v>v5b</c:v>
                  </c:pt>
                  <c:pt idx="7">
                    <c:v>v6</c:v>
                  </c:pt>
                  <c:pt idx="8">
                    <c:v>v7</c:v>
                  </c:pt>
                  <c:pt idx="9">
                    <c:v>v7.1</c:v>
                  </c:pt>
                  <c:pt idx="10">
                    <c:v>v8</c:v>
                  </c:pt>
                  <c:pt idx="11">
                    <c:v>v8-Chain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322</c:v>
                </c:pt>
                <c:pt idx="1">
                  <c:v>338</c:v>
                </c:pt>
                <c:pt idx="2">
                  <c:v>1645</c:v>
                </c:pt>
                <c:pt idx="3">
                  <c:v>1438</c:v>
                </c:pt>
                <c:pt idx="4">
                  <c:v>1438</c:v>
                </c:pt>
                <c:pt idx="5">
                  <c:v>1645</c:v>
                </c:pt>
                <c:pt idx="6">
                  <c:v>1645</c:v>
                </c:pt>
                <c:pt idx="7">
                  <c:v>1415</c:v>
                </c:pt>
                <c:pt idx="8">
                  <c:v>1415</c:v>
                </c:pt>
                <c:pt idx="9">
                  <c:v>1471</c:v>
                </c:pt>
                <c:pt idx="10">
                  <c:v>2501</c:v>
                </c:pt>
                <c:pt idx="11">
                  <c:v>2501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1F1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5E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6E5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F5E5A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5F5E5A"/>
                    </a:solidFill>
                    <a:latin typeface="Arial"/>
                  </a:rPr>
                  <a:t>FND (rounds)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5E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FND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1F1D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LEACH</c:v>
                  </c:pt>
                  <c:pt idx="1">
                    <c:v>HEED</c:v>
                  </c:pt>
                  <c:pt idx="2">
                    <c:v>PEGASIS</c:v>
                  </c:pt>
                  <c:pt idx="3">
                    <c:v>SH-LEACH+</c:v>
                  </c:pt>
                  <c:pt idx="4">
                    <c:v>H-LEACH+</c:v>
                  </c:pt>
                  <c:pt idx="5">
                    <c:v>EECH-HEED+</c:v>
                  </c:pt>
                  <c:pt idx="6">
                    <c:v>v8-Chain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1383</c:v>
                </c:pt>
                <c:pt idx="1">
                  <c:v>634</c:v>
                </c:pt>
                <c:pt idx="2">
                  <c:v>1324</c:v>
                </c:pt>
                <c:pt idx="3">
                  <c:v>1480</c:v>
                </c:pt>
                <c:pt idx="4">
                  <c:v>1473</c:v>
                </c:pt>
                <c:pt idx="5">
                  <c:v>1368</c:v>
                </c:pt>
                <c:pt idx="6">
                  <c:v>2501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HND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1F1D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LEACH</c:v>
                  </c:pt>
                  <c:pt idx="1">
                    <c:v>HEED</c:v>
                  </c:pt>
                  <c:pt idx="2">
                    <c:v>PEGASIS</c:v>
                  </c:pt>
                  <c:pt idx="3">
                    <c:v>SH-LEACH+</c:v>
                  </c:pt>
                  <c:pt idx="4">
                    <c:v>H-LEACH+</c:v>
                  </c:pt>
                  <c:pt idx="5">
                    <c:v>EECH-HEED+</c:v>
                  </c:pt>
                  <c:pt idx="6">
                    <c:v>v8-Chain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1586</c:v>
                </c:pt>
                <c:pt idx="1">
                  <c:v>1216</c:v>
                </c:pt>
                <c:pt idx="2">
                  <c:v>2352</c:v>
                </c:pt>
                <c:pt idx="3">
                  <c:v>1542</c:v>
                </c:pt>
                <c:pt idx="4">
                  <c:v>1509</c:v>
                </c:pt>
                <c:pt idx="5">
                  <c:v>1385</c:v>
                </c:pt>
                <c:pt idx="6">
                  <c:v>2589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LND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1F1D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LEACH</c:v>
                  </c:pt>
                  <c:pt idx="1">
                    <c:v>HEED</c:v>
                  </c:pt>
                  <c:pt idx="2">
                    <c:v>PEGASIS</c:v>
                  </c:pt>
                  <c:pt idx="3">
                    <c:v>SH-LEACH+</c:v>
                  </c:pt>
                  <c:pt idx="4">
                    <c:v>H-LEACH+</c:v>
                  </c:pt>
                  <c:pt idx="5">
                    <c:v>EECH-HEED+</c:v>
                  </c:pt>
                  <c:pt idx="6">
                    <c:v>v8-Chain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1842</c:v>
                </c:pt>
                <c:pt idx="1">
                  <c:v>1883</c:v>
                </c:pt>
                <c:pt idx="2">
                  <c:v>3504</c:v>
                </c:pt>
                <c:pt idx="3">
                  <c:v>1558</c:v>
                </c:pt>
                <c:pt idx="4">
                  <c:v>1525</c:v>
                </c:pt>
                <c:pt idx="5">
                  <c:v>1767</c:v>
                </c:pt>
                <c:pt idx="6">
                  <c:v>2631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1F1D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5E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6E5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F5E5A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F5E5A"/>
                    </a:solidFill>
                    <a:latin typeface="Arial"/>
                  </a:rPr>
                  <a:t>Rounds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5E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PDR (%)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1F1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LEACH</c:v>
                  </c:pt>
                  <c:pt idx="1">
                    <c:v>HEED</c:v>
                  </c:pt>
                  <c:pt idx="2">
                    <c:v>PEGASIS</c:v>
                  </c:pt>
                  <c:pt idx="3">
                    <c:v>SH-LEACH+</c:v>
                  </c:pt>
                  <c:pt idx="4">
                    <c:v>H-LEACH+</c:v>
                  </c:pt>
                  <c:pt idx="5">
                    <c:v>EECH-HEED+</c:v>
                  </c:pt>
                  <c:pt idx="6">
                    <c:v>v8-Chain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99.4</c:v>
                </c:pt>
                <c:pt idx="1">
                  <c:v>99.68</c:v>
                </c:pt>
                <c:pt idx="2">
                  <c:v>99.42</c:v>
                </c:pt>
                <c:pt idx="3">
                  <c:v>99.21</c:v>
                </c:pt>
                <c:pt idx="4">
                  <c:v>99.36</c:v>
                </c:pt>
                <c:pt idx="5">
                  <c:v>99.51</c:v>
                </c:pt>
                <c:pt idx="6">
                  <c:v>99.64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F1F1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5E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8.5"/>
        </c:scaling>
        <c:delete val="0"/>
        <c:axPos val="l"/>
        <c:majorGridlines>
          <c:spPr>
            <a:ln w="9525" cap="flat">
              <a:solidFill>
                <a:srgbClr val="E6E5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5E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WSN is a set of small battery-powered sensors that measure something and send it by radio to a base station.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rotation and CH protection matter. FND measures exactly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2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23-1.png"/><Relationship Id="rId3" Type="http://schemas.openxmlformats.org/officeDocument/2006/relationships/image" Target="../media/image-23-2.png"/><Relationship Id="rId4" Type="http://schemas.openxmlformats.org/officeDocument/2006/relationships/image" Target="../media/image-23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.xml"/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3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image" Target="../media/image-3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image" Target="../media/image-4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image" Target="../media/image-4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image" Target="../media/image-43-1.png"/><Relationship Id="rId3" Type="http://schemas.openxmlformats.org/officeDocument/2006/relationships/image" Target="../media/image-4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image" Target="../media/image-5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image" Target="../media/image-52-4.png"/><Relationship Id="rId5" Type="http://schemas.openxmlformats.org/officeDocument/2006/relationships/image" Target="../media/image-52-5.png"/><Relationship Id="rId6" Type="http://schemas.openxmlformats.org/officeDocument/2006/relationships/image" Target="../media/image-5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image" Target="../media/image-5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image" Target="../media/image-57-3.png"/><Relationship Id="rId4" Type="http://schemas.openxmlformats.org/officeDocument/2006/relationships/image" Target="../media/image-57-4.png"/><Relationship Id="rId5" Type="http://schemas.openxmlformats.org/officeDocument/2006/relationships/image" Target="../media/image-57-5.png"/><Relationship Id="rId6" Type="http://schemas.openxmlformats.org/officeDocument/2006/relationships/image" Target="../media/image-5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822960" cy="82296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9372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173736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Energy-Efficient Secure Clustering in Wireless Sensor Networks Using Hybrid Cryptography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886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LEACH, HEED and PEGASIS to a new clustering protocol: v8-Chain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983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Rahma Khaled Oshba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Dr. Hesham ElZouka · Dr. Amani Saad · Dr. Khaled Saada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thesis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45920"/>
            <a:ext cx="566928" cy="5669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1787652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6459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3172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WSNs and clustering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377440" y="31089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9D8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355848" y="141732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84448" y="1645920"/>
            <a:ext cx="566928" cy="56692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1787652"/>
            <a:ext cx="283464" cy="28346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15968" y="16459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&amp; first experiments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584448" y="233172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model, ns-3, demo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184648" y="31089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9D8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6163056" y="141732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91656" y="1645920"/>
            <a:ext cx="566928" cy="56692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388" y="178765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123176" y="16459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protocols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391656" y="233172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LEACH · HEED · PEGASIS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7991856" y="31089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9D8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8970264" y="141732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198864" y="1645920"/>
            <a:ext cx="566928" cy="56692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0596" y="1787652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930384" y="16459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protocols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9198864" y="233172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SH-LEACH · H-LEACH · EECH-HEED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10799064" y="31089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9D8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548640" y="388620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7240" y="4114800"/>
            <a:ext cx="566928" cy="5669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" y="4256532"/>
            <a:ext cx="283464" cy="28346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508760" y="41148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work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777240" y="480060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literature review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2377440" y="55778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9D8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34" name="Shape 27"/>
          <p:cNvSpPr/>
          <p:nvPr/>
        </p:nvSpPr>
        <p:spPr>
          <a:xfrm>
            <a:off x="3355848" y="388620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3584448" y="4114800"/>
            <a:ext cx="566928" cy="56692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6180" y="4256532"/>
            <a:ext cx="283464" cy="283464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4315968" y="41148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protocol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3584448" y="480060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→ v8-Chain</a:t>
            </a:r>
            <a:endParaRPr lang="en-US" sz="1400" dirty="0"/>
          </a:p>
        </p:txBody>
      </p:sp>
      <p:sp>
        <p:nvSpPr>
          <p:cNvPr id="39" name="Text 31"/>
          <p:cNvSpPr txBox="1"/>
          <p:nvPr/>
        </p:nvSpPr>
        <p:spPr>
          <a:xfrm>
            <a:off x="5184648" y="55778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9D8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40" name="Shape 32"/>
          <p:cNvSpPr/>
          <p:nvPr/>
        </p:nvSpPr>
        <p:spPr>
          <a:xfrm>
            <a:off x="6163056" y="388620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6391656" y="4114800"/>
            <a:ext cx="566928" cy="56692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3388" y="4256532"/>
            <a:ext cx="283464" cy="283464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7123176" y="41148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security</a:t>
            </a:r>
            <a:endParaRPr lang="en-US" sz="1500" dirty="0"/>
          </a:p>
        </p:txBody>
      </p:sp>
      <p:sp>
        <p:nvSpPr>
          <p:cNvPr id="44" name="Text 35"/>
          <p:cNvSpPr txBox="1"/>
          <p:nvPr/>
        </p:nvSpPr>
        <p:spPr>
          <a:xfrm>
            <a:off x="6391656" y="480060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cost</a:t>
            </a:r>
            <a:endParaRPr lang="en-US" sz="1400" dirty="0"/>
          </a:p>
        </p:txBody>
      </p:sp>
      <p:sp>
        <p:nvSpPr>
          <p:cNvPr id="45" name="Text 36"/>
          <p:cNvSpPr txBox="1"/>
          <p:nvPr/>
        </p:nvSpPr>
        <p:spPr>
          <a:xfrm>
            <a:off x="7991856" y="55778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9D8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46" name="Shape 37"/>
          <p:cNvSpPr/>
          <p:nvPr/>
        </p:nvSpPr>
        <p:spPr>
          <a:xfrm>
            <a:off x="8970264" y="388620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9198864" y="4114800"/>
            <a:ext cx="566928" cy="56692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0596" y="4256532"/>
            <a:ext cx="283464" cy="283464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9930384" y="41148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50" name="Text 40"/>
          <p:cNvSpPr txBox="1"/>
          <p:nvPr/>
        </p:nvSpPr>
        <p:spPr>
          <a:xfrm>
            <a:off x="9198864" y="480060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· summary</a:t>
            </a:r>
            <a:endParaRPr lang="en-US" sz="1400" dirty="0"/>
          </a:p>
        </p:txBody>
      </p:sp>
      <p:sp>
        <p:nvSpPr>
          <p:cNvPr id="51" name="Text 41"/>
          <p:cNvSpPr txBox="1"/>
          <p:nvPr/>
        </p:nvSpPr>
        <p:spPr>
          <a:xfrm>
            <a:off x="10799064" y="55778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9D8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wireless sensor network is — and why energy is its main problem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Wireless Sensor Network (WSN)?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small battery-powered sensors that measure and report by radio</a:t>
            </a:r>
            <a:endParaRPr lang="en-US" sz="1600" dirty="0"/>
          </a:p>
        </p:txBody>
      </p:sp>
      <p:pic>
        <p:nvPicPr>
          <p:cNvPr id="5" name="Image 0" descr="/home/user/Routing-Protocols/thesis-final/build/fig/b1_ws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94037"/>
            <a:ext cx="7315200" cy="313840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955280" y="155448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are spread over a field (soil, forest, building, body …).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sensor measures (temperature, humidity, motion …) and sends its reading by radio.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readings reach a sink / base station (BS), then the user over the Internet.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4983480"/>
            <a:ext cx="594360" cy="59436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70" y="5132070"/>
            <a:ext cx="297180" cy="2971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98448" y="49834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2514600" y="4983480"/>
            <a:ext cx="594360" cy="59436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190" y="5132070"/>
            <a:ext cx="297180" cy="2971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172968" y="49834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389120" y="4983480"/>
            <a:ext cx="594360" cy="594360"/>
          </a:xfrm>
          <a:prstGeom prst="ellipse">
            <a:avLst/>
          </a:prstGeom>
          <a:solidFill>
            <a:srgbClr val="E34948"/>
          </a:solidFill>
          <a:ln w="12700">
            <a:solidFill>
              <a:srgbClr val="E34948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7710" y="5132070"/>
            <a:ext cx="297180" cy="2971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047488" y="49834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263640" y="4983480"/>
            <a:ext cx="594360" cy="59436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2230" y="5132070"/>
            <a:ext cx="297180" cy="29718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922008" y="49834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8138160" y="4983480"/>
            <a:ext cx="594360" cy="5943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750" y="5132070"/>
            <a:ext cx="297180" cy="29718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796528" y="49834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10012680" y="4983480"/>
            <a:ext cx="594360" cy="594360"/>
          </a:xfrm>
          <a:prstGeom prst="ellipse">
            <a:avLst/>
          </a:prstGeom>
          <a:solidFill>
            <a:srgbClr val="9A9A96"/>
          </a:solidFill>
          <a:ln w="12700">
            <a:solidFill>
              <a:srgbClr val="9A9A96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61270" y="5132070"/>
            <a:ext cx="297180" cy="29718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671048" y="49834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25" name="Text 16"/>
          <p:cNvSpPr txBox="1"/>
          <p:nvPr/>
        </p:nvSpPr>
        <p:spPr>
          <a:xfrm>
            <a:off x="640080" y="4617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a sensor node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cheap and limited — the battery decides how long it lives</a:t>
            </a:r>
            <a:endParaRPr lang="en-US" sz="1600" dirty="0"/>
          </a:p>
        </p:txBody>
      </p:sp>
      <p:pic>
        <p:nvPicPr>
          <p:cNvPr id="5" name="Image 0" descr="/home/user/Routing-Protocols/thesis-final/build/fig/b2_n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3616"/>
            <a:ext cx="6949440" cy="24762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16052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4389120"/>
            <a:ext cx="566928" cy="566928"/>
          </a:xfrm>
          <a:prstGeom prst="ellipse">
            <a:avLst/>
          </a:prstGeom>
          <a:solidFill>
            <a:srgbClr val="E34948"/>
          </a:solidFill>
          <a:ln w="12700">
            <a:solidFill>
              <a:srgbClr val="E3494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" y="4530852"/>
            <a:ext cx="283464" cy="28346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43891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battery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50749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cannot be replaced or recharged in the field.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297680" y="416052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26280" y="4389120"/>
            <a:ext cx="566928" cy="5669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012" y="4530852"/>
            <a:ext cx="283464" cy="28346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257800" y="43891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radio range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4526280" y="50749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 of metres; far nodes cannot reach the BS cheaply.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046720" y="416052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75320" y="4389120"/>
            <a:ext cx="566928" cy="56692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7052" y="4530852"/>
            <a:ext cx="283464" cy="28346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06840" y="43891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CPU and memory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8275320" y="50749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algorithms (and heavy cryptography) are costly.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548640" y="59893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77240" y="59893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communication uses most of the energy — even listening costs energy.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main problem: energy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lifetime = how long the sensors keep working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one bit costs more the farther it goes: cost grows with d² and, beyond ≈ 88 m, with d⁴.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every sensor sends directly to a far BS, the far sensors die very early.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sensors die, parts of the field are no longer monitored.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949440" y="1463040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86600" y="1463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FND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14630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Node Dies — round of the first death (stability period). Main metric.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49440" y="2606040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86600" y="2606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HND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26060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Nodes Die — average lifetime.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3749040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86600" y="3749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LND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37490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Node Dies — total lifetime.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49440" y="4892040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86600" y="4892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PDR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138160" y="48920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Delivery Ratio — delivered ÷ generated readings.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60350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3977640"/>
            <a:ext cx="566928" cy="5669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4119372"/>
            <a:ext cx="283464" cy="283464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508760" y="3977640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studied in this thesis: clustering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" y="46634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the sensors so that most transmissions are short.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clustering?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send a short hop to a cluster head (CH); the CH sends one packet to the BS</a:t>
            </a:r>
            <a:endParaRPr lang="en-US" sz="1600" dirty="0"/>
          </a:p>
        </p:txBody>
      </p:sp>
      <p:pic>
        <p:nvPicPr>
          <p:cNvPr id="5" name="Image 0" descr="/home/user/Routing-Protocols/thesis-final/build/fig/b3_cluste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1614" y="1371600"/>
            <a:ext cx="9818292" cy="4389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85216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585216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head (CH) = the leader of a group.  Member = a normal sensor.  Fusion = the CH merges all readings into one packet.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clustering round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→ steady state → the CH role rotates in the next round</a:t>
            </a:r>
            <a:endParaRPr lang="en-US" sz="1600" dirty="0"/>
          </a:p>
        </p:txBody>
      </p:sp>
      <p:pic>
        <p:nvPicPr>
          <p:cNvPr id="5" name="Image 0" descr="/home/user/Routing-Protocols/thesis-final/build/fig/b4_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890" y="1371600"/>
            <a:ext cx="10593740" cy="2468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02336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77240" y="425196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9377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CHs, CHs advertise, members join the nearest CH, CH sends a TDMA schedule.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402336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526280" y="425196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26280" y="49377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sends in its own time slot (TDMA) — no collisions.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046720" y="402336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275320" y="425196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+ BS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49377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 fuses members + its own reading and sends one packet to the BS.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59436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59436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= one full cycle.  Epoch = the rounds needed so that every node serves as CH once.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open problems of clustering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protocol in this thesis tries to solve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00200"/>
            <a:ext cx="566928" cy="5669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1741932"/>
            <a:ext cx="283464" cy="28346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16002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becomes CH?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28600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 or badly placed CH dies early.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97680" y="137160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1600200"/>
            <a:ext cx="566928" cy="5669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012" y="1741932"/>
            <a:ext cx="283464" cy="28346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257800" y="16002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rotation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228600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 works harder, so the role must rotate.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046720" y="137160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75320" y="1600200"/>
            <a:ext cx="566928" cy="56692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052" y="1741932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06840" y="16002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overhead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8275320" y="228600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Electing CHs every round costs messages and energy.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48640" y="379476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4023360"/>
            <a:ext cx="566928" cy="56692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" y="4165092"/>
            <a:ext cx="283464" cy="28346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508760" y="40233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failure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777240" y="470916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CH dies, its members lose their data.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4297680" y="379476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26280" y="4023360"/>
            <a:ext cx="566928" cy="56692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012" y="4165092"/>
            <a:ext cx="283464" cy="28346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257800" y="40233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base station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4526280" y="470916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→ BS links become very expensive (d⁴).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8046720" y="379476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275320" y="4023360"/>
            <a:ext cx="566928" cy="566928"/>
          </a:xfrm>
          <a:prstGeom prst="ellipse">
            <a:avLst/>
          </a:prstGeom>
          <a:solidFill>
            <a:srgbClr val="E34948"/>
          </a:solidFill>
          <a:ln w="12700">
            <a:solidFill>
              <a:srgbClr val="E34948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7052" y="4165092"/>
            <a:ext cx="283464" cy="28346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006840" y="40233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8275320" y="470916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messages can be read or forged — protection costs energy.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model &amp; first experiments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energy is calculated, the tools, and the first ns-3 runs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energy is calculated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radio model (Heinzelman et al.) — used by every paper we compare with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4937760" cy="2103120"/>
          </a:xfrm>
          <a:prstGeom prst="roundRect">
            <a:avLst>
              <a:gd name="adj" fmla="val 3478"/>
            </a:avLst>
          </a:prstGeom>
          <a:solidFill>
            <a:srgbClr val="F4F4F0"/>
          </a:solidFill>
          <a:ln w="12700">
            <a:solidFill>
              <a:srgbClr val="D9D8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F1F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E_tx(k,d) = k·E_elec + k·ε_fs·d²   (d &lt; d0)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F1F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E_tx(k,d) = k·E_elec + k·ε_mp·d⁴   (d ≥ d0)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F1F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E_rx(k)   = k·E_elec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F1F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 = √(ε_fs / ε_mp) ≈ 87.7 m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03320"/>
          <a:ext cx="49377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10312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bits in the packet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 data / 200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E_elec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 electronics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nJ/bit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ε_fs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amplifier, short 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pJ/bit/m²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ε_mp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amplifier, long 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0.0013 pJ/bit/m⁴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E_DA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 at the 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nJ/bit/signal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Image 0" descr="/home/user/Routing-Protocols/thesis-final/build/fig/e1_energy_dis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2046611"/>
            <a:ext cx="5943600" cy="313053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59436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" y="59436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links: the electronics dominate — receiving is not free.  Long links (&gt; d0): the cost explodes.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why the CH is the one that dies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nodes, 0.5 J each (50 J in total), one 2000-bit reading per node per round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7665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743200"/>
                <a:gridCol w="14630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one round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pays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(15 m from its CH)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one packet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0.10 mJ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 with 20 members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 20 + fuse 21 + send to BS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2.6 mJ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Receiving one control message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bits × 50 nJ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µJ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772400" y="14173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349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26×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22402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 spends about 26 times more than a member in the same round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32004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5000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40233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a node could live as a member only (0.5 J ÷ 0.1 mJ)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47548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47548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protocol competes on one question: how to rotate the CH role fairly and make it cheaper.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(VMware) · ns-3.41 (C++) · NetAnim · Wireshark · Python</a:t>
            </a:r>
            <a:endParaRPr lang="en-US" sz="1600" dirty="0"/>
          </a:p>
        </p:txBody>
      </p:sp>
      <p:pic>
        <p:nvPicPr>
          <p:cNvPr id="5" name="Image 0" descr="/home/user/Routing-Protocols/figures/ns3_screens/vm_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81689"/>
            <a:ext cx="5486400" cy="2877503"/>
          </a:xfrm>
          <a:prstGeom prst="rect">
            <a:avLst/>
          </a:prstGeom>
        </p:spPr>
      </p:pic>
      <p:pic>
        <p:nvPicPr>
          <p:cNvPr id="6" name="Image 1" descr="/home/user/Routing-Protocols/figures/ns3_screens/vm_ubunt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106802"/>
            <a:ext cx="5394960" cy="282727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58978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ns-3.41 built from source inside an Ubuntu virtual machine; results processed in Python.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experiments — real IEEE 802.15.4 packets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WSN-Day3: 3 sensors → sink with ACKs · wsn_first_packet: + energy model + NetAnim</a:t>
            </a:r>
            <a:endParaRPr lang="en-US" sz="1600" dirty="0"/>
          </a:p>
        </p:txBody>
      </p:sp>
      <p:pic>
        <p:nvPicPr>
          <p:cNvPr id="5" name="Image 0" descr="/home/user/Routing-Protocols/figures/ns3_screens/first_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36101"/>
            <a:ext cx="4480560" cy="3460118"/>
          </a:xfrm>
          <a:prstGeom prst="rect">
            <a:avLst/>
          </a:prstGeom>
        </p:spPr>
      </p:pic>
      <p:pic>
        <p:nvPicPr>
          <p:cNvPr id="6" name="Image 1" descr="/home/user/Routing-Protocols/figures/ns3_screens/first_netan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608519"/>
            <a:ext cx="6400800" cy="391528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58978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Learned: how packets, ACKs and the energy model work — and that the radio spends energy even when it only listens.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— clustering with real packets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sensors · 3 clusters · 1 sink · CH rotates every round · TDMA · fusion</a:t>
            </a:r>
            <a:endParaRPr lang="en-US" sz="1600" dirty="0"/>
          </a:p>
        </p:txBody>
      </p:sp>
      <p:pic>
        <p:nvPicPr>
          <p:cNvPr id="5" name="Image 0" descr="/home/user/Routing-Protocols/thesis-final/build/fig/demo_lay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1371600"/>
            <a:ext cx="8229600" cy="35661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0292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852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generated in 6 rounds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383280" y="50292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5852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the sink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50292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6217920" y="5852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 to the sink after fusion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052560" y="50292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4400" dirty="0"/>
          </a:p>
        </p:txBody>
      </p:sp>
      <p:sp>
        <p:nvSpPr>
          <p:cNvPr id="13" name="Text 10"/>
          <p:cNvSpPr txBox="1"/>
          <p:nvPr/>
        </p:nvSpPr>
        <p:spPr>
          <a:xfrm>
            <a:off x="9052560" y="5852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long transmissions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in NetAnim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round 6 — red = CH (CH1, CH4, CH9) · colours = clusters · gold = sink with 72 readings</a:t>
            </a:r>
            <a:endParaRPr lang="en-US" sz="1600" dirty="0"/>
          </a:p>
        </p:txBody>
      </p:sp>
      <p:pic>
        <p:nvPicPr>
          <p:cNvPr id="5" name="Image 0" descr="/home/user/Routing-Protocols/figures/ns3_screens/demo_netan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8669" y="1371600"/>
            <a:ext cx="8244182" cy="4434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9436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59436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shows its remaining energy (16.3 J of 20 J); the CH role moved to a new node every round.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packets in Wireshark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of the sink: 72 data frames + 72 ACKs (IEEE 802.15.4)</a:t>
            </a:r>
            <a:endParaRPr lang="en-US" sz="1600" dirty="0"/>
          </a:p>
        </p:txBody>
      </p:sp>
      <p:pic>
        <p:nvPicPr>
          <p:cNvPr id="5" name="Image 0" descr="/home/user/Routing-Protocols/thesis-final/build/fig/k1_pack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067" y="1325880"/>
            <a:ext cx="10551386" cy="4480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9436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59436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frame (51 bytes = 40-byte reading + header + FCS) is answered by a 5-byte ACK.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 protocols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LEACH · HEED · PEGASIS — paper → our ORIGINAL code → our EDITED code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classic papers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20440" cy="48920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00200"/>
            <a:ext cx="566928" cy="5669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1741932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6002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LEACH (2000) [1]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86000"/>
            <a:ext cx="3063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CH rotation.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P / (1 − P·(r mod 1/P)) if n ∈ 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Energy-blind; CHs may be badly placed.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297680" y="1371600"/>
            <a:ext cx="3520440" cy="48920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600200"/>
            <a:ext cx="566928" cy="56692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012" y="174193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57800" y="16002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HEED (2004) [3]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286000"/>
            <a:ext cx="3063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CH_prob = C_prob·E_res/E_max, doubled every iteration; members join the lowest-cost CH.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messages every round.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046720" y="1371600"/>
            <a:ext cx="3520440" cy="48920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1600200"/>
            <a:ext cx="566928" cy="56692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052" y="174193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06840" y="16002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PEGASIS (2002) [4]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2286000"/>
            <a:ext cx="3063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greedy chain; data fused along the chain; one leader (i mod N) talks to the BS.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delay, long chain links, single leader.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— each paper in its own settings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prove that our code reproduces the paper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926080"/>
                <a:gridCol w="3017520"/>
                <a:gridCol w="292608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PEGASIS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× 50 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× 100 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× 50 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station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(25, −100) far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 175) far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(25, 150) far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/ node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J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J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J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 bits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bits × 5 frames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 bits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amplifier (100 pJ)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two-slope, d0 = 75 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amplifier (100 pJ)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2064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512064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changed in the algorithms; only the paper's own parameters are used.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results vs the papers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code matches the published numbers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371600"/>
          <a:ext cx="749808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321040" y="1371600"/>
            <a:ext cx="3291840" cy="49377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549640" y="1600200"/>
            <a:ext cx="566928" cy="56692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1372" y="1741932"/>
            <a:ext cx="283464" cy="28346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281160" y="160020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549640" y="2286000"/>
            <a:ext cx="2834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LEACH LND +1.1%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PEGASIS FND +2.4%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PEGASIS HND −3.1%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PEGASIS LND −0.3%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LEACH FND +11.1% (random layout).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HEED: the paper gives graphs only; ours (500 nodes) 734 / 1384 / 2259.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EDITED — one unified environment for all protocols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algorithms; only the environment changes, so the comparison is fair</a:t>
            </a:r>
            <a:endParaRPr lang="en-US" sz="1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309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9319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 random uniform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× 100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energy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J per node (50 J total)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station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centre (50, 50); far case (50, −100)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/ control packet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 / 200 bits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 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first-order, two-slope (d² / d⁴)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E_elec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nJ/bit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ε_fs / ε_mp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pJ/bit/m² / 0.0013 pJ/bit/m⁴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 = √(ε_fs/ε_mp)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87.7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E_DA (aggregation)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nJ/bit/signal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132320" y="1371600"/>
            <a:ext cx="448056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60920" y="1600200"/>
            <a:ext cx="566928" cy="5669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2652" y="1741932"/>
            <a:ext cx="283464" cy="28346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092440" y="160020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rules for everyone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360920" y="228600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node positions (same seed)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 advertisement heard by every node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join + TDMA messages are charged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 fuses members + its own reading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node without a CH sends directly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run lasts until the last node dies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59436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77240" y="59436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values? They are the standard settings of the LEACH literature and the standard radio model.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EDITED results — classic protocols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environment, BS at the centre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80160"/>
          <a:ext cx="749808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321040" y="128016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549640" y="1508760"/>
            <a:ext cx="566928" cy="5669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1372" y="1650492"/>
            <a:ext cx="283464" cy="28346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281160" y="150876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LEACH: FND 1383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549640" y="21945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first death — the baseline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321040" y="301752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549640" y="3246120"/>
            <a:ext cx="566928" cy="56692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372" y="3387852"/>
            <a:ext cx="283464" cy="28346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281160" y="32461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HEED: FND 634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8549640" y="3931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paid every round; each message heard by ~20 neighbours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321040" y="475488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549640" y="4983480"/>
            <a:ext cx="566928" cy="56692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1372" y="5125212"/>
            <a:ext cx="283464" cy="28346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281160" y="498348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PEGASIS: FND 1324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8549640" y="56692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91.5 m chain link killed node 73 early; LND 3504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vs ORIGINAL vs EDITED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numbers move between the two environments</a:t>
            </a:r>
            <a:endParaRPr lang="en-US" sz="1600" dirty="0"/>
          </a:p>
        </p:txBody>
      </p:sp>
      <p:pic>
        <p:nvPicPr>
          <p:cNvPr id="5" name="Image 0" descr="/home/user/Routing-Protocols/thesis-final/build/fig/p1_baseli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849" y="1325880"/>
            <a:ext cx="10773821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983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77240" y="52120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LEACH ↑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8978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amplifier (10 vs 100 pJ) and a central BS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4983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526280" y="52120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HEED ↓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526280" y="58978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data packet per election instead of 5; fewer nodes, less energy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046720" y="4983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275320" y="52120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PEGASIS FND ↓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58978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field → one very long greedy link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protocols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LEACH + HEED hybrids — paper → ORIGINAL → EDITED → IMPROVED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hybrid papers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adds energy (HEED idea) to LEACH-style rotation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371600"/>
            <a:ext cx="2743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SH-LEACH (2015) [5]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1371600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C·(E/E_max)·(C·r) / (1 + CH_cho mod 1/C)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595360" y="1371600"/>
            <a:ext cx="2926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+ round number + CH counter.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017520"/>
            <a:ext cx="2743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H-LEACH (2016) [6]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3017520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t(n) = e0 / (1 − e0·(r mod round(1/e0))),  e0 = P·E/E_max;  CH only if E &gt; E_avg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0" y="3017520"/>
            <a:ext cx="2926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LEACH threshold with a personal, energy-based probability + an energy gate.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663440"/>
            <a:ext cx="2743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EECH-HEED (2025) [7]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4663440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 1 (near BS): HEED.  Zone 2: P = (E/E_max)(D/D_max).  T = LEACH × α × β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0" y="4663440"/>
            <a:ext cx="2926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zones, multi-hop between CHs, adaptive sensing.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— the hybrids in their own settings</a:t>
            </a:r>
            <a:endParaRPr lang="en-US" sz="3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743200"/>
                <a:gridCol w="2834640"/>
                <a:gridCol w="30175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SH-LEACH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H-LEACH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EECH-HEED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nodes, 100 × 100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nodes, 100 × 100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near BS + 70 far; 14 advanced nodes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J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J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 – 1.5 J (≈ 56 J total)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 bits (not stated)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 bits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 bits, E_DA 50 nJ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amplifier 100 pJ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two-slope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two-slope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C_prob = 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setup messages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sensing 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result FND / HND / LND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484 / 583 / 689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1078 / 1157 / 1207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1121 / 1954 / 3783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graphs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LND ≈ 4312 (not reachable*)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1250 / 1650 / 2200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7607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7607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With 4000-bit packets the 50 J are used up before round 2500 — the paper must have used an unstated energy value.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EDITED — what went wrong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unified environment each hybrid shows a design flaw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37360"/>
            <a:ext cx="594360" cy="594360"/>
          </a:xfrm>
          <a:prstGeom prst="ellipse">
            <a:avLst/>
          </a:prstGeom>
          <a:solidFill>
            <a:srgbClr val="E34948"/>
          </a:solidFill>
          <a:ln w="12700">
            <a:solidFill>
              <a:srgbClr val="E3494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885950"/>
            <a:ext cx="297180" cy="2971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37160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SH-LEACH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FND 647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3749040" y="1371600"/>
            <a:ext cx="7680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is never reset → the probability keeps growing → up to 100 CHs per round: every node sends alone to the BS.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3200400"/>
            <a:ext cx="594360" cy="594360"/>
          </a:xfrm>
          <a:prstGeom prst="ellipse">
            <a:avLst/>
          </a:prstGeom>
          <a:solidFill>
            <a:srgbClr val="E34948"/>
          </a:solidFill>
          <a:ln w="12700">
            <a:solidFill>
              <a:srgbClr val="E3494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" y="334899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00200" y="283464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H-LEACH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FND 1384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749040" y="2834640"/>
            <a:ext cx="7680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 &gt; average" with equal energy → no CH in round 1 (deadlock); no G-set → bursts of up to 59 CHs.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429768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4663440"/>
            <a:ext cx="594360" cy="594360"/>
          </a:xfrm>
          <a:prstGeom prst="ellipse">
            <a:avLst/>
          </a:prstGeom>
          <a:solidFill>
            <a:srgbClr val="E34948"/>
          </a:solidFill>
          <a:ln w="12700">
            <a:solidFill>
              <a:srgbClr val="E3494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4812030"/>
            <a:ext cx="297180" cy="2971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00200" y="429768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EECH-HEED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FND 1311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3749040" y="4297680"/>
            <a:ext cx="7680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2: P ≈ 1 → rotation period 1/P ≈ 1 round → the same border nodes are CH every other round (221 times).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777240" y="58978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add energy to LEACH but break its rotation.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flaw in numbers — cluster heads per round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= paper algorithm (EDITED) · blue = after our fix (IMPROVED)</a:t>
            </a:r>
            <a:endParaRPr lang="en-US" sz="1600" dirty="0"/>
          </a:p>
        </p:txBody>
      </p:sp>
      <p:pic>
        <p:nvPicPr>
          <p:cNvPr id="5" name="Image 0" descr="/home/user/Routing-Protocols/thesis-final/build/fig/h1_hybrid_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45963"/>
            <a:ext cx="11064240" cy="314895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58978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SH-LEACH reaches 100 CHs (every node alone); H-LEACH and EECH-HEED elect too many CHs, too often.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IMPROVED — our fixes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two lines of code per protocol; nothing else changed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0350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91640"/>
            <a:ext cx="566928" cy="5669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1833372"/>
            <a:ext cx="283464" cy="28346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1691640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SH-LEACH:  FND 647 → 1480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3774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→ ((r − 1) mod 1/C) + 1 : the counter restarts every 10 rounds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926080"/>
            <a:ext cx="60350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3154680"/>
            <a:ext cx="566928" cy="5669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" y="3296412"/>
            <a:ext cx="283464" cy="28346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08760" y="3154680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H-LEACH:  FND 1384 → 1473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38404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 &gt; E_avg" → "E ≥ E_avg"  +  LEACH G-set restored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60350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4617720"/>
            <a:ext cx="566928" cy="5669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4759452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08760" y="4617720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EECH-HEED:  FND 1311 → 1368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53035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2 uses the paper's 10 % for the period and the G-set; Eq. 5 becomes a weight</a:t>
            </a:r>
            <a:endParaRPr lang="en-US" sz="13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766560" y="1280160"/>
          <a:ext cx="49377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Shape 15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77240" y="58978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 energy alone is not enough — the rotation (epoch / G-set) must be kept.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Hybrids — ORIGINAL vs EDITED vs IMPROVED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FND / HND / LND of every version</a:t>
            </a:r>
            <a:endParaRPr lang="en-US" sz="1600" dirty="0"/>
          </a:p>
        </p:txBody>
      </p:sp>
      <p:pic>
        <p:nvPicPr>
          <p:cNvPr id="5" name="Image 0" descr="/home/user/Routing-Protocols/thesis-final/build/fig/h2_hybrids_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5829"/>
            <a:ext cx="11064240" cy="3572022"/>
          </a:xfrm>
          <a:prstGeom prst="rect">
            <a:avLst/>
          </a:prstGeom>
        </p:spPr>
      </p:pic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3492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2743200"/>
                <a:gridCol w="35661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SH-LEACH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H-LEACH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EECH-HEED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→ EDITED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 model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packet size + setup messages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+ sensing OFF + packet + E_DA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EDITED → IMPROVED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 restarts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average + G-set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rotation in zone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work &amp; literature review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research is going (2024 – 2026)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papers (studied, not re-implemented)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need training data or unpublished models — used to compare ideas</a:t>
            </a:r>
            <a:endParaRPr lang="en-US" sz="16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2377440"/>
                <a:gridCol w="3200400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RL-ILEACH 2026 [8]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Q-learning chooses CHs (energy, density, distance)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+784 % lifetime vs LEACH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FND earlier than ILEACH (524 vs 936); learning cost not measured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DL-HEED 2025 [9]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neural network inside HEED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+60 % vs HEED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training data; heavy on sensors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TLC 2024 [10]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two-level LEACH with a distance threshold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longer lifetime than LEACH variants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CH-failure protection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EECH-HEED 2025 [7]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zones + multi-hop + adaptive sensing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FND 1250, PDR 95 %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rotation breaks in zone 2 (fixed by us)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58978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Learning-based election adapts well, but does not always delay the first node death.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— summary</a:t>
            </a:r>
            <a:endParaRPr lang="en-US" sz="32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188720"/>
                <a:gridCol w="2377440"/>
                <a:gridCol w="2194560"/>
                <a:gridCol w="265176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 election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limitation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in our protocol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LEACH [1]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T(n), epoch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energy-blind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rotation T(r) + G-set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LEACH-C [2]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(BS)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knowledge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HEED [3]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iterative energy + cost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overhead every round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× degree (single pass)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PEGASIS [4]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 leader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delay, long links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relay idea (only if cheaper)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SH-LEACH [5]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LEACH × energy × 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 count grows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lesson: keep rotation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H-LEACH [6]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LEACH + E &gt; E_avg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deadlock, no G-set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gate (I5)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EECH-HEED [7]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zones, T·α·β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rotation collapse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relay between CHs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RL-ILEACH [8] / DL-HEED [9]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2025–26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cost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+ degree features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FTEC [11] · Pachlor [12]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 · 2022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 tolerance · rotation review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CH · handover (I2)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EEUC [13] · Chauhan [14]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2005 · 2021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unequal clusters, relays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hot-spot lesson, relay rule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57784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00200"/>
            <a:ext cx="566928" cy="56692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1741932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60020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protocol combines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86000"/>
            <a:ext cx="51206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cheap single-pass CH election (energy + connectivity)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cluster reuse to cut setup overhead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protection of the CH before and after it fails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relaying between CHs only when it saves energy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they are never compared in the same environment.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309360" y="1371600"/>
            <a:ext cx="530352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600200"/>
            <a:ext cx="566928" cy="5669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692" y="174193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160020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228600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Reproduce all protocols fairly (ORIGINAL → EDITED).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Fix the flaws of the hybrids (IMPROVED).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Build a new protocol step by step (v1 → v8-Chain).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Estimate the cost of adding security.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protocol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→ v8-Chain — one change per version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protocol was built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version changes one thing, so its effect can be measured alone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063240"/>
            <a:ext cx="10789920" cy="0"/>
          </a:xfrm>
          <a:prstGeom prst="line">
            <a:avLst/>
          </a:prstGeom>
          <a:noFill/>
          <a:ln w="38100">
            <a:solidFill>
              <a:srgbClr val="D9D8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852928"/>
            <a:ext cx="420624" cy="420624"/>
          </a:xfrm>
          <a:prstGeom prst="ellipse">
            <a:avLst/>
          </a:prstGeom>
          <a:solidFill>
            <a:srgbClr val="9A9A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10312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474720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HEED election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FND 322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404872" y="2852928"/>
            <a:ext cx="420624" cy="420624"/>
          </a:xfrm>
          <a:prstGeom prst="ellipse">
            <a:avLst/>
          </a:prstGeom>
          <a:solidFill>
            <a:srgbClr val="9A9A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47672" y="210312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901952" y="3474720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FND 338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803904" y="2852928"/>
            <a:ext cx="420624" cy="420624"/>
          </a:xfrm>
          <a:prstGeom prst="ellipse">
            <a:avLst/>
          </a:prstGeom>
          <a:solidFill>
            <a:srgbClr val="1BAF7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46704" y="210312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300984" y="3474720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pass + reuse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FND 1645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202936" y="2852928"/>
            <a:ext cx="420624" cy="420624"/>
          </a:xfrm>
          <a:prstGeom prst="ellipse">
            <a:avLst/>
          </a:prstGeom>
          <a:solidFill>
            <a:srgbClr val="9A9A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45736" y="210312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v4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700016" y="3474720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15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FND 1438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01968" y="2852928"/>
            <a:ext cx="420624" cy="420624"/>
          </a:xfrm>
          <a:prstGeom prst="ellipse">
            <a:avLst/>
          </a:prstGeom>
          <a:solidFill>
            <a:srgbClr val="9A9A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44768" y="210312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v5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099048" y="3474720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CH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FND 1645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01000" y="2852928"/>
            <a:ext cx="420624" cy="420624"/>
          </a:xfrm>
          <a:prstGeom prst="ellipse">
            <a:avLst/>
          </a:prstGeom>
          <a:solidFill>
            <a:srgbClr val="9A9A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43800" y="210312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v6/v7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0" y="3474720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chain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FND 1415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400032" y="2852928"/>
            <a:ext cx="420624" cy="420624"/>
          </a:xfrm>
          <a:prstGeom prst="ellipse">
            <a:avLst/>
          </a:prstGeom>
          <a:solidFill>
            <a:srgbClr val="1BAF7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42832" y="210312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v8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897112" y="3474720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 – I5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FND 2501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0799064" y="2852928"/>
            <a:ext cx="420624" cy="420624"/>
          </a:xfrm>
          <a:prstGeom prst="ellipse">
            <a:avLst/>
          </a:prstGeom>
          <a:solidFill>
            <a:srgbClr val="2A78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341864" y="210312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v8-Chain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10296144" y="3474720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relay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FND 2501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512064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512064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big jumps: v3 (no negotiation + cluster reuse) and v8 (direct-to-BS + energy gate).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 – v2: starting from HEED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= HEED election + LEACH nearest-CH join · v2 = + fairness penalty cost × (1 + 0.1·timesServed)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371600"/>
          <a:ext cx="65836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1371600"/>
            <a:ext cx="4206240" cy="4389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35240" y="1600200"/>
            <a:ext cx="566928" cy="56692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972" y="1741932"/>
            <a:ext cx="283464" cy="28346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366760" y="160020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635240" y="2286000"/>
            <a:ext cx="37490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FND only 322 → 338.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negotiation of HEED, paid every round, is the real problem — not fairness.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77240" y="58978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 remove the iterative negotiation.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 – v4: single-pass election + cluster reuse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jump of the whole study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4F4F0"/>
          </a:solidFill>
          <a:ln w="12700">
            <a:solidFill>
              <a:srgbClr val="D9D8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716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T(r) × (E/E0) × (1 + deg/deg_max)   =   rotation × energy × neighbours</a:t>
            </a:r>
            <a:endParaRPr lang="en-US" sz="1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2377440"/>
          <a:ext cx="58521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675120" y="2377440"/>
            <a:ext cx="493776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903720" y="2606040"/>
            <a:ext cx="566928" cy="56692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452" y="274777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635240" y="260604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×4.9 longer first-node life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903720" y="3291840"/>
            <a:ext cx="44805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are kept for 5 rounds, so setup is paid once per 5 rounds.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rounds is worse (1438, PDR 95.91%): the CH is overloaded and its members are orphaned when it dies.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77240" y="58978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 reuse clusters for 5 rounds — but protect the members when the CH dies.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v5: backup CH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member replaces a dead CH (v5b: only if it has ≥ 5 % of E0)</a:t>
            </a:r>
            <a:endParaRPr lang="en-US" sz="16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400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097280"/>
                <a:gridCol w="1097280"/>
                <a:gridCol w="10972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2476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95.91%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v5 (int 15)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2131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98.44%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v5-exp (int 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98.82%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v5-exp (int 10)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2091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2251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v5b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98.56%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223760" y="1371600"/>
            <a:ext cx="43891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52360" y="1600200"/>
            <a:ext cx="566928" cy="5669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4092" y="1741932"/>
            <a:ext cx="283464" cy="28346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183880" y="160020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452360" y="2286000"/>
            <a:ext cx="39319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backup protects the data (PDR ↑) but does not delay the first death.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5 is the best again.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v5b becomes the base of v8.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77240" y="58978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 protection improves reliability; lifetime needs something else.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v6 – v7: chaining the cluster heads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CHs forward to each other towards the BS (idea from PEGASIS)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371600"/>
          <a:ext cx="67665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371600"/>
            <a:ext cx="4023360" cy="43891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818120" y="1600200"/>
            <a:ext cx="566928" cy="566928"/>
          </a:xfrm>
          <a:prstGeom prst="ellipse">
            <a:avLst/>
          </a:prstGeom>
          <a:solidFill>
            <a:srgbClr val="E34948"/>
          </a:solidFill>
          <a:ln w="12700">
            <a:solidFill>
              <a:srgbClr val="E3494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9852" y="1741932"/>
            <a:ext cx="283464" cy="28346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549640" y="160020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Worse, not better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818120" y="2286000"/>
            <a:ext cx="35661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CHs near the BS carry everybody's traffic and die first (the "hot spot" of EEUC [13]).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BS at the centre, forced relaying costs more than it saves.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77240" y="58978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 relay only when it really saves energy.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v8: five improvements on top of v5b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00200"/>
            <a:ext cx="566928" cy="566928"/>
          </a:xfrm>
          <a:prstGeom prst="ellipse">
            <a:avLst/>
          </a:prstGeom>
          <a:solidFill>
            <a:srgbClr val="9A9A96"/>
          </a:solidFill>
          <a:ln w="12700">
            <a:solidFill>
              <a:srgbClr val="9A9A9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1741932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6002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 Epoch fix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860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new epoch when nobody is eligible → no round without CHs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3716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600200"/>
            <a:ext cx="566928" cy="566928"/>
          </a:xfrm>
          <a:prstGeom prst="ellipse">
            <a:avLst/>
          </a:prstGeom>
          <a:solidFill>
            <a:srgbClr val="9A9A96"/>
          </a:solidFill>
          <a:ln w="12700">
            <a:solidFill>
              <a:srgbClr val="9A9A9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012" y="174193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57800" y="16002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 Handover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2860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 that cannot finish the round hands over before it dies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46720" y="13716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1600200"/>
            <a:ext cx="566928" cy="566928"/>
          </a:xfrm>
          <a:prstGeom prst="ellipse">
            <a:avLst/>
          </a:prstGeom>
          <a:solidFill>
            <a:srgbClr val="9A9A96"/>
          </a:solidFill>
          <a:ln w="12700">
            <a:solidFill>
              <a:srgbClr val="9A9A9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052" y="174193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06840" y="16002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Re-join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22860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of a dead CH join the nearest alive CH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356616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794760"/>
            <a:ext cx="566928" cy="56692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" y="3936492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37947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I4 Direct-to-BS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48056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 not farther from the BS than from its CH sends directly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297680" y="356616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3794760"/>
            <a:ext cx="566928" cy="56692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012" y="3936492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57800" y="37947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I5 Energy gate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526280" y="448056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nodes with E ≥ network average may become CH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8138160" y="36118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2501</a:t>
            </a:r>
            <a:endParaRPr lang="en-US" sz="4400" dirty="0"/>
          </a:p>
        </p:txBody>
      </p:sp>
      <p:sp>
        <p:nvSpPr>
          <p:cNvPr id="30" name="Text 23"/>
          <p:cNvSpPr txBox="1"/>
          <p:nvPr/>
        </p:nvSpPr>
        <p:spPr>
          <a:xfrm>
            <a:off x="8138160" y="44348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FND (v5b 1645) · PDR 99.65%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 — which improvement matters?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 with one improvement switched off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371600"/>
          <a:ext cx="749808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321040" y="1371600"/>
            <a:ext cx="32918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549640" y="1600200"/>
            <a:ext cx="566928" cy="56692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1372" y="1741932"/>
            <a:ext cx="283464" cy="28346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281160" y="160020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I4 and I5 make the gain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549640" y="228600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I4: 1766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I5: 2106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321040" y="3931920"/>
            <a:ext cx="32918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549640" y="4160520"/>
            <a:ext cx="566928" cy="56692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372" y="4302252"/>
            <a:ext cx="283464" cy="28346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281160" y="41605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I1, I2, I3 are safety nets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8549640" y="484632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zero-CH rounds, no lost members, stable PDR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v8-Chain: energy-aware relay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 forwards through another CH only if it is cheaper than going straight to the BS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4F0"/>
          </a:solidFill>
          <a:ln w="12700">
            <a:solidFill>
              <a:srgbClr val="D9D8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716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relay via CH j  only if   Tx(c → j) + Rx(j) + E_DA(j)  &lt;  Tx(c → BS)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at the centre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2651760"/>
          <a:ext cx="53949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217920" y="22860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far away (50, −100)</a:t>
            </a:r>
            <a:endParaRPr lang="en-US" sz="15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17920" y="2651760"/>
          <a:ext cx="53949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77240" y="58978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Centre: nothing to gain, nothing lost (2501).  Far BS: +16 % FND (1441 → 1671).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 — all versions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node death (bars) · unified environment, BS at the centre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80160"/>
          <a:ext cx="1106424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of v8-Chain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once every 5 rounds · data every round · fault tolerance at any time</a:t>
            </a:r>
            <a:endParaRPr lang="en-US" sz="1600" dirty="0"/>
          </a:p>
        </p:txBody>
      </p:sp>
      <p:pic>
        <p:nvPicPr>
          <p:cNvPr id="5" name="Image 0" descr="/home/user/Routing-Protocols/thesis-final/build/fig/f12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8591" y="1325880"/>
            <a:ext cx="8904339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v8-Chain in action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50 — relays appear only where they save energy</a:t>
            </a:r>
            <a:endParaRPr lang="en-US" sz="1600" dirty="0"/>
          </a:p>
        </p:txBody>
      </p:sp>
      <p:pic>
        <p:nvPicPr>
          <p:cNvPr id="5" name="Image 0" descr="/home/user/Routing-Protocols/thesis-final/build/fig/f11_topology_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940" y="1325880"/>
            <a:ext cx="4544040" cy="5029200"/>
          </a:xfrm>
          <a:prstGeom prst="rect">
            <a:avLst/>
          </a:prstGeom>
        </p:spPr>
      </p:pic>
      <p:pic>
        <p:nvPicPr>
          <p:cNvPr id="6" name="Image 1" descr="/home/user/Routing-Protocols/thesis-final/build/fig/f11_topology_farB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705" y="1325880"/>
            <a:ext cx="2997631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comparison — network lifetime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version of every family, unified environment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188720"/>
          <a:ext cx="731520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38160" y="15544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2501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2377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before the first node dies — the latest of all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31089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+81%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3931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FND vs LEACH (1383)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46634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+69%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5486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FND vs the best hybrid (SH-LEACH+ 1480); +81% vs LEACH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Alive nodes and energy per round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v8-Chain (blue) keeps every node alive longest, then all die together</a:t>
            </a:r>
            <a:endParaRPr lang="en-US" sz="1600" dirty="0"/>
          </a:p>
        </p:txBody>
      </p:sp>
      <p:pic>
        <p:nvPicPr>
          <p:cNvPr id="5" name="Image 0" descr="/home/user/Routing-Protocols/thesis-final/build/fig/f3_alive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5863"/>
            <a:ext cx="5486400" cy="2837793"/>
          </a:xfrm>
          <a:prstGeom prst="rect">
            <a:avLst/>
          </a:prstGeom>
        </p:spPr>
      </p:pic>
      <p:pic>
        <p:nvPicPr>
          <p:cNvPr id="6" name="Image 1" descr="/home/user/Routing-Protocols/thesis-final/build/fig/f10_energy_curv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359082"/>
            <a:ext cx="5486400" cy="2871357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and robustness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57607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5" name="Image 0" descr="/home/user/Routing-Protocols/thesis-final/build/fig/f7_robustn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85369"/>
            <a:ext cx="5212080" cy="235574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492240" y="493776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random topologies: FND 2471 – 2531 (mean 2500)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548640" y="59436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59436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protocols deliver &gt; 99 % of readings; they differ in lifetime.  The v8-Chain result is not luck of one layout.</a:t>
            </a:r>
            <a:endParaRPr lang="en-US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of the comparison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environment, BS at the centre</a:t>
            </a:r>
            <a:endParaRPr lang="en-US" sz="16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560320"/>
                <a:gridCol w="1188720"/>
                <a:gridCol w="1188720"/>
                <a:gridCol w="1188720"/>
                <a:gridCol w="1280160"/>
                <a:gridCol w="182880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v8-Chain FND gain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+294%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PEGASIS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SH-LEACH+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hybrid, fixed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99.21%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H-LEACH+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hybrid, fixed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EECH-HEED+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recent hybrid, fixed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v8-Chain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2589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2631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v8-Chain has the latest first node death of every protocol: from +69 % (SH-LEACH+) to +294 % (HEED).</a:t>
            </a:r>
            <a:endParaRPr lang="en-US" sz="15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version we chose — and why: v8-Chain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204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00200"/>
            <a:ext cx="566928" cy="5669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1741932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6002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first death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860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FND 2501 — highest of all protocols and versions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297680" y="1371600"/>
            <a:ext cx="35204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600200"/>
            <a:ext cx="566928" cy="56692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012" y="174193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57800" y="16002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any BS position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2860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v8 at the centre, +16 % when the BS is far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046720" y="1371600"/>
            <a:ext cx="35204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1600200"/>
            <a:ext cx="566928" cy="56692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052" y="174193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06840" y="16002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22860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PDR 99.64%; no round without CHs; members never orphaned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35204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069080"/>
            <a:ext cx="566928" cy="56692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" y="4210812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40690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7548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topologies: FND 2471 – 2531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4297680" y="3840480"/>
            <a:ext cx="35204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4069080"/>
            <a:ext cx="566928" cy="56692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012" y="4210812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57800" y="40690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and distributed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526280" y="47548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one-step score, local decisions, no training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8046720" y="3840480"/>
            <a:ext cx="35204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75320" y="4069080"/>
            <a:ext cx="566928" cy="566928"/>
          </a:xfrm>
          <a:prstGeom prst="ellipse">
            <a:avLst/>
          </a:prstGeom>
          <a:solidFill>
            <a:srgbClr val="9A9A96"/>
          </a:solidFill>
          <a:ln w="12700">
            <a:solidFill>
              <a:srgbClr val="9A9A96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7052" y="4210812"/>
            <a:ext cx="283464" cy="28346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06840" y="40690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 justified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275320" y="47548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mechanism kept only if the ablation shows it helps</a:t>
            </a:r>
            <a:endParaRPr lang="en-US" sz="16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security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hybrid cryptography is expected to cost on top of v8-Chain</a:t>
            </a:r>
            <a:endParaRPr lang="en-US" sz="1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cryptography — the plan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Public-key once for keys, fast symmetric encryption for every message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00200"/>
            <a:ext cx="566928" cy="56692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1741932"/>
            <a:ext cx="283464" cy="28346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16002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Deployment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28600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 key agreement once per node → shared keys with the BS / cluster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97680" y="137160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1600200"/>
            <a:ext cx="566928" cy="5669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012" y="1741932"/>
            <a:ext cx="283464" cy="28346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257800" y="16002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Every message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228600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encryption + 8-byte integrity code (MIC), as in IEEE 802.15.4 security [17]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046720" y="137160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75320" y="1600200"/>
            <a:ext cx="566928" cy="56692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052" y="1741932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06840" y="16002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CH fusion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8275320" y="228600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decrypts, fuses and re-encrypts one packet to the BS</a:t>
            </a:r>
            <a:endParaRPr lang="en-US" sz="14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11064240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51206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Assumption used in the experiment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bits per frame (auxiliary header + MIC)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 bits (data and control)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 energy (sender and receiver)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nJ/bit (same order as E_DA; assumed)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ECC key setup per node, once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mJ (order reported for 8-bit sensor MCUs [16])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cost of security on v8-Chain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v8-Chain code run with the security overhead switched on (-DSEC_BITS, -DSEC_NJ_PER_BIT, -DSEC_SETUP_MJ)</a:t>
            </a:r>
            <a:endParaRPr lang="en-US" sz="1600" dirty="0"/>
          </a:p>
        </p:txBody>
      </p:sp>
      <p:pic>
        <p:nvPicPr>
          <p:cNvPr id="5" name="Image 0" descr="/home/user/Routing-Protocols/thesis-final/build/fig/s1_secu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6673"/>
            <a:ext cx="7406640" cy="329041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38160" y="1371600"/>
            <a:ext cx="3474720" cy="44805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366760" y="1600200"/>
            <a:ext cx="566928" cy="5669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8492" y="1741932"/>
            <a:ext cx="283464" cy="28346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098280" y="160020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366760" y="2286000"/>
            <a:ext cx="30175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FND drops by about 9 % – 19 %.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everything on: 2031 rounds — still +47 % over LEACH and +37 % over SH-LEACH+ without any security.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PDR stays above 99 %.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59436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77240" y="59436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affordable on v8-Chain: the lifetime saved by the protocol pays for the protection.</a:t>
            </a:r>
            <a:endParaRPr lang="en-US" sz="15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summary and references</a:t>
            </a:r>
            <a:endParaRPr lang="en-US" sz="1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406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554480"/>
            <a:ext cx="566928" cy="566928"/>
          </a:xfrm>
          <a:prstGeom prst="ellipse">
            <a:avLst/>
          </a:prstGeom>
          <a:solidFill>
            <a:srgbClr val="9A9A96"/>
          </a:solidFill>
          <a:ln w="12700">
            <a:solidFill>
              <a:srgbClr val="9A9A9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1696212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55448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energy model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402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runs use the first-order radio model: no collisions, retransmissions or fading (the demo shows packet level on a small scale).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325880"/>
            <a:ext cx="54406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1554480"/>
            <a:ext cx="566928" cy="566928"/>
          </a:xfrm>
          <a:prstGeom prst="ellipse">
            <a:avLst/>
          </a:prstGeom>
          <a:solidFill>
            <a:srgbClr val="9A9A96"/>
          </a:solidFill>
          <a:ln w="12700">
            <a:solidFill>
              <a:srgbClr val="9A9A9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532" y="169621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32320" y="155448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equal nodes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400800" y="22402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static nodes with equal energy; no mobility or heterogeneous hardware.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017520"/>
            <a:ext cx="54406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246120"/>
            <a:ext cx="566928" cy="566928"/>
          </a:xfrm>
          <a:prstGeom prst="ellipse">
            <a:avLst/>
          </a:prstGeom>
          <a:solidFill>
            <a:srgbClr val="9A9A96"/>
          </a:solidFill>
          <a:ln w="12700">
            <a:solidFill>
              <a:srgbClr val="9A9A9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338785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324612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field size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777240" y="39319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× 100 m and 100 nodes; larger networks not tested.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3017520"/>
            <a:ext cx="54406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3246120"/>
            <a:ext cx="566928" cy="566928"/>
          </a:xfrm>
          <a:prstGeom prst="ellipse">
            <a:avLst/>
          </a:prstGeom>
          <a:solidFill>
            <a:srgbClr val="E34948"/>
          </a:solidFill>
          <a:ln w="12700">
            <a:solidFill>
              <a:srgbClr val="E3494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2532" y="3387852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32320" y="324612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only estimated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0" y="39319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costs are assumed values; attacks and key management are not simulated.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4709160"/>
            <a:ext cx="54406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7240" y="4937760"/>
            <a:ext cx="566928" cy="566928"/>
          </a:xfrm>
          <a:prstGeom prst="ellipse">
            <a:avLst/>
          </a:prstGeom>
          <a:solidFill>
            <a:srgbClr val="9A9A96"/>
          </a:solidFill>
          <a:ln w="12700">
            <a:solidFill>
              <a:srgbClr val="9A9A96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" y="5079492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508760" y="493776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paper details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777240" y="56235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settings (packet size, sensor signal) had to be assumed and documented.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6172200" y="4709160"/>
            <a:ext cx="54406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00800" y="4937760"/>
            <a:ext cx="566928" cy="566928"/>
          </a:xfrm>
          <a:prstGeom prst="ellipse">
            <a:avLst/>
          </a:prstGeom>
          <a:solidFill>
            <a:srgbClr val="9A9A96"/>
          </a:solidFill>
          <a:ln w="12700">
            <a:solidFill>
              <a:srgbClr val="9A9A96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2532" y="5079492"/>
            <a:ext cx="283464" cy="28346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132320" y="493776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PEGASIS keeps a longer LND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6400800" y="56235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3504 vs 2631: v8-Chain is designed for the first death, not the last.</a:t>
            </a:r>
            <a:endParaRPr lang="en-US" sz="12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2501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4688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before the first node dies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480560" y="14630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+69%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24688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best fixed hybrid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14630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99.64%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4688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delivery ratio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291840"/>
            <a:ext cx="10698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protocols reproduced and validated against their papers, then compared in one fair environment.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Flaws found and fixed in three hybrids: all of them had broken LEACH's rotation.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v8-Chain built step by step: single-pass election, cluster reuse, CH protection, direct-to-BS, energy gate and energy-aware relay.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hybrid cryptography is expected to cost 9 – 19 % of lifetime — v8-Chain still outlives every unsecured baseline.</a:t>
            </a:r>
            <a:endParaRPr lang="en-US" sz="16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W. R. Heinzelman, A. Chandrakasan, H. Balakrishnan, "Energy-Efficient Communication Protocol for Wireless Microsensor Networks," Proc. 33rd Hawaii Int. Conf. System Sciences (HICSS), 2000.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W. B. Heinzelman, A. P. Chandrakasan, H. Balakrishnan, "An Application-Specific Protocol Architecture for Wireless Microsensor Networks," IEEE Trans. Wireless Communications, vol. 1, no. 4, 2002.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O. Younis, S. Fahmy, "HEED: A Hybrid, Energy-Efficient, Distributed Clustering Approach for Ad Hoc Sensor Networks," IEEE Trans. Mobile Computing, vol. 3, no. 4, 2004.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S. Lindsey, C. S. Raghavendra, "PEGASIS: Power-Efficient Gathering in Sensor Information Systems," Proc. IEEE Aerospace Conference, 2002.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S. Shrestha, Y. M. Kim, K. Jung, J.-Y. Lee, "The Improved Energy Efficient LEACH Protocol Technology of Wireless Sensor Networks," Int. J. Internet, Broadcasting and Communication (IJIBC), vol. 7, no. 1, pp. 30–35, 2015.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A. Razaque, M. Mudigulam, K. Gavini, F. Amsaad, M. Abdulgader, P. Krishna, "H-LEACH: Hybrid-Low Energy Adaptive Clustering Hierarchy for Wireless Sensor Networks," Proc. IEEE LISAT, 2016.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S. Kaur, S. Kour, M. Singh, "EECH-HEED: an adaptive hybrid clustering protocol for energy efficient soil monitoring in heterogeneous wireless sensor networks," Scientific Reports, vol. 15, 35548, 2025.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H. H. El-Sayed, E. M. Abd-Elgaber, S. K. Refaay, "An intelligent reinforcement learning enhanced improved LEACH protocol for prolonging wireless sensor network lifetime," Scientific Reports, 2026.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A. Juwaied, L. Jackowska-Strumillo, "DL-HEED: A Deep Learning Approach to Energy-Efficient Clustering in Heterogeneous Wireless Sensor Networks," Applied Sciences, vol. 15, no. 16, 8996, 2025.</a:t>
            </a:r>
            <a:endParaRPr lang="en-US" sz="13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(continued)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 S. Subedi, S. K. Acharya, J. Lee, S. Lee, "Two-Level Clustering Algorithm for Cluster Head Selection in Randomly Deployed Wireless Sensor Networks," Telecom, vol. 5, no. 3, 27, 2024.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 J. Jassbi, S. Moridi, "Fault Tolerance and Energy Efficient Clustering Algorithm in Wireless Sensor Networks: FTEC," Wireless Personal Communications, 2019.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 R. Pachlor, D. Shrimankar, K. K. Nagwanshi, M. Paliwal, "Cluster-Head Rotation Approaches in Sensor Networks: A Review," arXiv:2206.08892, 2022.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 C. Li, M. Ye, G. Chen, J. Wu, "An Energy-Efficient Unequal Clustering Mechanism for Wireless Sensor Networks," Proc. IEEE MASS, 2005.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 V. Chauhan, S. Soni, "Energy Aware Unequal Clustering Algorithm with Multi-hop Routing via Low Degree Relay Nodes for Wireless Sensor Networks," J. Ambient Intelligence and Humanized Computing, vol. 12, pp. 2469–2482, 2021.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 ns-3 Network Simulator, release 3.41, https://www.nsnam.org, 2024.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[16]  A. S. Wander, N. Gura, H. Eberle, V. Gupta, S. C. Shantz, "Energy Analysis of Public-Key Cryptography for Wireless Sensor Networks," Proc. IEEE PerCom, 2005.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F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[17]  IEEE Std 802.15.4-2020, "IEEE Standard for Low-Rate Wireless Networks," 2020.</a:t>
            </a:r>
            <a:endParaRPr lang="en-US" sz="13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41848" y="1280160"/>
            <a:ext cx="914400" cy="91440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15087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468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6118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thanks to my supervisors Dr. Hesham ElZouka, Dr. Amani Saad and Dr. Khaled Saada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2976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results and papers: github.com/RahmaOshba/WSNs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Energy-Efficient Secure Clustering in WSNs</dc:title>
  <dc:subject>PptxGenJS Presentation</dc:subject>
  <dc:creator>Rahma Khaled Oshba</dc:creator>
  <cp:lastModifiedBy>Rahma Khaled Oshba</cp:lastModifiedBy>
  <cp:revision>1</cp:revision>
  <dcterms:created xsi:type="dcterms:W3CDTF">2026-09-24T23:42:18Z</dcterms:created>
  <dcterms:modified xsi:type="dcterms:W3CDTF">2026-09-24T23:42:18Z</dcterms:modified>
</cp:coreProperties>
</file>