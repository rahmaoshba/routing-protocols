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8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9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0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1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12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charts/chart13.xml" ContentType="application/vnd.openxmlformats-officedocument.drawingml.chart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14.xml" ContentType="application/vnd.openxmlformats-officedocument.drawingml.chart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17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18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19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charts/chart20.xml" ContentType="application/vnd.openxmlformats-officedocument.drawingml.chart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charts/chart21.xml" ContentType="application/vnd.openxmlformats-officedocument.drawingml.chart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</p:sldIdLst>
  <p:notesMasterIdLst>
    <p:notesMasterId r:id="rId9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99.65</c:v>
                </c:pt>
                <c:pt idx="2">
                  <c:v>99.67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658</c:v>
                </c:pt>
                <c:pt idx="2">
                  <c:v>738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1197</c:v>
                </c:pt>
                <c:pt idx="2">
                  <c:v>1157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1875</c:v>
                </c:pt>
                <c:pt idx="2">
                  <c:v>1969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C9C8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988</c:v>
                </c:pt>
                <c:pt idx="1">
                  <c:v>350</c:v>
                </c:pt>
                <c:pt idx="2">
                  <c:v>1374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99.49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1277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1384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1543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99.62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1335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1410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334</c:v>
                </c:pt>
                <c:pt idx="2">
                  <c:v>658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334</c:v>
                </c:pt>
                <c:pt idx="1">
                  <c:v>1645</c:v>
                </c:pt>
                <c:pt idx="2">
                  <c:v>1513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1521</c:v>
                </c:pt>
                <c:pt idx="2">
                  <c:v>1521</c:v>
                </c:pt>
                <c:pt idx="3">
                  <c:v>1466</c:v>
                </c:pt>
                <c:pt idx="4">
                  <c:v>1431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2446</c:v>
                </c:pt>
                <c:pt idx="1">
                  <c:v>2451</c:v>
                </c:pt>
                <c:pt idx="2">
                  <c:v>2430</c:v>
                </c:pt>
                <c:pt idx="3">
                  <c:v>2446</c:v>
                </c:pt>
                <c:pt idx="4">
                  <c:v>2171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2446</c:v>
                </c:pt>
                <c:pt idx="1">
                  <c:v>2381</c:v>
                </c:pt>
                <c:pt idx="2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1406</c:v>
                </c:pt>
                <c:pt idx="1">
                  <c:v>1586</c:v>
                </c:pt>
                <c:pt idx="2">
                  <c:v>1626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529</c:v>
                </c:pt>
                <c:pt idx="1">
                  <c:v>528</c:v>
                </c:pt>
                <c:pt idx="2">
                  <c:v>2001</c:v>
                </c:pt>
                <c:pt idx="3">
                  <c:v>2158</c:v>
                </c:pt>
                <c:pt idx="4">
                  <c:v>2116</c:v>
                </c:pt>
                <c:pt idx="5">
                  <c:v>1996</c:v>
                </c:pt>
                <c:pt idx="6">
                  <c:v>1996</c:v>
                </c:pt>
                <c:pt idx="7">
                  <c:v>1913</c:v>
                </c:pt>
                <c:pt idx="8">
                  <c:v>1906</c:v>
                </c:pt>
                <c:pt idx="9">
                  <c:v>1896</c:v>
                </c:pt>
                <c:pt idx="10">
                  <c:v>2536</c:v>
                </c:pt>
                <c:pt idx="11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1218</c:v>
                </c:pt>
                <c:pt idx="1">
                  <c:v>1285</c:v>
                </c:pt>
                <c:pt idx="2">
                  <c:v>2203</c:v>
                </c:pt>
                <c:pt idx="3">
                  <c:v>2416</c:v>
                </c:pt>
                <c:pt idx="4">
                  <c:v>2356</c:v>
                </c:pt>
                <c:pt idx="5">
                  <c:v>2081</c:v>
                </c:pt>
                <c:pt idx="6">
                  <c:v>2116</c:v>
                </c:pt>
                <c:pt idx="7">
                  <c:v>2025</c:v>
                </c:pt>
                <c:pt idx="8">
                  <c:v>2011</c:v>
                </c:pt>
                <c:pt idx="9">
                  <c:v>2011</c:v>
                </c:pt>
                <c:pt idx="10">
                  <c:v>2566</c:v>
                </c:pt>
                <c:pt idx="11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99.76</c:v>
                </c:pt>
                <c:pt idx="1">
                  <c:v>99.77</c:v>
                </c:pt>
                <c:pt idx="2">
                  <c:v>98.35</c:v>
                </c:pt>
                <c:pt idx="3">
                  <c:v>97.07</c:v>
                </c:pt>
                <c:pt idx="4">
                  <c:v>98.44</c:v>
                </c:pt>
                <c:pt idx="5">
                  <c:v>98.95</c:v>
                </c:pt>
                <c:pt idx="6">
                  <c:v>98.62</c:v>
                </c:pt>
                <c:pt idx="7">
                  <c:v>98.51</c:v>
                </c:pt>
                <c:pt idx="8">
                  <c:v>98.91</c:v>
                </c:pt>
                <c:pt idx="9">
                  <c:v>99.08</c:v>
                </c:pt>
                <c:pt idx="10">
                  <c:v>99.72</c:v>
                </c:pt>
                <c:pt idx="11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1335</c:v>
                </c:pt>
                <c:pt idx="6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1197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1384</c:v>
                </c:pt>
                <c:pt idx="6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1875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1766</c:v>
                </c:pt>
                <c:pt idx="6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99.65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99.62</c:v>
                </c:pt>
                <c:pt idx="6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rotation and CH protection matter. FND measures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65-1.png"/><Relationship Id="rId3" Type="http://schemas.openxmlformats.org/officeDocument/2006/relationships/image" Target="../media/image-6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image" Target="../media/image-69-1.png"/><Relationship Id="rId3" Type="http://schemas.openxmlformats.org/officeDocument/2006/relationships/image" Target="../media/image-6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1" Type="http://schemas.openxmlformats.org/officeDocument/2006/relationships/image" Target="../media/image-7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image" Target="../media/image-82-5.png"/><Relationship Id="rId6" Type="http://schemas.openxmlformats.org/officeDocument/2006/relationships/image" Target="../media/image-8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image" Target="../media/image-84-5.png"/><Relationship Id="rId6" Type="http://schemas.openxmlformats.org/officeDocument/2006/relationships/image" Target="../media/image-8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≈ 88 m,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046611"/>
            <a:ext cx="5943600" cy="3130537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links: the electronics dominate —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one round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+ fuse 21 + send to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one control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bits ×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417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node could live as a member only (0.5 J ÷ 0.1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754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ns-3 for the first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is a C++ file in scratch/ and runs with ./ns3 run · NetAnim is started from its own folder</a:t>
            </a:r>
            <a:endParaRPr lang="en-US" sz="1600" dirty="0"/>
          </a:p>
        </p:txBody>
      </p:sp>
      <p:pic>
        <p:nvPicPr>
          <p:cNvPr id="5" name="Image 0" descr="/home/user/Routing-Protocols/figures/ns3_screens/run_tem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410" y="1417320"/>
            <a:ext cx="7766699" cy="2377440"/>
          </a:xfrm>
          <a:prstGeom prst="rect">
            <a:avLst/>
          </a:prstGeom>
        </p:spPr>
      </p:pic>
      <p:pic>
        <p:nvPicPr>
          <p:cNvPr id="6" name="Image 1" descr="/home/user/Routing-Protocols/figures/ns3_screens/netanim_c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3977640"/>
            <a:ext cx="10617200" cy="914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 that ns-3.41 builds and runs (scratch-simulator).  Step 2: open NetAnim to watch the XML trace.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1 — WSN-Day3: 3 sensors → 1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IEEE 802.15.4 (lr-wpan) MAC · every data frame asks for an ACK · 5 packets per sensor</a:t>
            </a:r>
            <a:endParaRPr lang="en-US" sz="1600" dirty="0"/>
          </a:p>
        </p:txBody>
      </p:sp>
      <p:pic>
        <p:nvPicPr>
          <p:cNvPr id="5" name="Image 0" descr="/home/user/Routing-Protocols/figures/ns3_screens/day3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4004"/>
            <a:ext cx="5486400" cy="3198593"/>
          </a:xfrm>
          <a:prstGeom prst="rect">
            <a:avLst/>
          </a:prstGeom>
        </p:spPr>
      </p:pic>
      <p:pic>
        <p:nvPicPr>
          <p:cNvPr id="6" name="Image 1" descr="/home/user/Routing-Protocols/figures/ns3_screens/day3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170" y="1371600"/>
            <a:ext cx="5292460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line: a sensor sends → the sink receives (LQI 255) → the MAC confirms SUCCESS (ACK received).  Result: 15 / 15, PDR 100 %.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— energy model + long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wsn_first_packet · 3 sensors + sink · 100 J each · one 50-byte packet every 10 s · 1000 s</a:t>
            </a:r>
            <a:endParaRPr lang="en-US" sz="1600" dirty="0"/>
          </a:p>
        </p:txBody>
      </p:sp>
      <p:pic>
        <p:nvPicPr>
          <p:cNvPr id="5" name="Image 0" descr="/home/user/Routing-Protocols/figures/ns3_screens/first_packet_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543"/>
            <a:ext cx="5486400" cy="4295513"/>
          </a:xfrm>
          <a:prstGeom prst="rect">
            <a:avLst/>
          </a:prstGeom>
        </p:spPr>
      </p:pic>
      <p:pic>
        <p:nvPicPr>
          <p:cNvPr id="6" name="Image 1" descr="/home/user/Routing-Protocols/figures/ns3_screens/first_packe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67" y="1371600"/>
            <a:ext cx="3842465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300 packets delivered, but every node used ≈ 62.6 J —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packets moving to the sink · right: remaining energy of every node over time (Stats → Counter Tables)</a:t>
            </a:r>
            <a:endParaRPr lang="en-US" sz="1600" dirty="0"/>
          </a:p>
        </p:txBody>
      </p:sp>
      <p:pic>
        <p:nvPicPr>
          <p:cNvPr id="5" name="Image 0" descr="/home/user/Routing-Protocols/figures/ns3_screens/first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7524"/>
            <a:ext cx="6035040" cy="3691552"/>
          </a:xfrm>
          <a:prstGeom prst="rect">
            <a:avLst/>
          </a:prstGeom>
        </p:spPr>
      </p:pic>
      <p:pic>
        <p:nvPicPr>
          <p:cNvPr id="6" name="Image 1" descr="/home/user/Routing-Protocols/figures/ns3_screens/netanim_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17214"/>
            <a:ext cx="4846320" cy="36521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each node drops step by step (100 → 99.37 → 98.75 J …) — the same numbers the code prints.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 (wsn-day3-3-0.pcap): data frame (31 bytes) → ACK (5 bytes), for every packet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ay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104" y="1325880"/>
            <a:ext cx="5244353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3716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0x0001 → destination 0x0004 (the sink)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ACK comes ≈ 0.2 ms later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“LwMesh” is only a Wireshark guess: Analyze → Enabled Protocols → untick LWM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FCS is valid (checksums enabled in the code)</a:t>
            </a:r>
            <a:endParaRPr lang="en-US" sz="1500" dirty="0"/>
          </a:p>
        </p:txBody>
      </p:sp>
      <p:pic>
        <p:nvPicPr>
          <p:cNvPr id="7" name="Image 1" descr="/home/user/Routing-Protocols/thesis-final/build/fig/k2_frame_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14" y="4343400"/>
            <a:ext cx="5451693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1 byte by byte: 9 header bytes + 20 payload bytes + 2 FCS bytes = 31 bytes.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terminal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is printed: member → CH (TDMA slot), CH fuses 4 readings, CH → sink</a:t>
            </a:r>
            <a:endParaRPr lang="en-US" sz="1600" dirty="0"/>
          </a:p>
        </p:txBody>
      </p:sp>
      <p:pic>
        <p:nvPicPr>
          <p:cNvPr id="5" name="Image 0" descr="/home/user/Routing-Protocols/figures/ns3_screens/demo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844" y="1371600"/>
            <a:ext cx="5069991" cy="4343400"/>
          </a:xfrm>
          <a:prstGeom prst="rect">
            <a:avLst/>
          </a:prstGeom>
        </p:spPr>
      </p:pic>
      <p:pic>
        <p:nvPicPr>
          <p:cNvPr id="6" name="Image 1" descr="/home/user/Routing-Protocols/figures/ns3_screens/demo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73098"/>
            <a:ext cx="5486400" cy="37404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readings, PDR 100 %, but only 18 packets reach the sink (instead of 72) — that is the saving of clustering.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CH / sink traffic (demo-clustered-wsn-12-0.pcap): 51-byte data frames, each answered by a 5-byte ACK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2259"/>
            <a:ext cx="6583680" cy="3807802"/>
          </a:xfrm>
          <a:prstGeom prst="rect">
            <a:avLst/>
          </a:prstGeom>
        </p:spPr>
      </p:pic>
      <p:pic>
        <p:nvPicPr>
          <p:cNvPr id="6" name="Image 1" descr="/home/user/Routing-Protocols/thesis-final/build/fig/k1_pack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3673"/>
            <a:ext cx="4297680" cy="18249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frame: 9-byte header + 40-byte reading + 2-byte FCS = 51 bytes; the ACK proves it arrived.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99.67%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(658).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658)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base station far away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 with the BS at (50, −100)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46304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centre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of 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−46.8%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3566160"/>
          <a:ext cx="6766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61188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818120" y="3840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398221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549640" y="3840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818120" y="45262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and HEED lose 29 % and 48 %: every CH sends far (d⁴).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its FND (1374): only one leader talks to the BS.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658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350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99.65%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1277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(219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1543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(1277 → 1335): fixed rotation in zone 2 (7.6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(219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1277 → 1335 (+4.5%) with the BS at the centre, 970 → 1410 (+45.4%)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 → 1335 (+4.5%)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320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334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1513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1521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+392.5%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+49 %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320 → 334.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(1513, PDR 97.07%):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99.72%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2171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(2446).  Far BS: +16 % FND (1406 → 1626)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97.07%); backup, handover and re-join bring it back (v8-Chain 99.72%).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+77%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2401 – 2481 (mean 2448)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(+65 % to +272 %).  Far BS: v8-Chain is the best (1626).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1406, close to EECH-HEED+ (1410); v8-Chain reaches 1626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+15 % over the best other protocol (EECH-HEED+), +65 %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1406 → 1626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99.72%;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2401 – 2481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random deployment 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 tested (v8 FND 2401 – 2481); uneven or clustered layouts not tested.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2566: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on 8 random topologies (v8 FND 2401 – 2481) and better than every other protocol with the BS far away.</a:t>
            </a:r>
            <a:endParaRPr lang="en-US" sz="16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88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2026-09-26T04:31:29Z</dcterms:created>
  <dcterms:modified xsi:type="dcterms:W3CDTF">2026-09-26T04:31:29Z</dcterms:modified>
</cp:coreProperties>
</file>