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4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5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6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7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LND</c:v>
                  </c:pt>
                  <c:pt idx="1">
                    <c:v>PEGASIS FND</c:v>
                  </c:pt>
                  <c:pt idx="2">
                    <c:v>PEGASIS HND</c:v>
                  </c:pt>
                  <c:pt idx="3">
                    <c:v>PEGASIS LND</c:v>
                  </c:pt>
                  <c:pt idx="4">
                    <c:v>EECH-HEED FND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1312</c:v>
                </c:pt>
                <c:pt idx="1">
                  <c:v>1578</c:v>
                </c:pt>
                <c:pt idx="2">
                  <c:v>2082</c:v>
                </c:pt>
                <c:pt idx="3">
                  <c:v>2192</c:v>
                </c:pt>
                <c:pt idx="4">
                  <c:v>1250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reproduction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LND</c:v>
                  </c:pt>
                  <c:pt idx="1">
                    <c:v>PEGASIS FND</c:v>
                  </c:pt>
                  <c:pt idx="2">
                    <c:v>PEGASIS HND</c:v>
                  </c:pt>
                  <c:pt idx="3">
                    <c:v>PEGASIS LND</c:v>
                  </c:pt>
                  <c:pt idx="4">
                    <c:v>EECH-HEED FND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1327</c:v>
                </c:pt>
                <c:pt idx="1">
                  <c:v>1616</c:v>
                </c:pt>
                <c:pt idx="2">
                  <c:v>2017</c:v>
                </c:pt>
                <c:pt idx="3">
                  <c:v>2186</c:v>
                </c:pt>
                <c:pt idx="4">
                  <c:v>1121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1383</c:v>
                </c:pt>
                <c:pt idx="1">
                  <c:v>634</c:v>
                </c:pt>
                <c:pt idx="2">
                  <c:v>743</c:v>
                </c:pt>
                <c:pt idx="3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1586</c:v>
                </c:pt>
                <c:pt idx="1">
                  <c:v>1216</c:v>
                </c:pt>
                <c:pt idx="2">
                  <c:v>1154</c:v>
                </c:pt>
                <c:pt idx="3">
                  <c:v>2352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1842</c:v>
                </c:pt>
                <c:pt idx="1">
                  <c:v>1883</c:v>
                </c:pt>
                <c:pt idx="2">
                  <c:v>1960</c:v>
                </c:pt>
                <c:pt idx="3">
                  <c:v>3504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Original</c:v>
                </c:pt>
              </c:strCache>
            </c:strRef>
          </c:tx>
          <c:spPr>
            <a:solidFill>
              <a:srgbClr val="C9C8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1078</c:v>
                </c:pt>
                <c:pt idx="2">
                  <c:v>1121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Edited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647</c:v>
                </c:pt>
                <c:pt idx="1">
                  <c:v>1384</c:v>
                </c:pt>
                <c:pt idx="2">
                  <c:v>1311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1480</c:v>
                </c:pt>
                <c:pt idx="1">
                  <c:v>1473</c:v>
                </c:pt>
                <c:pt idx="2">
                  <c:v>1368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322</c:v>
                </c:pt>
                <c:pt idx="1">
                  <c:v>338</c:v>
                </c:pt>
                <c:pt idx="2">
                  <c:v>1645</c:v>
                </c:pt>
                <c:pt idx="3">
                  <c:v>1438</c:v>
                </c:pt>
                <c:pt idx="4">
                  <c:v>1438</c:v>
                </c:pt>
                <c:pt idx="5">
                  <c:v>1645</c:v>
                </c:pt>
                <c:pt idx="6">
                  <c:v>1645</c:v>
                </c:pt>
                <c:pt idx="7">
                  <c:v>1415</c:v>
                </c:pt>
                <c:pt idx="8">
                  <c:v>1415</c:v>
                </c:pt>
                <c:pt idx="9">
                  <c:v>1471</c:v>
                </c:pt>
                <c:pt idx="10">
                  <c:v>2501</c:v>
                </c:pt>
                <c:pt idx="11">
                  <c:v>2501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v8-Chain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1383</c:v>
                </c:pt>
                <c:pt idx="1">
                  <c:v>634</c:v>
                </c:pt>
                <c:pt idx="2">
                  <c:v>1324</c:v>
                </c:pt>
                <c:pt idx="3">
                  <c:v>1480</c:v>
                </c:pt>
                <c:pt idx="4">
                  <c:v>1473</c:v>
                </c:pt>
                <c:pt idx="5">
                  <c:v>1368</c:v>
                </c:pt>
                <c:pt idx="6">
                  <c:v>2501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v8-Chain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1586</c:v>
                </c:pt>
                <c:pt idx="1">
                  <c:v>1216</c:v>
                </c:pt>
                <c:pt idx="2">
                  <c:v>2352</c:v>
                </c:pt>
                <c:pt idx="3">
                  <c:v>1542</c:v>
                </c:pt>
                <c:pt idx="4">
                  <c:v>1509</c:v>
                </c:pt>
                <c:pt idx="5">
                  <c:v>1385</c:v>
                </c:pt>
                <c:pt idx="6">
                  <c:v>2589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v8-Chain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1842</c:v>
                </c:pt>
                <c:pt idx="1">
                  <c:v>1883</c:v>
                </c:pt>
                <c:pt idx="2">
                  <c:v>3504</c:v>
                </c:pt>
                <c:pt idx="3">
                  <c:v>1558</c:v>
                </c:pt>
                <c:pt idx="4">
                  <c:v>1525</c:v>
                </c:pt>
                <c:pt idx="5">
                  <c:v>1767</c:v>
                </c:pt>
                <c:pt idx="6">
                  <c:v>2631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v8-Chain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99.4</c:v>
                </c:pt>
                <c:pt idx="1">
                  <c:v>99.68</c:v>
                </c:pt>
                <c:pt idx="2">
                  <c:v>99.42</c:v>
                </c:pt>
                <c:pt idx="3">
                  <c:v>99.21</c:v>
                </c:pt>
                <c:pt idx="4">
                  <c:v>99.36</c:v>
                </c:pt>
                <c:pt idx="5">
                  <c:v>99.51</c:v>
                </c:pt>
                <c:pt idx="6">
                  <c:v>99.64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v8 (full)</c:v>
                  </c:pt>
                  <c:pt idx="1">
                    <c:v>− I1 epoch fix</c:v>
                  </c:pt>
                  <c:pt idx="2">
                    <c:v>− I2 handover</c:v>
                  </c:pt>
                  <c:pt idx="3">
                    <c:v>− I3 re-join</c:v>
                  </c:pt>
                  <c:pt idx="4">
                    <c:v>− I5 energy gate</c:v>
                  </c:pt>
                  <c:pt idx="5">
                    <c:v>− I4 direct-to-BS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2501</c:v>
                </c:pt>
                <c:pt idx="1">
                  <c:v>2501</c:v>
                </c:pt>
                <c:pt idx="2">
                  <c:v>2496</c:v>
                </c:pt>
                <c:pt idx="3">
                  <c:v>2501</c:v>
                </c:pt>
                <c:pt idx="4">
                  <c:v>2106</c:v>
                </c:pt>
                <c:pt idx="5">
                  <c:v>1766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2501</c:v>
                </c:pt>
                <c:pt idx="1">
                  <c:v>2436</c:v>
                </c:pt>
                <c:pt idx="2">
                  <c:v>2501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1441</c:v>
                </c:pt>
                <c:pt idx="1">
                  <c:v>1636</c:v>
                </c:pt>
                <c:pt idx="2">
                  <c:v>1671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This thesis compares the classic clustering protocols and their hybrids in one fair environment and proposes v8-Chain.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is the bottleneck. Clustering shortens most links, but the CH role is expensive and must rotate.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sensors in 3 clusters and a sink. Each round the strongest node that has not yet served becomes CH; members send in TDMA slots; the CH fuses and sends one packet. File: code/0_FIRST_EXPERIMENTS/demo_clustered_wsn.cc, NetAnim file demo-clustered-wsn.xml.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Setup: epoch check (I1), energy gate (I5), single-pass score, advertise and join, backup CH. Data: proactive handover (I2), direct-to-BS (I4), fusion, energy-aware relay. Fault tolerance: promote backup or orphan re-join (I3).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8-1.png"/><Relationship Id="rId3" Type="http://schemas.openxmlformats.org/officeDocument/2006/relationships/image" Target="../media/image-1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19-1.png"/><Relationship Id="rId3" Type="http://schemas.openxmlformats.org/officeDocument/2006/relationships/image" Target="../media/image-19-2.png"/><Relationship Id="rId4" Type="http://schemas.openxmlformats.org/officeDocument/2006/relationships/image" Target="../media/image-1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23-1.png"/><Relationship Id="rId3" Type="http://schemas.openxmlformats.org/officeDocument/2006/relationships/image" Target="../media/image-23-2.png"/><Relationship Id="rId4" Type="http://schemas.openxmlformats.org/officeDocument/2006/relationships/image" Target="../media/image-2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image" Target="../media/image-2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image" Target="../media/image-29-1.png"/><Relationship Id="rId3" Type="http://schemas.openxmlformats.org/officeDocument/2006/relationships/image" Target="../media/image-2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Energy-Efficient Secure Clustering in Wireless Sensor Networks Using Hybrid Cryptography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comparison of LEACH, HEED, PEGASIS and their hybrids — and a new clustering protocol, v8-Chain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983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Dr. Hesham ElZouka · Dr. Amani Saad · Dr. Khaled Saada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 defense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9248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830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688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WSNs, energy and clustering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00400" y="2971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297680" y="155448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7830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92481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7830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4688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Classic, hybrid and recent protocols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949440" y="2971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8046720" y="155448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75320" y="1783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92481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17830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4688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unify, fix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10698480" y="2971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Shape 17"/>
          <p:cNvSpPr/>
          <p:nvPr/>
        </p:nvSpPr>
        <p:spPr>
          <a:xfrm>
            <a:off x="548640" y="393192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77240" y="41605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30225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508760" y="416052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protocol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" y="48463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architecture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3200400" y="53492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8" name="Shape 22"/>
          <p:cNvSpPr/>
          <p:nvPr/>
        </p:nvSpPr>
        <p:spPr>
          <a:xfrm>
            <a:off x="4297680" y="393192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526280" y="41605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30225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257800" y="416052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4526280" y="48463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Lifetime, PDR, ablation, robustness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6949440" y="53492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34" name="Shape 27"/>
          <p:cNvSpPr/>
          <p:nvPr/>
        </p:nvSpPr>
        <p:spPr>
          <a:xfrm>
            <a:off x="8046720" y="393192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27532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30225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006840" y="416052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600" dirty="0"/>
          </a:p>
        </p:txBody>
      </p:sp>
      <p:sp>
        <p:nvSpPr>
          <p:cNvPr id="38" name="Text 30"/>
          <p:cNvSpPr txBox="1"/>
          <p:nvPr/>
        </p:nvSpPr>
        <p:spPr>
          <a:xfrm>
            <a:off x="8275320" y="48463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future work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10698480" y="53492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energy decides the life of a sensor network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sensor network lives as long as its batteries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cannot be recharged in the field — every transmitted bit costs energy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1980" y="1417320"/>
            <a:ext cx="4544040" cy="5029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737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60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in a 100 × 100 m field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566160" y="1737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 J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2560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per sensor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383280"/>
            <a:ext cx="5760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one bit costs E_elec + ε·dⁿ: long links are expensive (d² → d⁴ beyond d0 ≈ 88 m).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Clustering: members send a short hop to a cluster head (CH); the CH fuses the data and sends one packet to the base station (BS).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part: choosing and rotating CHs so that no node dies early.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clustered round works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(elect + join) → data (members → CH → BS)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121408"/>
            <a:ext cx="1947672" cy="1216152"/>
          </a:xfrm>
          <a:prstGeom prst="line">
            <a:avLst/>
          </a:prstGeom>
          <a:noFill/>
          <a:ln w="15240">
            <a:solidFill>
              <a:srgbClr val="2A78D6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280160" y="3108960"/>
            <a:ext cx="411480" cy="41148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1328" y="3310128"/>
            <a:ext cx="1490472" cy="27432"/>
          </a:xfrm>
          <a:prstGeom prst="line">
            <a:avLst/>
          </a:prstGeom>
          <a:noFill/>
          <a:ln w="15240">
            <a:solidFill>
              <a:srgbClr val="2A78D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31520" y="4206240"/>
            <a:ext cx="411480" cy="41148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4407408"/>
            <a:ext cx="2039112" cy="-1069848"/>
          </a:xfrm>
          <a:prstGeom prst="line">
            <a:avLst/>
          </a:prstGeom>
          <a:noFill/>
          <a:ln w="15240">
            <a:solidFill>
              <a:srgbClr val="2A78D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03120" y="4754880"/>
            <a:ext cx="411480" cy="41148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04288" y="4956048"/>
            <a:ext cx="667512" cy="-1618488"/>
          </a:xfrm>
          <a:prstGeom prst="line">
            <a:avLst/>
          </a:prstGeom>
          <a:noFill/>
          <a:ln w="15240">
            <a:solidFill>
              <a:srgbClr val="2A78D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377440" y="1645920"/>
            <a:ext cx="411480" cy="41148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78608" y="1847088"/>
            <a:ext cx="393192" cy="1490472"/>
          </a:xfrm>
          <a:prstGeom prst="line">
            <a:avLst/>
          </a:prstGeom>
          <a:noFill/>
          <a:ln w="15240">
            <a:solidFill>
              <a:srgbClr val="2A78D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743200" y="3108960"/>
            <a:ext cx="731520" cy="731520"/>
          </a:xfrm>
          <a:prstGeom prst="ellipse">
            <a:avLst/>
          </a:prstGeom>
          <a:solidFill>
            <a:srgbClr val="E3494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43200" y="3108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74720" y="3474720"/>
            <a:ext cx="2011680" cy="0"/>
          </a:xfrm>
          <a:prstGeom prst="line">
            <a:avLst/>
          </a:prstGeom>
          <a:noFill/>
          <a:ln w="25400">
            <a:solidFill>
              <a:srgbClr val="1F1F1D"/>
            </a:solidFill>
            <a:prstDash val="dash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532120" y="3017520"/>
            <a:ext cx="1188720" cy="914400"/>
          </a:xfrm>
          <a:prstGeom prst="roundRect">
            <a:avLst>
              <a:gd name="adj" fmla="val 10000"/>
            </a:avLst>
          </a:prstGeom>
          <a:solidFill>
            <a:srgbClr val="F2C200"/>
          </a:solidFill>
          <a:ln w="19050">
            <a:solidFill>
              <a:srgbClr val="8A6D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32120" y="30175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1F1D"/>
                </a:solidFill>
              </a:rPr>
              <a:t>BS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hops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3611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fused packet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223760" y="1554480"/>
            <a:ext cx="43891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52360" y="17830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924812"/>
            <a:ext cx="283464" cy="28346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183880" y="178308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radio model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452360" y="246888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E_tx(k,d) = k·E_elec + k·ε_fs·d²   (d &lt; d0)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E_tx(k,d) = k·E_elec + k·ε_mp·d⁴   (d ≥ d0)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E_rx(k) = k·E_elec ,   E_DA = k·5 nJ per signal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3760" y="3977640"/>
            <a:ext cx="43891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52360" y="42062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092" y="4347972"/>
            <a:ext cx="283464" cy="283464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8183880" y="420624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round costs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7452360" y="489204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CH advertisement, join request, TDMA schedule.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member → CH, CH fuses (members + 1), CH → BS.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and objectives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Problem. </a:t>
            </a:r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protocols are evaluated in different fields, radios and BS positions, some hybrids do not work as written, and none protects the CH role or reuses clusters — so the first node dies early.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31089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3250692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31089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fairly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79476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LEACH, HEED, PEGASIS, SH-LEACH, H-LEACH and EECH-HEED in one ns-3 environment.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64992" y="288036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93592" y="31089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324" y="325069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325112" y="31089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593592" y="379476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why each protocol wins or loses, including flaws in the published algorithms.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181344" y="288036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9944" y="31089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325069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41464" y="31089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09944" y="379476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an original hybrid protocol one mechanism at a time (v1 → v8-Chain).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8997696" y="288036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226296" y="310896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8028" y="3250692"/>
            <a:ext cx="283464" cy="28346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957816" y="31089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9226296" y="379476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/ PDR, ablation, two BS positions, 8 random topologies.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— four steps, one environment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has its own folder in the repository: code/ and results/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508760" y="16459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876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468880" y="2057400"/>
            <a:ext cx="1828800" cy="0"/>
          </a:xfrm>
          <a:prstGeom prst="line">
            <a:avLst/>
          </a:prstGeom>
          <a:noFill/>
          <a:ln w="25400">
            <a:solidFill>
              <a:srgbClr val="D9D8D2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1089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paper in its own settings — validates our code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1645920"/>
            <a:ext cx="822960" cy="82296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4340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303520" y="2057400"/>
            <a:ext cx="1828800" cy="0"/>
          </a:xfrm>
          <a:prstGeom prst="line">
            <a:avLst/>
          </a:prstGeom>
          <a:noFill/>
          <a:ln w="25400">
            <a:solidFill>
              <a:srgbClr val="D9D8D2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383280" y="2651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EDITED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1089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 in one unified environment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178040" y="1645920"/>
            <a:ext cx="822960" cy="822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7804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8138160" y="2057400"/>
            <a:ext cx="1828800" cy="0"/>
          </a:xfrm>
          <a:prstGeom prst="line">
            <a:avLst/>
          </a:prstGeom>
          <a:noFill/>
          <a:ln w="25400">
            <a:solidFill>
              <a:srgbClr val="D9D8D2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217920" y="2651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31089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main flaw of each literature hybrid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0012680" y="16459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01268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2651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31089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v8-Chain, one mechanism per version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343400"/>
            <a:ext cx="11064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77240" y="45720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713732"/>
            <a:ext cx="283464" cy="28346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508760" y="4572000"/>
            <a:ext cx="9921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— round in which the first, half and last node die (every run continues until the last node really dies).   PDR — readings delivered to the BS ÷ readings generated.   Ablation, far-BS scenario and 8 random topologies test robustness.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experimental setup</a:t>
            </a:r>
            <a:endParaRPr lang="en-US" sz="3200" dirty="0"/>
          </a:p>
        </p:txBody>
      </p:sp>
      <p:pic>
        <p:nvPicPr>
          <p:cNvPr id="4" name="Image 0" descr="/home/user/Routing-Protocols/figures/ns3_screens/vm_ubunt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0482"/>
            <a:ext cx="3657600" cy="1916797"/>
          </a:xfrm>
          <a:prstGeom prst="rect">
            <a:avLst/>
          </a:prstGeom>
        </p:spPr>
      </p:pic>
      <p:pic>
        <p:nvPicPr>
          <p:cNvPr id="5" name="Image 1" descr="/home/user/Routing-Protocols/figures/ns3_screens/first_term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945" y="3840480"/>
            <a:ext cx="3196990" cy="24688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VM (VMware) · ns-3.41 · NetAnim · Python for charts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371600"/>
          <a:ext cx="70408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480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Neighbour range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experiment — a packet-level demo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802.15.4 (lr-wpan) packets, CSMA/CA, ACKs and an energy model — run in ns-3.41 and shown in NetAnim</a:t>
            </a:r>
            <a:endParaRPr lang="en-US" sz="1600" dirty="0"/>
          </a:p>
        </p:txBody>
      </p:sp>
      <p:pic>
        <p:nvPicPr>
          <p:cNvPr id="5" name="Image 0" descr="/home/user/Routing-Protocols/thesis-final/build/fig/demo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463040"/>
            <a:ext cx="82296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74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97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generated in 6 rounds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5074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897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the sink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5074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897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to the sink after fusion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5074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5897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long transmissions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protocols, their hybrids and recent work (2000 – 2026)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years of clustering protocols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3566160"/>
            <a:ext cx="10789920" cy="0"/>
          </a:xfrm>
          <a:prstGeom prst="line">
            <a:avLst/>
          </a:prstGeom>
          <a:noFill/>
          <a:ln w="38100">
            <a:solidFill>
              <a:srgbClr val="D9D8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5568" y="3401568"/>
            <a:ext cx="329184" cy="32918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8346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0020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 [1]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51176" y="3401568"/>
            <a:ext cx="329184" cy="32918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21408" y="3886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984248" y="43891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 [4]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986784" y="3401568"/>
            <a:ext cx="329184" cy="32918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57016" y="28346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19856" y="160020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cost election [3]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22392" y="3401568"/>
            <a:ext cx="329184" cy="329184"/>
          </a:xfrm>
          <a:prstGeom prst="ellipse">
            <a:avLst/>
          </a:prstGeom>
          <a:solidFill>
            <a:srgbClr val="EB683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92624" y="3886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855464" y="43891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energy-scaled LEACH [5]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0" y="3401568"/>
            <a:ext cx="329184" cy="329184"/>
          </a:xfrm>
          <a:prstGeom prst="ellipse">
            <a:avLst/>
          </a:prstGeom>
          <a:solidFill>
            <a:srgbClr val="EB683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28232" y="28346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291072" y="160020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gate [6]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93608" y="3401568"/>
            <a:ext cx="329184" cy="32918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0" y="3886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43891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TLC-LEACH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two-level grid [10]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729216" y="3401568"/>
            <a:ext cx="329184" cy="32918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99448" y="28346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162288" y="160020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/ DL-HEED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· deep learning [7][9]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1164824" y="3401568"/>
            <a:ext cx="329184" cy="32918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735056" y="3886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597896" y="43891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RL-ILEACH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[8]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31520" y="6035040"/>
            <a:ext cx="201168" cy="20116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5840" y="5943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31920" y="5943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HEED hybrids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583680" y="6035040"/>
            <a:ext cx="201168" cy="2011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0" y="5943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reproduction in each paper's own settings matches the published numbers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20440" cy="4663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288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9705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8288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(2000) [1]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5146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= P / (1 − P·(r mod 1/P)), n ∈ 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Energy-blind: a weak node can be elected.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LND 1312 · ours 1327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600200"/>
            <a:ext cx="3520440" cy="4663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8288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9705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8288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(2004) [3]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5146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CH_prob = C_prob · E_res / E_max, doubled each iteration; ties by communication cost.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messages every round cost energy.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graphs only · ours 500 nodes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600200"/>
            <a:ext cx="3520440" cy="4663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8288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9705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8288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(2002) [4]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5146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greedy chain; nodes take turns as leader and only the leader talks to the BS.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chain → large delay; single point of failure.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LND 2192 · ours 2186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hybrids — and the flaws we found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Implementing each paper exactly as written revealed a problem in every 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19202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C·(E/E_max)·(C·r)/(1 + CH_cho mod 1/C)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35240" y="2167128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6972" y="2308860"/>
            <a:ext cx="283464" cy="28346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321040" y="1920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never reset → the probability keeps growing → ~29 CHs every round.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32918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429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34290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threshold with P·E/E_max; CH only if E &gt; E_avg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635240" y="3675888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972" y="3817620"/>
            <a:ext cx="283464" cy="2834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321040" y="342900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starting energy nobody is above the average → no CH is ever elected (deadlock).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48640" y="4800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49377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3931920" y="493776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zone near the BS + EECH zone (energy × degree) + adaptive sensing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7635240" y="5184648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972" y="5326380"/>
            <a:ext cx="283464" cy="28346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321040" y="49377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Eq. 5 gives P ≈ 1 in zone 2 → the 1/P rotation stops working; lifetime gain comes partly from sending less.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93192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5E5A"/>
                </a:solidFill>
              </a:rPr>
              <a:t>Idea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4948"/>
                </a:solidFill>
              </a:rPr>
              <a:t>Flaw found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work and the research gap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2025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zones, HEED + EECH, adaptive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zones; no CH failure recovery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2026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 chooses CHs in ILEACH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overhead; early first-node death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DL-HEED 2025 [9]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network predicts good CHs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training, heavy for sensors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TLC-LEACH 2024 [10]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Two-level grid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 tied to the field layout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FTEC 2019 [11]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Fault-tolerant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energy-aware relay between CHs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280160"/>
            <a:ext cx="3749040" cy="498348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92440" y="1508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4172" y="1650492"/>
            <a:ext cx="283464" cy="2834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823960" y="1508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2194560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protocol combines, in one lightweight distributed design: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cheap single-pass CH election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reuse to cut setup overhead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of the CH before and after it fails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routing between CHs only when it saves energy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and none is compared with the others in the same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code, then compare everything in one environment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unified environment for every protocol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in the results now come only from the algorithms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Neighbour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length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until the last node 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12345 (8 seeds for robustness)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ns-3.41, C++, analytical energy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463040"/>
            <a:ext cx="4389120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52360" y="1691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83337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83880" y="169164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for everyone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377440"/>
            <a:ext cx="39319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advertisement reaches every node that may join it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request + TDMA schedule charged at every setup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fuses members + its own signal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node with no CH sends straight to the BS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run continues until the last node dies — no "fake" LND at a round limit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the code reproduces the papers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protocol run in its own paper's field, radio, BS and packet size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463040"/>
          <a:ext cx="749808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463040"/>
            <a:ext cx="3291840" cy="48463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9164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83337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9164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377440"/>
            <a:ext cx="28346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LND: 1.1%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FND: 2.4%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HND: 3.1%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LND: 0.3%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FND: 10.3%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and SH-LEACH publish graphs only. H-LEACH's 4312 comes from a constant per-round energy, not a radio model.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classic protocols in the unified environment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74980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21040" y="128016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549640" y="1508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650492"/>
            <a:ext cx="283464" cy="2834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81160" y="150876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dies first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549640" y="219456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634: the iterative negotiation is paid every round.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321040" y="3840480"/>
            <a:ext cx="329184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54964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210812"/>
            <a:ext cx="283464" cy="28346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281160" y="406908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lasts longest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8549640" y="4754880"/>
            <a:ext cx="2834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LND 3504 (short chain hops), but its first node dies at 1324.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fixing the literature hybrids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death: paper settings → unified → after our fix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463040"/>
          <a:ext cx="60350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858000" y="1463040"/>
            <a:ext cx="47548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086600" y="1691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332" y="183337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818120" y="169164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SH-LEACH: FND 647 → 1480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086600" y="2377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→ (r mod 1/C): the probability cycles like LEACH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858000" y="3108960"/>
            <a:ext cx="47548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086600" y="33375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332" y="347929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818120" y="333756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H-LEACH: FND 1384 → 1473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7086600" y="40233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"≥ average" (no deadlock) + LEACH G-set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858000" y="4754880"/>
            <a:ext cx="47548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086600" y="498348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8332" y="512521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818120" y="498348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EECH-HEED: FND 1311 → 1368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7086600" y="56692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Zone-2 rotation at the paper's 10 % CH target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protocol — v8-Chain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LEACH + HEED hybrid that protects its cluster heads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of v8-Chain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once every 5 rounds · data every round · fault tolerance at any time</a:t>
            </a:r>
            <a:endParaRPr lang="en-US" sz="1600" dirty="0"/>
          </a:p>
        </p:txBody>
      </p:sp>
      <p:pic>
        <p:nvPicPr>
          <p:cNvPr id="5" name="Image 0" descr="/home/user/Routing-Protocols/thesis-final/build/fig/f12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8591" y="1371600"/>
            <a:ext cx="890433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mechanisms, each tested on its own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Single-pass election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T(r)·(E/E0)·(1 + deg/deg_max) — HEED's intelligence without its negotiation.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3258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55448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554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reuse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402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kept for 5 rounds: setup overhead paid once per interval.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46720" y="13258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5544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69621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554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gate (I5)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402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with E ≥ network average may volunteer as CH.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+ handover (I2)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7548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member is ready; a weak CH hands over before it dies.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297680" y="38404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21081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Direct-to-BS (I4)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7548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closer to the BS than to its CH sends straight to the BS.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8046720" y="38404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7532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21081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0684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Energy-aware relay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47548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forwards through a CH nearer the BS only if that costs less.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v1 to v8-Chain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death of every version (unified environment, BS at the centre)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786384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686800" y="137160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91540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713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46920" y="16002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v3: ×5.1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915400" y="22860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negotiation + cluster reuse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686800" y="306324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915400" y="329184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7132" y="343357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46920" y="329184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v5b → v8: +52%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I1–I5 (mostly I4 and I5)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0" y="475488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915400" y="4983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7132" y="512521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646920" y="498348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v6 / v7 chains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915400" y="56692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chains cost energy when the BS is central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 in action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50 — relays appear only where they save energy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595" y="1371600"/>
            <a:ext cx="4502731" cy="4983480"/>
          </a:xfrm>
          <a:prstGeom prst="rect">
            <a:avLst/>
          </a:prstGeom>
        </p:spPr>
      </p:pic>
      <p:pic>
        <p:nvPicPr>
          <p:cNvPr id="6" name="Image 1" descr="/home/user/Routing-Protocols/thesis-final/build/fig/f11_topology_far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330" y="1371600"/>
            <a:ext cx="2970379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seed 12345, 8 random topologies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lifetime — best version of every family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813816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3093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values: summary table (slide 32)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9611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+69%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9611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the best reproduced protocol (SH-LEACH+, 1480)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961120" y="30175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+81%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961120" y="3840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LEACH (1383)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961120" y="46634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961120" y="5486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before the first node dies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nodes stay alive longer — then die together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late, steep drop means the load is shared evenly</a:t>
            </a:r>
            <a:endParaRPr lang="en-US" sz="1600" dirty="0"/>
          </a:p>
        </p:txBody>
      </p:sp>
      <p:pic>
        <p:nvPicPr>
          <p:cNvPr id="5" name="Image 0" descr="/home/user/Routing-Protocols/thesis-final/build/fig/f3_alive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3396" y="1371600"/>
            <a:ext cx="9634728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— packet delivery ratio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786384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686800" y="1371600"/>
            <a:ext cx="2926080" cy="4892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91540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7132" y="1741932"/>
            <a:ext cx="283464" cy="2834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46920" y="16002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915400" y="22860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delivers 99.64% of all readings.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(99.68%) is 0.04 pp higher, but its first node dies 1867 rounds earlier.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protocols are above 99 % — lifetime is where they differ.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— which improvement matters?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with one mechanism switched off (compile flag -DI&lt;k&gt;=0)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463040"/>
          <a:ext cx="749808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463040"/>
            <a:ext cx="32918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9164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83337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9164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and I5 carry the gain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37744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direct-to-BS FND falls to 1766; without the energy gate to 2106.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21040" y="393192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4964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3022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4160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I1, I2, I3 are safety nets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4846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change FND by less than 10 rounds but prevent zero-CH rounds and lost members.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BS is far away, relaying pays off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→ BS routing mode of v8-Chain (compile flag -DCHAIN_MODE)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(50, 50)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17920" y="1417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far away (50, −100)</a:t>
            </a:r>
            <a:endParaRPr lang="en-US" sz="16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217920" y="182880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energy-aware relay +16% FND over direct; at the centre it relays nothing and costs nothing.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 across 8 random topologies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12345, 1, 7, 42, 99, 2024, 31337, 555</a:t>
            </a:r>
            <a:endParaRPr lang="en-US" sz="1600" dirty="0"/>
          </a:p>
        </p:txBody>
      </p:sp>
      <p:pic>
        <p:nvPicPr>
          <p:cNvPr id="5" name="Image 0" descr="/home/user/Routing-Protocols/thesis-final/build/fig/f7_robust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87327"/>
            <a:ext cx="7315200" cy="3306305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554480"/>
          <a:ext cx="3474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0584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1431–1725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2471–2531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 far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1641–1721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138160" y="36576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ranking never changes: v8-Chain's first node dies within a ±1.2 % band.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comparison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1097280"/>
                <a:gridCol w="1097280"/>
                <a:gridCol w="1097280"/>
                <a:gridCol w="1280160"/>
                <a:gridCol w="19202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vs 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hybrid (improved)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hybrid (improved)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 (improved)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results do not show yet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energy model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 runs use the first-order radio model, not a packet-level MAC/PHY: no collisions, retransmissions or fading.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homogeneous nodes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static nodes with equal energy; no mobility or heterogeneous hardware.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3878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a longer LND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PEGASIS's last node lives to round 3504 (v8-Chain 2631); v8-Chain optimises the first death.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3878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in the papers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settings (e.g. SH-LEACH packet size, EECH-HEED sensor signal) had to be assumed and documented.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079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not yet evaluated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hybrid-cryptography layer of the title is designed but not simulated in this study.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0080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532" y="507949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only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40080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 test-bed; results are for one field size and one node count.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cryptography layer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keys inside clusters, lightweight public-key between CHs and the BS; measure its energy cost on top of v8-Chain.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37160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60020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Packet-level validation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8600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v8-Chain over lr-wpan with collisions and ACKs (the demo is the first step).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384048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40690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and heterogeneity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475488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field size, node count, BS position and heterogeneous energy.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72200" y="384048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421081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40690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routing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475488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greedy relay rule with a minimum-energy tree.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before the first node dies — the latest of every protocol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828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+69%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834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best reproduced protocol (SH-LEACH+)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828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99.64%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834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023360"/>
            <a:ext cx="10607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published protocols were reproduced, validated and compared in one fair environment; flaws in three hybrids were found and fixed.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combines single-pass election, cluster reuse, CH protection and energy-aware relaying.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holds across 8 random topologies and grows when the BS is far away.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W. R. Heinzelman, A. Chandrakasan, H. Balakrishnan, "Energy-Efficient Communication Protocol for Wireless Microsensor Networks," Proc. 33rd Hawaii Int. Conf. System Sciences (HICSS), 2000.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W. B. Heinzelman, A. P. Chandrakasan, H. Balakrishnan, "An Application-Specific Protocol Architecture for Wireless Microsensor Networks," IEEE Trans. Wireless Communications, vol. 1, no. 4, 2002.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O. Younis, S. Fahmy, "HEED: A Hybrid, Energy-Efficient, Distributed Clustering Approach for Ad Hoc Sensor Networks," IEEE Trans. Mobile Computing, vol. 3, no. 4, 2004.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S. Lindsey, C. S. Raghavendra, "PEGASIS: Power-Efficient Gathering in Sensor Information Systems," Proc. IEEE Aerospace Conference, 2002.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S. Shrestha, Y. M. Kim, K. Jung, J.-Y. Lee, "The Improved Energy Efficient LEACH Protocol Technology of Wireless Sensor Networks," Int. J. Internet, Broadcasting and Communication (IJIBC), vol. 7, no. 1, pp. 30–35, 2015.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A. Razaque, M. Mudigulam, K. Gavini, F. Amsaad, M. Abdulgader, P. Krishna, "H-LEACH: Hybrid-Low Energy Adaptive Clustering Hierarchy for Wireless Sensor Networks," Proc. IEEE LISAT, 2016.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S. Kaur, S. Kour, M. Singh, "EECH-HEED: an adaptive hybrid clustering protocol for energy efficient soil monitoring in heterogeneous wireless sensor networks," Scientific Reports, vol. 15, 35548, 2025.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H. H. El-Sayed, E. M. Abd-Elgaber, S. K. Refaay, "An intelligent reinforcement learning enhanced improved LEACH protocol for prolonging wireless sensor network lifetime," Scientific Reports, 2026.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A. Juwaied, L. Jackowska-Strumillo, "DL-HEED: A Deep Learning Approach to Energy-Efficient Clustering in Heterogeneous Wireless Sensor Networks," Applied Sciences, vol. 15, no. 16, 8996, 2025.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S. Subedi, S. K. Acharya, J. Lee, S. Lee, "Two-Level Clustering Algorithm for Cluster Head Selection in Randomly Deployed Wireless Sensor Networks," Telecom, vol. 5, no. 3, 27, 2024.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J. Jassbi, S. Moridi, "Fault Tolerance and Energy Efficient Clustering Algorithm in Wireless Sensor Networks: FTEC," Wireless Personal Communications, 2019.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R. Pachlor, D. Shrimankar, K. K. Nagwanshi, M. Paliwal, "Cluster-Head Rotation Approaches in Sensor Networks: A Review," arXiv:2206.08892, 2022.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C. Li, M. Ye, G. Chen, J. Wu, "An Energy-Efficient Unequal Clustering Mechanism for Wireless Sensor Networks," Proc. IEEE MASS, 2005.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 V. Chauhan, S. Soni, "Energy Aware Unequal Clustering Algorithm with Multi-hop Routing via Low Degree Relay Nodes for Wireless Sensor Networks," J. Ambient Intelligence and Humanized Computing, vol. 12, pp. 2469–2482, 2021.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 ns-3 Network Simulator, release 3.41, https://www.nsnam.org, 2024.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463040"/>
            <a:ext cx="914400" cy="9144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6916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749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papers: github.com/RahmaOshba/WSNs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</dc:title>
  <dc:subject>PptxGenJS Presentation</dc:subject>
  <dc:creator>Rahma Khaled Oshba</dc:creator>
  <cp:lastModifiedBy>Rahma Khaled Oshba</cp:lastModifiedBy>
  <cp:revision>1</cp:revision>
  <dcterms:created xsi:type="dcterms:W3CDTF">2026-09-24T17:35:37Z</dcterms:created>
  <dcterms:modified xsi:type="dcterms:W3CDTF">2026-09-24T17:35:37Z</dcterms:modified>
</cp:coreProperties>
</file>