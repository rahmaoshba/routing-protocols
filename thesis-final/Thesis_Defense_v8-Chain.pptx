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charts/chart6.xml" ContentType="application/vnd.openxmlformats-officedocument.drawingml.chart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7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charts/chart8.xml" ContentType="application/vnd.openxmlformats-officedocument.drawingml.chart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charts/chart9.xml" ContentType="application/vnd.openxmlformats-officedocument.drawingml.chart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charts/chart10.xml" ContentType="application/vnd.openxmlformats-officedocument.drawingml.chart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charts/chart11.xml" ContentType="application/vnd.openxmlformats-officedocument.drawingml.chart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charts/chart12.xml" ContentType="application/vnd.openxmlformats-officedocument.drawingml.chart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charts/chart13.xml" ContentType="application/vnd.openxmlformats-officedocument.drawingml.chart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charts/chart16.xml" ContentType="application/vnd.openxmlformats-officedocument.drawingml.chart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charts/chart17.xml" ContentType="application/vnd.openxmlformats-officedocument.drawingml.chart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charts/chart18.xml" ContentType="application/vnd.openxmlformats-officedocument.drawingml.chart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charts/chart19.xml" ContentType="application/vnd.openxmlformats-officedocument.drawingml.chart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charts/chart20.xml" ContentType="application/vnd.openxmlformats-officedocument.drawingml.chart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</p:sldIdLst>
  <p:notesMasterIdLst>
    <p:notesMasterId r:id="rId9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notesMaster" Target="notesMasters/notesMaster1.xml"/><Relationship Id="rId92" Type="http://schemas.openxmlformats.org/officeDocument/2006/relationships/presProps" Target="presProps.xml"/><Relationship Id="rId93" Type="http://schemas.openxmlformats.org/officeDocument/2006/relationships/viewProps" Target="viewProps.xml"/><Relationship Id="rId94" Type="http://schemas.openxmlformats.org/officeDocument/2006/relationships/theme" Target="theme/theme1.xml"/><Relationship Id="rId9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Published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 FND</c:v>
                  </c:pt>
                  <c:pt idx="1">
                    <c:v>LEACH LND</c:v>
                  </c:pt>
                  <c:pt idx="2">
                    <c:v>PEGASIS FND</c:v>
                  </c:pt>
                  <c:pt idx="3">
                    <c:v>PEGASIS HND</c:v>
                  </c:pt>
                  <c:pt idx="4">
                    <c:v>PEGASIS LND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932</c:v>
                </c:pt>
                <c:pt idx="1">
                  <c:v>1312</c:v>
                </c:pt>
                <c:pt idx="2">
                  <c:v>1578</c:v>
                </c:pt>
                <c:pt idx="3">
                  <c:v>2082</c:v>
                </c:pt>
                <c:pt idx="4">
                  <c:v>2192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ORIGINAL code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 FND</c:v>
                  </c:pt>
                  <c:pt idx="1">
                    <c:v>LEACH LND</c:v>
                  </c:pt>
                  <c:pt idx="2">
                    <c:v>PEGASIS FND</c:v>
                  </c:pt>
                  <c:pt idx="3">
                    <c:v>PEGASIS HND</c:v>
                  </c:pt>
                  <c:pt idx="4">
                    <c:v>PEGASIS LND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1035</c:v>
                </c:pt>
                <c:pt idx="1">
                  <c:v>1327</c:v>
                </c:pt>
                <c:pt idx="2">
                  <c:v>1616</c:v>
                </c:pt>
                <c:pt idx="3">
                  <c:v>2017</c:v>
                </c:pt>
                <c:pt idx="4">
                  <c:v>2186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HEED+fair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99.4</c:v>
                </c:pt>
                <c:pt idx="1">
                  <c:v>99.65</c:v>
                </c:pt>
                <c:pt idx="2">
                  <c:v>99.67</c:v>
                </c:pt>
                <c:pt idx="3">
                  <c:v>99.42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1383</c:v>
                </c:pt>
                <c:pt idx="1">
                  <c:v>658</c:v>
                </c:pt>
                <c:pt idx="2">
                  <c:v>738</c:v>
                </c:pt>
                <c:pt idx="3">
                  <c:v>1324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1586</c:v>
                </c:pt>
                <c:pt idx="1">
                  <c:v>1197</c:v>
                </c:pt>
                <c:pt idx="2">
                  <c:v>1157</c:v>
                </c:pt>
                <c:pt idx="3">
                  <c:v>2352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1842</c:v>
                </c:pt>
                <c:pt idx="1">
                  <c:v>1875</c:v>
                </c:pt>
                <c:pt idx="2">
                  <c:v>1969</c:v>
                </c:pt>
                <c:pt idx="3">
                  <c:v>3504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484</c:v>
                </c:pt>
                <c:pt idx="1">
                  <c:v>1078</c:v>
                </c:pt>
                <c:pt idx="2">
                  <c:v>1121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583</c:v>
                </c:pt>
                <c:pt idx="1">
                  <c:v>1157</c:v>
                </c:pt>
                <c:pt idx="2">
                  <c:v>1954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689</c:v>
                </c:pt>
                <c:pt idx="1">
                  <c:v>1207</c:v>
                </c:pt>
                <c:pt idx="2">
                  <c:v>3783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EECH-HEED: paper vs code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Paper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FND</c:v>
                  </c:pt>
                  <c:pt idx="1">
                    <c:v>HND</c:v>
                  </c:pt>
                  <c:pt idx="2">
                    <c:v>LND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1250</c:v>
                </c:pt>
                <c:pt idx="1">
                  <c:v>1650</c:v>
                </c:pt>
                <c:pt idx="2">
                  <c:v>2200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code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FND</c:v>
                  </c:pt>
                  <c:pt idx="1">
                    <c:v>HND</c:v>
                  </c:pt>
                  <c:pt idx="2">
                    <c:v>LND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1121</c:v>
                </c:pt>
                <c:pt idx="1">
                  <c:v>1954</c:v>
                </c:pt>
                <c:pt idx="2">
                  <c:v>3783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98.58</c:v>
                </c:pt>
                <c:pt idx="1">
                  <c:v>99.3</c:v>
                </c:pt>
                <c:pt idx="2">
                  <c:v>99.49</c:v>
                </c:pt>
                <c:pt idx="3">
                  <c:v>99.4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647</c:v>
                </c:pt>
                <c:pt idx="1">
                  <c:v>1384</c:v>
                </c:pt>
                <c:pt idx="2">
                  <c:v>1277</c:v>
                </c:pt>
                <c:pt idx="3">
                  <c:v>1383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702</c:v>
                </c:pt>
                <c:pt idx="1">
                  <c:v>1419</c:v>
                </c:pt>
                <c:pt idx="2">
                  <c:v>1384</c:v>
                </c:pt>
                <c:pt idx="3">
                  <c:v>1586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721</c:v>
                </c:pt>
                <c:pt idx="1">
                  <c:v>1434</c:v>
                </c:pt>
                <c:pt idx="2">
                  <c:v>1543</c:v>
                </c:pt>
                <c:pt idx="3">
                  <c:v>1842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99.21</c:v>
                </c:pt>
                <c:pt idx="1">
                  <c:v>99.36</c:v>
                </c:pt>
                <c:pt idx="2">
                  <c:v>99.62</c:v>
                </c:pt>
                <c:pt idx="3">
                  <c:v>99.4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BS at the centre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1480</c:v>
                </c:pt>
                <c:pt idx="1">
                  <c:v>1473</c:v>
                </c:pt>
                <c:pt idx="2">
                  <c:v>1335</c:v>
                </c:pt>
                <c:pt idx="3">
                  <c:v>1383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BS far away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1388</c:v>
                </c:pt>
                <c:pt idx="1">
                  <c:v>1219</c:v>
                </c:pt>
                <c:pt idx="2">
                  <c:v>1410</c:v>
                </c:pt>
                <c:pt idx="3">
                  <c:v>988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v1</c:v>
                  </c:pt>
                  <c:pt idx="1">
                    <c:v>v2</c:v>
                  </c:pt>
                  <c:pt idx="2">
                    <c:v>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334</c:v>
                </c:pt>
                <c:pt idx="2">
                  <c:v>658</c:v>
                </c:pt>
                <c:pt idx="3">
                  <c:v>1383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v2</c:v>
                  </c:pt>
                  <c:pt idx="1">
                    <c:v>v3 (reuse 5)</c:v>
                  </c:pt>
                  <c:pt idx="2">
                    <c:v>v4 (reuse 15)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334</c:v>
                </c:pt>
                <c:pt idx="1">
                  <c:v>1645</c:v>
                </c:pt>
                <c:pt idx="2">
                  <c:v>1513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v5b</c:v>
                  </c:pt>
                  <c:pt idx="1">
                    <c:v>v6 chain</c:v>
                  </c:pt>
                  <c:pt idx="2">
                    <c:v>v7 chain + backup</c:v>
                  </c:pt>
                  <c:pt idx="3">
                    <c:v>v7.1 multihop tree</c:v>
                  </c:pt>
                  <c:pt idx="4">
                    <c:v>v7.2 (int 10)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1645</c:v>
                </c:pt>
                <c:pt idx="1">
                  <c:v>1521</c:v>
                </c:pt>
                <c:pt idx="2">
                  <c:v>1521</c:v>
                </c:pt>
                <c:pt idx="3">
                  <c:v>1466</c:v>
                </c:pt>
                <c:pt idx="4">
                  <c:v>1431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v8 (full)</c:v>
                  </c:pt>
                  <c:pt idx="1">
                    <c:v>− I1 epoch fix</c:v>
                  </c:pt>
                  <c:pt idx="2">
                    <c:v>− I2 handover</c:v>
                  </c:pt>
                  <c:pt idx="3">
                    <c:v>− I3 re-join</c:v>
                  </c:pt>
                  <c:pt idx="4">
                    <c:v>− I5 energy gate</c:v>
                  </c:pt>
                  <c:pt idx="5">
                    <c:v>− I4 direct-to-BS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2446</c:v>
                </c:pt>
                <c:pt idx="1">
                  <c:v>2451</c:v>
                </c:pt>
                <c:pt idx="2">
                  <c:v>2430</c:v>
                </c:pt>
                <c:pt idx="3">
                  <c:v>2446</c:v>
                </c:pt>
                <c:pt idx="4">
                  <c:v>2171</c:v>
                </c:pt>
                <c:pt idx="5">
                  <c:v>1766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b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(v8)</c:v>
                  </c:pt>
                  <c:pt idx="1">
                    <c:v>Ordered chain</c:v>
                  </c:pt>
                  <c:pt idx="2">
                    <c:v>Energy-aware relay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2446</c:v>
                </c:pt>
                <c:pt idx="1">
                  <c:v>2381</c:v>
                </c:pt>
                <c:pt idx="2">
                  <c:v>2446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(v8)</c:v>
                  </c:pt>
                  <c:pt idx="1">
                    <c:v>Ordered chain</c:v>
                  </c:pt>
                  <c:pt idx="2">
                    <c:v>Energy-aware relay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1406</c:v>
                </c:pt>
                <c:pt idx="1">
                  <c:v>1586</c:v>
                </c:pt>
                <c:pt idx="2">
                  <c:v>1626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320</c:v>
                </c:pt>
                <c:pt idx="1">
                  <c:v>334</c:v>
                </c:pt>
                <c:pt idx="2">
                  <c:v>1645</c:v>
                </c:pt>
                <c:pt idx="3">
                  <c:v>1513</c:v>
                </c:pt>
                <c:pt idx="4">
                  <c:v>1513</c:v>
                </c:pt>
                <c:pt idx="5">
                  <c:v>1645</c:v>
                </c:pt>
                <c:pt idx="6">
                  <c:v>1645</c:v>
                </c:pt>
                <c:pt idx="7">
                  <c:v>1521</c:v>
                </c:pt>
                <c:pt idx="8">
                  <c:v>1521</c:v>
                </c:pt>
                <c:pt idx="9">
                  <c:v>1466</c:v>
                </c:pt>
                <c:pt idx="10">
                  <c:v>2446</c:v>
                </c:pt>
                <c:pt idx="11">
                  <c:v>2446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529</c:v>
                </c:pt>
                <c:pt idx="1">
                  <c:v>528</c:v>
                </c:pt>
                <c:pt idx="2">
                  <c:v>2001</c:v>
                </c:pt>
                <c:pt idx="3">
                  <c:v>2158</c:v>
                </c:pt>
                <c:pt idx="4">
                  <c:v>2116</c:v>
                </c:pt>
                <c:pt idx="5">
                  <c:v>1996</c:v>
                </c:pt>
                <c:pt idx="6">
                  <c:v>1996</c:v>
                </c:pt>
                <c:pt idx="7">
                  <c:v>1913</c:v>
                </c:pt>
                <c:pt idx="8">
                  <c:v>1906</c:v>
                </c:pt>
                <c:pt idx="9">
                  <c:v>1896</c:v>
                </c:pt>
                <c:pt idx="10">
                  <c:v>2536</c:v>
                </c:pt>
                <c:pt idx="11">
                  <c:v>2536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1218</c:v>
                </c:pt>
                <c:pt idx="1">
                  <c:v>1285</c:v>
                </c:pt>
                <c:pt idx="2">
                  <c:v>2203</c:v>
                </c:pt>
                <c:pt idx="3">
                  <c:v>2416</c:v>
                </c:pt>
                <c:pt idx="4">
                  <c:v>2356</c:v>
                </c:pt>
                <c:pt idx="5">
                  <c:v>2081</c:v>
                </c:pt>
                <c:pt idx="6">
                  <c:v>2116</c:v>
                </c:pt>
                <c:pt idx="7">
                  <c:v>2025</c:v>
                </c:pt>
                <c:pt idx="8">
                  <c:v>2011</c:v>
                </c:pt>
                <c:pt idx="9">
                  <c:v>2011</c:v>
                </c:pt>
                <c:pt idx="10">
                  <c:v>2566</c:v>
                </c:pt>
                <c:pt idx="11">
                  <c:v>2566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320</c:v>
                </c:pt>
                <c:pt idx="1">
                  <c:v>334</c:v>
                </c:pt>
                <c:pt idx="2">
                  <c:v>1645</c:v>
                </c:pt>
                <c:pt idx="3">
                  <c:v>1513</c:v>
                </c:pt>
                <c:pt idx="4">
                  <c:v>1513</c:v>
                </c:pt>
                <c:pt idx="5">
                  <c:v>1645</c:v>
                </c:pt>
                <c:pt idx="6">
                  <c:v>1645</c:v>
                </c:pt>
                <c:pt idx="7">
                  <c:v>1521</c:v>
                </c:pt>
                <c:pt idx="8">
                  <c:v>1521</c:v>
                </c:pt>
                <c:pt idx="9">
                  <c:v>1466</c:v>
                </c:pt>
                <c:pt idx="10">
                  <c:v>2446</c:v>
                </c:pt>
                <c:pt idx="11">
                  <c:v>2446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99.76</c:v>
                </c:pt>
                <c:pt idx="1">
                  <c:v>99.77</c:v>
                </c:pt>
                <c:pt idx="2">
                  <c:v>98.35</c:v>
                </c:pt>
                <c:pt idx="3">
                  <c:v>97.07</c:v>
                </c:pt>
                <c:pt idx="4">
                  <c:v>98.44</c:v>
                </c:pt>
                <c:pt idx="5">
                  <c:v>98.95</c:v>
                </c:pt>
                <c:pt idx="6">
                  <c:v>98.62</c:v>
                </c:pt>
                <c:pt idx="7">
                  <c:v>98.51</c:v>
                </c:pt>
                <c:pt idx="8">
                  <c:v>98.91</c:v>
                </c:pt>
                <c:pt idx="9">
                  <c:v>99.08</c:v>
                </c:pt>
                <c:pt idx="10">
                  <c:v>99.72</c:v>
                </c:pt>
                <c:pt idx="11">
                  <c:v>99.72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PDR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1383</c:v>
                </c:pt>
                <c:pt idx="1">
                  <c:v>658</c:v>
                </c:pt>
                <c:pt idx="2">
                  <c:v>1324</c:v>
                </c:pt>
                <c:pt idx="3">
                  <c:v>1480</c:v>
                </c:pt>
                <c:pt idx="4">
                  <c:v>1473</c:v>
                </c:pt>
                <c:pt idx="5">
                  <c:v>1335</c:v>
                </c:pt>
                <c:pt idx="6">
                  <c:v>2446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1586</c:v>
                </c:pt>
                <c:pt idx="1">
                  <c:v>1197</c:v>
                </c:pt>
                <c:pt idx="2">
                  <c:v>2352</c:v>
                </c:pt>
                <c:pt idx="3">
                  <c:v>1542</c:v>
                </c:pt>
                <c:pt idx="4">
                  <c:v>1509</c:v>
                </c:pt>
                <c:pt idx="5">
                  <c:v>1384</c:v>
                </c:pt>
                <c:pt idx="6">
                  <c:v>2536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1842</c:v>
                </c:pt>
                <c:pt idx="1">
                  <c:v>1875</c:v>
                </c:pt>
                <c:pt idx="2">
                  <c:v>3504</c:v>
                </c:pt>
                <c:pt idx="3">
                  <c:v>1558</c:v>
                </c:pt>
                <c:pt idx="4">
                  <c:v>1525</c:v>
                </c:pt>
                <c:pt idx="5">
                  <c:v>1766</c:v>
                </c:pt>
                <c:pt idx="6">
                  <c:v>2566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99.4</c:v>
                </c:pt>
                <c:pt idx="1">
                  <c:v>99.65</c:v>
                </c:pt>
                <c:pt idx="2">
                  <c:v>99.42</c:v>
                </c:pt>
                <c:pt idx="3">
                  <c:v>99.21</c:v>
                </c:pt>
                <c:pt idx="4">
                  <c:v>99.36</c:v>
                </c:pt>
                <c:pt idx="5">
                  <c:v>99.62</c:v>
                </c:pt>
                <c:pt idx="6">
                  <c:v>99.72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WSN is a set of small battery-powered sensors that measure something and send it by radio to a base station.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Energy is given per bit, so a 2000-bit packet costs 2000 times the per-bit value. Receiving: 2000 × 50 nJ = 100 µJ at any distance. Sending: electronics (50 nJ/bit) plus the amplifier, which grows with d² below d0 and with d⁴ above it. d0 = √(ε_fs/ε_mp) = √(10/0.0013) ≈ 87.7 m is where the two amplifier formulas give the same cost. Over 10 m sending (102 µJ) costs about the same as receiving (100 µJ); at 100 m it costs 360 µJ.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Energy is per bit, so each cost = number of bits × cost per bit (2000 bits for data, 200 bits for control). Member: 2000 × (50 nJ + 10 pJ × 15²) ≈ 0.10 mJ. CH: receive 20 × 2000 × 50 nJ = 2 mJ, fuse 21 × 2000 × 5 nJ = 0.21 mJ (20 members + its own reading), send to the BS ≈ 0.15 mJ, control messages ≈ 0.25 mJ → ≈ 2.6 mJ, about 26 times a member. A 0.5 J (500 mJ) battery lasts 5000 rounds as a member only but about 190 rounds as a CH only — so the CH role must rotate.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Concept of the proposed protocol: sensors form clusters, the node with the most energy and neighbours (in its LEACH turn) leads, members send short hops, the CH fuses and sends one packet — directly, or through a nearer CH only if that is cheaper (v8-Chain).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image" Target="../media/image-47-5.png"/><Relationship Id="rId6" Type="http://schemas.openxmlformats.org/officeDocument/2006/relationships/image" Target="../media/image-4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image" Target="../media/image-5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image" Target="../media/image-6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1.xml"/><Relationship Id="rId1" Type="http://schemas.openxmlformats.org/officeDocument/2006/relationships/image" Target="../media/image-65-1.png"/><Relationship Id="rId3" Type="http://schemas.openxmlformats.org/officeDocument/2006/relationships/image" Target="../media/image-6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image" Target="../media/image-6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image" Target="../media/image-6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image" Target="../media/image-69-1.png"/><Relationship Id="rId3" Type="http://schemas.openxmlformats.org/officeDocument/2006/relationships/image" Target="../media/image-6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4.xml"/><Relationship Id="rId3" Type="http://schemas.openxmlformats.org/officeDocument/2006/relationships/chart" Target="/ppt/charts/chart15.xml"/><Relationship Id="rId1" Type="http://schemas.openxmlformats.org/officeDocument/2006/relationships/image" Target="../media/image-70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image" Target="../media/image-7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image" Target="../media/image-82-3.png"/><Relationship Id="rId4" Type="http://schemas.openxmlformats.org/officeDocument/2006/relationships/image" Target="../media/image-82-4.png"/><Relationship Id="rId5" Type="http://schemas.openxmlformats.org/officeDocument/2006/relationships/image" Target="../media/image-82-5.png"/><Relationship Id="rId6" Type="http://schemas.openxmlformats.org/officeDocument/2006/relationships/image" Target="../media/image-8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image" Target="../media/image-85-3.png"/><Relationship Id="rId4" Type="http://schemas.openxmlformats.org/officeDocument/2006/relationships/image" Target="../media/image-85-4.png"/><Relationship Id="rId5" Type="http://schemas.openxmlformats.org/officeDocument/2006/relationships/image" Target="../media/image-85-5.png"/><Relationship Id="rId6" Type="http://schemas.openxmlformats.org/officeDocument/2006/relationships/image" Target="../media/image-8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822960" cy="822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93726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7373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Energy-Efficient Secure Clustering in Wireless Sensor Networks Using Hybrid Cryptography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86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LEACH, HEED and PEGASIS to a new clustering protocol: v8  (+ v8-Chain for a far base station)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9834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Rahma Khaled Oshba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Dr. Hesham ElZouka · Dr. Amani Saad · Dr. Khaled Saada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Master's thesis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459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8765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WSNs and clustering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355848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84448" y="164592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178765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15968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&amp; first experiments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584448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model, ns-3, demo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5184648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6163056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91656" y="164592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388" y="1787652"/>
            <a:ext cx="283464" cy="28346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123176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protocols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391656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· HEED · PEGASIS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7991856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22" name="Shape 17"/>
          <p:cNvSpPr/>
          <p:nvPr/>
        </p:nvSpPr>
        <p:spPr>
          <a:xfrm>
            <a:off x="8970264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198864" y="164592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0596" y="1787652"/>
            <a:ext cx="283464" cy="28346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930384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protocols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198864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· H-LEACH · EECH-HEED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10799064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548640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77240" y="41148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4256532"/>
            <a:ext cx="283464" cy="28346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508760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work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777240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literature review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2377440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34" name="Shape 27"/>
          <p:cNvSpPr/>
          <p:nvPr/>
        </p:nvSpPr>
        <p:spPr>
          <a:xfrm>
            <a:off x="3355848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3584448" y="41148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4256532"/>
            <a:ext cx="283464" cy="28346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4315968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protocol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3584448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v8-Chain</a:t>
            </a:r>
            <a:endParaRPr lang="en-US" sz="1400" dirty="0"/>
          </a:p>
        </p:txBody>
      </p:sp>
      <p:sp>
        <p:nvSpPr>
          <p:cNvPr id="39" name="Text 31"/>
          <p:cNvSpPr txBox="1"/>
          <p:nvPr/>
        </p:nvSpPr>
        <p:spPr>
          <a:xfrm>
            <a:off x="5184648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40" name="Shape 32"/>
          <p:cNvSpPr/>
          <p:nvPr/>
        </p:nvSpPr>
        <p:spPr>
          <a:xfrm>
            <a:off x="6163056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6391656" y="41148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3388" y="4256532"/>
            <a:ext cx="283464" cy="28346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7123176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6391656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· summary</a:t>
            </a:r>
            <a:endParaRPr lang="en-US" sz="1400" dirty="0"/>
          </a:p>
        </p:txBody>
      </p:sp>
      <p:sp>
        <p:nvSpPr>
          <p:cNvPr id="45" name="Text 36"/>
          <p:cNvSpPr txBox="1"/>
          <p:nvPr/>
        </p:nvSpPr>
        <p:spPr>
          <a:xfrm>
            <a:off x="7991856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wireless sensor network is — and why energy is its main problem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Wireless Sensor Network (WSN)?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small battery-powered sensors that measure and report by radio</a:t>
            </a:r>
            <a:endParaRPr lang="en-US" sz="1600" dirty="0"/>
          </a:p>
        </p:txBody>
      </p:sp>
      <p:pic>
        <p:nvPicPr>
          <p:cNvPr id="5" name="Image 0" descr="/home/user/Routing-Protocols/thesis-final/build/fig/b1_ws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94037"/>
            <a:ext cx="7315200" cy="313840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0" y="155448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are spread over a field (soil, forest, building, body …).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sensor measures (temperature, humidity, motion …) and sends its reading by radio.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readings reach a sink / base station (BS), then the user over the Internet.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4983480"/>
            <a:ext cx="594360" cy="5943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670" y="5132070"/>
            <a:ext cx="297180" cy="2971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514600" y="4983480"/>
            <a:ext cx="594360" cy="5943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3190" y="5132070"/>
            <a:ext cx="297180" cy="2971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7296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389120" y="498348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710" y="5132070"/>
            <a:ext cx="297180" cy="2971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04748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6263640" y="4983480"/>
            <a:ext cx="594360" cy="59436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2230" y="5132070"/>
            <a:ext cx="297180" cy="29718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2200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8138160" y="4983480"/>
            <a:ext cx="594360" cy="5943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6750" y="5132070"/>
            <a:ext cx="297180" cy="29718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79652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city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10012680" y="4983480"/>
            <a:ext cx="594360" cy="594360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61270" y="5132070"/>
            <a:ext cx="297180" cy="29718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067104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00" dirty="0"/>
          </a:p>
        </p:txBody>
      </p:sp>
      <p:sp>
        <p:nvSpPr>
          <p:cNvPr id="25" name="Text 16"/>
          <p:cNvSpPr txBox="1"/>
          <p:nvPr/>
        </p:nvSpPr>
        <p:spPr>
          <a:xfrm>
            <a:off x="640080" y="4617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 sensor node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cheap and limited — the battery decides how long it lives</a:t>
            </a:r>
            <a:endParaRPr lang="en-US" sz="1600" dirty="0"/>
          </a:p>
        </p:txBody>
      </p:sp>
      <p:pic>
        <p:nvPicPr>
          <p:cNvPr id="5" name="Image 0" descr="/home/user/Routing-Protocols/thesis-final/build/fig/b2_n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3616"/>
            <a:ext cx="6949440" cy="2476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438912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453085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0876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battery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cannot be replaced or recharged in the field.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29768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26280" y="43891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8012" y="453085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25780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radio range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452628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 of metres; far nodes cannot reach the BS cheaply.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04672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75320" y="438912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052" y="4530852"/>
            <a:ext cx="283464" cy="2834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00684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CPU and memory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827532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algorithms (and heavy cryptography) are costly.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48640" y="59893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77240" y="59893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communication uses most of the energy — even listening costs energy.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main problem: energy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lifetime = how long the sensors keep working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63040"/>
            <a:ext cx="6035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Sending one bit costs more the farther it goes: cost grows with d² and, beyond a crossover distance d0, with d⁴.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 sensor sends directly to a far BS, the far sensors die very early.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sensors die, parts of the field are no longer monitored.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49440" y="1463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086600" y="1463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FND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138160" y="1463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Node Dies — round of the first death (stability period). Main metric.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949440" y="2606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86600" y="2606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HND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2606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Nodes Die — average lifetime.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949440" y="3749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86600" y="3749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LND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3749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Node Dies — total lifetime.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949440" y="4892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86600" y="4892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PDR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892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 Delivery Ratio — delivered ÷ generated readings.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60350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4119372"/>
            <a:ext cx="283464" cy="28346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508760" y="3977640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studied in this thesis: clustering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6634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the sensors so that most transmissions are short.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clustering?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send a short hop to a cluster head (CH); the CH sends one packet to the BS</a:t>
            </a:r>
            <a:endParaRPr lang="en-US" sz="1600" dirty="0"/>
          </a:p>
        </p:txBody>
      </p:sp>
      <p:pic>
        <p:nvPicPr>
          <p:cNvPr id="5" name="Image 0" descr="/home/user/Routing-Protocols/thesis-final/build/fig/b3_cluster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1614" y="1371600"/>
            <a:ext cx="9818292" cy="4389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head (CH) = the leader of a group.  Member = a normal sensor.  Fusion = the CH merges all readings into one packet.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clustering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→ steady state → the CH role rotates in the next round</a:t>
            </a:r>
            <a:endParaRPr lang="en-US" sz="1600" dirty="0"/>
          </a:p>
        </p:txBody>
      </p:sp>
      <p:pic>
        <p:nvPicPr>
          <p:cNvPr id="5" name="Image 0" descr="/home/user/Routing-Protocols/thesis-final/build/fig/b4_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890" y="1371600"/>
            <a:ext cx="10593740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CHs, CHs advertise, members join the nearest CH, CH sends a TDMA schedule.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2628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state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52628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sends in its own time slot (TDMA) — no collisions.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4672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27532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+ BS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 fuses members + its own reading and sends one packet to the BS.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= one full cycle.  Epoch = the rounds needed so that every node serves as CH once.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open problems of clustering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every protocol in this thesis tries to solve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becomes CH?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weak or badly placed CH dies early.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rotation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 works harder, so the role must rotate.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overhead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Electing CHs every round costs messages and energy.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4864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40233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16509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0876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failure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7724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CH dies, its members lose their data.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429768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26280" y="402336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4165092"/>
            <a:ext cx="283464" cy="28346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5780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base station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452628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→ BS links become very expensive (d⁴).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804672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75320" y="402336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052" y="4165092"/>
            <a:ext cx="283464" cy="28346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0684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messages can be read or forged — protection costs energy.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model &amp; first experiments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energy is calculated, the tools, and the first ns-3 runs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energy is calculated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First-order radio model (Heinzelman et al.) — used by every paper we compare with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energ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133" y="1508760"/>
            <a:ext cx="4152774" cy="196596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49377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103120"/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bits in the packet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data / 200 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E_elec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electronics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nJ/bit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amplifier, short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pJ/bit/m²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amplifier, long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 pJ/bit/m⁴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fusion at the 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nJ/bit/signal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Image 1" descr="/home/user/Routing-Protocols/thesis-final/build/fig/e1_energy_dist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292231"/>
            <a:ext cx="5943600" cy="3130537"/>
          </a:xfrm>
          <a:prstGeom prst="rect">
            <a:avLst/>
          </a:prstGeom>
        </p:spPr>
      </p:pic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4526280"/>
          <a:ext cx="5943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  <a:gridCol w="100584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2000-bit packet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is calculated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 (any distance)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 × 50 nJ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µJ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10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× (50 nJ + 10 pJ × 10²)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 µJ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50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× (50 nJ + 10 pJ × 50²)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µJ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100 m (&gt; d0 → d⁴)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× (50 nJ + 0.0013 pJ × 100⁴)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 µJ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548640" y="6053328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777240" y="605332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is per bit (× k bits).  Short links: receiving is not free.  Long links (&gt; d0): the cost explodes.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 — why the CH is the one that dies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nodes, 0.5 J each (50 J in total), one 2000-bit reading per node per round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4980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286000"/>
                <a:gridCol w="2286000"/>
                <a:gridCol w="10058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pays in one round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is calculated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 (15 m from its CH)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one 2000-bit packet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× (50 nJ + 10 pJ × 15²)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0.10 mJ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with 20 members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 20 packets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× 2000 bit × 50 nJ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 mJ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fuse 21 readings (20 + its own)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× 2000 bit × 5 nJ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 mJ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one packet to the BS (≈ 50 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× (50 nJ + 10 pJ × 50²)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 mJ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control: advertise, 20 joins, TDMA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200-bit messages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0.25 mJ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2.6 mJ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control message received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200-bit message (no reading)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bit × 50 nJ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µJ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412480" y="14173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349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26×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22402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spends about 26 times more than a member in the same round (2.6 ÷ 0.1)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32461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5000 vs 190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40690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a 0.5 J battery lasts as a member only (500 ÷ 0.1 mJ) vs as a CH only (500 ÷ 2.6 mJ)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53949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53949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protocol competes on one question: how to rotate the CH role fairly and make it cheaper.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(VMware) · ns-3.41 (C++) · NetAnim · Wireshark · Python</a:t>
            </a:r>
            <a:endParaRPr lang="en-US" sz="1600" dirty="0"/>
          </a:p>
        </p:txBody>
      </p:sp>
      <p:pic>
        <p:nvPicPr>
          <p:cNvPr id="5" name="Image 0" descr="/home/user/Routing-Protocols/figures/ns3_screens/vm_sett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81689"/>
            <a:ext cx="5486400" cy="2877503"/>
          </a:xfrm>
          <a:prstGeom prst="rect">
            <a:avLst/>
          </a:prstGeom>
        </p:spPr>
      </p:pic>
      <p:pic>
        <p:nvPicPr>
          <p:cNvPr id="6" name="Image 1" descr="/home/user/Routing-Protocols/figures/ns3_screens/vm_ubunt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6802"/>
            <a:ext cx="5394960" cy="28272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ns-3.41 built from source inside an Ubuntu virtual machine; results processed in Python.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ns-3 for the first time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experiment is a C++ file in scratch/ and runs with ./ns3 run · NetAnim is started from its own folder</a:t>
            </a:r>
            <a:endParaRPr lang="en-US" sz="1600" dirty="0"/>
          </a:p>
        </p:txBody>
      </p:sp>
      <p:pic>
        <p:nvPicPr>
          <p:cNvPr id="5" name="Image 0" descr="/home/user/Routing-Protocols/figures/ns3_screens/run_templ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7410" y="1417320"/>
            <a:ext cx="7766699" cy="2377440"/>
          </a:xfrm>
          <a:prstGeom prst="rect">
            <a:avLst/>
          </a:prstGeom>
        </p:spPr>
      </p:pic>
      <p:pic>
        <p:nvPicPr>
          <p:cNvPr id="6" name="Image 1" descr="/home/user/Routing-Protocols/figures/ns3_screens/netanim_cm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" y="3977640"/>
            <a:ext cx="10617200" cy="914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5778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5778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check that ns-3.41 builds and runs (scratch-simulator).  Step 2: open NetAnim to watch the XML trace.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1 — WSN-Day3: 3 sensors → 1 sink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IEEE 802.15.4 (lr-wpan) MAC · every data frame asks for an ACK · 5 packets per sensor</a:t>
            </a:r>
            <a:endParaRPr lang="en-US" sz="1600" dirty="0"/>
          </a:p>
        </p:txBody>
      </p:sp>
      <p:pic>
        <p:nvPicPr>
          <p:cNvPr id="5" name="Image 0" descr="/home/user/Routing-Protocols/figures/ns3_screens/day3_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4004"/>
            <a:ext cx="5486400" cy="3198593"/>
          </a:xfrm>
          <a:prstGeom prst="rect">
            <a:avLst/>
          </a:prstGeom>
        </p:spPr>
      </p:pic>
      <p:pic>
        <p:nvPicPr>
          <p:cNvPr id="6" name="Image 1" descr="/home/user/Routing-Protocols/figures/ns3_screens/day3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170" y="1371600"/>
            <a:ext cx="5292460" cy="4343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line: a sensor sends → the sink receives (LQI 255) → the MAC confirms SUCCESS (ACK received).  Result: 15 / 15, PDR 100 %.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2 — energy model + long run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wsn_first_packet · 3 sensors + sink · 100 J each · one 50-byte packet every 10 s · 1000 s</a:t>
            </a:r>
            <a:endParaRPr lang="en-US" sz="1600" dirty="0"/>
          </a:p>
        </p:txBody>
      </p:sp>
      <p:pic>
        <p:nvPicPr>
          <p:cNvPr id="5" name="Image 0" descr="/home/user/Routing-Protocols/figures/ns3_screens/first_packet_r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5543"/>
            <a:ext cx="5486400" cy="4295513"/>
          </a:xfrm>
          <a:prstGeom prst="rect">
            <a:avLst/>
          </a:prstGeom>
        </p:spPr>
      </p:pic>
      <p:pic>
        <p:nvPicPr>
          <p:cNvPr id="6" name="Image 1" descr="/home/user/Routing-Protocols/figures/ns3_screens/first_packet_energ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167" y="1371600"/>
            <a:ext cx="3842465" cy="4343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/ 300 packets delivered, but every node used ≈ 62.6 J — the radio spends energy even when it only listens.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2 in NetAnim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packets moving to the sink · right: remaining energy of every node over time (Stats → Counter Tables)</a:t>
            </a:r>
            <a:endParaRPr lang="en-US" sz="1600" dirty="0"/>
          </a:p>
        </p:txBody>
      </p:sp>
      <p:pic>
        <p:nvPicPr>
          <p:cNvPr id="5" name="Image 0" descr="/home/user/Routing-Protocols/figures/ns3_screens/first_netan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7524"/>
            <a:ext cx="6035040" cy="3691552"/>
          </a:xfrm>
          <a:prstGeom prst="rect">
            <a:avLst/>
          </a:prstGeom>
        </p:spPr>
      </p:pic>
      <p:pic>
        <p:nvPicPr>
          <p:cNvPr id="6" name="Image 1" descr="/home/user/Routing-Protocols/figures/ns3_screens/netanim_sta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17214"/>
            <a:ext cx="4846320" cy="3652173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energy of each node drops step by step (100 → 99.37 → 98.75 J …) — the same numbers the code prints.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packets in Wireshark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of the sink (wsn-day3-3-0.pcap): data frame (31 bytes) → ACK (5 bytes), for every packet</a:t>
            </a:r>
            <a:endParaRPr lang="en-US" sz="1600" dirty="0"/>
          </a:p>
        </p:txBody>
      </p:sp>
      <p:pic>
        <p:nvPicPr>
          <p:cNvPr id="5" name="Image 0" descr="/home/user/Routing-Protocols/figures/ns3_screens/wireshark_day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104" y="1325880"/>
            <a:ext cx="5244353" cy="2971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92240" y="137160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0x0001 → destination 0x0004 (the sink)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ACK comes ≈ 0.2 ms later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“LwMesh” is only a Wireshark guess: Analyze → Enabled Protocols → untick LWM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FCS is valid (checksums enabled in the code)</a:t>
            </a:r>
            <a:endParaRPr lang="en-US" sz="1500" dirty="0"/>
          </a:p>
        </p:txBody>
      </p:sp>
      <p:pic>
        <p:nvPicPr>
          <p:cNvPr id="7" name="Image 1" descr="/home/user/Routing-Protocols/thesis-final/build/fig/k2_frame_de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4914" y="4343400"/>
            <a:ext cx="5451693" cy="14630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1 byte by byte: 9 header bytes + 20 payload bytes + 2 FCS bytes = 31 bytes.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clustering with real packets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sensors · 3 clusters · 1 sink · CH rotates every round · TDMA · fusion</a:t>
            </a:r>
            <a:endParaRPr lang="en-US" sz="1600" dirty="0"/>
          </a:p>
        </p:txBody>
      </p:sp>
      <p:pic>
        <p:nvPicPr>
          <p:cNvPr id="5" name="Image 0" descr="/home/user/Routing-Protocols/thesis-final/build/fig/demo_lay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371600"/>
            <a:ext cx="8229600" cy="3566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readings generated in 6 rounds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38328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the sink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packets to the sink after fusion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05256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905256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long transmissions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terminal output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packet is printed: member → CH (TDMA slot), CH fuses 4 readings, CH → sink</a:t>
            </a:r>
            <a:endParaRPr lang="en-US" sz="1600" dirty="0"/>
          </a:p>
        </p:txBody>
      </p:sp>
      <p:pic>
        <p:nvPicPr>
          <p:cNvPr id="5" name="Image 0" descr="/home/user/Routing-Protocols/figures/ns3_screens/demo_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844" y="1371600"/>
            <a:ext cx="5069991" cy="4343400"/>
          </a:xfrm>
          <a:prstGeom prst="rect">
            <a:avLst/>
          </a:prstGeom>
        </p:spPr>
      </p:pic>
      <p:pic>
        <p:nvPicPr>
          <p:cNvPr id="6" name="Image 1" descr="/home/user/Routing-Protocols/figures/ns3_screens/demo_resul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73098"/>
            <a:ext cx="5486400" cy="37404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readings, PDR 100 %, but only 18 packets reach the sink (instead of 72) — that is the saving of clustering.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in NetAnim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round 6 — red = CH (CH1, CH4, CH9) · colours = clusters · gold = sink with 72 readings</a:t>
            </a:r>
            <a:endParaRPr lang="en-US" sz="1600" dirty="0"/>
          </a:p>
        </p:txBody>
      </p:sp>
      <p:pic>
        <p:nvPicPr>
          <p:cNvPr id="5" name="Image 0" descr="/home/user/Routing-Protocols/figures/ns3_screens/demo_netan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8669" y="1371600"/>
            <a:ext cx="8244182" cy="4434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shows its remaining energy (16.3 J of 20 J); the CH role moved to a new node every round.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packets in Wireshark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of CH / sink traffic (demo-clustered-wsn-12-0.pcap): 51-byte data frames, each answered by a 5-byte ACK</a:t>
            </a:r>
            <a:endParaRPr lang="en-US" sz="1600" dirty="0"/>
          </a:p>
        </p:txBody>
      </p:sp>
      <p:pic>
        <p:nvPicPr>
          <p:cNvPr id="5" name="Image 0" descr="/home/user/Routing-Protocols/figures/ns3_screens/wireshark_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62259"/>
            <a:ext cx="6583680" cy="3807802"/>
          </a:xfrm>
          <a:prstGeom prst="rect">
            <a:avLst/>
          </a:prstGeom>
        </p:spPr>
      </p:pic>
      <p:pic>
        <p:nvPicPr>
          <p:cNvPr id="6" name="Image 1" descr="/home/user/Routing-Protocols/thesis-final/build/fig/k1_packe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653673"/>
            <a:ext cx="4297680" cy="18249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frame: 9-byte header + 40-byte reading + 2-byte FCS = 51 bytes; the ACK proves it arrived.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· HEED · PEGASIS — paper → our ORIGINAL code → our EDITED code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classic papers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(2000) [1]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CH rotation with an epoch: a node that served waits until everybody has served (set G).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Energy-blind; CHs may be badly placed.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(2004) [3]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energy decides who leads; the probability doubles every iteration; members join the lowest-cost CH.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Negotiation messages every round.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(2002) [4]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greedy chain; data fused along the chain; one leader, in turn, talks to the BS.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delay, long chain links, single leader.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equations of the classic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651760" y="13716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le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1578470"/>
            <a:ext cx="8686800" cy="9578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9718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HEED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2651760" y="29718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9" name="Image 1" descr="/home/user/Routing-Protocols/thesis-final/build/fig/eq_he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3267681"/>
            <a:ext cx="8686800" cy="7798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45720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PEGASIS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2651760" y="45720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12" name="Image 2" descr="/home/user/Routing-Protocols/thesis-final/build/fig/eq_pegasi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753" y="4663440"/>
            <a:ext cx="776913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— each paper in its own settings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prove that our code reproduces the paper</a:t>
            </a:r>
            <a:endParaRPr lang="en-US" sz="1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26080"/>
                <a:gridCol w="3017520"/>
                <a:gridCol w="29260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× 50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× 50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station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(25, −100)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(50, 175)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(25, 150)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/ node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bits × 5 frames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(100 pJ)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two-slope, d0 = 75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(100 pJ)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1206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changed in the algorithms; only the paper's own parameters are used.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paper vs our code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settings as each paper; FND / HND / LND in rounds</a:t>
            </a:r>
            <a:endParaRPr lang="en-US" sz="1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2194560"/>
                <a:gridCol w="2377440"/>
                <a:gridCol w="210312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 / 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graphs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734 / 1384 / 2259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behaviour matches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7607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LND within 1 % (LEACH) and every PEGASIS value within 3.5 % → the code reproduces the papers.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(grey) vs our ORIGINAL code (blue)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— one unified environment for all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algorithms; only the environment changes, so the comparison is fair</a:t>
            </a:r>
            <a:endParaRPr lang="en-US" sz="1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309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 random uniform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× 100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energy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 per node (50 J total)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centre (50, 50); far case (50, −100)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/ control packet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/ 200 bits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first-order, two-slope (d² / d⁴)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E_elec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nJ/bit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ε_fs / ε_mp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pJ/bit/m² / 0.0013 pJ/bit/m⁴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 = √(ε_fs/ε_mp)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87.7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E_DA (aggregation)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nJ/bit/signal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132320" y="1371600"/>
            <a:ext cx="448056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6092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26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092440" y="1600200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rules for everyone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360920" y="228600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Same node positions (same seed)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 advertisement heard by every node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join + TDMA messages are charged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 fuses members + its own reading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node without a CH sends directly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run lasts until the last node dies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values? They are the standard settings of the LEACH literature and the standard radio model.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classic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</a:t>
            </a:r>
            <a:endParaRPr lang="en-US" sz="1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60120"/>
                <a:gridCol w="960120"/>
                <a:gridCol w="960120"/>
                <a:gridCol w="9601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99.65%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+ fairness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99.67%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first death: LEACH (1383).  Earliest: HEED (658).  Longest last node: PEGASIS (3504).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in the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did the numbers change so much?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 ↑ (FND 1035 → 1383)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Amplifier 10× cheaper: 10 pJ instead of 100 pJ.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the centre (≤ 70 m) instead of 100 – 150 m away.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savings are bigger than the setup messages we added.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 ↓ (FND 734 → 658)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1 election then 5 data packets; unified: 1 election for 1 packet.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 messages every round, each heard by ~20 neighbours.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J instead of 2 J per node.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 FND ↓, LND ↑ (1616 → 1324)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4× bigger → one greedy chain link of 91.5 m (&gt; d0, cost d⁴).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73 on that link died first.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radio + central BS → the last nodes live very long.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algorithms did not change — only the environment. That is why a fair comparison needs one environment.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ORIGINAL vs EDITED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code in two environments</a:t>
            </a:r>
            <a:endParaRPr lang="en-US" sz="16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2926080"/>
                <a:gridCol w="2651760"/>
                <a:gridCol w="201168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+37.7%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−10.4%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vs our ORIGINAL vs our EDITED</a:t>
            </a:r>
            <a:endParaRPr lang="en-US" sz="1600" dirty="0"/>
          </a:p>
        </p:txBody>
      </p:sp>
      <p:pic>
        <p:nvPicPr>
          <p:cNvPr id="5" name="Image 0" descr="/home/user/Routing-Protocols/thesis-final/build/fig/p1_baseli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3615"/>
            <a:ext cx="11064240" cy="3662289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 —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rotation with an epoch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Energy-blind; setup every round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1035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1383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988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99.40%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+ neighbours, iterative election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 messages every round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734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658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350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99.65%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chain, one leader to the BS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chain links, delay, single leader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1616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1324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1374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99.42%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protocols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+ HEED hybrids — paper → ORIGINAL → EDITED → IMPROVED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— what is a LEACH + HEED hybrid?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work, and the three papers, combine the strengths of both protocols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LEACH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simple random election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rotation with epoch and G-set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join the nearest CH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TDMA + fusion at the CH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160520" y="29260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5F5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4800" dirty="0"/>
          </a:p>
        </p:txBody>
      </p:sp>
      <p:sp>
        <p:nvSpPr>
          <p:cNvPr id="11" name="Shape 8"/>
          <p:cNvSpPr/>
          <p:nvPr/>
        </p:nvSpPr>
        <p:spPr>
          <a:xfrm>
            <a:off x="4754880" y="1371600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9834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212" y="1741932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715000" y="16002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HEED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983480" y="228600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residual energy decides who leads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connectivity (node degree / cost)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well-spread cluster heads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8366760" y="29260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5F5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4800" dirty="0"/>
          </a:p>
        </p:txBody>
      </p:sp>
      <p:sp>
        <p:nvSpPr>
          <p:cNvPr id="17" name="Shape 13"/>
          <p:cNvSpPr/>
          <p:nvPr/>
        </p:nvSpPr>
        <p:spPr>
          <a:xfrm>
            <a:off x="8961120" y="1371600"/>
            <a:ext cx="2651760" cy="42976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897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1452" y="1741932"/>
            <a:ext cx="283464" cy="28346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921240" y="160020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9189720" y="2286000"/>
            <a:ext cx="21945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speed and rotation with HEED's energy awareness — without HEED's negotiation.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(2015), H-LEACH (2016) and EECH-HEED (2025) follow this idea — and so does our protocol.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hybrid papers — idea and weakness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(2015) [5]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election weighted by residual energy, the round number and a network CH counter.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number is never reset, so the probability keeps growing and almost every node ends up CH.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 (2016) [6]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node gets its own probability from its energy; only nodes above the average energy may lead.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the network average energy; strict "above average" blocks everyone when energies are equal; no G-set.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 (2025) [7]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zones: HEED-style near the BS, energy + node degree far away; CHs relay for each other; adaptive sensing.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Complex; far-zone probability near 1 makes the same border nodes CH again and again.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hybrid papers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adds energy (HEED idea) to LEACH-style rotation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7160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(2015) [5]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+ round number + CH counter</a:t>
            </a:r>
            <a:endParaRPr lang="en-US" sz="1700" dirty="0"/>
          </a:p>
        </p:txBody>
      </p:sp>
      <p:pic>
        <p:nvPicPr>
          <p:cNvPr id="7" name="Image 0" descr="/home/user/Routing-Protocols/thesis-final/build/fig/eq_shle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1489238"/>
            <a:ext cx="7726680" cy="12734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01752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301752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 (2016) [6]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energy-based probability + energy gate</a:t>
            </a:r>
            <a:endParaRPr lang="en-US" sz="1700" dirty="0"/>
          </a:p>
        </p:txBody>
      </p:sp>
      <p:pic>
        <p:nvPicPr>
          <p:cNvPr id="10" name="Image 1" descr="/home/user/Routing-Protocols/thesis-final/build/fig/eq_hlea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3367109"/>
            <a:ext cx="7726680" cy="80958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48640" y="466344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466344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 (2025) [7]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zones, relays between CHs, adaptive sensing</a:t>
            </a:r>
            <a:endParaRPr lang="en-US" sz="1700" dirty="0"/>
          </a:p>
        </p:txBody>
      </p:sp>
      <p:pic>
        <p:nvPicPr>
          <p:cNvPr id="13" name="Image 2" descr="/home/user/Routing-Protocols/thesis-final/build/fig/eq_ee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5056411"/>
            <a:ext cx="7726680" cy="72281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— the hybrids in their own settings</a:t>
            </a:r>
            <a:endParaRPr lang="en-US" sz="3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743200"/>
                <a:gridCol w="2834640"/>
                <a:gridCol w="30175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nodes, 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nodes, 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near BS + 70 far; 14 advanced nodes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 – 1.5 J (≈ 56 J total)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 (not stated)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4000 bits, E_DA 50 nJ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100 pJ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C_prob = 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setup messages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sensing 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paper vs our code</a:t>
            </a:r>
            <a:endParaRPr lang="en-US" sz="3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94560"/>
                <a:gridCol w="2103120"/>
                <a:gridCol w="2377440"/>
                <a:gridCol w="23774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 / 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graphs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 / 583 / 689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reported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 / 1157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4312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value not reachable*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+72.0%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4000-bit packets use up the 50 J before round 2500.  EECH-HEED depends on the sensor signal the paper does not give (sensing OFF → FND 420).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 in each paper's settings (EECH-HEED also vs its paper)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658368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7315200" y="1280160"/>
          <a:ext cx="438912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hybrids in the unified environment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algorithms as in the papers</a:t>
            </a:r>
            <a:endParaRPr lang="en-US" sz="16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99.49%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three beats LEACH (1383); SH-LEACH dies after only 647 rounds.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in the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did the numbers change so much?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 (484 → 647): cheaper radio (10 vs 100 pJ).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(→ 1480, ×2.3): the counter restarts, so CHs stay few instead of reaching 100.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 (1078 → 1384): packet 2000 instead of 4000 bits (half the energy per message).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(→ 1473): no deadlock, no CH bursts (8.6 → 5.3 CHs per round).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EDIT: LND 3783 → 1543 because sensing is OFF (every node sends every round) and 50 J instead of 56 J.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(1277 → 1335): fixed rotation in zone 2 (7.6 → 2.9 CHs per round).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→ EDITED = environment only.  EDITED → IMPROVED = our one-line fix only.</a:t>
            </a:r>
            <a:endParaRPr lang="en-US" sz="15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— what went wrong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unified environment each hybrid shows a design flaw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73736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1885950"/>
            <a:ext cx="297180" cy="2971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137160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647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137160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is never reset → the probability keeps growing → up to 100 CHs per round: every node sends alone to the BS.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7240" y="320040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830" y="3348990"/>
            <a:ext cx="297180" cy="2971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283464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1384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749040" y="283464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 &gt; average" with equal energy → no CH in round 1 (deadlock); no G-set → bursts of up to 59 CHs.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548640" y="429768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77240" y="466344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4812030"/>
            <a:ext cx="297180" cy="2971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00200" y="42976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1277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3749040" y="429768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2: P ≈ 1 → rotation period 1/P ≈ 1 round → the same border nodes are CH every other round (219 times).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add energy to LEACH but break its rotation.</a:t>
            </a:r>
            <a:endParaRPr lang="en-US" sz="15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— our fixes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 two lines of code per protocol; nothing else changed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→ ((r − 1) mod 1/C) + 1 : the counter restarts every 10 rounds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88036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" y="310896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325069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08760" y="310896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7947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 &gt; E_avg" → "E ≥ E_avg"  +  LEACH G-set restored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38912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6177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475945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08760" y="461772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777240" y="53035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 uses the paper's 10 % for the period and the G-set; Eq. 5 becomes a weight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583680" y="137160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1" name="Image 3" descr="/home/user/Routing-Protocols/thesis-final/build/fig/eq_fix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730507"/>
            <a:ext cx="4754880" cy="608066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583680" y="288036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3" name="Image 4" descr="/home/user/Routing-Protocols/thesis-final/build/fig/eq_fix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3298278"/>
            <a:ext cx="4754880" cy="4900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6583680" y="438912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5" name="Image 5" descr="/home/user/Routing-Protocols/thesis-final/build/fig/eq_fix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4757464"/>
            <a:ext cx="4754880" cy="589192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energy alone is not enough — the rotation (epoch / G-set) must be kept.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SH-LEACH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+ residual energy + round number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counter r never resets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grow to 100 per round: every node sends alone to the BS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restarts every 1/C_prob = 10 rounds (one line of code)</a:t>
            </a:r>
            <a:endParaRPr lang="en-US" sz="15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647 → 1480 (+128.7%) with the BS at the centre, 390 → 1388 (+255.9%)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H-LEACH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threshold with an energy-based probability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only if E &gt; network average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energy → nobody is above average → no CH (deadlock)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G-set → bursts of up to 59 CHs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≥ average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G-set restored</a:t>
            </a:r>
            <a:endParaRPr lang="en-US" sz="15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1384 → 1473 (+6.4%) with the BS at the centre, 1121 → 1219 (+8.7%)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EECH-HEED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zones: HEED near the BS, energy × degree far away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relays between CHs, adaptive sensing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2: P ≈ 1 → rotation period of 1 round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border nodes are CH every other round (219 times)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 rotation fixed at the paper's 10 % (10 rounds)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× degree kept as a weight</a:t>
            </a:r>
            <a:endParaRPr lang="en-US" sz="15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1277 → 1335 (+4.5%) with the BS at the centre, 970 → 1410 (+45.4%)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results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 + our fix</a:t>
            </a:r>
            <a:endParaRPr lang="en-US" sz="1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fix SH-LEACH+ (1480) and H-LEACH+ (1473) beat LEACH (1383).</a:t>
            </a:r>
            <a:endParaRPr lang="en-US" sz="15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flaw in numbers — cluster heads per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 = paper algorithm (EDITED) · blue = after our fix (IMPROVED)</a:t>
            </a:r>
            <a:endParaRPr lang="en-US" sz="1600" dirty="0"/>
          </a:p>
        </p:txBody>
      </p:sp>
      <p:pic>
        <p:nvPicPr>
          <p:cNvPr id="5" name="Image 0" descr="/home/user/Routing-Protocols/thesis-final/build/fig/h1_hybrid_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5963"/>
            <a:ext cx="11064240" cy="314895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reaches 100 CHs (every node alone); H-LEACH and EECH-HEED elect too many CHs, too often.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ORIGINAL vs EDITED vs IMPROVED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hybrid, every version</a:t>
            </a:r>
            <a:endParaRPr lang="en-US" sz="16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828800"/>
                <a:gridCol w="1828800"/>
                <a:gridCol w="18288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→ IMPROVED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+128.7%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+119.7%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+116.1%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(grey) · EDITED (orange) · IMPROVED (blue)</a:t>
            </a:r>
            <a:endParaRPr lang="en-US" sz="1600" dirty="0"/>
          </a:p>
        </p:txBody>
      </p:sp>
      <p:pic>
        <p:nvPicPr>
          <p:cNvPr id="5" name="Image 0" descr="/home/user/Routing-Protocols/thesis-final/build/fig/h2_hybrids_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08749"/>
            <a:ext cx="11064240" cy="3572022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hybrids compared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our fixes · centre and far BS</a:t>
            </a:r>
            <a:endParaRPr lang="en-US" sz="1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468880"/>
                <a:gridCol w="2194560"/>
                <a:gridCol w="2103120"/>
                <a:gridCol w="1371600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before → after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(after)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 (after)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 never resets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 restarts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 → 1480 (+128.7%)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deadlock + no G-set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average + G-set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 → 1473 (+6.4%)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of 1 round in zone 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10-round rotation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 → 1335 (+4.5%)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548640" y="4251960"/>
          <a:ext cx="731520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8138160" y="425196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8366760" y="448056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8492" y="4622292"/>
            <a:ext cx="283464" cy="283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098280" y="448056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hybrid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366760" y="516636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SH-LEACH+ (1480).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BS: EECH-HEED+ (1410).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gain: SH-LEACH (+129 %).</a:t>
            </a:r>
            <a:endParaRPr lang="en-US" sz="13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work &amp; literature review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research is going (2024 – 2026)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papers (studied, not re-implemented)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need training data or unpublished models — used to compare ideas</a:t>
            </a:r>
            <a:endParaRPr lang="en-US" sz="16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  <a:gridCol w="2377440"/>
                <a:gridCol w="3200400"/>
              </a:tblGrid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result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RL-ILEACH 2026 [8]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Q-learning chooses CHs (energy, density, distance)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+784 % lifetime vs 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earlier than ILEACH (524 vs 936); learning cost not measured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DL-HEED 2025 [9]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 neural network inside 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+60 % vs 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training data; heavy on sensors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TLC 2024 [10]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two-level LEACH with a distance threshold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longer lifetime than LEACH variants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CH-failure protection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 2025 [7]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zones + multi-hop + adaptive sensing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1250, PDR 95 %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breaks in zone 2 (fixed by 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 election adapts well, but does not always delay the first node death.</a:t>
            </a:r>
            <a:endParaRPr lang="en-US" sz="1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 — summary</a:t>
            </a:r>
            <a:endParaRPr lang="en-US" sz="3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2377440"/>
                <a:gridCol w="2194560"/>
                <a:gridCol w="265176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election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limitation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in our 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[1]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T(n), epoch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energy-blind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T(r) + G-set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LEACH-C [2]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(BS)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knowledge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[3]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iterative energy + cost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overhead every round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× degree (single pass)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 [4]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leader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delay, long links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relay idea (only if cheaper)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 [5]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× energy × 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count grows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lesson: keep rotation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 [6]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+ E &gt; E_avg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deadlock, no G-set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gate (I5)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 [7]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zones, T·α·β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collapse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relay between CHs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RL-ILEACH [8] / DL-HEED [9]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2025–26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cost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+ degree features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FTEC [11] · Pachlor [12]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 · 2022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 tolerance · rotation review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CH · handover (I2)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EEUC [13] · Chauhan [14]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 · 2021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unequal clusters, relays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hot-spot lesson, relay rule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gap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7784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protocol combines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51206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cheap single-pass CH election (energy + connectivity)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cluster reuse to cut setup overhead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protection of the CH before and after it fails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relaying between CHs only when it saves energy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they are never compared in the same environment.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309360" y="1371600"/>
            <a:ext cx="530352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969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160020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2286000"/>
            <a:ext cx="48463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Reproduce all protocols fairly (ORIGINAL → EDITED).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Fix the flaws of the hybrids (IMPROVED).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Build a new protocol step by step (v1 → v8-Chain).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protocol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v8-Chain — one change per version</a:t>
            </a:r>
            <a:endParaRPr lang="en-US" sz="1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protocol was built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version changes one thing, so its effect can be measured alone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063240"/>
            <a:ext cx="10789920" cy="0"/>
          </a:xfrm>
          <a:prstGeom prst="line">
            <a:avLst/>
          </a:prstGeom>
          <a:noFill/>
          <a:ln w="38100">
            <a:solidFill>
              <a:srgbClr val="D9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election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320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404872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47672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901952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334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803904" y="2852928"/>
            <a:ext cx="420624" cy="420624"/>
          </a:xfrm>
          <a:prstGeom prst="ellipse">
            <a:avLst/>
          </a:prstGeom>
          <a:solidFill>
            <a:srgbClr val="1BA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46704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300984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pass + reuse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1645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202936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45736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700016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15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1513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601968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44768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v5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099048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CH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1645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001000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43800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v6/v7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chain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1521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400032" y="2852928"/>
            <a:ext cx="420624" cy="420624"/>
          </a:xfrm>
          <a:prstGeom prst="ellipse">
            <a:avLst/>
          </a:prstGeom>
          <a:solidFill>
            <a:srgbClr val="1BA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42832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897112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 – I5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2446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0799064" y="2852928"/>
            <a:ext cx="420624" cy="420624"/>
          </a:xfrm>
          <a:prstGeom prst="ellipse">
            <a:avLst/>
          </a:prstGeom>
          <a:solidFill>
            <a:srgbClr val="2A78D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341864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v8-Chain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10296144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relay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2446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51206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big jumps: v3 (no negotiation + cluster reuse) and v8 (direct-to-BS + energy gate).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of every version (1/2)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 · change = FND compared with the previous version</a:t>
            </a:r>
            <a:endParaRPr lang="en-US" sz="1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  <a:gridCol w="1097280"/>
                <a:gridCol w="1097280"/>
                <a:gridCol w="1097280"/>
                <a:gridCol w="128016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election + LEACH nearest join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rotation-fairness penalty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Single-pass score + 5-round cluster reuse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98.35%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+392.5%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Reuse interval 5 → 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backup CH (interval 15)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+ cluster repair, interval 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98.95%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is the first big jump: ×4.9 over v2 (no negotiation + cluster reuse).</a:t>
            </a:r>
            <a:endParaRPr lang="en-US" sz="15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of every version (2/2)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 · change = FND compared with the previous version</a:t>
            </a:r>
            <a:endParaRPr lang="en-US" sz="16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  <a:gridCol w="1097280"/>
                <a:gridCol w="1097280"/>
                <a:gridCol w="1097280"/>
                <a:gridCol w="128016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energy-aware backup check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Ordered CH-to-CH chain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+ backup + chain repair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98.91%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v7.1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 multihop tree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 + I1–I5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+66.8%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+ energy-aware CH relay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is the second big jump: +49 % over v5b (I1 – I5).  v8-Chain keeps it and adds the far-BS gain.</a:t>
            </a:r>
            <a:endParaRPr lang="en-US" sz="15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– v2: starting from HEED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= HEED election + LEACH nearest-CH join · v2 = + fairness penalty cost × (1 + 0.1·timesServed)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65836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06640" y="1371600"/>
            <a:ext cx="4206240" cy="4389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352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97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366760" y="160020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635240" y="2286000"/>
            <a:ext cx="37490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only 320 → 334.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negotiation of HEED, paid every round, is the real problem — not fairness.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remove the iterative negotiation.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 – v4: single-pass election + cluster reuse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jump of the whole study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6766560" cy="960120"/>
          </a:xfrm>
          <a:prstGeom prst="roundRect">
            <a:avLst>
              <a:gd name="adj" fmla="val 7619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s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7097" y="1417320"/>
            <a:ext cx="4629647" cy="777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498080" y="132588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LEACH rotation × energy × neighbours, in one step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377440"/>
          <a:ext cx="58521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6675120" y="2377440"/>
            <a:ext cx="493776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903720" y="260604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5452" y="2747772"/>
            <a:ext cx="283464" cy="2834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635240" y="260604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×4.9 longer first-node life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6903720" y="3291840"/>
            <a:ext cx="4480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are kept for 5 rounds, so setup is paid once per 5 rounds.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rounds is worse (1513, PDR 97.07%): the CH is overloaded and its members are orphaned when it dies.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reuse clusters for 5 rounds — but protect the members when the CH dies.</a:t>
            </a:r>
            <a:endParaRPr lang="en-US" sz="15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v5: backup 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member replaces a dead CH (v5b: only if it has ≥ 5 % of E0)</a:t>
            </a:r>
            <a:endParaRPr lang="en-US" sz="16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 (int 15)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 (int 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98.95%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 (int 10)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223760" y="1371600"/>
            <a:ext cx="438912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45236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9409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183880" y="160020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452360" y="2286000"/>
            <a:ext cx="39319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backup protects the data (PDR ↑) but does not delay the first death.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 5 is the best again.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v5b becomes the base of v8.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protection improves reliability; lifetime needs something else.</a:t>
            </a:r>
            <a:endParaRPr lang="en-US" sz="15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v6 – v7: chaining the cluster heads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forward to each other towards the BS (idea from PEGASIS)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67665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589520" y="1371600"/>
            <a:ext cx="4023360" cy="43891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160020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002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Worse, not better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2286000"/>
            <a:ext cx="35661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near the BS carry everybody's traffic and die first (the "hot spot" of EEUC [13]).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BS at the centre, forced relaying costs more than it saves.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relay only when it really saves energy.</a:t>
            </a:r>
            <a:endParaRPr lang="en-US" sz="15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v8: five improvements on top of v5b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 Epoch fix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new epoch when nobody is eligible → no round without CHs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 Handover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that cannot finish the round hands over before it dies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I3 Re-join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of a dead CH join the nearest alive CH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7947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393649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3794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I4 Direct-to-BS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4805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not farther from the BS than from its CH sends directly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29768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26280" y="37947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3936492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57800" y="3794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I5 Energy gate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4526280" y="44805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nodes with E ≥ network average may become CH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8138160" y="3611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2446</a:t>
            </a:r>
            <a:endParaRPr lang="en-US" sz="4400" dirty="0"/>
          </a:p>
        </p:txBody>
      </p:sp>
      <p:sp>
        <p:nvSpPr>
          <p:cNvPr id="30" name="Text 23"/>
          <p:cNvSpPr txBox="1"/>
          <p:nvPr/>
        </p:nvSpPr>
        <p:spPr>
          <a:xfrm>
            <a:off x="8138160" y="44348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(v5b 1645) · PDR 99.72%</a:t>
            </a:r>
            <a:endParaRPr lang="en-US" sz="13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Ablation — which improvement matters?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with one improvement switched off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749808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321040" y="137160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5496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37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81160" y="160020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I4 and I5 make the gain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228600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I4: 1766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I5: 2171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8321040" y="393192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549640" y="416052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372" y="430225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281160" y="416052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I1, I2, I3 are safety nets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8549640" y="4846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zero-CH rounds, no lost members, stable PDR</a:t>
            </a:r>
            <a:endParaRPr lang="en-US" sz="13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v8-Chain = v8 + energy-aware relay (for a far BS)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forwards through another CH only if it is cheaper than going straight to the BS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re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95669"/>
            <a:ext cx="10789920" cy="5291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the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65176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21792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far away (50, −100)</a:t>
            </a:r>
            <a:endParaRPr lang="en-US" sz="15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6217920" y="265176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the relay is never cheaper, so v8-Chain = v8 (2446).  Far BS: +16 % FND (1406 → 1626) → use v8-Chain only when the BS is far.</a:t>
            </a:r>
            <a:endParaRPr lang="en-US" sz="15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lifetime of all versions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· unified environment, BS at the centre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first node death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jumps: v3 and v8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packet delivery ratio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of every version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without protection loses data (v4 97.07%); backup, handover and re-join bring it back (v8-Chain 99.72%).</a:t>
            </a:r>
            <a:endParaRPr lang="en-US" sz="15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of v8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once every 5 rounds · data every round · fault tolerance · the relay box is added only in v8-Chain (far BS)</a:t>
            </a:r>
            <a:endParaRPr lang="en-US" sz="1600" dirty="0"/>
          </a:p>
        </p:txBody>
      </p:sp>
      <p:pic>
        <p:nvPicPr>
          <p:cNvPr id="5" name="Image 0" descr="/home/user/Routing-Protocols/thesis-final/build/fig/f12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8591" y="1325880"/>
            <a:ext cx="890433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relay in action (v8-Chain)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50 — centre: no relay is cheaper, all CHs send directly · far BS: CHs relay towards the BS</a:t>
            </a:r>
            <a:endParaRPr lang="en-US" sz="1600" dirty="0"/>
          </a:p>
        </p:txBody>
      </p:sp>
      <p:pic>
        <p:nvPicPr>
          <p:cNvPr id="5" name="Image 0" descr="/home/user/Routing-Protocols/thesis-final/build/fig/f11_topology_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940" y="1325880"/>
            <a:ext cx="4544040" cy="5029200"/>
          </a:xfrm>
          <a:prstGeom prst="rect">
            <a:avLst/>
          </a:prstGeom>
        </p:spPr>
      </p:pic>
      <p:pic>
        <p:nvPicPr>
          <p:cNvPr id="6" name="Image 1" descr="/home/user/Routing-Protocols/thesis-final/build/fig/f11_topology_farB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3705" y="1325880"/>
            <a:ext cx="2997631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comparison — network lifetime (BS at the centre)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 of every family,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188720"/>
          <a:ext cx="731520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38160" y="15544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2446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2377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rounds before the first node dies — the latest of all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31089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+77%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39319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vs LEACH (1383)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46634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+65%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54864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vs the best hybrid (SH-LEACH+ 1480)</a:t>
            </a:r>
            <a:endParaRPr lang="en-US" sz="13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Alive nodes and energy per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(blue) keeps every node alive longest, then all die together</a:t>
            </a:r>
            <a:endParaRPr lang="en-US" sz="1600" dirty="0"/>
          </a:p>
        </p:txBody>
      </p:sp>
      <p:pic>
        <p:nvPicPr>
          <p:cNvPr id="5" name="Image 0" descr="/home/user/Routing-Protocols/thesis-final/build/fig/f3_alive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5863"/>
            <a:ext cx="5486400" cy="2837793"/>
          </a:xfrm>
          <a:prstGeom prst="rect">
            <a:avLst/>
          </a:prstGeom>
        </p:spPr>
      </p:pic>
      <p:pic>
        <p:nvPicPr>
          <p:cNvPr id="6" name="Image 1" descr="/home/user/Routing-Protocols/thesis-final/build/fig/f10_energy_curv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359082"/>
            <a:ext cx="5486400" cy="2871357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and robustness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7607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5" name="Image 0" descr="/home/user/Routing-Protocols/thesis-final/build/fig/f7_robustn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885369"/>
            <a:ext cx="5212080" cy="235574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92240" y="49377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random topologies: FND 2401 – 2481 (mean 2448)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protocols deliver &gt; 99 % of readings; they differ in lifetime.  The v8 result is not luck of one layout.</a:t>
            </a:r>
            <a:endParaRPr lang="en-US" sz="15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of the comparison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</a:t>
            </a:r>
            <a:endParaRPr lang="en-US" sz="16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1005840"/>
                <a:gridCol w="1005840"/>
                <a:gridCol w="1005840"/>
                <a:gridCol w="1188720"/>
                <a:gridCol w="1371600"/>
                <a:gridCol w="15544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FND gain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recent 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(main)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(far BS)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v8 has the latest first death (+65 % to +272 %).  Far BS: v8-Chain is the best (1626).</a:t>
            </a:r>
            <a:endParaRPr lang="en-US" sz="15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BS is far away — all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(50, −100): grey = centre, orange / blue = far</a:t>
            </a:r>
            <a:endParaRPr lang="en-US" sz="1600" dirty="0"/>
          </a:p>
        </p:txBody>
      </p:sp>
      <p:pic>
        <p:nvPicPr>
          <p:cNvPr id="5" name="Image 0" descr="/home/user/Routing-Protocols/thesis-final/build/fig/far_f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829" y="1325880"/>
            <a:ext cx="10997862" cy="4297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7607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BS: v8 alone reaches 1406, close to EECH-HEED+ (1410); v8-Chain reaches 1626 — the best of all.</a:t>
            </a:r>
            <a:endParaRPr lang="en-US" sz="15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 BS — ranking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node death with the BS at (50, −100)</a:t>
            </a:r>
            <a:endParaRPr lang="en-US" sz="1600" dirty="0"/>
          </a:p>
        </p:txBody>
      </p:sp>
      <p:pic>
        <p:nvPicPr>
          <p:cNvPr id="5" name="Image 0" descr="/home/user/Routing-Protocols/thesis-final/build/fig/far_ra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27276"/>
            <a:ext cx="6766560" cy="3043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589520" y="1371600"/>
            <a:ext cx="4023360" cy="4754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002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v8-Chain here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2286000"/>
            <a:ext cx="35661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far BS every CH → BS packet costs d⁴.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relay lets a CH hand its packet to a CH nearer the BS when that is cheaper.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+16 % over v8, +15 % over the best other protocol (EECH-HEED+), +65 % over LEACH.</a:t>
            </a:r>
            <a:endParaRPr lang="en-US" sz="14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version we chose — and why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is the main protocol · v8-Chain = v8 + relay, used only when the BS is far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latest first death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2446 with the BS at the centre — highest of all protocols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v8-Chain: for a far BS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the energy-aware relay: 1406 → 1626 (+16 %) when the BS is far; no change at the centre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99.72%; no round without CHs; members never orphaned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406908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21081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0876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7724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topologies: FND 2401 – 2481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429768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26280" y="406908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4210812"/>
            <a:ext cx="283464" cy="28346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5780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and distributed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452628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one-step score, local decisions, no training</a:t>
            </a:r>
            <a:endParaRPr lang="en-US" sz="1600" dirty="0"/>
          </a:p>
        </p:txBody>
      </p:sp>
      <p:sp>
        <p:nvSpPr>
          <p:cNvPr id="30" name="Shape 23"/>
          <p:cNvSpPr/>
          <p:nvPr/>
        </p:nvSpPr>
        <p:spPr>
          <a:xfrm>
            <a:off x="804672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75320" y="40690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052" y="4210812"/>
            <a:ext cx="283464" cy="28346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0684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part justified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mechanism kept only if the ablation shows it helps</a:t>
            </a:r>
            <a:endParaRPr lang="en-US" sz="16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00" dirty="0"/>
          </a:p>
        </p:txBody>
      </p:sp>
      <p:pic>
        <p:nvPicPr>
          <p:cNvPr id="3" name="Image 0" descr="/home/user/Routing-Protocols/thesis-final/build/fig/v8_concep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13316"/>
            <a:ext cx="11430000" cy="6185647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summary and references</a:t>
            </a:r>
            <a:endParaRPr lang="en-US" sz="18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5544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69621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energy model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runs use the first-order radio model: no collisions, retransmissions or fading (the demo shows packet level on a small scale).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72200" y="13258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00800" y="15544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2532" y="169621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3232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Static, equal nodes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400800" y="2240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static nodes with equal energy; no mobility or heterogeneous hardware.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0175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77240" y="324612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338785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08760" y="324612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field size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77240" y="3931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× 100 m and 100 nodes; larger networks not tested.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172200" y="30175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0" y="324612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2532" y="338785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32320" y="324612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random deployment only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0" y="3931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random topologies tested (v8 FND 2401 – 2481); uneven or clustered layouts not tested.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548640" y="4709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77240" y="493776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5079492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508760" y="4937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paper details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777240" y="5623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settings (packet size, sensor signal) had to be assumed and documented.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6172200" y="4709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00800" y="493776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2532" y="5079492"/>
            <a:ext cx="283464" cy="28346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132320" y="4937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keeps a longer LND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6400800" y="5623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3504 vs 2566: v8 is designed for the first death, not the last.</a:t>
            </a:r>
            <a:endParaRPr lang="en-US" sz="125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2446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rounds before the first node dies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+65%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the best fixed hybrid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1626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with a far BS (best of all)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291840"/>
            <a:ext cx="10698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protocols reproduced and validated against their papers, then compared in one fair environment.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Flaws found and fixed in three hybrids: all of them had broken LEACH's rotation.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built step by step: single-pass election, cluster reuse, CH protection, direct-to-BS and energy gate — the main protocol.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adds an energy-aware relay: same as v8 at the centre, +16 % when the BS is far.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on 8 random topologies (v8 FND 2401 – 2481) and better than every other protocol with the BS far away.</a:t>
            </a:r>
            <a:endParaRPr lang="en-US" sz="16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 W. R. Heinzelman, A. Chandrakasan, H. Balakrishnan, "Energy-Efficient Communication Protocol for Wireless Microsensor Networks," Proc. 33rd Hawaii Int. Conf. System Sciences (HICSS), 2000.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 W. B. Heinzelman, A. P. Chandrakasan, H. Balakrishnan, "An Application-Specific Protocol Architecture for Wireless Microsensor Networks," IEEE Trans. Wireless Communications, vol. 1, no. 4, 2002.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 O. Younis, S. Fahmy, "HEED: A Hybrid, Energy-Efficient, Distributed Clustering Approach for Ad Hoc Sensor Networks," IEEE Trans. Mobile Computing, vol. 3, no. 4, 2004.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 S. Lindsey, C. S. Raghavendra, "PEGASIS: Power-Efficient Gathering in Sensor Information Systems," Proc. IEEE Aerospace Conference, 2002.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 S. Shrestha, Y. M. Kim, K. Jung, J.-Y. Lee, "The Improved Energy Efficient LEACH Protocol Technology of Wireless Sensor Networks," Int. J. Internet, Broadcasting and Communication (IJIBC), vol. 7, no. 1, pp. 30–35, 2015.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 A. Razaque, M. Mudigulam, K. Gavini, F. Amsaad, M. Abdulgader, P. Krishna, "H-LEACH: Hybrid-Low Energy Adaptive Clustering Hierarchy for Wireless Sensor Networks," Proc. IEEE LISAT, 2016.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 S. Kaur, S. Kour, M. Singh, "EECH-HEED: an adaptive hybrid clustering protocol for energy efficient soil monitoring in heterogeneous wireless sensor networks," Scientific Reports, vol. 15, 35548, 2025.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 H. H. El-Sayed, E. M. Abd-Elgaber, S. K. Refaay, "An intelligent reinforcement learning enhanced improved LEACH protocol for prolonging wireless sensor network lifetime," Scientific Reports, 2026.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 A. Juwaied, L. Jackowska-Strumillo, "DL-HEED: A Deep Learning Approach to Energy-Efficient Clustering in Heterogeneous Wireless Sensor Networks," Applied Sciences, vol. 15, no. 16, 8996, 2025.</a:t>
            </a:r>
            <a:endParaRPr lang="en-US" sz="135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(continued)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 S. Subedi, S. K. Acharya, J. Lee, S. Lee, "Two-Level Clustering Algorithm for Cluster Head Selection in Randomly Deployed Wireless Sensor Networks," Telecom, vol. 5, no. 3, 27, 2024.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 J. Jassbi, S. Moridi, "Fault Tolerance and Energy Efficient Clustering Algorithm in Wireless Sensor Networks: FTEC," Wireless Personal Communications, 2019.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 R. Pachlor, D. Shrimankar, K. K. Nagwanshi, M. Paliwal, "Cluster-Head Rotation Approaches in Sensor Networks: A Review," arXiv:2206.08892, 2022.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 C. Li, M. Ye, G. Chen, J. Wu, "An Energy-Efficient Unequal Clustering Mechanism for Wireless Sensor Networks," Proc. IEEE MASS, 2005.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 V. Chauhan, S. Soni, "Energy Aware Unequal Clustering Algorithm with Multi-hop Routing via Low Degree Relay Nodes for Wireless Sensor Networks," J. Ambient Intelligence and Humanized Computing, vol. 12, pp. 2469–2482, 2021.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 ns-3 Network Simulator, release 3.41, https://www.nsnam.org, 2024.</a:t>
            </a:r>
            <a:endParaRPr lang="en-US" sz="13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41848" y="1280160"/>
            <a:ext cx="914400" cy="9144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15087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6118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thanks to my supervisors Dr. Hesham ElZouka, Dr. Amani Saad and Dr. Khaled Saada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297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discussion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3949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results and papers: GitHub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89</Slides>
  <Notes>89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89</vt:i4>
      </vt:variant>
    </vt:vector>
  </HeadingPairs>
  <TitlesOfParts>
    <vt:vector size="9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Energy-Efficient Secure Clustering in WSNs</dc:title>
  <dc:subject>PptxGenJS Presentation</dc:subject>
  <dc:creator>Rahma Khaled Oshba</dc:creator>
  <cp:lastModifiedBy>Rahma Khaled Oshba</cp:lastModifiedBy>
  <cp:revision>1</cp:revision>
  <dcterms:created xsi:type="dcterms:W3CDTF">2026-09-26T17:55:07Z</dcterms:created>
  <dcterms:modified xsi:type="dcterms:W3CDTF">2026-09-26T17:55:07Z</dcterms:modified>
</cp:coreProperties>
</file>